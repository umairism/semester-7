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481" r:id="rId3"/>
    <p:sldId id="482" r:id="rId4"/>
    <p:sldId id="310" r:id="rId5"/>
    <p:sldId id="320" r:id="rId6"/>
    <p:sldId id="321" r:id="rId7"/>
    <p:sldId id="313" r:id="rId8"/>
    <p:sldId id="312" r:id="rId9"/>
    <p:sldId id="314" r:id="rId10"/>
    <p:sldId id="323" r:id="rId11"/>
    <p:sldId id="315" r:id="rId12"/>
    <p:sldId id="316" r:id="rId13"/>
    <p:sldId id="325" r:id="rId14"/>
    <p:sldId id="326" r:id="rId15"/>
    <p:sldId id="317" r:id="rId16"/>
    <p:sldId id="318" r:id="rId17"/>
    <p:sldId id="327" r:id="rId18"/>
    <p:sldId id="319" r:id="rId19"/>
    <p:sldId id="480" r:id="rId20"/>
    <p:sldId id="287" r:id="rId21"/>
    <p:sldId id="473" r:id="rId22"/>
    <p:sldId id="474" r:id="rId23"/>
    <p:sldId id="476" r:id="rId24"/>
    <p:sldId id="475" r:id="rId25"/>
    <p:sldId id="284" r:id="rId2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PT Sans Narrow" panose="020B0506020203020204" pitchFamily="3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3351" autoAdjust="0"/>
  </p:normalViewPr>
  <p:slideViewPr>
    <p:cSldViewPr snapToGrid="0">
      <p:cViewPr varScale="1">
        <p:scale>
          <a:sx n="82" d="100"/>
          <a:sy n="82" d="100"/>
        </p:scale>
        <p:origin x="70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23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AES Encryption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Ms. </a:t>
            </a:r>
            <a:r>
              <a:rPr lang="en"/>
              <a:t>Ayesha Jarral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740F-6496-5A39-3BA4-3BAE5BD0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AES INTRODUCTION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E69E0-EA56-01B8-2C93-2276B2578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Introduction to AES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AES</a:t>
            </a:r>
            <a:r>
              <a:rPr lang="en-US" dirty="0"/>
              <a:t> = </a:t>
            </a:r>
            <a:r>
              <a:rPr lang="en-US" b="1" dirty="0"/>
              <a:t>Advanced Encryption Standard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one of the most widely used </a:t>
            </a:r>
            <a:r>
              <a:rPr lang="en-US" b="1" dirty="0"/>
              <a:t>encryption algorithms</a:t>
            </a:r>
            <a:r>
              <a:rPr lang="en-US" dirty="0"/>
              <a:t> in the world.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Made in </a:t>
            </a:r>
            <a:r>
              <a:rPr lang="en-US" b="1" dirty="0"/>
              <a:t>2001</a:t>
            </a:r>
            <a:r>
              <a:rPr lang="en-US" dirty="0"/>
              <a:t> by NIST (USA) after replacing the old DES algorithm.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AES is a </a:t>
            </a:r>
            <a:r>
              <a:rPr lang="en-US" b="1" dirty="0"/>
              <a:t>symmetric key algorithm</a:t>
            </a:r>
            <a:r>
              <a:rPr lang="en-US" dirty="0"/>
              <a:t> → means the </a:t>
            </a:r>
            <a:r>
              <a:rPr lang="en-US" b="1" dirty="0"/>
              <a:t>same key</a:t>
            </a:r>
            <a:r>
              <a:rPr lang="en-US" dirty="0"/>
              <a:t> is used to </a:t>
            </a:r>
            <a:r>
              <a:rPr lang="en-US" b="1" dirty="0"/>
              <a:t>encrypt</a:t>
            </a:r>
            <a:r>
              <a:rPr lang="en-US" dirty="0"/>
              <a:t> (lock) and </a:t>
            </a:r>
            <a:r>
              <a:rPr lang="en-US" b="1" dirty="0"/>
              <a:t>decrypt</a:t>
            </a:r>
            <a:r>
              <a:rPr lang="en-US" dirty="0"/>
              <a:t> (unlock).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6133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2CAA3-0A86-35A6-32F4-F0835425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Why AES is Strong?</a:t>
            </a:r>
            <a:br>
              <a:rPr lang="en-US"/>
            </a:b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AFDF7-93EE-5CA0-7182-7CAFB5AC5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 very fast on both software and hardware.</a:t>
            </a:r>
          </a:p>
          <a:p>
            <a:r>
              <a:rPr lang="en-US" dirty="0"/>
              <a:t>Difficult to break → requires trying </a:t>
            </a:r>
            <a:r>
              <a:rPr lang="en-US" b="1" dirty="0"/>
              <a:t>2^128 combinations</a:t>
            </a:r>
            <a:r>
              <a:rPr lang="en-US" dirty="0"/>
              <a:t> for AES-128, which is practically impossible.</a:t>
            </a:r>
          </a:p>
          <a:p>
            <a:r>
              <a:rPr lang="en-US" dirty="0"/>
              <a:t>Used in banks, Wi-Fi security, VPNs, WhatsApp, and almost every secure app.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625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F7C22-1A40-2C74-3E20-5023F15C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Advanced Encryption Standard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BBC74-182E-EF82-02A9-59D6162FC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standard specifies the Rijndael algorithm</a:t>
            </a:r>
          </a:p>
          <a:p>
            <a:r>
              <a:rPr lang="en-US" dirty="0"/>
              <a:t>It is a symmetric block cipher that can process data blocks of 128 bits</a:t>
            </a:r>
          </a:p>
          <a:p>
            <a:r>
              <a:rPr lang="en-US" dirty="0"/>
              <a:t>Rijndael was designed to handle additional block sizes</a:t>
            </a:r>
          </a:p>
          <a:p>
            <a:r>
              <a:rPr lang="en-US" dirty="0"/>
              <a:t>Cipher keys with lengths of 128, 192, and 256 bits.</a:t>
            </a:r>
          </a:p>
          <a:p>
            <a:r>
              <a:rPr lang="en-US" dirty="0"/>
              <a:t>The algorithm may be used with the three different key lengths indicated above, and therefore these different “flavors” may be referred to as </a:t>
            </a:r>
          </a:p>
          <a:p>
            <a:pPr lvl="1"/>
            <a:r>
              <a:rPr lang="en-US" dirty="0"/>
              <a:t>AES-128</a:t>
            </a:r>
          </a:p>
          <a:p>
            <a:pPr lvl="1"/>
            <a:r>
              <a:rPr lang="en-US" dirty="0"/>
              <a:t>AES-192</a:t>
            </a:r>
          </a:p>
          <a:p>
            <a:pPr lvl="1"/>
            <a:r>
              <a:rPr lang="en-US" dirty="0"/>
              <a:t>AES-256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11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9E42-FE5D-8C44-1159-0D38DE639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AES Security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3D2C9-3DB6-AC66-F905-980A47E41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AES was designed after DES.</a:t>
            </a:r>
          </a:p>
          <a:p>
            <a:r>
              <a:rPr lang="en-US" dirty="0"/>
              <a:t>Most of the known attacks on DES were already tested on AES.</a:t>
            </a:r>
          </a:p>
          <a:p>
            <a:r>
              <a:rPr lang="en-US" dirty="0"/>
              <a:t>Brute-Force Attacks.</a:t>
            </a:r>
          </a:p>
          <a:p>
            <a:r>
              <a:rPr lang="en-US" dirty="0"/>
              <a:t>Statistical Attacks</a:t>
            </a:r>
          </a:p>
          <a:p>
            <a:r>
              <a:rPr lang="en-US" dirty="0"/>
              <a:t>Differential and Linear Attacks.</a:t>
            </a:r>
          </a:p>
        </p:txBody>
      </p:sp>
    </p:spTree>
    <p:extLst>
      <p:ext uri="{BB962C8B-B14F-4D97-AF65-F5344CB8AC3E}">
        <p14:creationId xmlns:p14="http://schemas.microsoft.com/office/powerpoint/2010/main" val="3300886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47E22-D568-386C-EF06-84B7DA07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AES Implementation Aspects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AB6E8-3F2E-6797-16C4-083AD41CE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Algorithms</a:t>
            </a:r>
          </a:p>
          <a:p>
            <a:r>
              <a:rPr lang="en-US" dirty="0"/>
              <a:t>Resistant against known attacks.</a:t>
            </a:r>
          </a:p>
          <a:p>
            <a:r>
              <a:rPr lang="en-US" dirty="0"/>
              <a:t>Code compactness on many CPUs.</a:t>
            </a:r>
          </a:p>
          <a:p>
            <a:r>
              <a:rPr lang="en-US" dirty="0"/>
              <a:t>Cheap processor and minimum amount of memory.</a:t>
            </a:r>
          </a:p>
          <a:p>
            <a:r>
              <a:rPr lang="en-US" dirty="0"/>
              <a:t>Very efficient.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248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F89B5-2AF4-AC60-3C95-A9CBEDA8C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AES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D544F-AE30-F519-9B49-206BFD0F8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B405D1F-8BFE-2EC5-4A81-5F1284BBEF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1918" r="3728"/>
          <a:stretch/>
        </p:blipFill>
        <p:spPr>
          <a:xfrm>
            <a:off x="3305908" y="94919"/>
            <a:ext cx="5033108" cy="4953662"/>
          </a:xfrm>
        </p:spPr>
      </p:pic>
    </p:spTree>
    <p:extLst>
      <p:ext uri="{BB962C8B-B14F-4D97-AF65-F5344CB8AC3E}">
        <p14:creationId xmlns:p14="http://schemas.microsoft.com/office/powerpoint/2010/main" val="3046246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D01F-63FF-6E36-2360-B2AD3623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AES Parameters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57DDE9-3BE6-A264-4562-58541EFBB3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9" t="12460" r="3420" b="39373"/>
          <a:stretch/>
        </p:blipFill>
        <p:spPr>
          <a:xfrm>
            <a:off x="399042" y="1595301"/>
            <a:ext cx="8345915" cy="238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47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5691-E7CE-4D58-7933-C438A2C9A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777" y="1484471"/>
            <a:ext cx="2658146" cy="1594790"/>
          </a:xfrm>
        </p:spPr>
        <p:txBody>
          <a:bodyPr>
            <a:normAutofit/>
          </a:bodyPr>
          <a:lstStyle/>
          <a:p>
            <a:r>
              <a:rPr lang="en-US" dirty="0"/>
              <a:t>AES Encryption and Decryption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8D17C1-E648-6DD4-6197-30FDFE1074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514" r="3408"/>
          <a:stretch/>
        </p:blipFill>
        <p:spPr>
          <a:xfrm>
            <a:off x="3101792" y="0"/>
            <a:ext cx="604220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25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5C48A-46F1-E2DE-1DA5-085C6B655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/ State Array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BC389-F49A-2453-1B71-49F6B634C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In AES, a word is defined as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4 bytes</a:t>
            </a:r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, which is equal to 32 bits. The block size of AES is 128 bits, which is equal to 16 bytes or a 4x4 state matrix. the block size of AES is 128 bits which is equal to 16 bytes.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FAC030-DB9F-F996-62F2-E7CFD8F81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786418"/>
              </p:ext>
            </p:extLst>
          </p:nvPr>
        </p:nvGraphicFramePr>
        <p:xfrm>
          <a:off x="5627080" y="2443730"/>
          <a:ext cx="2557192" cy="185957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39298">
                  <a:extLst>
                    <a:ext uri="{9D8B030D-6E8A-4147-A177-3AD203B41FA5}">
                      <a16:colId xmlns:a16="http://schemas.microsoft.com/office/drawing/2014/main" val="3575370815"/>
                    </a:ext>
                  </a:extLst>
                </a:gridCol>
                <a:gridCol w="639298">
                  <a:extLst>
                    <a:ext uri="{9D8B030D-6E8A-4147-A177-3AD203B41FA5}">
                      <a16:colId xmlns:a16="http://schemas.microsoft.com/office/drawing/2014/main" val="1584379728"/>
                    </a:ext>
                  </a:extLst>
                </a:gridCol>
                <a:gridCol w="639298">
                  <a:extLst>
                    <a:ext uri="{9D8B030D-6E8A-4147-A177-3AD203B41FA5}">
                      <a16:colId xmlns:a16="http://schemas.microsoft.com/office/drawing/2014/main" val="1717577416"/>
                    </a:ext>
                  </a:extLst>
                </a:gridCol>
                <a:gridCol w="639298">
                  <a:extLst>
                    <a:ext uri="{9D8B030D-6E8A-4147-A177-3AD203B41FA5}">
                      <a16:colId xmlns:a16="http://schemas.microsoft.com/office/drawing/2014/main" val="3442944151"/>
                    </a:ext>
                  </a:extLst>
                </a:gridCol>
              </a:tblGrid>
              <a:tr h="4648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40886"/>
                  </a:ext>
                </a:extLst>
              </a:tr>
              <a:tr h="4648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823857"/>
                  </a:ext>
                </a:extLst>
              </a:tr>
              <a:tr h="4648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146656"/>
                  </a:ext>
                </a:extLst>
              </a:tr>
              <a:tr h="4648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567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4651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0B235-A6DD-793D-AF8B-2AD1DE474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AES Transformation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6E30B-7FEC-4F26-1ABD-8ADFAFAF4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Substitute Bytes</a:t>
            </a:r>
          </a:p>
          <a:p>
            <a:r>
              <a:rPr lang="en-US" dirty="0"/>
              <a:t>Shift Rows</a:t>
            </a:r>
          </a:p>
          <a:p>
            <a:r>
              <a:rPr lang="en-US" dirty="0"/>
              <a:t>Mix Columns</a:t>
            </a:r>
          </a:p>
          <a:p>
            <a:r>
              <a:rPr lang="en-US" dirty="0"/>
              <a:t>Add Round Key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7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A12C4-2B31-A2FF-02EB-52579F0AC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Substitute Byte Transformation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8FAD1-9990-7ED8-0B17-BE327ECC7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25"/>
            <a:ext cx="4260300" cy="3302700"/>
          </a:xfrm>
        </p:spPr>
        <p:txBody>
          <a:bodyPr>
            <a:normAutofit/>
          </a:bodyPr>
          <a:lstStyle/>
          <a:p>
            <a:r>
              <a:rPr lang="en-US" dirty="0"/>
              <a:t>A simple substitution of each byte</a:t>
            </a:r>
          </a:p>
          <a:p>
            <a:r>
              <a:rPr lang="en-US" dirty="0"/>
              <a:t>Uses one table of 16x16 bytes containing a permutation of all 256 8-bit values</a:t>
            </a:r>
          </a:p>
          <a:p>
            <a:r>
              <a:rPr lang="en-US" dirty="0"/>
              <a:t>Each byte of state is replaced by byte indexed by row (left 4-bits) &amp; column (right 4-bits)</a:t>
            </a:r>
          </a:p>
          <a:p>
            <a:pPr lvl="1"/>
            <a:r>
              <a:rPr lang="en-US" dirty="0" err="1"/>
              <a:t>eg.</a:t>
            </a:r>
            <a:r>
              <a:rPr lang="en-US" dirty="0"/>
              <a:t> byte {95} is replaced by byte in row 9 column 5</a:t>
            </a:r>
          </a:p>
          <a:p>
            <a:pPr lvl="1"/>
            <a:r>
              <a:rPr lang="en-US" dirty="0"/>
              <a:t>which has value {2A}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6D86E-D1E3-F3C9-66A8-0AE3F26089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83" r="7455" b="4387"/>
          <a:stretch/>
        </p:blipFill>
        <p:spPr>
          <a:xfrm>
            <a:off x="4712677" y="1437376"/>
            <a:ext cx="4064000" cy="273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253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E7DC-ED6A-4694-D8B8-681959DC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BB7FB-0F24-E8F7-C324-904DB93BE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52BC5-780B-27F4-C73A-DBF53F8F8E67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1152425"/>
            <a:ext cx="8615901" cy="3554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639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20DC7-39D2-59AA-DB27-C400D1E8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83AA3-4547-9348-3B7B-C666F44E1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58510"/>
            <a:ext cx="8520600" cy="33027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24188-1341-469F-AEC9-FC07E803A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047" y="891877"/>
            <a:ext cx="6594880" cy="400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10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E519D-E5F7-8A88-8E20-BEC984F4A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Shift Row Transformation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EBE87-D80C-8BF2-1BCC-31091F924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425900" cy="3302700"/>
          </a:xfrm>
        </p:spPr>
        <p:txBody>
          <a:bodyPr/>
          <a:lstStyle/>
          <a:p>
            <a:r>
              <a:rPr lang="en-US" dirty="0"/>
              <a:t>A circular byte shift in each row</a:t>
            </a:r>
          </a:p>
          <a:p>
            <a:pPr lvl="1"/>
            <a:r>
              <a:rPr lang="en-US" dirty="0"/>
              <a:t>1st row is unchanged</a:t>
            </a:r>
          </a:p>
          <a:p>
            <a:pPr lvl="1"/>
            <a:r>
              <a:rPr lang="en-US" dirty="0"/>
              <a:t>2nd row does 1 byte circular shift to left</a:t>
            </a:r>
          </a:p>
          <a:p>
            <a:pPr lvl="1"/>
            <a:r>
              <a:rPr lang="en-US" dirty="0"/>
              <a:t>3rd  row does 2 byte circular shift to left</a:t>
            </a:r>
          </a:p>
          <a:p>
            <a:pPr lvl="1"/>
            <a:r>
              <a:rPr lang="en-US" dirty="0"/>
              <a:t>4th row does 3 byte circular shift to left</a:t>
            </a:r>
          </a:p>
          <a:p>
            <a:r>
              <a:rPr lang="en-US" dirty="0"/>
              <a:t>Since state is processed by columns, this step permutes bytes between the columns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80614-D9D2-7017-FA66-8244EB127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75" y="2987552"/>
            <a:ext cx="54197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2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4681-950D-5A76-E431-5C9C7BD3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Mix Column Transformation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C4296-4F20-06AE-B148-DD5FF119F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3338085" cy="3302700"/>
          </a:xfrm>
        </p:spPr>
        <p:txBody>
          <a:bodyPr/>
          <a:lstStyle/>
          <a:p>
            <a:pPr algn="just"/>
            <a:r>
              <a:rPr lang="en-US" dirty="0"/>
              <a:t>Each column is processed separately</a:t>
            </a:r>
          </a:p>
          <a:p>
            <a:pPr algn="just"/>
            <a:r>
              <a:rPr lang="en-US" dirty="0"/>
              <a:t>Each byte is replaced by a value dependent on all 4 bytes in the column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2E550-1527-D19A-633F-89F7D69A99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68" b="10065"/>
          <a:stretch/>
        </p:blipFill>
        <p:spPr>
          <a:xfrm>
            <a:off x="3727938" y="1266325"/>
            <a:ext cx="5299746" cy="293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36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240CE-3217-7866-D015-727C3884F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5089C-AB9C-1648-19B4-171E88463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of first matrix (predefined matrix) into column of second matrix (</a:t>
            </a:r>
            <a:r>
              <a:rPr lang="en-US"/>
              <a:t>state array)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Nd9GcSV7MUmElovmsyVXvPz9HThYx9s2sgzaMmiELRHo6SjKAAMxXL1">
            <a:extLst>
              <a:ext uri="{FF2B5EF4-FFF2-40B4-BE49-F238E27FC236}">
                <a16:creationId xmlns:a16="http://schemas.microsoft.com/office/drawing/2014/main" id="{7E05DBD2-9B12-0870-07AD-279859CDE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16" y="2084571"/>
            <a:ext cx="7924800" cy="186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9976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5113-BDE6-2896-B408-B9AAF3AD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 Round Key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461B6-A06F-5AF7-3D28-3F06493EB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XOR state with 128-bits of the round key</a:t>
            </a:r>
          </a:p>
          <a:p>
            <a:r>
              <a:rPr lang="en-US" dirty="0"/>
              <a:t>Again processed by column (though effectively a series of byte operations)</a:t>
            </a:r>
          </a:p>
          <a:p>
            <a:r>
              <a:rPr lang="en-US" dirty="0"/>
              <a:t>Designed to be as simple as possible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E552C-33DB-EF65-1E54-77BCEB54B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185" y="2571750"/>
            <a:ext cx="5374908" cy="225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05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E87059-38C1-A48B-9CD4-A9922A9D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F105A8-6C7B-64BA-30AB-18907A2C6743}"/>
              </a:ext>
            </a:extLst>
          </p:cNvPr>
          <p:cNvSpPr txBox="1">
            <a:spLocks/>
          </p:cNvSpPr>
          <p:nvPr/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b="1" dirty="0">
                <a:solidFill>
                  <a:schemeClr val="accent1"/>
                </a:solidFill>
                <a:latin typeface="PT Sans Narrow" panose="020B0506020203020204" pitchFamily="34" charset="0"/>
              </a:rPr>
              <a:t>Encryption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E40DB-2A0D-969E-9E1A-470F39209C6A}"/>
              </a:ext>
            </a:extLst>
          </p:cNvPr>
          <p:cNvSpPr txBox="1"/>
          <p:nvPr/>
        </p:nvSpPr>
        <p:spPr>
          <a:xfrm>
            <a:off x="725749" y="1105270"/>
            <a:ext cx="6130586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/>
              <a:t>Plain Text : 6F 6B</a:t>
            </a:r>
          </a:p>
          <a:p>
            <a:endParaRPr lang="en-GB" dirty="0"/>
          </a:p>
          <a:p>
            <a:r>
              <a:rPr lang="en-GB" dirty="0" err="1"/>
              <a:t>HexaDecimal</a:t>
            </a:r>
            <a:r>
              <a:rPr lang="en-GB" dirty="0"/>
              <a:t> to Binary Values</a:t>
            </a:r>
          </a:p>
          <a:p>
            <a:r>
              <a:rPr lang="en-GB" dirty="0"/>
              <a:t>0110 1111 0110 1011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u="sng" dirty="0"/>
              <a:t>Key: A7 3B</a:t>
            </a:r>
          </a:p>
          <a:p>
            <a:endParaRPr lang="en-GB" dirty="0"/>
          </a:p>
          <a:p>
            <a:r>
              <a:rPr lang="en-GB" dirty="0" err="1"/>
              <a:t>HexaDecimal</a:t>
            </a:r>
            <a:r>
              <a:rPr lang="en-GB" dirty="0"/>
              <a:t> to Binary Values</a:t>
            </a:r>
          </a:p>
          <a:p>
            <a:r>
              <a:rPr lang="en-GB" dirty="0"/>
              <a:t>1010 0111 0011 1011</a:t>
            </a:r>
          </a:p>
          <a:p>
            <a:endParaRPr lang="en-GB" dirty="0"/>
          </a:p>
          <a:p>
            <a:r>
              <a:rPr lang="en-GB" b="1" u="sng" dirty="0"/>
              <a:t>First Step: </a:t>
            </a:r>
          </a:p>
          <a:p>
            <a:endParaRPr lang="en-GB" dirty="0"/>
          </a:p>
          <a:p>
            <a:r>
              <a:rPr lang="en-GB" dirty="0"/>
              <a:t>P: 0110 1111 0110 1011</a:t>
            </a:r>
          </a:p>
          <a:p>
            <a:r>
              <a:rPr lang="en-GB" dirty="0"/>
              <a:t>K: 1010 0111 0011 1011</a:t>
            </a:r>
          </a:p>
          <a:p>
            <a:r>
              <a:rPr lang="en-GB" dirty="0"/>
              <a:t>----------------------------------</a:t>
            </a:r>
          </a:p>
          <a:p>
            <a:r>
              <a:rPr lang="en-GB" dirty="0"/>
              <a:t>     1100 1000 0101 0000</a:t>
            </a:r>
          </a:p>
          <a:p>
            <a:endParaRPr lang="en-GB" sz="1050" dirty="0"/>
          </a:p>
          <a:p>
            <a:endParaRPr lang="en-GB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314763-E5CA-FB8E-EA85-4B4817C1B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245" y="1523219"/>
            <a:ext cx="4813131" cy="22910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3124E1-2C83-F4B6-A85F-8B01586B07D9}"/>
              </a:ext>
            </a:extLst>
          </p:cNvPr>
          <p:cNvSpPr txBox="1"/>
          <p:nvPr/>
        </p:nvSpPr>
        <p:spPr>
          <a:xfrm>
            <a:off x="2518484" y="3675770"/>
            <a:ext cx="457089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50" dirty="0">
                <a:sym typeface="Symbol" panose="05050102010706020507" pitchFamily="18" charset="2"/>
              </a:rPr>
              <a:t> </a:t>
            </a:r>
            <a:endParaRPr lang="en-GB" sz="1050" dirty="0"/>
          </a:p>
        </p:txBody>
      </p:sp>
    </p:spTree>
    <p:extLst>
      <p:ext uri="{BB962C8B-B14F-4D97-AF65-F5344CB8AC3E}">
        <p14:creationId xmlns:p14="http://schemas.microsoft.com/office/powerpoint/2010/main" val="299217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Substitution Box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614F4-F962-49A9-BD88-D0BFED1473F5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DF186-8F74-AFE0-F52C-7F7D6F9EE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392" y="1710291"/>
            <a:ext cx="4236244" cy="257175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9ED3B7-C3CC-0747-9C2C-104BFF1A4AE9}"/>
              </a:ext>
            </a:extLst>
          </p:cNvPr>
          <p:cNvSpPr txBox="1"/>
          <p:nvPr/>
        </p:nvSpPr>
        <p:spPr>
          <a:xfrm>
            <a:off x="1086960" y="1438530"/>
            <a:ext cx="4570890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u="sng" dirty="0"/>
              <a:t>Second Step: Substitution Box</a:t>
            </a:r>
          </a:p>
          <a:p>
            <a:endParaRPr lang="en-GB" sz="1050" dirty="0"/>
          </a:p>
          <a:p>
            <a:endParaRPr lang="en-GB" sz="1050" dirty="0"/>
          </a:p>
          <a:p>
            <a:endParaRPr lang="en-GB" sz="1050" dirty="0"/>
          </a:p>
          <a:p>
            <a:r>
              <a:rPr lang="en-GB" sz="1050" dirty="0"/>
              <a:t>                            =             </a:t>
            </a:r>
          </a:p>
          <a:p>
            <a:endParaRPr lang="en-GB" sz="1050" dirty="0"/>
          </a:p>
          <a:p>
            <a:endParaRPr lang="en-GB" sz="1050" dirty="0"/>
          </a:p>
          <a:p>
            <a:endParaRPr lang="en-GB" sz="1050" dirty="0"/>
          </a:p>
          <a:p>
            <a:endParaRPr lang="en-GB" sz="1050" b="1" u="sng" dirty="0"/>
          </a:p>
          <a:p>
            <a:endParaRPr lang="en-GB" sz="1050" b="1" u="sng" dirty="0"/>
          </a:p>
          <a:p>
            <a:r>
              <a:rPr lang="en-GB" sz="1050" b="1" u="sng" dirty="0"/>
              <a:t>Third Step: Shift Rows</a:t>
            </a:r>
          </a:p>
          <a:p>
            <a:endParaRPr lang="en-GB" sz="1050" dirty="0"/>
          </a:p>
          <a:p>
            <a:endParaRPr lang="en-GB" sz="1050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017AD866-57A1-7478-4A72-AA06A2B42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202543"/>
              </p:ext>
            </p:extLst>
          </p:nvPr>
        </p:nvGraphicFramePr>
        <p:xfrm>
          <a:off x="1086960" y="3514450"/>
          <a:ext cx="2000774" cy="80618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00387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000387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403093">
                <a:tc>
                  <a:txBody>
                    <a:bodyPr/>
                    <a:lstStyle/>
                    <a:p>
                      <a:r>
                        <a:rPr lang="en-GB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0110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r>
                        <a:rPr lang="en-GB" sz="11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1001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100" b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0001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E24DDDB-863C-615C-CD83-68CF124C8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545928"/>
              </p:ext>
            </p:extLst>
          </p:nvPr>
        </p:nvGraphicFramePr>
        <p:xfrm>
          <a:off x="469392" y="2006267"/>
          <a:ext cx="1432560" cy="557761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279631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0101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AFB0FD-5A54-4BCE-9B9C-D9680D9BD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044915"/>
              </p:ext>
            </p:extLst>
          </p:nvPr>
        </p:nvGraphicFramePr>
        <p:xfrm>
          <a:off x="2576892" y="2006266"/>
          <a:ext cx="1432560" cy="557761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279631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0110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0001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1001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08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3B01D-C6BF-4C06-6859-DAAB509D0E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9184" y="192025"/>
                <a:ext cx="8186166" cy="444069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Fourth step is shift Column</a:t>
                </a:r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</a:p>
              <a:p>
                <a:pPr marL="0" indent="0">
                  <a:buNone/>
                </a:pPr>
                <a:r>
                  <a:rPr lang="en-GB" sz="2700" dirty="0">
                    <a:sym typeface="Symbol" panose="05050102010706020507" pitchFamily="18" charset="2"/>
                  </a:rPr>
                  <a:t>                                    </a:t>
                </a: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  <a:sym typeface="Symbol" panose="05050102010706020507" pitchFamily="18" charset="2"/>
                  </a:rPr>
                  <a:t>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7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7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7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7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GB" sz="27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GB" sz="27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7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GB" sz="27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GB" sz="27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7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7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7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7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7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27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7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GB" sz="27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7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GB" sz="27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</a:rPr>
                  <a:t>Equations are :</a:t>
                </a:r>
              </a:p>
              <a:p>
                <a:pPr marL="0" indent="0">
                  <a:buNone/>
                </a:pP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</a:rPr>
                  <a:t>1100*1 </a:t>
                </a: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  <a:sym typeface="Symbol" panose="05050102010706020507" pitchFamily="18" charset="2"/>
                  </a:rPr>
                  <a:t></a:t>
                </a: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</a:rPr>
                  <a:t> (4 * 0110)</a:t>
                </a:r>
              </a:p>
              <a:p>
                <a:pPr marL="0" indent="0">
                  <a:buNone/>
                </a:pP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</a:rPr>
                  <a:t>(4 * 1100) </a:t>
                </a: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  <a:sym typeface="Symbol" panose="05050102010706020507" pitchFamily="18" charset="2"/>
                  </a:rPr>
                  <a:t></a:t>
                </a: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</a:rPr>
                  <a:t> 0110 *1</a:t>
                </a:r>
              </a:p>
              <a:p>
                <a:pPr marL="0" indent="0">
                  <a:buNone/>
                </a:pP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</a:rPr>
                  <a:t>1001*1 </a:t>
                </a: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  <a:sym typeface="Symbol" panose="05050102010706020507" pitchFamily="18" charset="2"/>
                  </a:rPr>
                  <a:t></a:t>
                </a: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</a:rPr>
                  <a:t> (4 * 0001)</a:t>
                </a:r>
              </a:p>
              <a:p>
                <a:pPr marL="0" indent="0">
                  <a:buNone/>
                </a:pP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</a:rPr>
                  <a:t>(4 * 1001) </a:t>
                </a: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  <a:sym typeface="Symbol" panose="05050102010706020507" pitchFamily="18" charset="2"/>
                  </a:rPr>
                  <a:t></a:t>
                </a:r>
                <a:r>
                  <a:rPr lang="en-GB" sz="2700" dirty="0">
                    <a:solidFill>
                      <a:schemeClr val="bg2">
                        <a:lumMod val="50000"/>
                      </a:schemeClr>
                    </a:solidFill>
                  </a:rPr>
                  <a:t> 0001 *1</a:t>
                </a:r>
              </a:p>
              <a:p>
                <a:pPr marL="0" indent="0">
                  <a:buNone/>
                </a:pPr>
                <a:endParaRPr lang="en-GB" sz="27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3B01D-C6BF-4C06-6859-DAAB509D0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9184" y="192025"/>
                <a:ext cx="8186166" cy="4440698"/>
              </a:xfrm>
              <a:blipFill>
                <a:blip r:embed="rId2"/>
                <a:stretch>
                  <a:fillRect l="-1117" b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BC42D-AB25-C87C-1CF3-5288764D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21</a:t>
            </a:fld>
            <a:endParaRPr lang="en-US" dirty="0"/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B4FFF186-1647-05B6-E0EC-6731B9D04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910586"/>
              </p:ext>
            </p:extLst>
          </p:nvPr>
        </p:nvGraphicFramePr>
        <p:xfrm>
          <a:off x="628650" y="635824"/>
          <a:ext cx="1954752" cy="80618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00387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954365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403093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1100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0110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1001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0001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4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3B01D-C6BF-4C06-6859-DAAB509D0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84" y="192025"/>
            <a:ext cx="8186166" cy="44406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Shift Column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bg2">
                    <a:lumMod val="50000"/>
                  </a:schemeClr>
                </a:solidFill>
              </a:rPr>
              <a:t>1100*1 </a:t>
            </a:r>
            <a:r>
              <a:rPr lang="en-GB" sz="2100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</a:t>
            </a:r>
            <a:r>
              <a:rPr lang="en-GB" sz="2100" dirty="0">
                <a:solidFill>
                  <a:schemeClr val="bg2">
                    <a:lumMod val="50000"/>
                  </a:schemeClr>
                </a:solidFill>
              </a:rPr>
              <a:t> (4 * 0110)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bg2">
                    <a:lumMod val="50000"/>
                  </a:schemeClr>
                </a:solidFill>
              </a:rPr>
              <a:t>           =(x2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*</a:t>
            </a:r>
            <a:r>
              <a:rPr lang="en-GB" sz="2100" dirty="0">
                <a:solidFill>
                  <a:schemeClr val="bg2">
                    <a:lumMod val="50000"/>
                  </a:schemeClr>
                </a:solidFill>
              </a:rPr>
              <a:t> x2+x)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           = (x4+ x3)  (reducible to x4+x+1)</a:t>
            </a:r>
            <a:endParaRPr lang="en-GB" sz="21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GB" sz="27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GB" sz="27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GB" sz="27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GB" sz="27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GB" sz="27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sz="2700" dirty="0">
                <a:solidFill>
                  <a:schemeClr val="bg2">
                    <a:lumMod val="50000"/>
                  </a:schemeClr>
                </a:solidFill>
              </a:rPr>
              <a:t>1100*1 </a:t>
            </a:r>
            <a:r>
              <a:rPr lang="en-GB" sz="2700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</a:t>
            </a:r>
            <a:r>
              <a:rPr lang="en-GB" sz="2700" dirty="0">
                <a:solidFill>
                  <a:schemeClr val="bg2">
                    <a:lumMod val="50000"/>
                  </a:schemeClr>
                </a:solidFill>
              </a:rPr>
              <a:t> (4 * 0110)</a:t>
            </a:r>
          </a:p>
          <a:p>
            <a:pPr marL="0" indent="0">
              <a:buNone/>
            </a:pPr>
            <a:r>
              <a:rPr lang="en-GB" sz="2700" dirty="0">
                <a:solidFill>
                  <a:schemeClr val="bg2">
                    <a:lumMod val="50000"/>
                  </a:schemeClr>
                </a:solidFill>
              </a:rPr>
              <a:t>1100 </a:t>
            </a:r>
            <a:r>
              <a:rPr lang="en-GB" sz="2700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 1011</a:t>
            </a:r>
            <a:r>
              <a:rPr lang="en-GB" sz="27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GB" sz="2700" dirty="0">
                <a:solidFill>
                  <a:schemeClr val="bg2">
                    <a:lumMod val="50000"/>
                  </a:schemeClr>
                </a:solidFill>
              </a:rPr>
              <a:t>0111</a:t>
            </a:r>
          </a:p>
          <a:p>
            <a:pPr marL="0" indent="0">
              <a:buNone/>
            </a:pPr>
            <a:endParaRPr lang="en-GB" sz="27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BC42D-AB25-C87C-1CF3-5288764D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22</a:t>
            </a:fld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93F488B-8D36-BF7A-8883-587F8908A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761830"/>
              </p:ext>
            </p:extLst>
          </p:nvPr>
        </p:nvGraphicFramePr>
        <p:xfrm>
          <a:off x="5242820" y="510778"/>
          <a:ext cx="1954752" cy="80618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00387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954365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403093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0111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403093">
                <a:tc>
                  <a:txBody>
                    <a:bodyPr/>
                    <a:lstStyle/>
                    <a:p>
                      <a:endParaRPr lang="en-GB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GB" sz="11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FF7249C-D0C8-5B7F-A538-A65A2FDB5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911" y="1487290"/>
            <a:ext cx="3005647" cy="197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5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760E-4AAC-D120-2A58-BAC37F0D8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54" y="432787"/>
            <a:ext cx="8189096" cy="46083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(4 * 1100)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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0110 *1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(x2* x3+x2)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 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0110 *1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x5+x4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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0110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0101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 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0110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0011</a:t>
            </a:r>
          </a:p>
          <a:p>
            <a:pPr marL="0" indent="0">
              <a:buNone/>
            </a:pP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1001*1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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(4 * 0001)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1001*1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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(x2 * 1)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1001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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 0100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1101</a:t>
            </a:r>
          </a:p>
          <a:p>
            <a:pPr marL="0" indent="0">
              <a:buNone/>
            </a:pP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(4 * 1001)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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0001 *1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(x2 * x3+1)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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0001 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x5+x2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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0001 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0010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sym typeface="Symbol" panose="05050102010706020507" pitchFamily="18" charset="2"/>
              </a:rPr>
              <a:t>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 0001 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0011</a:t>
            </a:r>
          </a:p>
          <a:p>
            <a:pPr marL="0" indent="0">
              <a:buNone/>
            </a:pPr>
            <a:endParaRPr lang="en-GB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A8C4D-1113-B646-81DB-ED6BE3D1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23</a:t>
            </a:fld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D5A43B8-D49C-1C62-7B42-4D022DC2F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147732"/>
              </p:ext>
            </p:extLst>
          </p:nvPr>
        </p:nvGraphicFramePr>
        <p:xfrm>
          <a:off x="5519691" y="3325969"/>
          <a:ext cx="2564537" cy="12515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354891">
                  <a:extLst>
                    <a:ext uri="{9D8B030D-6E8A-4147-A177-3AD203B41FA5}">
                      <a16:colId xmlns:a16="http://schemas.microsoft.com/office/drawing/2014/main" val="708114143"/>
                    </a:ext>
                  </a:extLst>
                </a:gridCol>
                <a:gridCol w="1209646">
                  <a:extLst>
                    <a:ext uri="{9D8B030D-6E8A-4147-A177-3AD203B41FA5}">
                      <a16:colId xmlns:a16="http://schemas.microsoft.com/office/drawing/2014/main" val="3320136074"/>
                    </a:ext>
                  </a:extLst>
                </a:gridCol>
              </a:tblGrid>
              <a:tr h="625790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0111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0011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806871"/>
                  </a:ext>
                </a:extLst>
              </a:tr>
              <a:tr h="625790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1101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0011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286362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3ED7757-3D59-92E3-7499-E2B0F7172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593" y="306280"/>
            <a:ext cx="2605928" cy="1771484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7D76B7-1DDB-16F1-4B09-AB1A1C7C2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77" y="3459134"/>
            <a:ext cx="2477624" cy="1581973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09E9BD-27F9-EB99-49A2-5B309A512F9C}"/>
              </a:ext>
            </a:extLst>
          </p:cNvPr>
          <p:cNvCxnSpPr>
            <a:endCxn id="9" idx="1"/>
          </p:cNvCxnSpPr>
          <p:nvPr/>
        </p:nvCxnSpPr>
        <p:spPr>
          <a:xfrm>
            <a:off x="2243832" y="1192022"/>
            <a:ext cx="22547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C4E7BF-7DD8-DFD8-65EF-B0CFBE1F8739}"/>
              </a:ext>
            </a:extLst>
          </p:cNvPr>
          <p:cNvCxnSpPr>
            <a:cxnSpLocks/>
          </p:cNvCxnSpPr>
          <p:nvPr/>
        </p:nvCxnSpPr>
        <p:spPr>
          <a:xfrm flipV="1">
            <a:off x="1059773" y="4307621"/>
            <a:ext cx="1243983" cy="2146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93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0E08A-7AA6-36F6-EB5E-025F8F338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51653"/>
          </a:xfrm>
        </p:spPr>
        <p:txBody>
          <a:bodyPr>
            <a:normAutofit/>
          </a:bodyPr>
          <a:lstStyle/>
          <a:p>
            <a:r>
              <a:rPr lang="en-GB" sz="2400" u="sng" dirty="0"/>
              <a:t>Fifth Step: Add round key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B1301-B977-B63F-BBB1-C740DBB3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F460C3-BF67-04FC-C8A4-89EC85A8F25F}"/>
              </a:ext>
            </a:extLst>
          </p:cNvPr>
          <p:cNvSpPr txBox="1"/>
          <p:nvPr/>
        </p:nvSpPr>
        <p:spPr>
          <a:xfrm>
            <a:off x="696898" y="770929"/>
            <a:ext cx="75926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800" dirty="0">
              <a:latin typeface="Calibri" panose="020F0502020204030204" pitchFamily="34" charset="0"/>
            </a:endParaRPr>
          </a:p>
          <a:p>
            <a:r>
              <a:rPr lang="en-GB" sz="1800" dirty="0">
                <a:latin typeface="Calibri" panose="020F0502020204030204" pitchFamily="34" charset="0"/>
              </a:rPr>
              <a:t>Key1  = </a:t>
            </a:r>
            <a:r>
              <a:rPr lang="en-GB" sz="1800" dirty="0">
                <a:latin typeface="Calibri" panose="020F0502020204030204" pitchFamily="34" charset="0"/>
                <a:sym typeface="Symbol" panose="05050102010706020507" pitchFamily="18" charset="2"/>
              </a:rPr>
              <a:t>0001 1100 0010 0111</a:t>
            </a:r>
            <a:endParaRPr lang="en-GB" sz="1800" dirty="0"/>
          </a:p>
          <a:p>
            <a:r>
              <a:rPr lang="en-GB" sz="1800" dirty="0">
                <a:latin typeface="Calibri" panose="020F0502020204030204" pitchFamily="34" charset="0"/>
                <a:sym typeface="Symbol" panose="05050102010706020507" pitchFamily="18" charset="2"/>
              </a:rPr>
              <a:t>P         =0111 0011  1101 0011</a:t>
            </a:r>
          </a:p>
          <a:p>
            <a:r>
              <a:rPr lang="en-GB" sz="1800" dirty="0">
                <a:latin typeface="Calibri" panose="020F0502020204030204" pitchFamily="34" charset="0"/>
                <a:sym typeface="Symbol" panose="05050102010706020507" pitchFamily="18" charset="2"/>
              </a:rPr>
              <a:t>-------------------------------------------</a:t>
            </a:r>
          </a:p>
          <a:p>
            <a:r>
              <a:rPr lang="en-GB" sz="1800">
                <a:latin typeface="Calibri" panose="020F0502020204030204" pitchFamily="34" charset="0"/>
                <a:sym typeface="Symbol" panose="05050102010706020507" pitchFamily="18" charset="2"/>
              </a:rPr>
              <a:t>CIPHER TEXT    </a:t>
            </a:r>
            <a:r>
              <a:rPr lang="en-GB" sz="1800" dirty="0">
                <a:latin typeface="Calibri" panose="020F0502020204030204" pitchFamily="34" charset="0"/>
                <a:sym typeface="Symbol" panose="05050102010706020507" pitchFamily="18" charset="2"/>
              </a:rPr>
              <a:t>= 0110 1111 1111 0100</a:t>
            </a:r>
          </a:p>
          <a:p>
            <a:endParaRPr lang="en-GB" sz="1800" dirty="0">
              <a:latin typeface="Calibri" panose="020F0502020204030204" pitchFamily="34" charset="0"/>
              <a:sym typeface="Symbol" panose="05050102010706020507" pitchFamily="18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0A58C-8837-21AB-2B7F-6BF53448B877}"/>
              </a:ext>
            </a:extLst>
          </p:cNvPr>
          <p:cNvSpPr txBox="1"/>
          <p:nvPr/>
        </p:nvSpPr>
        <p:spPr>
          <a:xfrm>
            <a:off x="3610437" y="1179394"/>
            <a:ext cx="54431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50" dirty="0">
                <a:sym typeface="Symbol" panose="05050102010706020507" pitchFamily="18" charset="2"/>
              </a:rPr>
              <a:t> </a:t>
            </a:r>
            <a:endParaRPr lang="en-GB" sz="1050" dirty="0"/>
          </a:p>
        </p:txBody>
      </p:sp>
    </p:spTree>
    <p:extLst>
      <p:ext uri="{BB962C8B-B14F-4D97-AF65-F5344CB8AC3E}">
        <p14:creationId xmlns:p14="http://schemas.microsoft.com/office/powerpoint/2010/main" val="237150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855E-D8F3-3D79-4E44-7D9FE3BFA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100" y="1953394"/>
            <a:ext cx="2486208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52910283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2870</TotalTime>
  <Words>798</Words>
  <Application>Microsoft Office PowerPoint</Application>
  <PresentationFormat>On-screen Show (16:9)</PresentationFormat>
  <Paragraphs>171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PT Sans Narrow</vt:lpstr>
      <vt:lpstr>Symbol</vt:lpstr>
      <vt:lpstr>Google Sans</vt:lpstr>
      <vt:lpstr>Cambria Math</vt:lpstr>
      <vt:lpstr>Open Sans</vt:lpstr>
      <vt:lpstr>Arial</vt:lpstr>
      <vt:lpstr>Calibri</vt:lpstr>
      <vt:lpstr>Tropic</vt:lpstr>
      <vt:lpstr>AES Encryption</vt:lpstr>
      <vt:lpstr>AES INTRODUCTION</vt:lpstr>
      <vt:lpstr>Why AES is Strong? </vt:lpstr>
      <vt:lpstr>Advanced Encryption Standard </vt:lpstr>
      <vt:lpstr>AES Security</vt:lpstr>
      <vt:lpstr>AES Implementation Aspects</vt:lpstr>
      <vt:lpstr>AES Structure</vt:lpstr>
      <vt:lpstr>AES Parameters</vt:lpstr>
      <vt:lpstr>AES Encryption and Decryption</vt:lpstr>
      <vt:lpstr>Input / State Array</vt:lpstr>
      <vt:lpstr>AES Transformation Functions</vt:lpstr>
      <vt:lpstr>Substitute Byte Transformation</vt:lpstr>
      <vt:lpstr>PowerPoint Presentation</vt:lpstr>
      <vt:lpstr>PowerPoint Presentation</vt:lpstr>
      <vt:lpstr>Shift Row Transformation</vt:lpstr>
      <vt:lpstr>Mix Column Transformation</vt:lpstr>
      <vt:lpstr>PowerPoint Presentation</vt:lpstr>
      <vt:lpstr>Add Round Key </vt:lpstr>
      <vt:lpstr>PowerPoint Presentation</vt:lpstr>
      <vt:lpstr>Substitution Box</vt:lpstr>
      <vt:lpstr>PowerPoint Presentation</vt:lpstr>
      <vt:lpstr>PowerPoint Presentation</vt:lpstr>
      <vt:lpstr>PowerPoint Presentation</vt:lpstr>
      <vt:lpstr>Fifth Step: Add round key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InformationSecurity</dc:title>
  <dc:creator>hp</dc:creator>
  <cp:lastModifiedBy>ayesha jarral</cp:lastModifiedBy>
  <cp:revision>37</cp:revision>
  <dcterms:modified xsi:type="dcterms:W3CDTF">2025-09-30T11:52:12Z</dcterms:modified>
</cp:coreProperties>
</file>