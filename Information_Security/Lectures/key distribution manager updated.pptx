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801" autoAdjust="0"/>
    <p:restoredTop sz="94660"/>
  </p:normalViewPr>
  <p:slideViewPr>
    <p:cSldViewPr snapToGrid="0">
      <p:cViewPr varScale="1">
        <p:scale>
          <a:sx n="62" d="100"/>
          <a:sy n="62" d="100"/>
        </p:scale>
        <p:origin x="644"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1CF974-A338-40E7-8086-E23E55C93081}" type="datetimeFigureOut">
              <a:rPr lang="en-PK" smtClean="0"/>
              <a:t>27/11/2025</a:t>
            </a:fld>
            <a:endParaRPr lang="en-P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B2965B-785C-48BA-97A9-88DC07318A2B}" type="slidenum">
              <a:rPr lang="en-PK" smtClean="0"/>
              <a:t>‹#›</a:t>
            </a:fld>
            <a:endParaRPr lang="en-PK"/>
          </a:p>
        </p:txBody>
      </p:sp>
    </p:spTree>
    <p:extLst>
      <p:ext uri="{BB962C8B-B14F-4D97-AF65-F5344CB8AC3E}">
        <p14:creationId xmlns:p14="http://schemas.microsoft.com/office/powerpoint/2010/main" val="39868091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Explanation:</a:t>
            </a:r>
            <a:br>
              <a:rPr lang="en-US" dirty="0"/>
            </a:br>
            <a:r>
              <a:rPr lang="en-US" dirty="0"/>
              <a:t>Key distribution ka </a:t>
            </a:r>
            <a:r>
              <a:rPr lang="en-US" dirty="0" err="1"/>
              <a:t>matlab</a:t>
            </a:r>
            <a:r>
              <a:rPr lang="en-US" dirty="0"/>
              <a:t> </a:t>
            </a:r>
            <a:r>
              <a:rPr lang="en-US" dirty="0" err="1"/>
              <a:t>hai</a:t>
            </a:r>
            <a:r>
              <a:rPr lang="en-US" dirty="0"/>
              <a:t> </a:t>
            </a:r>
            <a:r>
              <a:rPr lang="en-US" dirty="0" err="1"/>
              <a:t>ke</a:t>
            </a:r>
            <a:r>
              <a:rPr lang="en-US" dirty="0"/>
              <a:t> jo key generate hui </a:t>
            </a:r>
            <a:r>
              <a:rPr lang="en-US" dirty="0" err="1"/>
              <a:t>hai</a:t>
            </a:r>
            <a:r>
              <a:rPr lang="en-US" dirty="0"/>
              <a:t>, </a:t>
            </a:r>
            <a:r>
              <a:rPr lang="en-US" dirty="0" err="1"/>
              <a:t>usay</a:t>
            </a:r>
            <a:r>
              <a:rPr lang="en-US" dirty="0"/>
              <a:t> securely un logon </a:t>
            </a:r>
            <a:r>
              <a:rPr lang="en-US" dirty="0" err="1"/>
              <a:t>tak</a:t>
            </a:r>
            <a:r>
              <a:rPr lang="en-US" dirty="0"/>
              <a:t> </a:t>
            </a:r>
            <a:r>
              <a:rPr lang="en-US" dirty="0" err="1"/>
              <a:t>pohanchana</a:t>
            </a:r>
            <a:r>
              <a:rPr lang="en-US" dirty="0"/>
              <a:t> </a:t>
            </a:r>
            <a:r>
              <a:rPr lang="en-US" dirty="0" err="1"/>
              <a:t>jin</a:t>
            </a:r>
            <a:r>
              <a:rPr lang="en-US" dirty="0"/>
              <a:t> ko use </a:t>
            </a:r>
            <a:r>
              <a:rPr lang="en-US" dirty="0" err="1"/>
              <a:t>karna</a:t>
            </a:r>
            <a:r>
              <a:rPr lang="en-US" dirty="0"/>
              <a:t> </a:t>
            </a:r>
            <a:r>
              <a:rPr lang="en-US" dirty="0" err="1"/>
              <a:t>hai</a:t>
            </a:r>
            <a:r>
              <a:rPr lang="en-US" dirty="0"/>
              <a:t>. Yeh process is </a:t>
            </a:r>
            <a:r>
              <a:rPr lang="en-US" dirty="0" err="1"/>
              <a:t>liye</a:t>
            </a:r>
            <a:r>
              <a:rPr lang="en-US" dirty="0"/>
              <a:t> </a:t>
            </a:r>
            <a:r>
              <a:rPr lang="en-US" dirty="0" err="1"/>
              <a:t>zaroori</a:t>
            </a:r>
            <a:r>
              <a:rPr lang="en-US" dirty="0"/>
              <a:t> </a:t>
            </a:r>
            <a:r>
              <a:rPr lang="en-US" dirty="0" err="1"/>
              <a:t>hai</a:t>
            </a:r>
            <a:r>
              <a:rPr lang="en-US" dirty="0"/>
              <a:t> </a:t>
            </a:r>
            <a:r>
              <a:rPr lang="en-US" dirty="0" err="1"/>
              <a:t>takay</a:t>
            </a:r>
            <a:r>
              <a:rPr lang="en-US" dirty="0"/>
              <a:t> keys safe </a:t>
            </a:r>
            <a:r>
              <a:rPr lang="en-US" dirty="0" err="1"/>
              <a:t>rahain</a:t>
            </a:r>
            <a:r>
              <a:rPr lang="en-US" dirty="0"/>
              <a:t> aur koi unauthorized person un </a:t>
            </a:r>
            <a:r>
              <a:rPr lang="en-US" dirty="0" err="1"/>
              <a:t>tak</a:t>
            </a:r>
            <a:r>
              <a:rPr lang="en-US" dirty="0"/>
              <a:t> access </a:t>
            </a:r>
            <a:r>
              <a:rPr lang="en-US" dirty="0" err="1"/>
              <a:t>na</a:t>
            </a:r>
            <a:r>
              <a:rPr lang="en-US" dirty="0"/>
              <a:t> </a:t>
            </a:r>
            <a:r>
              <a:rPr lang="en-US" dirty="0" err="1"/>
              <a:t>kar</a:t>
            </a:r>
            <a:r>
              <a:rPr lang="en-US" dirty="0"/>
              <a:t> sake.</a:t>
            </a:r>
          </a:p>
          <a:p>
            <a:r>
              <a:rPr lang="en-US" b="1" dirty="0"/>
              <a:t>Real-Life Example in Roman Urdu:</a:t>
            </a:r>
            <a:br>
              <a:rPr lang="en-US" dirty="0"/>
            </a:br>
            <a:r>
              <a:rPr lang="en-US" dirty="0" err="1"/>
              <a:t>Sochiye</a:t>
            </a:r>
            <a:r>
              <a:rPr lang="en-US" dirty="0"/>
              <a:t> </a:t>
            </a:r>
            <a:r>
              <a:rPr lang="en-US" dirty="0" err="1"/>
              <a:t>aap</a:t>
            </a:r>
            <a:r>
              <a:rPr lang="en-US" dirty="0"/>
              <a:t> </a:t>
            </a:r>
            <a:r>
              <a:rPr lang="en-US" dirty="0" err="1"/>
              <a:t>ke</a:t>
            </a:r>
            <a:r>
              <a:rPr lang="en-US" dirty="0"/>
              <a:t> </a:t>
            </a:r>
            <a:r>
              <a:rPr lang="en-US" dirty="0" err="1"/>
              <a:t>ghar</a:t>
            </a:r>
            <a:r>
              <a:rPr lang="en-US" dirty="0"/>
              <a:t> ka lock ka ek key </a:t>
            </a:r>
            <a:r>
              <a:rPr lang="en-US" dirty="0" err="1"/>
              <a:t>hai</a:t>
            </a:r>
            <a:r>
              <a:rPr lang="en-US" dirty="0"/>
              <a:t>. </a:t>
            </a:r>
            <a:r>
              <a:rPr lang="en-US" dirty="0" err="1"/>
              <a:t>Aap</a:t>
            </a:r>
            <a:r>
              <a:rPr lang="en-US" dirty="0"/>
              <a:t> </a:t>
            </a:r>
            <a:r>
              <a:rPr lang="en-US" dirty="0" err="1"/>
              <a:t>chahte</a:t>
            </a:r>
            <a:r>
              <a:rPr lang="en-US" dirty="0"/>
              <a:t> </a:t>
            </a:r>
            <a:r>
              <a:rPr lang="en-US" dirty="0" err="1"/>
              <a:t>hain</a:t>
            </a:r>
            <a:r>
              <a:rPr lang="en-US" dirty="0"/>
              <a:t> </a:t>
            </a:r>
            <a:r>
              <a:rPr lang="en-US" dirty="0" err="1"/>
              <a:t>ke</a:t>
            </a:r>
            <a:r>
              <a:rPr lang="en-US" dirty="0"/>
              <a:t> </a:t>
            </a:r>
            <a:r>
              <a:rPr lang="en-US" dirty="0" err="1"/>
              <a:t>aapka</a:t>
            </a:r>
            <a:r>
              <a:rPr lang="en-US" dirty="0"/>
              <a:t> dost us lock ko </a:t>
            </a:r>
            <a:r>
              <a:rPr lang="en-US" dirty="0" err="1"/>
              <a:t>khol</a:t>
            </a:r>
            <a:r>
              <a:rPr lang="en-US" dirty="0"/>
              <a:t> sake, </a:t>
            </a:r>
            <a:r>
              <a:rPr lang="en-US" dirty="0" err="1"/>
              <a:t>lekin</a:t>
            </a:r>
            <a:r>
              <a:rPr lang="en-US" dirty="0"/>
              <a:t> </a:t>
            </a:r>
            <a:r>
              <a:rPr lang="en-US" dirty="0" err="1"/>
              <a:t>sirf</a:t>
            </a:r>
            <a:r>
              <a:rPr lang="en-US" dirty="0"/>
              <a:t> </a:t>
            </a:r>
            <a:r>
              <a:rPr lang="en-US" dirty="0" err="1"/>
              <a:t>aapka</a:t>
            </a:r>
            <a:r>
              <a:rPr lang="en-US" dirty="0"/>
              <a:t> dost aur koi </a:t>
            </a:r>
            <a:r>
              <a:rPr lang="en-US" dirty="0" err="1"/>
              <a:t>nahi</a:t>
            </a:r>
            <a:r>
              <a:rPr lang="en-US" dirty="0"/>
              <a:t>. Agar </a:t>
            </a:r>
            <a:r>
              <a:rPr lang="en-US" dirty="0" err="1"/>
              <a:t>aap</a:t>
            </a:r>
            <a:r>
              <a:rPr lang="en-US" dirty="0"/>
              <a:t> wo key </a:t>
            </a:r>
            <a:r>
              <a:rPr lang="en-US" dirty="0" err="1"/>
              <a:t>apne</a:t>
            </a:r>
            <a:r>
              <a:rPr lang="en-US" dirty="0"/>
              <a:t> dost ko </a:t>
            </a:r>
            <a:r>
              <a:rPr lang="en-US" b="1" dirty="0"/>
              <a:t>direct </a:t>
            </a:r>
            <a:r>
              <a:rPr lang="en-US" b="1" dirty="0" err="1"/>
              <a:t>haath</a:t>
            </a:r>
            <a:r>
              <a:rPr lang="en-US" b="1" dirty="0"/>
              <a:t> </a:t>
            </a:r>
            <a:r>
              <a:rPr lang="en-US" b="1" dirty="0" err="1"/>
              <a:t>mein</a:t>
            </a:r>
            <a:r>
              <a:rPr lang="en-US" b="1" dirty="0"/>
              <a:t> </a:t>
            </a:r>
            <a:r>
              <a:rPr lang="en-US" b="1" dirty="0" err="1"/>
              <a:t>denge</a:t>
            </a:r>
            <a:r>
              <a:rPr lang="en-US" dirty="0"/>
              <a:t>, to yeh ek secure method </a:t>
            </a:r>
            <a:r>
              <a:rPr lang="en-US" dirty="0" err="1"/>
              <a:t>hai</a:t>
            </a:r>
            <a:r>
              <a:rPr lang="en-US" dirty="0"/>
              <a:t>. </a:t>
            </a:r>
            <a:r>
              <a:rPr lang="en-US" dirty="0" err="1"/>
              <a:t>Lekin</a:t>
            </a:r>
            <a:r>
              <a:rPr lang="en-US" dirty="0"/>
              <a:t> agar </a:t>
            </a:r>
            <a:r>
              <a:rPr lang="en-US" dirty="0" err="1"/>
              <a:t>aap</a:t>
            </a:r>
            <a:r>
              <a:rPr lang="en-US" dirty="0"/>
              <a:t> key </a:t>
            </a:r>
            <a:r>
              <a:rPr lang="en-US" dirty="0" err="1"/>
              <a:t>kisi</a:t>
            </a:r>
            <a:r>
              <a:rPr lang="en-US" dirty="0"/>
              <a:t> aur </a:t>
            </a:r>
            <a:r>
              <a:rPr lang="en-US" dirty="0" err="1"/>
              <a:t>ke</a:t>
            </a:r>
            <a:r>
              <a:rPr lang="en-US" dirty="0"/>
              <a:t> through </a:t>
            </a:r>
            <a:r>
              <a:rPr lang="en-US" dirty="0" err="1"/>
              <a:t>ya</a:t>
            </a:r>
            <a:r>
              <a:rPr lang="en-US" dirty="0"/>
              <a:t> post se </a:t>
            </a:r>
            <a:r>
              <a:rPr lang="en-US" dirty="0" err="1"/>
              <a:t>bhejen</a:t>
            </a:r>
            <a:r>
              <a:rPr lang="en-US" dirty="0"/>
              <a:t>, to risk </a:t>
            </a:r>
            <a:r>
              <a:rPr lang="en-US" dirty="0" err="1"/>
              <a:t>hai</a:t>
            </a:r>
            <a:r>
              <a:rPr lang="en-US" dirty="0"/>
              <a:t> </a:t>
            </a:r>
            <a:r>
              <a:rPr lang="en-US" dirty="0" err="1"/>
              <a:t>ke</a:t>
            </a:r>
            <a:r>
              <a:rPr lang="en-US" dirty="0"/>
              <a:t> wo key </a:t>
            </a:r>
            <a:r>
              <a:rPr lang="en-US" dirty="0" err="1"/>
              <a:t>galat</a:t>
            </a:r>
            <a:r>
              <a:rPr lang="en-US" dirty="0"/>
              <a:t> </a:t>
            </a:r>
            <a:r>
              <a:rPr lang="en-US" dirty="0" err="1"/>
              <a:t>haathon</a:t>
            </a:r>
            <a:r>
              <a:rPr lang="en-US" dirty="0"/>
              <a:t> </a:t>
            </a:r>
            <a:r>
              <a:rPr lang="en-US" dirty="0" err="1"/>
              <a:t>mein</a:t>
            </a:r>
            <a:r>
              <a:rPr lang="en-US" dirty="0"/>
              <a:t> </a:t>
            </a:r>
            <a:r>
              <a:rPr lang="en-US" dirty="0" err="1"/>
              <a:t>chali</a:t>
            </a:r>
            <a:r>
              <a:rPr lang="en-US" dirty="0"/>
              <a:t> </a:t>
            </a:r>
            <a:r>
              <a:rPr lang="en-US" dirty="0" err="1"/>
              <a:t>jaye</a:t>
            </a:r>
            <a:r>
              <a:rPr lang="en-US" dirty="0"/>
              <a:t>.</a:t>
            </a:r>
          </a:p>
          <a:p>
            <a:r>
              <a:rPr lang="en-US" dirty="0"/>
              <a:t>Bank ka </a:t>
            </a:r>
            <a:r>
              <a:rPr lang="en-US" dirty="0" err="1"/>
              <a:t>bhi</a:t>
            </a:r>
            <a:r>
              <a:rPr lang="en-US" dirty="0"/>
              <a:t> same </a:t>
            </a:r>
            <a:r>
              <a:rPr lang="en-US" dirty="0" err="1"/>
              <a:t>kaam</a:t>
            </a:r>
            <a:r>
              <a:rPr lang="en-US" dirty="0"/>
              <a:t> </a:t>
            </a:r>
            <a:r>
              <a:rPr lang="en-US" dirty="0" err="1"/>
              <a:t>hota</a:t>
            </a:r>
            <a:r>
              <a:rPr lang="en-US" dirty="0"/>
              <a:t> </a:t>
            </a:r>
            <a:r>
              <a:rPr lang="en-US" dirty="0" err="1"/>
              <a:t>hai</a:t>
            </a:r>
            <a:r>
              <a:rPr lang="en-US" dirty="0"/>
              <a:t>. For example, </a:t>
            </a:r>
            <a:r>
              <a:rPr lang="en-US" b="1" dirty="0"/>
              <a:t>ATM machine ko secure </a:t>
            </a:r>
            <a:r>
              <a:rPr lang="en-US" b="1" dirty="0" err="1"/>
              <a:t>karne</a:t>
            </a:r>
            <a:r>
              <a:rPr lang="en-US" b="1" dirty="0"/>
              <a:t> </a:t>
            </a:r>
            <a:r>
              <a:rPr lang="en-US" b="1" dirty="0" err="1"/>
              <a:t>ke</a:t>
            </a:r>
            <a:r>
              <a:rPr lang="en-US" b="1" dirty="0"/>
              <a:t> </a:t>
            </a:r>
            <a:r>
              <a:rPr lang="en-US" b="1" dirty="0" err="1"/>
              <a:t>liye</a:t>
            </a:r>
            <a:r>
              <a:rPr lang="en-US" b="1" dirty="0"/>
              <a:t> ek encryption key </a:t>
            </a:r>
            <a:r>
              <a:rPr lang="en-US" b="1" dirty="0" err="1"/>
              <a:t>chahiye</a:t>
            </a:r>
            <a:r>
              <a:rPr lang="en-US" b="1" dirty="0"/>
              <a:t> </a:t>
            </a:r>
            <a:r>
              <a:rPr lang="en-US" b="1" dirty="0" err="1"/>
              <a:t>hoti</a:t>
            </a:r>
            <a:r>
              <a:rPr lang="en-US" b="1" dirty="0"/>
              <a:t> </a:t>
            </a:r>
            <a:r>
              <a:rPr lang="en-US" b="1" dirty="0" err="1"/>
              <a:t>hai</a:t>
            </a:r>
            <a:r>
              <a:rPr lang="en-US" dirty="0"/>
              <a:t>. Bank yeh key </a:t>
            </a:r>
            <a:r>
              <a:rPr lang="en-US" b="1" dirty="0"/>
              <a:t>ek secure network channel </a:t>
            </a:r>
            <a:r>
              <a:rPr lang="en-US" b="1" dirty="0" err="1"/>
              <a:t>ke</a:t>
            </a:r>
            <a:r>
              <a:rPr lang="en-US" b="1" dirty="0"/>
              <a:t> </a:t>
            </a:r>
            <a:r>
              <a:rPr lang="en-US" b="1" dirty="0" err="1"/>
              <a:t>zariye</a:t>
            </a:r>
            <a:r>
              <a:rPr lang="en-US" b="1" dirty="0"/>
              <a:t> ATM </a:t>
            </a:r>
            <a:r>
              <a:rPr lang="en-US" b="1" dirty="0" err="1"/>
              <a:t>tak</a:t>
            </a:r>
            <a:r>
              <a:rPr lang="en-US" b="1" dirty="0"/>
              <a:t> </a:t>
            </a:r>
            <a:r>
              <a:rPr lang="en-US" b="1" dirty="0" err="1"/>
              <a:t>bhejta</a:t>
            </a:r>
            <a:r>
              <a:rPr lang="en-US" b="1" dirty="0"/>
              <a:t> </a:t>
            </a:r>
            <a:r>
              <a:rPr lang="en-US" b="1" dirty="0" err="1"/>
              <a:t>hai</a:t>
            </a:r>
            <a:r>
              <a:rPr lang="en-US" dirty="0"/>
              <a:t>. Yeh channel fully encrypted </a:t>
            </a:r>
            <a:r>
              <a:rPr lang="en-US" dirty="0" err="1"/>
              <a:t>hota</a:t>
            </a:r>
            <a:r>
              <a:rPr lang="en-US" dirty="0"/>
              <a:t> </a:t>
            </a:r>
            <a:r>
              <a:rPr lang="en-US" dirty="0" err="1"/>
              <a:t>hai</a:t>
            </a:r>
            <a:r>
              <a:rPr lang="en-US" dirty="0"/>
              <a:t>, </a:t>
            </a:r>
            <a:r>
              <a:rPr lang="en-US" dirty="0" err="1"/>
              <a:t>jisme</a:t>
            </a:r>
            <a:r>
              <a:rPr lang="en-US" dirty="0"/>
              <a:t> </a:t>
            </a:r>
            <a:r>
              <a:rPr lang="en-US" dirty="0" err="1"/>
              <a:t>kisi</a:t>
            </a:r>
            <a:r>
              <a:rPr lang="en-US" dirty="0"/>
              <a:t> hacker </a:t>
            </a:r>
            <a:r>
              <a:rPr lang="en-US" dirty="0" err="1"/>
              <a:t>ke</a:t>
            </a:r>
            <a:r>
              <a:rPr lang="en-US" dirty="0"/>
              <a:t> </a:t>
            </a:r>
            <a:r>
              <a:rPr lang="en-US" dirty="0" err="1"/>
              <a:t>liye</a:t>
            </a:r>
            <a:r>
              <a:rPr lang="en-US" dirty="0"/>
              <a:t> key ko intercept </a:t>
            </a:r>
            <a:r>
              <a:rPr lang="en-US" dirty="0" err="1"/>
              <a:t>karna</a:t>
            </a:r>
            <a:r>
              <a:rPr lang="en-US" dirty="0"/>
              <a:t> </a:t>
            </a:r>
            <a:r>
              <a:rPr lang="en-US" dirty="0" err="1"/>
              <a:t>mushkil</a:t>
            </a:r>
            <a:r>
              <a:rPr lang="en-US" dirty="0"/>
              <a:t> </a:t>
            </a:r>
            <a:r>
              <a:rPr lang="en-US" dirty="0" err="1"/>
              <a:t>hota</a:t>
            </a:r>
            <a:r>
              <a:rPr lang="en-US" dirty="0"/>
              <a:t> </a:t>
            </a:r>
            <a:r>
              <a:rPr lang="en-US" dirty="0" err="1"/>
              <a:t>hai</a:t>
            </a:r>
            <a:r>
              <a:rPr lang="en-US" dirty="0"/>
              <a:t>.</a:t>
            </a:r>
          </a:p>
          <a:p>
            <a:r>
              <a:rPr lang="en-US" b="1" dirty="0"/>
              <a:t>Summary in Roman Urdu:</a:t>
            </a:r>
          </a:p>
          <a:p>
            <a:r>
              <a:rPr lang="en-US" dirty="0"/>
              <a:t>Key distribution ka </a:t>
            </a:r>
            <a:r>
              <a:rPr lang="en-US" dirty="0" err="1"/>
              <a:t>maksad</a:t>
            </a:r>
            <a:r>
              <a:rPr lang="en-US" dirty="0"/>
              <a:t> </a:t>
            </a:r>
            <a:r>
              <a:rPr lang="en-US" dirty="0" err="1"/>
              <a:t>hai</a:t>
            </a:r>
            <a:r>
              <a:rPr lang="en-US" dirty="0"/>
              <a:t> key ko ek safe </a:t>
            </a:r>
            <a:r>
              <a:rPr lang="en-US" dirty="0" err="1"/>
              <a:t>tareeke</a:t>
            </a:r>
            <a:r>
              <a:rPr lang="en-US" dirty="0"/>
              <a:t> se </a:t>
            </a:r>
            <a:r>
              <a:rPr lang="en-US" dirty="0" err="1"/>
              <a:t>pohanchana</a:t>
            </a:r>
            <a:r>
              <a:rPr lang="en-US" dirty="0"/>
              <a:t>. Jese </a:t>
            </a:r>
            <a:r>
              <a:rPr lang="en-US" dirty="0" err="1"/>
              <a:t>aap</a:t>
            </a:r>
            <a:r>
              <a:rPr lang="en-US" dirty="0"/>
              <a:t> </a:t>
            </a:r>
            <a:r>
              <a:rPr lang="en-US" dirty="0" err="1"/>
              <a:t>apni</a:t>
            </a:r>
            <a:r>
              <a:rPr lang="en-US" dirty="0"/>
              <a:t> </a:t>
            </a:r>
            <a:r>
              <a:rPr lang="en-US" dirty="0" err="1"/>
              <a:t>ghar</a:t>
            </a:r>
            <a:r>
              <a:rPr lang="en-US" dirty="0"/>
              <a:t> ki key </a:t>
            </a:r>
            <a:r>
              <a:rPr lang="en-US" dirty="0" err="1"/>
              <a:t>sirf</a:t>
            </a:r>
            <a:r>
              <a:rPr lang="en-US" dirty="0"/>
              <a:t> </a:t>
            </a:r>
            <a:r>
              <a:rPr lang="en-US" dirty="0" err="1"/>
              <a:t>apne</a:t>
            </a:r>
            <a:r>
              <a:rPr lang="en-US" dirty="0"/>
              <a:t> trustworthy dost ko </a:t>
            </a:r>
            <a:r>
              <a:rPr lang="en-US" dirty="0" err="1"/>
              <a:t>dete</a:t>
            </a:r>
            <a:r>
              <a:rPr lang="en-US" dirty="0"/>
              <a:t> </a:t>
            </a:r>
            <a:r>
              <a:rPr lang="en-US" dirty="0" err="1"/>
              <a:t>hain</a:t>
            </a:r>
            <a:r>
              <a:rPr lang="en-US" dirty="0"/>
              <a:t>, </a:t>
            </a:r>
            <a:r>
              <a:rPr lang="en-US" dirty="0" err="1"/>
              <a:t>waise</a:t>
            </a:r>
            <a:r>
              <a:rPr lang="en-US" dirty="0"/>
              <a:t> hi digital world </a:t>
            </a:r>
            <a:r>
              <a:rPr lang="en-US" dirty="0" err="1"/>
              <a:t>mein</a:t>
            </a:r>
            <a:r>
              <a:rPr lang="en-US" dirty="0"/>
              <a:t> secure channels ka use </a:t>
            </a:r>
            <a:r>
              <a:rPr lang="en-US" dirty="0" err="1"/>
              <a:t>hota</a:t>
            </a:r>
            <a:r>
              <a:rPr lang="en-US" dirty="0"/>
              <a:t> </a:t>
            </a:r>
            <a:r>
              <a:rPr lang="en-US" dirty="0" err="1"/>
              <a:t>hai</a:t>
            </a:r>
            <a:r>
              <a:rPr lang="en-US" dirty="0"/>
              <a:t> </a:t>
            </a:r>
            <a:r>
              <a:rPr lang="en-US" dirty="0" err="1"/>
              <a:t>takay</a:t>
            </a:r>
            <a:r>
              <a:rPr lang="en-US" dirty="0"/>
              <a:t> keys authorized log </a:t>
            </a:r>
            <a:r>
              <a:rPr lang="en-US" dirty="0" err="1"/>
              <a:t>tak</a:t>
            </a:r>
            <a:r>
              <a:rPr lang="en-US" dirty="0"/>
              <a:t> hi </a:t>
            </a:r>
            <a:r>
              <a:rPr lang="en-US" dirty="0" err="1"/>
              <a:t>pohanch</a:t>
            </a:r>
            <a:r>
              <a:rPr lang="en-US" dirty="0"/>
              <a:t> </a:t>
            </a:r>
            <a:r>
              <a:rPr lang="en-US" dirty="0" err="1"/>
              <a:t>sakein</a:t>
            </a:r>
            <a:r>
              <a:rPr lang="en-US" dirty="0"/>
              <a:t>.</a:t>
            </a:r>
          </a:p>
          <a:p>
            <a:endParaRPr lang="en-PK" dirty="0"/>
          </a:p>
        </p:txBody>
      </p:sp>
      <p:sp>
        <p:nvSpPr>
          <p:cNvPr id="4" name="Slide Number Placeholder 3"/>
          <p:cNvSpPr>
            <a:spLocks noGrp="1"/>
          </p:cNvSpPr>
          <p:nvPr>
            <p:ph type="sldNum" sz="quarter" idx="5"/>
          </p:nvPr>
        </p:nvSpPr>
        <p:spPr/>
        <p:txBody>
          <a:bodyPr/>
          <a:lstStyle/>
          <a:p>
            <a:fld id="{E2B2965B-785C-48BA-97A9-88DC07318A2B}" type="slidenum">
              <a:rPr lang="en-PK" smtClean="0"/>
              <a:t>8</a:t>
            </a:fld>
            <a:endParaRPr lang="en-PK"/>
          </a:p>
        </p:txBody>
      </p:sp>
    </p:spTree>
    <p:extLst>
      <p:ext uri="{BB962C8B-B14F-4D97-AF65-F5344CB8AC3E}">
        <p14:creationId xmlns:p14="http://schemas.microsoft.com/office/powerpoint/2010/main" val="2640069438"/>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C0EE281-F1E0-4585-8C85-BC06A9449E1C}" type="datetimeFigureOut">
              <a:rPr lang="en-PK" smtClean="0"/>
              <a:t>27/11/2025</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18DF9309-2F08-4F4B-87DA-48F676CC46E1}" type="slidenum">
              <a:rPr lang="en-PK" smtClean="0"/>
              <a:t>‹#›</a:t>
            </a:fld>
            <a:endParaRPr lang="en-PK"/>
          </a:p>
        </p:txBody>
      </p:sp>
    </p:spTree>
    <p:extLst>
      <p:ext uri="{BB962C8B-B14F-4D97-AF65-F5344CB8AC3E}">
        <p14:creationId xmlns:p14="http://schemas.microsoft.com/office/powerpoint/2010/main" val="4594001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C0EE281-F1E0-4585-8C85-BC06A9449E1C}" type="datetimeFigureOut">
              <a:rPr lang="en-PK" smtClean="0"/>
              <a:t>27/11/2025</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18DF9309-2F08-4F4B-87DA-48F676CC46E1}" type="slidenum">
              <a:rPr lang="en-PK" smtClean="0"/>
              <a:t>‹#›</a:t>
            </a:fld>
            <a:endParaRPr lang="en-PK"/>
          </a:p>
        </p:txBody>
      </p:sp>
    </p:spTree>
    <p:extLst>
      <p:ext uri="{BB962C8B-B14F-4D97-AF65-F5344CB8AC3E}">
        <p14:creationId xmlns:p14="http://schemas.microsoft.com/office/powerpoint/2010/main" val="41700577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9C0EE281-F1E0-4585-8C85-BC06A9449E1C}" type="datetimeFigureOut">
              <a:rPr lang="en-PK" smtClean="0"/>
              <a:t>27/11/2025</a:t>
            </a:fld>
            <a:endParaRPr lang="en-PK"/>
          </a:p>
        </p:txBody>
      </p:sp>
      <p:sp>
        <p:nvSpPr>
          <p:cNvPr id="5" name="Footer Placeholder 4"/>
          <p:cNvSpPr>
            <a:spLocks noGrp="1"/>
          </p:cNvSpPr>
          <p:nvPr>
            <p:ph type="ftr" sz="quarter" idx="11"/>
          </p:nvPr>
        </p:nvSpPr>
        <p:spPr>
          <a:xfrm>
            <a:off x="2182708" y="6272784"/>
            <a:ext cx="6327648" cy="365125"/>
          </a:xfrm>
        </p:spPr>
        <p:txBody>
          <a:bodyPr/>
          <a:lstStyle/>
          <a:p>
            <a:endParaRPr lang="en-PK"/>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18DF9309-2F08-4F4B-87DA-48F676CC46E1}" type="slidenum">
              <a:rPr lang="en-PK" smtClean="0"/>
              <a:t>‹#›</a:t>
            </a:fld>
            <a:endParaRPr lang="en-PK"/>
          </a:p>
        </p:txBody>
      </p:sp>
    </p:spTree>
    <p:extLst>
      <p:ext uri="{BB962C8B-B14F-4D97-AF65-F5344CB8AC3E}">
        <p14:creationId xmlns:p14="http://schemas.microsoft.com/office/powerpoint/2010/main" val="26151996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C0EE281-F1E0-4585-8C85-BC06A9449E1C}" type="datetimeFigureOut">
              <a:rPr lang="en-PK" smtClean="0"/>
              <a:t>27/11/2025</a:t>
            </a:fld>
            <a:endParaRPr lang="en-PK"/>
          </a:p>
        </p:txBody>
      </p:sp>
      <p:sp>
        <p:nvSpPr>
          <p:cNvPr id="6" name="Footer Placeholder 5"/>
          <p:cNvSpPr>
            <a:spLocks noGrp="1"/>
          </p:cNvSpPr>
          <p:nvPr>
            <p:ph type="ftr" sz="quarter" idx="11"/>
          </p:nvPr>
        </p:nvSpPr>
        <p:spPr/>
        <p:txBody>
          <a:bodyPr/>
          <a:lstStyle/>
          <a:p>
            <a:endParaRPr lang="en-PK"/>
          </a:p>
        </p:txBody>
      </p:sp>
      <p:sp>
        <p:nvSpPr>
          <p:cNvPr id="7" name="Slide Number Placeholder 6"/>
          <p:cNvSpPr>
            <a:spLocks noGrp="1"/>
          </p:cNvSpPr>
          <p:nvPr>
            <p:ph type="sldNum" sz="quarter" idx="12"/>
          </p:nvPr>
        </p:nvSpPr>
        <p:spPr/>
        <p:txBody>
          <a:bodyPr/>
          <a:lstStyle/>
          <a:p>
            <a:fld id="{18DF9309-2F08-4F4B-87DA-48F676CC46E1}" type="slidenum">
              <a:rPr lang="en-PK" smtClean="0"/>
              <a:t>‹#›</a:t>
            </a:fld>
            <a:endParaRPr lang="en-PK"/>
          </a:p>
        </p:txBody>
      </p:sp>
    </p:spTree>
    <p:extLst>
      <p:ext uri="{BB962C8B-B14F-4D97-AF65-F5344CB8AC3E}">
        <p14:creationId xmlns:p14="http://schemas.microsoft.com/office/powerpoint/2010/main" val="10986271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C0EE281-F1E0-4585-8C85-BC06A9449E1C}" type="datetimeFigureOut">
              <a:rPr lang="en-PK" smtClean="0"/>
              <a:t>27/11/2025</a:t>
            </a:fld>
            <a:endParaRPr lang="en-PK"/>
          </a:p>
        </p:txBody>
      </p:sp>
      <p:sp>
        <p:nvSpPr>
          <p:cNvPr id="8" name="Footer Placeholder 7"/>
          <p:cNvSpPr>
            <a:spLocks noGrp="1"/>
          </p:cNvSpPr>
          <p:nvPr>
            <p:ph type="ftr" sz="quarter" idx="11"/>
          </p:nvPr>
        </p:nvSpPr>
        <p:spPr/>
        <p:txBody>
          <a:bodyPr/>
          <a:lstStyle/>
          <a:p>
            <a:endParaRPr lang="en-PK"/>
          </a:p>
        </p:txBody>
      </p:sp>
      <p:sp>
        <p:nvSpPr>
          <p:cNvPr id="9" name="Slide Number Placeholder 8"/>
          <p:cNvSpPr>
            <a:spLocks noGrp="1"/>
          </p:cNvSpPr>
          <p:nvPr>
            <p:ph type="sldNum" sz="quarter" idx="12"/>
          </p:nvPr>
        </p:nvSpPr>
        <p:spPr/>
        <p:txBody>
          <a:bodyPr/>
          <a:lstStyle/>
          <a:p>
            <a:fld id="{18DF9309-2F08-4F4B-87DA-48F676CC46E1}" type="slidenum">
              <a:rPr lang="en-PK" smtClean="0"/>
              <a:t>‹#›</a:t>
            </a:fld>
            <a:endParaRPr lang="en-PK"/>
          </a:p>
        </p:txBody>
      </p:sp>
    </p:spTree>
    <p:extLst>
      <p:ext uri="{BB962C8B-B14F-4D97-AF65-F5344CB8AC3E}">
        <p14:creationId xmlns:p14="http://schemas.microsoft.com/office/powerpoint/2010/main" val="30070846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C0EE281-F1E0-4585-8C85-BC06A9449E1C}" type="datetimeFigureOut">
              <a:rPr lang="en-PK" smtClean="0"/>
              <a:t>27/11/2025</a:t>
            </a:fld>
            <a:endParaRPr lang="en-PK"/>
          </a:p>
        </p:txBody>
      </p:sp>
      <p:sp>
        <p:nvSpPr>
          <p:cNvPr id="4" name="Footer Placeholder 3"/>
          <p:cNvSpPr>
            <a:spLocks noGrp="1"/>
          </p:cNvSpPr>
          <p:nvPr>
            <p:ph type="ftr" sz="quarter" idx="11"/>
          </p:nvPr>
        </p:nvSpPr>
        <p:spPr/>
        <p:txBody>
          <a:bodyPr/>
          <a:lstStyle/>
          <a:p>
            <a:endParaRPr lang="en-PK"/>
          </a:p>
        </p:txBody>
      </p:sp>
      <p:sp>
        <p:nvSpPr>
          <p:cNvPr id="5" name="Slide Number Placeholder 4"/>
          <p:cNvSpPr>
            <a:spLocks noGrp="1"/>
          </p:cNvSpPr>
          <p:nvPr>
            <p:ph type="sldNum" sz="quarter" idx="12"/>
          </p:nvPr>
        </p:nvSpPr>
        <p:spPr/>
        <p:txBody>
          <a:bodyPr/>
          <a:lstStyle/>
          <a:p>
            <a:fld id="{18DF9309-2F08-4F4B-87DA-48F676CC46E1}" type="slidenum">
              <a:rPr lang="en-PK" smtClean="0"/>
              <a:t>‹#›</a:t>
            </a:fld>
            <a:endParaRPr lang="en-PK"/>
          </a:p>
        </p:txBody>
      </p:sp>
    </p:spTree>
    <p:extLst>
      <p:ext uri="{BB962C8B-B14F-4D97-AF65-F5344CB8AC3E}">
        <p14:creationId xmlns:p14="http://schemas.microsoft.com/office/powerpoint/2010/main" val="32830775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C0EE281-F1E0-4585-8C85-BC06A9449E1C}" type="datetimeFigureOut">
              <a:rPr lang="en-PK" smtClean="0"/>
              <a:t>27/11/2025</a:t>
            </a:fld>
            <a:endParaRPr lang="en-PK"/>
          </a:p>
        </p:txBody>
      </p:sp>
      <p:sp>
        <p:nvSpPr>
          <p:cNvPr id="3" name="Footer Placeholder 2"/>
          <p:cNvSpPr>
            <a:spLocks noGrp="1"/>
          </p:cNvSpPr>
          <p:nvPr>
            <p:ph type="ftr" sz="quarter" idx="11"/>
          </p:nvPr>
        </p:nvSpPr>
        <p:spPr/>
        <p:txBody>
          <a:bodyPr/>
          <a:lstStyle/>
          <a:p>
            <a:endParaRPr lang="en-PK"/>
          </a:p>
        </p:txBody>
      </p:sp>
      <p:sp>
        <p:nvSpPr>
          <p:cNvPr id="4" name="Slide Number Placeholder 3"/>
          <p:cNvSpPr>
            <a:spLocks noGrp="1"/>
          </p:cNvSpPr>
          <p:nvPr>
            <p:ph type="sldNum" sz="quarter" idx="12"/>
          </p:nvPr>
        </p:nvSpPr>
        <p:spPr/>
        <p:txBody>
          <a:bodyPr/>
          <a:lstStyle/>
          <a:p>
            <a:fld id="{18DF9309-2F08-4F4B-87DA-48F676CC46E1}" type="slidenum">
              <a:rPr lang="en-PK" smtClean="0"/>
              <a:t>‹#›</a:t>
            </a:fld>
            <a:endParaRPr lang="en-PK"/>
          </a:p>
        </p:txBody>
      </p:sp>
    </p:spTree>
    <p:extLst>
      <p:ext uri="{BB962C8B-B14F-4D97-AF65-F5344CB8AC3E}">
        <p14:creationId xmlns:p14="http://schemas.microsoft.com/office/powerpoint/2010/main" val="32046674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C0EE281-F1E0-4585-8C85-BC06A9449E1C}" type="datetimeFigureOut">
              <a:rPr lang="en-PK" smtClean="0"/>
              <a:t>27/11/2025</a:t>
            </a:fld>
            <a:endParaRPr lang="en-PK"/>
          </a:p>
        </p:txBody>
      </p:sp>
      <p:sp>
        <p:nvSpPr>
          <p:cNvPr id="6" name="Footer Placeholder 5"/>
          <p:cNvSpPr>
            <a:spLocks noGrp="1"/>
          </p:cNvSpPr>
          <p:nvPr>
            <p:ph type="ftr" sz="quarter" idx="11"/>
          </p:nvPr>
        </p:nvSpPr>
        <p:spPr/>
        <p:txBody>
          <a:bodyPr/>
          <a:lstStyle/>
          <a:p>
            <a:endParaRPr lang="en-PK"/>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18DF9309-2F08-4F4B-87DA-48F676CC46E1}" type="slidenum">
              <a:rPr lang="en-PK" smtClean="0"/>
              <a:t>‹#›</a:t>
            </a:fld>
            <a:endParaRPr lang="en-PK"/>
          </a:p>
        </p:txBody>
      </p:sp>
    </p:spTree>
    <p:extLst>
      <p:ext uri="{BB962C8B-B14F-4D97-AF65-F5344CB8AC3E}">
        <p14:creationId xmlns:p14="http://schemas.microsoft.com/office/powerpoint/2010/main" val="35533466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C0EE281-F1E0-4585-8C85-BC06A9449E1C}" type="datetimeFigureOut">
              <a:rPr lang="en-PK" smtClean="0"/>
              <a:t>27/11/2025</a:t>
            </a:fld>
            <a:endParaRPr lang="en-PK"/>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18DF9309-2F08-4F4B-87DA-48F676CC46E1}" type="slidenum">
              <a:rPr lang="en-PK" smtClean="0"/>
              <a:t>‹#›</a:t>
            </a:fld>
            <a:endParaRPr lang="en-PK"/>
          </a:p>
        </p:txBody>
      </p:sp>
    </p:spTree>
    <p:extLst>
      <p:ext uri="{BB962C8B-B14F-4D97-AF65-F5344CB8AC3E}">
        <p14:creationId xmlns:p14="http://schemas.microsoft.com/office/powerpoint/2010/main" val="24642348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C0EE281-F1E0-4585-8C85-BC06A9449E1C}" type="datetimeFigureOut">
              <a:rPr lang="en-PK" smtClean="0"/>
              <a:t>27/11/2025</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18DF9309-2F08-4F4B-87DA-48F676CC46E1}" type="slidenum">
              <a:rPr lang="en-PK" smtClean="0"/>
              <a:t>‹#›</a:t>
            </a:fld>
            <a:endParaRPr lang="en-PK"/>
          </a:p>
        </p:txBody>
      </p:sp>
    </p:spTree>
    <p:extLst>
      <p:ext uri="{BB962C8B-B14F-4D97-AF65-F5344CB8AC3E}">
        <p14:creationId xmlns:p14="http://schemas.microsoft.com/office/powerpoint/2010/main" val="15194515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C0EE281-F1E0-4585-8C85-BC06A9449E1C}" type="datetimeFigureOut">
              <a:rPr lang="en-PK" smtClean="0"/>
              <a:t>27/11/2025</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18DF9309-2F08-4F4B-87DA-48F676CC46E1}" type="slidenum">
              <a:rPr lang="en-PK" smtClean="0"/>
              <a:t>‹#›</a:t>
            </a:fld>
            <a:endParaRPr lang="en-PK"/>
          </a:p>
        </p:txBody>
      </p:sp>
    </p:spTree>
    <p:extLst>
      <p:ext uri="{BB962C8B-B14F-4D97-AF65-F5344CB8AC3E}">
        <p14:creationId xmlns:p14="http://schemas.microsoft.com/office/powerpoint/2010/main" val="22231071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9C0EE281-F1E0-4585-8C85-BC06A9449E1C}" type="datetimeFigureOut">
              <a:rPr lang="en-PK" smtClean="0"/>
              <a:t>27/11/2025</a:t>
            </a:fld>
            <a:endParaRPr lang="en-PK"/>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PK"/>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18DF9309-2F08-4F4B-87DA-48F676CC46E1}" type="slidenum">
              <a:rPr lang="en-PK" smtClean="0"/>
              <a:t>‹#›</a:t>
            </a:fld>
            <a:endParaRPr lang="en-PK"/>
          </a:p>
        </p:txBody>
      </p:sp>
    </p:spTree>
    <p:extLst>
      <p:ext uri="{BB962C8B-B14F-4D97-AF65-F5344CB8AC3E}">
        <p14:creationId xmlns:p14="http://schemas.microsoft.com/office/powerpoint/2010/main" val="2041071970"/>
      </p:ext>
    </p:extLst>
  </p:cSld>
  <p:clrMap bg1="lt1" tx1="dk1" bg2="lt2" tx2="dk2" accent1="accent1" accent2="accent2" accent3="accent3" accent4="accent4" accent5="accent5" accent6="accent6" hlink="hlink" folHlink="folHlink"/>
  <p:sldLayoutIdLst>
    <p:sldLayoutId id="2147483749" r:id="rId1"/>
    <p:sldLayoutId id="2147483750" r:id="rId2"/>
    <p:sldLayoutId id="2147483751" r:id="rId3"/>
    <p:sldLayoutId id="2147483752" r:id="rId4"/>
    <p:sldLayoutId id="2147483753" r:id="rId5"/>
    <p:sldLayoutId id="2147483754" r:id="rId6"/>
    <p:sldLayoutId id="2147483755" r:id="rId7"/>
    <p:sldLayoutId id="2147483756" r:id="rId8"/>
    <p:sldLayoutId id="2147483757" r:id="rId9"/>
    <p:sldLayoutId id="2147483758" r:id="rId10"/>
    <p:sldLayoutId id="2147483759" r:id="rId11"/>
  </p:sldLayoutIdLst>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CAAAFF-D2E1-EDBE-2FE2-C54C47314429}"/>
              </a:ext>
            </a:extLst>
          </p:cNvPr>
          <p:cNvSpPr>
            <a:spLocks noGrp="1"/>
          </p:cNvSpPr>
          <p:nvPr>
            <p:ph type="ctrTitle"/>
          </p:nvPr>
        </p:nvSpPr>
        <p:spPr/>
        <p:txBody>
          <a:bodyPr>
            <a:noAutofit/>
          </a:bodyPr>
          <a:lstStyle/>
          <a:p>
            <a:r>
              <a:rPr lang="en-US" sz="2400" b="1" dirty="0"/>
              <a:t>1. Placement of Encryption Function End to end, Link to Link, </a:t>
            </a:r>
            <a:br>
              <a:rPr lang="en-US" sz="2400" b="1" dirty="0"/>
            </a:br>
            <a:r>
              <a:rPr lang="en-US" sz="2400" b="1" dirty="0"/>
              <a:t>2. Key Distribution and Management Key distribution using Secret key cryptography, For link encryption, For E2E encryption, Key Management, </a:t>
            </a:r>
            <a:br>
              <a:rPr lang="en-US" sz="2400" b="1" dirty="0"/>
            </a:br>
            <a:r>
              <a:rPr lang="en-US" sz="2400" b="1" dirty="0"/>
              <a:t>3. Diffie-Hellman Key Exchange</a:t>
            </a:r>
            <a:endParaRPr lang="en-PK" sz="2400" b="1" dirty="0"/>
          </a:p>
        </p:txBody>
      </p:sp>
      <p:sp>
        <p:nvSpPr>
          <p:cNvPr id="3" name="Subtitle 2">
            <a:extLst>
              <a:ext uri="{FF2B5EF4-FFF2-40B4-BE49-F238E27FC236}">
                <a16:creationId xmlns:a16="http://schemas.microsoft.com/office/drawing/2014/main" id="{5D3BC7A3-4BA2-79A9-0C8A-DAA44F9EECE7}"/>
              </a:ext>
            </a:extLst>
          </p:cNvPr>
          <p:cNvSpPr>
            <a:spLocks noGrp="1"/>
          </p:cNvSpPr>
          <p:nvPr>
            <p:ph type="subTitle" idx="1"/>
          </p:nvPr>
        </p:nvSpPr>
        <p:spPr/>
        <p:txBody>
          <a:bodyPr/>
          <a:lstStyle/>
          <a:p>
            <a:r>
              <a:rPr lang="en-US" dirty="0"/>
              <a:t>Ayesha jarral</a:t>
            </a:r>
            <a:endParaRPr lang="en-PK" dirty="0"/>
          </a:p>
        </p:txBody>
      </p:sp>
    </p:spTree>
    <p:extLst>
      <p:ext uri="{BB962C8B-B14F-4D97-AF65-F5344CB8AC3E}">
        <p14:creationId xmlns:p14="http://schemas.microsoft.com/office/powerpoint/2010/main" val="33887119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26C557-D2C7-406B-A6C9-B077F45A55B1}"/>
              </a:ext>
            </a:extLst>
          </p:cNvPr>
          <p:cNvSpPr>
            <a:spLocks noGrp="1"/>
          </p:cNvSpPr>
          <p:nvPr>
            <p:ph type="title"/>
          </p:nvPr>
        </p:nvSpPr>
        <p:spPr>
          <a:xfrm>
            <a:off x="673333" y="98552"/>
            <a:ext cx="10058400" cy="1609344"/>
          </a:xfrm>
        </p:spPr>
        <p:txBody>
          <a:bodyPr>
            <a:normAutofit/>
          </a:bodyPr>
          <a:lstStyle/>
          <a:p>
            <a:r>
              <a:rPr lang="en-US" sz="3600" b="1" dirty="0"/>
              <a:t>E TO E encryption</a:t>
            </a:r>
            <a:br>
              <a:rPr lang="en-US" sz="3600" b="1" dirty="0"/>
            </a:br>
            <a:endParaRPr lang="en-PK" sz="3600" b="1" dirty="0"/>
          </a:p>
        </p:txBody>
      </p:sp>
      <p:sp>
        <p:nvSpPr>
          <p:cNvPr id="5" name="Rectangle 2">
            <a:extLst>
              <a:ext uri="{FF2B5EF4-FFF2-40B4-BE49-F238E27FC236}">
                <a16:creationId xmlns:a16="http://schemas.microsoft.com/office/drawing/2014/main" id="{F26E7B47-7FA9-8D48-12DD-EBD1E782A821}"/>
              </a:ext>
            </a:extLst>
          </p:cNvPr>
          <p:cNvSpPr>
            <a:spLocks noGrp="1" noChangeArrowheads="1"/>
          </p:cNvSpPr>
          <p:nvPr>
            <p:ph idx="1"/>
          </p:nvPr>
        </p:nvSpPr>
        <p:spPr bwMode="auto">
          <a:xfrm>
            <a:off x="673333" y="1408340"/>
            <a:ext cx="8643387" cy="43088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PK" altLang="en-PK" sz="2400" b="1" i="0" u="none" strike="noStrike" cap="none" normalizeH="0" baseline="0" dirty="0">
                <a:ln>
                  <a:noFill/>
                </a:ln>
                <a:solidFill>
                  <a:schemeClr val="tx1"/>
                </a:solidFill>
                <a:effectLst/>
              </a:rPr>
              <a:t>Definition</a:t>
            </a:r>
            <a:r>
              <a:rPr kumimoji="0" lang="en-PK" altLang="en-PK" sz="2400" b="0" i="0" u="none" strike="noStrike" cap="none" normalizeH="0" baseline="0" dirty="0">
                <a:ln>
                  <a:noFill/>
                </a:ln>
                <a:solidFill>
                  <a:schemeClr val="tx1"/>
                </a:solidFill>
                <a:effectLst/>
              </a:rPr>
              <a:t>: Data is encrypted by the sender and decrypted only by the final recipient.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PK" altLang="en-PK" sz="2400" b="1" i="0" u="none" strike="noStrike" cap="none" normalizeH="0" baseline="0" dirty="0">
                <a:ln>
                  <a:noFill/>
                </a:ln>
                <a:solidFill>
                  <a:schemeClr val="tx1"/>
                </a:solidFill>
                <a:effectLst/>
              </a:rPr>
              <a:t>Purpose</a:t>
            </a:r>
            <a:r>
              <a:rPr kumimoji="0" lang="en-PK" altLang="en-PK" sz="2400" b="0" i="0" u="none" strike="noStrike" cap="none" normalizeH="0" baseline="0" dirty="0">
                <a:ln>
                  <a:noFill/>
                </a:ln>
                <a:solidFill>
                  <a:schemeClr val="tx1"/>
                </a:solidFill>
                <a:effectLst/>
              </a:rPr>
              <a:t>: Ensures the data remains secure even if it passes through multiple intermediate nodes (e.g., servers or routers).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PK" altLang="en-PK" sz="2400" b="1" i="0" u="none" strike="noStrike" cap="none" normalizeH="0" baseline="0" dirty="0">
                <a:ln>
                  <a:noFill/>
                </a:ln>
                <a:solidFill>
                  <a:schemeClr val="tx1"/>
                </a:solidFill>
                <a:effectLst/>
              </a:rPr>
              <a:t>Steps</a:t>
            </a:r>
            <a:r>
              <a:rPr kumimoji="0" lang="en-PK" altLang="en-PK" sz="2400" b="0" i="0" u="none" strike="noStrike" cap="none" normalizeH="0" baseline="0" dirty="0">
                <a:ln>
                  <a:noFill/>
                </a:ln>
                <a:solidFill>
                  <a:schemeClr val="tx1"/>
                </a:solidFill>
                <a:effectLst/>
              </a:rPr>
              <a:t>:</a:t>
            </a:r>
          </a:p>
          <a:p>
            <a:pPr marL="0" marR="0" lvl="0" indent="0" algn="just" defTabSz="914400" rtl="0" eaLnBrk="0" fontAlgn="base" latinLnBrk="0" hangingPunct="0">
              <a:lnSpc>
                <a:spcPct val="100000"/>
              </a:lnSpc>
              <a:spcBef>
                <a:spcPct val="0"/>
              </a:spcBef>
              <a:spcAft>
                <a:spcPct val="0"/>
              </a:spcAft>
              <a:buClrTx/>
              <a:buSzTx/>
              <a:buFontTx/>
              <a:buAutoNum type="arabicPeriod"/>
              <a:tabLst/>
            </a:pPr>
            <a:r>
              <a:rPr kumimoji="0" lang="en-PK" altLang="en-PK" sz="2400" b="0" i="0" u="none" strike="noStrike" cap="none" normalizeH="0" baseline="0" dirty="0">
                <a:ln>
                  <a:noFill/>
                </a:ln>
                <a:solidFill>
                  <a:schemeClr val="tx1"/>
                </a:solidFill>
                <a:effectLst/>
              </a:rPr>
              <a:t>Sender encrypts the data with the recipient's public key.</a:t>
            </a:r>
          </a:p>
          <a:p>
            <a:pPr marL="0" marR="0" lvl="0" indent="0" algn="just" defTabSz="914400" rtl="0" eaLnBrk="0" fontAlgn="base" latinLnBrk="0" hangingPunct="0">
              <a:lnSpc>
                <a:spcPct val="100000"/>
              </a:lnSpc>
              <a:spcBef>
                <a:spcPct val="0"/>
              </a:spcBef>
              <a:spcAft>
                <a:spcPct val="0"/>
              </a:spcAft>
              <a:buClrTx/>
              <a:buSzTx/>
              <a:buFontTx/>
              <a:buAutoNum type="arabicPeriod" startAt="2"/>
              <a:tabLst/>
            </a:pPr>
            <a:r>
              <a:rPr kumimoji="0" lang="en-PK" altLang="en-PK" sz="2400" b="0" i="0" u="none" strike="noStrike" cap="none" normalizeH="0" baseline="0" dirty="0">
                <a:ln>
                  <a:noFill/>
                </a:ln>
                <a:solidFill>
                  <a:schemeClr val="tx1"/>
                </a:solidFill>
                <a:effectLst/>
              </a:rPr>
              <a:t>Data travels through the network but cannot be read by intermediate nodes.</a:t>
            </a:r>
          </a:p>
          <a:p>
            <a:pPr marL="0" marR="0" lvl="0" indent="0" algn="just" defTabSz="914400" rtl="0" eaLnBrk="0" fontAlgn="base" latinLnBrk="0" hangingPunct="0">
              <a:lnSpc>
                <a:spcPct val="100000"/>
              </a:lnSpc>
              <a:spcBef>
                <a:spcPct val="0"/>
              </a:spcBef>
              <a:spcAft>
                <a:spcPct val="0"/>
              </a:spcAft>
              <a:buClrTx/>
              <a:buSzTx/>
              <a:buFontTx/>
              <a:buAutoNum type="arabicPeriod" startAt="3"/>
              <a:tabLst/>
            </a:pPr>
            <a:r>
              <a:rPr kumimoji="0" lang="en-PK" altLang="en-PK" sz="2400" b="0" i="0" u="none" strike="noStrike" cap="none" normalizeH="0" baseline="0" dirty="0">
                <a:ln>
                  <a:noFill/>
                </a:ln>
                <a:solidFill>
                  <a:schemeClr val="tx1"/>
                </a:solidFill>
                <a:effectLst/>
              </a:rPr>
              <a:t>Recipient decrypts the data with their private key.</a:t>
            </a:r>
            <a:endParaRPr kumimoji="0" lang="en-US" altLang="en-PK" sz="24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AutoNum type="arabicPeriod" startAt="3"/>
              <a:tabLst/>
            </a:pPr>
            <a:r>
              <a:rPr lang="en-US" b="1" dirty="0"/>
              <a:t>Example</a:t>
            </a:r>
            <a:r>
              <a:rPr lang="en-US" dirty="0"/>
              <a:t>: Messaging apps like WhatsApp use E2E encryption. If someone intercepts the data, it will appear as unreadable ciphertext.</a:t>
            </a:r>
            <a:endParaRPr kumimoji="0" lang="en-PK" altLang="en-PK"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PK" altLang="en-PK"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9975820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7065FB-4C18-08C6-C72C-E4AF6DF64706}"/>
              </a:ext>
            </a:extLst>
          </p:cNvPr>
          <p:cNvSpPr>
            <a:spLocks noGrp="1"/>
          </p:cNvSpPr>
          <p:nvPr>
            <p:ph type="title"/>
          </p:nvPr>
        </p:nvSpPr>
        <p:spPr/>
        <p:txBody>
          <a:bodyPr/>
          <a:lstStyle/>
          <a:p>
            <a:r>
              <a:rPr lang="en-US" dirty="0"/>
              <a:t>Link-to-Link Encryption</a:t>
            </a:r>
            <a:endParaRPr lang="en-PK" dirty="0"/>
          </a:p>
        </p:txBody>
      </p:sp>
      <p:sp>
        <p:nvSpPr>
          <p:cNvPr id="5" name="Rectangle 2">
            <a:extLst>
              <a:ext uri="{FF2B5EF4-FFF2-40B4-BE49-F238E27FC236}">
                <a16:creationId xmlns:a16="http://schemas.microsoft.com/office/drawing/2014/main" id="{AC07DA86-BF91-A26B-F187-3F294CABAAC8}"/>
              </a:ext>
            </a:extLst>
          </p:cNvPr>
          <p:cNvSpPr>
            <a:spLocks noGrp="1" noChangeArrowheads="1"/>
          </p:cNvSpPr>
          <p:nvPr>
            <p:ph idx="1"/>
          </p:nvPr>
        </p:nvSpPr>
        <p:spPr bwMode="auto">
          <a:xfrm>
            <a:off x="132080" y="2225974"/>
            <a:ext cx="5740400"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PK" altLang="en-PK" sz="1800" b="1" i="0" u="none" strike="noStrike" cap="none" normalizeH="0" baseline="0" dirty="0">
                <a:ln>
                  <a:noFill/>
                </a:ln>
                <a:solidFill>
                  <a:schemeClr val="tx1"/>
                </a:solidFill>
                <a:effectLst/>
              </a:rPr>
              <a:t>Definition</a:t>
            </a:r>
            <a:r>
              <a:rPr kumimoji="0" lang="en-PK" altLang="en-PK" sz="1800" b="0" i="0" u="none" strike="noStrike" cap="none" normalizeH="0" baseline="0" dirty="0">
                <a:ln>
                  <a:noFill/>
                </a:ln>
                <a:solidFill>
                  <a:schemeClr val="tx1"/>
                </a:solidFill>
                <a:effectLst/>
              </a:rPr>
              <a:t>: Each link in the communication path is encrypted and decrypted at every intermediate node.</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PK" altLang="en-PK" sz="1800" b="1" i="0" u="none" strike="noStrike" cap="none" normalizeH="0" baseline="0" dirty="0">
                <a:ln>
                  <a:noFill/>
                </a:ln>
                <a:solidFill>
                  <a:schemeClr val="tx1"/>
                </a:solidFill>
                <a:effectLst/>
              </a:rPr>
              <a:t>Purpose</a:t>
            </a:r>
            <a:r>
              <a:rPr kumimoji="0" lang="en-PK" altLang="en-PK" sz="1800" b="0" i="0" u="none" strike="noStrike" cap="none" normalizeH="0" baseline="0" dirty="0">
                <a:ln>
                  <a:noFill/>
                </a:ln>
                <a:solidFill>
                  <a:schemeClr val="tx1"/>
                </a:solidFill>
                <a:effectLst/>
              </a:rPr>
              <a:t>: Protects data during transmission over each segment of the network.</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PK" altLang="en-PK" sz="1800" b="1" i="0" u="none" strike="noStrike" cap="none" normalizeH="0" baseline="0" dirty="0">
                <a:ln>
                  <a:noFill/>
                </a:ln>
                <a:solidFill>
                  <a:schemeClr val="tx1"/>
                </a:solidFill>
                <a:effectLst/>
              </a:rPr>
              <a:t>Steps</a:t>
            </a:r>
            <a:r>
              <a:rPr kumimoji="0" lang="en-PK" altLang="en-PK" sz="1800" b="0" i="0" u="none" strike="noStrike" cap="none" normalizeH="0" baseline="0" dirty="0">
                <a:ln>
                  <a:noFill/>
                </a:ln>
                <a:solidFill>
                  <a:schemeClr val="tx1"/>
                </a:solidFill>
                <a:effectLst/>
              </a:rPr>
              <a:t>:</a:t>
            </a:r>
          </a:p>
          <a:p>
            <a:pPr marL="0" marR="0" lvl="0" indent="0" algn="just" defTabSz="914400" rtl="0" eaLnBrk="0" fontAlgn="base" latinLnBrk="0" hangingPunct="0">
              <a:lnSpc>
                <a:spcPct val="100000"/>
              </a:lnSpc>
              <a:spcBef>
                <a:spcPct val="0"/>
              </a:spcBef>
              <a:spcAft>
                <a:spcPct val="0"/>
              </a:spcAft>
              <a:buClrTx/>
              <a:buSzTx/>
              <a:buFontTx/>
              <a:buAutoNum type="arabicPeriod"/>
              <a:tabLst/>
            </a:pPr>
            <a:r>
              <a:rPr kumimoji="0" lang="en-PK" altLang="en-PK" sz="1800" b="0" i="0" u="none" strike="noStrike" cap="none" normalizeH="0" baseline="0" dirty="0">
                <a:ln>
                  <a:noFill/>
                </a:ln>
                <a:solidFill>
                  <a:schemeClr val="tx1"/>
                </a:solidFill>
                <a:effectLst/>
              </a:rPr>
              <a:t>Sender encrypts the data and sends it to the first node.</a:t>
            </a:r>
          </a:p>
          <a:p>
            <a:pPr marL="0" marR="0" lvl="0" indent="0" algn="just" defTabSz="914400" rtl="0" eaLnBrk="0" fontAlgn="base" latinLnBrk="0" hangingPunct="0">
              <a:lnSpc>
                <a:spcPct val="100000"/>
              </a:lnSpc>
              <a:spcBef>
                <a:spcPct val="0"/>
              </a:spcBef>
              <a:spcAft>
                <a:spcPct val="0"/>
              </a:spcAft>
              <a:buClrTx/>
              <a:buSzTx/>
              <a:buFontTx/>
              <a:buAutoNum type="arabicPeriod" startAt="2"/>
              <a:tabLst/>
            </a:pPr>
            <a:r>
              <a:rPr kumimoji="0" lang="en-PK" altLang="en-PK" sz="1800" b="0" i="0" u="none" strike="noStrike" cap="none" normalizeH="0" baseline="0" dirty="0">
                <a:ln>
                  <a:noFill/>
                </a:ln>
                <a:solidFill>
                  <a:schemeClr val="tx1"/>
                </a:solidFill>
                <a:effectLst/>
              </a:rPr>
              <a:t>The node decrypts it, processes it, and re-encrypts it before forwarding it to the next node.</a:t>
            </a:r>
          </a:p>
          <a:p>
            <a:pPr marL="0" marR="0" lvl="0" indent="0" algn="just" defTabSz="914400" rtl="0" eaLnBrk="0" fontAlgn="base" latinLnBrk="0" hangingPunct="0">
              <a:lnSpc>
                <a:spcPct val="100000"/>
              </a:lnSpc>
              <a:spcBef>
                <a:spcPct val="0"/>
              </a:spcBef>
              <a:spcAft>
                <a:spcPct val="0"/>
              </a:spcAft>
              <a:buClrTx/>
              <a:buSzTx/>
              <a:buFontTx/>
              <a:buAutoNum type="arabicPeriod" startAt="3"/>
              <a:tabLst/>
            </a:pPr>
            <a:r>
              <a:rPr kumimoji="0" lang="en-PK" altLang="en-PK" sz="1800" b="0" i="0" u="none" strike="noStrike" cap="none" normalizeH="0" baseline="0" dirty="0">
                <a:ln>
                  <a:noFill/>
                </a:ln>
                <a:solidFill>
                  <a:schemeClr val="tx1"/>
                </a:solidFill>
                <a:effectLst/>
              </a:rPr>
              <a:t>This process repeats until the data reaches the recipient.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PK" altLang="en-PK" sz="1800" b="1" i="0" u="none" strike="noStrike" cap="none" normalizeH="0" baseline="0" dirty="0">
                <a:ln>
                  <a:noFill/>
                </a:ln>
                <a:solidFill>
                  <a:schemeClr val="tx1"/>
                </a:solidFill>
                <a:effectLst/>
              </a:rPr>
              <a:t>Example</a:t>
            </a:r>
            <a:r>
              <a:rPr kumimoji="0" lang="en-PK" altLang="en-PK" sz="1800" b="0" i="0" u="none" strike="noStrike" cap="none" normalizeH="0" baseline="0" dirty="0">
                <a:ln>
                  <a:noFill/>
                </a:ln>
                <a:solidFill>
                  <a:schemeClr val="tx1"/>
                </a:solidFill>
                <a:effectLst/>
              </a:rPr>
              <a:t>: VPNs use link-to-link encryption to secure data between devices and servers.</a:t>
            </a:r>
          </a:p>
        </p:txBody>
      </p:sp>
      <p:pic>
        <p:nvPicPr>
          <p:cNvPr id="7" name="Picture 6">
            <a:extLst>
              <a:ext uri="{FF2B5EF4-FFF2-40B4-BE49-F238E27FC236}">
                <a16:creationId xmlns:a16="http://schemas.microsoft.com/office/drawing/2014/main" id="{C350718A-45A1-0676-25AB-7B99DDAA31DF}"/>
              </a:ext>
            </a:extLst>
          </p:cNvPr>
          <p:cNvPicPr>
            <a:picLocks noChangeAspect="1"/>
          </p:cNvPicPr>
          <p:nvPr/>
        </p:nvPicPr>
        <p:blipFill>
          <a:blip r:embed="rId2"/>
          <a:stretch>
            <a:fillRect/>
          </a:stretch>
        </p:blipFill>
        <p:spPr>
          <a:xfrm>
            <a:off x="6055360" y="1921992"/>
            <a:ext cx="5740400" cy="3747287"/>
          </a:xfrm>
          <a:prstGeom prst="rect">
            <a:avLst/>
          </a:prstGeom>
        </p:spPr>
      </p:pic>
    </p:spTree>
    <p:extLst>
      <p:ext uri="{BB962C8B-B14F-4D97-AF65-F5344CB8AC3E}">
        <p14:creationId xmlns:p14="http://schemas.microsoft.com/office/powerpoint/2010/main" val="24523556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7D870E-9205-DE60-F475-9DCE1E7C055A}"/>
              </a:ext>
            </a:extLst>
          </p:cNvPr>
          <p:cNvSpPr>
            <a:spLocks noGrp="1"/>
          </p:cNvSpPr>
          <p:nvPr>
            <p:ph type="title"/>
          </p:nvPr>
        </p:nvSpPr>
        <p:spPr/>
        <p:txBody>
          <a:bodyPr/>
          <a:lstStyle/>
          <a:p>
            <a:r>
              <a:rPr lang="en-US" dirty="0"/>
              <a:t>Key Distribution and Management</a:t>
            </a:r>
            <a:endParaRPr lang="en-PK" dirty="0"/>
          </a:p>
        </p:txBody>
      </p:sp>
      <p:sp>
        <p:nvSpPr>
          <p:cNvPr id="3" name="Content Placeholder 2">
            <a:extLst>
              <a:ext uri="{FF2B5EF4-FFF2-40B4-BE49-F238E27FC236}">
                <a16:creationId xmlns:a16="http://schemas.microsoft.com/office/drawing/2014/main" id="{8FA537CD-61D4-B1F3-1832-6334193D3745}"/>
              </a:ext>
            </a:extLst>
          </p:cNvPr>
          <p:cNvSpPr>
            <a:spLocks noGrp="1"/>
          </p:cNvSpPr>
          <p:nvPr>
            <p:ph idx="1"/>
          </p:nvPr>
        </p:nvSpPr>
        <p:spPr>
          <a:xfrm>
            <a:off x="1097280" y="1845734"/>
            <a:ext cx="5171440" cy="3935306"/>
          </a:xfrm>
        </p:spPr>
        <p:txBody>
          <a:bodyPr/>
          <a:lstStyle/>
          <a:p>
            <a:r>
              <a:rPr lang="en-US" dirty="0"/>
              <a:t>Keys are essential for encryption and decryption. Managing and distributing these keys securely is critical.</a:t>
            </a:r>
          </a:p>
          <a:p>
            <a:endParaRPr lang="en-PK" dirty="0"/>
          </a:p>
        </p:txBody>
      </p:sp>
      <p:pic>
        <p:nvPicPr>
          <p:cNvPr id="15" name="Picture 14">
            <a:extLst>
              <a:ext uri="{FF2B5EF4-FFF2-40B4-BE49-F238E27FC236}">
                <a16:creationId xmlns:a16="http://schemas.microsoft.com/office/drawing/2014/main" id="{12B27C19-4CE5-58F8-EA7B-E74CC71D7A90}"/>
              </a:ext>
            </a:extLst>
          </p:cNvPr>
          <p:cNvPicPr>
            <a:picLocks noChangeAspect="1"/>
          </p:cNvPicPr>
          <p:nvPr/>
        </p:nvPicPr>
        <p:blipFill>
          <a:blip r:embed="rId2"/>
          <a:stretch>
            <a:fillRect/>
          </a:stretch>
        </p:blipFill>
        <p:spPr>
          <a:xfrm>
            <a:off x="388080" y="2919661"/>
            <a:ext cx="5901306" cy="2505425"/>
          </a:xfrm>
          <a:prstGeom prst="rect">
            <a:avLst/>
          </a:prstGeom>
        </p:spPr>
      </p:pic>
      <p:pic>
        <p:nvPicPr>
          <p:cNvPr id="17" name="Picture 16">
            <a:extLst>
              <a:ext uri="{FF2B5EF4-FFF2-40B4-BE49-F238E27FC236}">
                <a16:creationId xmlns:a16="http://schemas.microsoft.com/office/drawing/2014/main" id="{533B1417-ADAB-E89D-CC87-F403587F4A43}"/>
              </a:ext>
            </a:extLst>
          </p:cNvPr>
          <p:cNvPicPr>
            <a:picLocks noChangeAspect="1"/>
          </p:cNvPicPr>
          <p:nvPr/>
        </p:nvPicPr>
        <p:blipFill>
          <a:blip r:embed="rId3"/>
          <a:stretch>
            <a:fillRect/>
          </a:stretch>
        </p:blipFill>
        <p:spPr>
          <a:xfrm>
            <a:off x="6126480" y="2846826"/>
            <a:ext cx="5831840" cy="2810267"/>
          </a:xfrm>
          <a:prstGeom prst="rect">
            <a:avLst/>
          </a:prstGeom>
        </p:spPr>
      </p:pic>
    </p:spTree>
    <p:extLst>
      <p:ext uri="{BB962C8B-B14F-4D97-AF65-F5344CB8AC3E}">
        <p14:creationId xmlns:p14="http://schemas.microsoft.com/office/powerpoint/2010/main" val="14580314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CA905-2528-8C54-368D-431429E38BAF}"/>
              </a:ext>
            </a:extLst>
          </p:cNvPr>
          <p:cNvSpPr>
            <a:spLocks noGrp="1"/>
          </p:cNvSpPr>
          <p:nvPr>
            <p:ph type="title"/>
          </p:nvPr>
        </p:nvSpPr>
        <p:spPr/>
        <p:txBody>
          <a:bodyPr/>
          <a:lstStyle/>
          <a:p>
            <a:r>
              <a:rPr lang="en-US" dirty="0"/>
              <a:t>Key Distribution and Management</a:t>
            </a:r>
            <a:endParaRPr lang="en-PK" dirty="0"/>
          </a:p>
        </p:txBody>
      </p:sp>
      <p:pic>
        <p:nvPicPr>
          <p:cNvPr id="5" name="Content Placeholder 4">
            <a:extLst>
              <a:ext uri="{FF2B5EF4-FFF2-40B4-BE49-F238E27FC236}">
                <a16:creationId xmlns:a16="http://schemas.microsoft.com/office/drawing/2014/main" id="{83CE26EC-D331-25DE-24D8-A1E21FD6873D}"/>
              </a:ext>
            </a:extLst>
          </p:cNvPr>
          <p:cNvPicPr>
            <a:picLocks noGrp="1" noChangeAspect="1"/>
          </p:cNvPicPr>
          <p:nvPr>
            <p:ph idx="1"/>
          </p:nvPr>
        </p:nvPicPr>
        <p:blipFill>
          <a:blip r:embed="rId2"/>
          <a:stretch>
            <a:fillRect/>
          </a:stretch>
        </p:blipFill>
        <p:spPr>
          <a:xfrm>
            <a:off x="988358" y="1947863"/>
            <a:ext cx="8446810" cy="4022725"/>
          </a:xfrm>
        </p:spPr>
      </p:pic>
    </p:spTree>
    <p:extLst>
      <p:ext uri="{BB962C8B-B14F-4D97-AF65-F5344CB8AC3E}">
        <p14:creationId xmlns:p14="http://schemas.microsoft.com/office/powerpoint/2010/main" val="29649380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948A1-AD97-6667-B871-B67585E3D038}"/>
              </a:ext>
            </a:extLst>
          </p:cNvPr>
          <p:cNvSpPr>
            <a:spLocks noGrp="1"/>
          </p:cNvSpPr>
          <p:nvPr>
            <p:ph type="title"/>
          </p:nvPr>
        </p:nvSpPr>
        <p:spPr>
          <a:xfrm>
            <a:off x="162560" y="205323"/>
            <a:ext cx="10058400" cy="1450757"/>
          </a:xfrm>
        </p:spPr>
        <p:txBody>
          <a:bodyPr/>
          <a:lstStyle/>
          <a:p>
            <a:r>
              <a:rPr lang="en-US" dirty="0"/>
              <a:t>Key distribution for link encryption </a:t>
            </a:r>
            <a:endParaRPr lang="en-PK" dirty="0"/>
          </a:p>
        </p:txBody>
      </p:sp>
      <p:pic>
        <p:nvPicPr>
          <p:cNvPr id="5" name="Content Placeholder 4">
            <a:extLst>
              <a:ext uri="{FF2B5EF4-FFF2-40B4-BE49-F238E27FC236}">
                <a16:creationId xmlns:a16="http://schemas.microsoft.com/office/drawing/2014/main" id="{697148FA-C652-3F8C-F59D-55EDE4F67CA3}"/>
              </a:ext>
            </a:extLst>
          </p:cNvPr>
          <p:cNvPicPr>
            <a:picLocks noGrp="1" noChangeAspect="1"/>
          </p:cNvPicPr>
          <p:nvPr>
            <p:ph idx="1"/>
          </p:nvPr>
        </p:nvPicPr>
        <p:blipFill>
          <a:blip r:embed="rId2"/>
          <a:stretch>
            <a:fillRect/>
          </a:stretch>
        </p:blipFill>
        <p:spPr>
          <a:xfrm>
            <a:off x="284481" y="2099116"/>
            <a:ext cx="6339840" cy="3254058"/>
          </a:xfrm>
        </p:spPr>
      </p:pic>
      <p:pic>
        <p:nvPicPr>
          <p:cNvPr id="7" name="Picture 6">
            <a:extLst>
              <a:ext uri="{FF2B5EF4-FFF2-40B4-BE49-F238E27FC236}">
                <a16:creationId xmlns:a16="http://schemas.microsoft.com/office/drawing/2014/main" id="{8E646AA8-86DE-5126-E3D6-F4BF34F8A048}"/>
              </a:ext>
            </a:extLst>
          </p:cNvPr>
          <p:cNvPicPr>
            <a:picLocks noChangeAspect="1"/>
          </p:cNvPicPr>
          <p:nvPr/>
        </p:nvPicPr>
        <p:blipFill>
          <a:blip r:embed="rId3"/>
          <a:stretch>
            <a:fillRect/>
          </a:stretch>
        </p:blipFill>
        <p:spPr>
          <a:xfrm>
            <a:off x="6482079" y="2099116"/>
            <a:ext cx="5425440" cy="3254058"/>
          </a:xfrm>
          <a:prstGeom prst="rect">
            <a:avLst/>
          </a:prstGeom>
        </p:spPr>
      </p:pic>
    </p:spTree>
    <p:extLst>
      <p:ext uri="{BB962C8B-B14F-4D97-AF65-F5344CB8AC3E}">
        <p14:creationId xmlns:p14="http://schemas.microsoft.com/office/powerpoint/2010/main" val="29219906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7974C5-C5CD-5765-E6AE-5EFEA6AC2F90}"/>
              </a:ext>
            </a:extLst>
          </p:cNvPr>
          <p:cNvSpPr>
            <a:spLocks noGrp="1"/>
          </p:cNvSpPr>
          <p:nvPr>
            <p:ph type="title"/>
          </p:nvPr>
        </p:nvSpPr>
        <p:spPr/>
        <p:txBody>
          <a:bodyPr/>
          <a:lstStyle/>
          <a:p>
            <a:r>
              <a:rPr lang="en-US" dirty="0"/>
              <a:t>Key Distribution for End-to-End (E2E) Encryption</a:t>
            </a:r>
            <a:endParaRPr lang="en-PK" dirty="0"/>
          </a:p>
        </p:txBody>
      </p:sp>
      <p:pic>
        <p:nvPicPr>
          <p:cNvPr id="5" name="Content Placeholder 4">
            <a:extLst>
              <a:ext uri="{FF2B5EF4-FFF2-40B4-BE49-F238E27FC236}">
                <a16:creationId xmlns:a16="http://schemas.microsoft.com/office/drawing/2014/main" id="{FBFA04A5-458A-3B3C-5F5B-86C87E0F4579}"/>
              </a:ext>
            </a:extLst>
          </p:cNvPr>
          <p:cNvPicPr>
            <a:picLocks noGrp="1" noChangeAspect="1"/>
          </p:cNvPicPr>
          <p:nvPr>
            <p:ph idx="1"/>
          </p:nvPr>
        </p:nvPicPr>
        <p:blipFill>
          <a:blip r:embed="rId2"/>
          <a:stretch>
            <a:fillRect/>
          </a:stretch>
        </p:blipFill>
        <p:spPr>
          <a:xfrm>
            <a:off x="13434" y="1927543"/>
            <a:ext cx="5879367" cy="4022725"/>
          </a:xfrm>
        </p:spPr>
      </p:pic>
      <p:pic>
        <p:nvPicPr>
          <p:cNvPr id="7" name="Picture 6">
            <a:extLst>
              <a:ext uri="{FF2B5EF4-FFF2-40B4-BE49-F238E27FC236}">
                <a16:creationId xmlns:a16="http://schemas.microsoft.com/office/drawing/2014/main" id="{846B6EB5-F717-EF64-FA30-A4CE7D6DD501}"/>
              </a:ext>
            </a:extLst>
          </p:cNvPr>
          <p:cNvPicPr>
            <a:picLocks noChangeAspect="1"/>
          </p:cNvPicPr>
          <p:nvPr/>
        </p:nvPicPr>
        <p:blipFill>
          <a:blip r:embed="rId3"/>
          <a:stretch>
            <a:fillRect/>
          </a:stretch>
        </p:blipFill>
        <p:spPr>
          <a:xfrm>
            <a:off x="5638800" y="1927543"/>
            <a:ext cx="6238240" cy="2989897"/>
          </a:xfrm>
          <a:prstGeom prst="rect">
            <a:avLst/>
          </a:prstGeom>
        </p:spPr>
      </p:pic>
    </p:spTree>
    <p:extLst>
      <p:ext uri="{BB962C8B-B14F-4D97-AF65-F5344CB8AC3E}">
        <p14:creationId xmlns:p14="http://schemas.microsoft.com/office/powerpoint/2010/main" val="14160273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C69D60-88C0-439E-AE06-607531818942}"/>
              </a:ext>
            </a:extLst>
          </p:cNvPr>
          <p:cNvSpPr>
            <a:spLocks noGrp="1"/>
          </p:cNvSpPr>
          <p:nvPr>
            <p:ph type="title"/>
          </p:nvPr>
        </p:nvSpPr>
        <p:spPr/>
        <p:txBody>
          <a:bodyPr/>
          <a:lstStyle/>
          <a:p>
            <a:r>
              <a:rPr lang="en-US" dirty="0"/>
              <a:t>Key Management</a:t>
            </a:r>
            <a:endParaRPr lang="en-PK" dirty="0"/>
          </a:p>
        </p:txBody>
      </p:sp>
      <p:sp>
        <p:nvSpPr>
          <p:cNvPr id="3" name="Content Placeholder 2">
            <a:extLst>
              <a:ext uri="{FF2B5EF4-FFF2-40B4-BE49-F238E27FC236}">
                <a16:creationId xmlns:a16="http://schemas.microsoft.com/office/drawing/2014/main" id="{9B673B26-0DAD-2ADC-AF5C-8D57528E5131}"/>
              </a:ext>
            </a:extLst>
          </p:cNvPr>
          <p:cNvSpPr>
            <a:spLocks noGrp="1"/>
          </p:cNvSpPr>
          <p:nvPr>
            <p:ph idx="1"/>
          </p:nvPr>
        </p:nvSpPr>
        <p:spPr/>
        <p:txBody>
          <a:bodyPr>
            <a:normAutofit/>
          </a:bodyPr>
          <a:lstStyle/>
          <a:p>
            <a:r>
              <a:rPr lang="en-US" dirty="0"/>
              <a:t>Managing cryptographic keys is critical to ensure their confidentiality and integrity throughout their lifecycle. Key management involves </a:t>
            </a:r>
            <a:r>
              <a:rPr lang="en-US" b="1" dirty="0"/>
              <a:t>generation</a:t>
            </a:r>
            <a:r>
              <a:rPr lang="en-US" dirty="0"/>
              <a:t>, </a:t>
            </a:r>
            <a:r>
              <a:rPr lang="en-US" b="1" dirty="0"/>
              <a:t>distribution</a:t>
            </a:r>
            <a:r>
              <a:rPr lang="en-US" dirty="0"/>
              <a:t>, </a:t>
            </a:r>
            <a:r>
              <a:rPr lang="en-US" b="1" dirty="0"/>
              <a:t>storage</a:t>
            </a:r>
            <a:r>
              <a:rPr lang="en-US" dirty="0"/>
              <a:t>, </a:t>
            </a:r>
            <a:r>
              <a:rPr lang="en-US" b="1" dirty="0"/>
              <a:t>rotation</a:t>
            </a:r>
            <a:r>
              <a:rPr lang="en-US" dirty="0"/>
              <a:t>, and </a:t>
            </a:r>
            <a:r>
              <a:rPr lang="en-US" b="1" dirty="0"/>
              <a:t>revocation</a:t>
            </a:r>
            <a:r>
              <a:rPr lang="en-US" dirty="0"/>
              <a:t>.</a:t>
            </a:r>
          </a:p>
          <a:p>
            <a:r>
              <a:rPr lang="en-US" b="1" dirty="0"/>
              <a:t>Steps in Key Management</a:t>
            </a:r>
          </a:p>
          <a:p>
            <a:r>
              <a:rPr lang="en-US" b="1" dirty="0"/>
              <a:t>1. Key Generation</a:t>
            </a:r>
          </a:p>
          <a:p>
            <a:pPr>
              <a:buFont typeface="Arial" panose="020B0604020202020204" pitchFamily="34" charset="0"/>
              <a:buChar char="•"/>
            </a:pPr>
            <a:r>
              <a:rPr lang="en-US" b="1" dirty="0"/>
              <a:t>Explanation</a:t>
            </a:r>
            <a:r>
              <a:rPr lang="en-US" dirty="0"/>
              <a:t>: Generate keys using secure and proven algorithms like AES for secret key cryptography or RSA for public key cryptography.</a:t>
            </a:r>
          </a:p>
          <a:p>
            <a:pPr>
              <a:buFont typeface="Arial" panose="020B0604020202020204" pitchFamily="34" charset="0"/>
              <a:buChar char="•"/>
            </a:pPr>
            <a:r>
              <a:rPr lang="en-US" b="1" dirty="0"/>
              <a:t>Example</a:t>
            </a:r>
            <a:r>
              <a:rPr lang="en-US" dirty="0"/>
              <a:t>: A bank uses AES-256 to encrypt customer transaction data. The key is randomly generated to ensure unpredictability.</a:t>
            </a:r>
          </a:p>
          <a:p>
            <a:endParaRPr lang="en-PK" dirty="0"/>
          </a:p>
        </p:txBody>
      </p:sp>
    </p:spTree>
    <p:extLst>
      <p:ext uri="{BB962C8B-B14F-4D97-AF65-F5344CB8AC3E}">
        <p14:creationId xmlns:p14="http://schemas.microsoft.com/office/powerpoint/2010/main" val="6539921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3EB7D9-7B18-952C-86CB-712E5505C4F9}"/>
              </a:ext>
            </a:extLst>
          </p:cNvPr>
          <p:cNvSpPr>
            <a:spLocks noGrp="1"/>
          </p:cNvSpPr>
          <p:nvPr>
            <p:ph type="title"/>
          </p:nvPr>
        </p:nvSpPr>
        <p:spPr/>
        <p:txBody>
          <a:bodyPr/>
          <a:lstStyle/>
          <a:p>
            <a:r>
              <a:rPr lang="en-US" b="1" dirty="0"/>
              <a:t>Key Distribution Explanation</a:t>
            </a:r>
            <a:endParaRPr lang="en-PK" dirty="0"/>
          </a:p>
        </p:txBody>
      </p:sp>
      <p:sp>
        <p:nvSpPr>
          <p:cNvPr id="3" name="Content Placeholder 2">
            <a:extLst>
              <a:ext uri="{FF2B5EF4-FFF2-40B4-BE49-F238E27FC236}">
                <a16:creationId xmlns:a16="http://schemas.microsoft.com/office/drawing/2014/main" id="{B02CFBD8-BDF2-5D66-49E7-C25D6147F1ED}"/>
              </a:ext>
            </a:extLst>
          </p:cNvPr>
          <p:cNvSpPr>
            <a:spLocks noGrp="1"/>
          </p:cNvSpPr>
          <p:nvPr>
            <p:ph idx="1"/>
          </p:nvPr>
        </p:nvSpPr>
        <p:spPr/>
        <p:txBody>
          <a:bodyPr>
            <a:normAutofit/>
          </a:bodyPr>
          <a:lstStyle/>
          <a:p>
            <a:r>
              <a:rPr lang="en-US" b="1" dirty="0"/>
              <a:t>Key Distribution Explanation: </a:t>
            </a:r>
            <a:r>
              <a:rPr lang="en-US" dirty="0"/>
              <a:t>Share the generated keys securely with the intended parties.</a:t>
            </a:r>
          </a:p>
          <a:p>
            <a:r>
              <a:rPr lang="en-US" dirty="0"/>
              <a:t>Example: Banks securely distribute encryption keys to ATMs via dedicated secure channels.</a:t>
            </a:r>
          </a:p>
          <a:p>
            <a:pPr marL="0" indent="0">
              <a:buNone/>
            </a:pPr>
            <a:r>
              <a:rPr lang="en-US" dirty="0"/>
              <a:t> </a:t>
            </a:r>
            <a:r>
              <a:rPr lang="en-US" b="1" dirty="0"/>
              <a:t>Key Storage Explanation: </a:t>
            </a:r>
            <a:r>
              <a:rPr lang="en-US" dirty="0"/>
              <a:t>Store the keys securely to prevent unauthorized access.</a:t>
            </a:r>
          </a:p>
          <a:p>
            <a:pPr marL="0" indent="0">
              <a:buNone/>
            </a:pPr>
            <a:r>
              <a:rPr lang="en-US" dirty="0"/>
              <a:t>Example: Use a Hardware Security Module (HSM) or encrypted databases to store keys.</a:t>
            </a:r>
          </a:p>
          <a:p>
            <a:r>
              <a:rPr lang="en-US" b="1" dirty="0"/>
              <a:t>Analogy: </a:t>
            </a:r>
            <a:r>
              <a:rPr lang="en-US" dirty="0"/>
              <a:t>Just like you keep your house keys in a safe place, cryptographic keys must be stored securely.</a:t>
            </a:r>
          </a:p>
          <a:p>
            <a:endParaRPr lang="en-PK" dirty="0"/>
          </a:p>
        </p:txBody>
      </p:sp>
    </p:spTree>
    <p:extLst>
      <p:ext uri="{BB962C8B-B14F-4D97-AF65-F5344CB8AC3E}">
        <p14:creationId xmlns:p14="http://schemas.microsoft.com/office/powerpoint/2010/main" val="21973886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CD334D-92C9-C47C-8A0B-3BD463136C8F}"/>
              </a:ext>
            </a:extLst>
          </p:cNvPr>
          <p:cNvSpPr>
            <a:spLocks noGrp="1"/>
          </p:cNvSpPr>
          <p:nvPr>
            <p:ph type="title"/>
          </p:nvPr>
        </p:nvSpPr>
        <p:spPr/>
        <p:txBody>
          <a:bodyPr/>
          <a:lstStyle/>
          <a:p>
            <a:r>
              <a:rPr lang="en-US" b="1" dirty="0"/>
              <a:t>Key Rotation</a:t>
            </a:r>
            <a:br>
              <a:rPr lang="en-US" b="1" dirty="0"/>
            </a:br>
            <a:endParaRPr lang="en-PK" dirty="0"/>
          </a:p>
        </p:txBody>
      </p:sp>
      <p:sp>
        <p:nvSpPr>
          <p:cNvPr id="3" name="Content Placeholder 2">
            <a:extLst>
              <a:ext uri="{FF2B5EF4-FFF2-40B4-BE49-F238E27FC236}">
                <a16:creationId xmlns:a16="http://schemas.microsoft.com/office/drawing/2014/main" id="{6C0C1B50-3ADC-D2BF-E9CA-31A4A1E25DEE}"/>
              </a:ext>
            </a:extLst>
          </p:cNvPr>
          <p:cNvSpPr>
            <a:spLocks noGrp="1"/>
          </p:cNvSpPr>
          <p:nvPr>
            <p:ph idx="1"/>
          </p:nvPr>
        </p:nvSpPr>
        <p:spPr/>
        <p:txBody>
          <a:bodyPr/>
          <a:lstStyle/>
          <a:p>
            <a:pPr>
              <a:buFont typeface="Arial" panose="020B0604020202020204" pitchFamily="34" charset="0"/>
              <a:buChar char="•"/>
            </a:pPr>
            <a:r>
              <a:rPr lang="en-US" b="1" dirty="0"/>
              <a:t>Explanation</a:t>
            </a:r>
            <a:r>
              <a:rPr lang="en-US" dirty="0"/>
              <a:t>: Periodically replace old keys with new ones to enhance security.</a:t>
            </a:r>
          </a:p>
          <a:p>
            <a:pPr>
              <a:buFont typeface="Arial" panose="020B0604020202020204" pitchFamily="34" charset="0"/>
              <a:buChar char="•"/>
            </a:pPr>
            <a:r>
              <a:rPr lang="en-US" b="1" dirty="0"/>
              <a:t>Example</a:t>
            </a:r>
            <a:r>
              <a:rPr lang="en-US" dirty="0"/>
              <a:t>: Some systems change encryption keys every 24 hours or after a certain number of transactions.</a:t>
            </a:r>
          </a:p>
          <a:p>
            <a:pPr>
              <a:buFont typeface="Arial" panose="020B0604020202020204" pitchFamily="34" charset="0"/>
              <a:buChar char="•"/>
            </a:pPr>
            <a:r>
              <a:rPr lang="en-US" b="1" dirty="0"/>
              <a:t>Analogy</a:t>
            </a:r>
            <a:r>
              <a:rPr lang="en-US" dirty="0"/>
              <a:t>: Think of regularly changing your door lock keys to ensure no one unauthorized has access.</a:t>
            </a:r>
          </a:p>
          <a:p>
            <a:endParaRPr lang="en-PK" dirty="0"/>
          </a:p>
        </p:txBody>
      </p:sp>
      <p:pic>
        <p:nvPicPr>
          <p:cNvPr id="5" name="Picture 4">
            <a:extLst>
              <a:ext uri="{FF2B5EF4-FFF2-40B4-BE49-F238E27FC236}">
                <a16:creationId xmlns:a16="http://schemas.microsoft.com/office/drawing/2014/main" id="{D45C802C-C180-F24D-CC03-5B124D81D69D}"/>
              </a:ext>
            </a:extLst>
          </p:cNvPr>
          <p:cNvPicPr>
            <a:picLocks noChangeAspect="1"/>
          </p:cNvPicPr>
          <p:nvPr/>
        </p:nvPicPr>
        <p:blipFill>
          <a:blip r:embed="rId2"/>
          <a:stretch>
            <a:fillRect/>
          </a:stretch>
        </p:blipFill>
        <p:spPr>
          <a:xfrm>
            <a:off x="899160" y="4466891"/>
            <a:ext cx="10393680" cy="2391109"/>
          </a:xfrm>
          <a:prstGeom prst="rect">
            <a:avLst/>
          </a:prstGeom>
        </p:spPr>
      </p:pic>
    </p:spTree>
    <p:extLst>
      <p:ext uri="{BB962C8B-B14F-4D97-AF65-F5344CB8AC3E}">
        <p14:creationId xmlns:p14="http://schemas.microsoft.com/office/powerpoint/2010/main" val="12924425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84FA90-8A58-17E2-460D-D78E1420C520}"/>
              </a:ext>
            </a:extLst>
          </p:cNvPr>
          <p:cNvSpPr>
            <a:spLocks noGrp="1"/>
          </p:cNvSpPr>
          <p:nvPr>
            <p:ph type="title"/>
          </p:nvPr>
        </p:nvSpPr>
        <p:spPr/>
        <p:txBody>
          <a:bodyPr/>
          <a:lstStyle/>
          <a:p>
            <a:r>
              <a:rPr lang="en-US" b="1" dirty="0" err="1"/>
              <a:t>Diffie-Hellman</a:t>
            </a:r>
            <a:r>
              <a:rPr lang="en-US" dirty="0" err="1"/>
              <a:t>:key-exchange</a:t>
            </a:r>
            <a:r>
              <a:rPr lang="en-US" dirty="0"/>
              <a:t> algo</a:t>
            </a:r>
            <a:endParaRPr lang="en-PK" dirty="0"/>
          </a:p>
        </p:txBody>
      </p:sp>
      <p:sp>
        <p:nvSpPr>
          <p:cNvPr id="3" name="Content Placeholder 2">
            <a:extLst>
              <a:ext uri="{FF2B5EF4-FFF2-40B4-BE49-F238E27FC236}">
                <a16:creationId xmlns:a16="http://schemas.microsoft.com/office/drawing/2014/main" id="{B0BF0DE2-D744-867C-1217-0C5964A0B83E}"/>
              </a:ext>
            </a:extLst>
          </p:cNvPr>
          <p:cNvSpPr>
            <a:spLocks noGrp="1"/>
          </p:cNvSpPr>
          <p:nvPr>
            <p:ph idx="1"/>
          </p:nvPr>
        </p:nvSpPr>
        <p:spPr/>
        <p:txBody>
          <a:bodyPr/>
          <a:lstStyle/>
          <a:p>
            <a:r>
              <a:rPr lang="en-US" dirty="0"/>
              <a:t>The Diffie-Hellman Key Exchange algorithm, introduced by Whitfield Diffie and Martin Hellman in 1976, is one of the first methods for securely exchanging cryptographic keys over an insecure communication channel. </a:t>
            </a:r>
          </a:p>
          <a:p>
            <a:r>
              <a:rPr lang="en-US" dirty="0"/>
              <a:t>It revolutionized cryptography by allowing two parties to establish a shared secret key without having to physically meet or use a pre-shared key. </a:t>
            </a:r>
          </a:p>
          <a:p>
            <a:r>
              <a:rPr lang="en-US" dirty="0"/>
              <a:t>This concept paved the way for modern public key cryptography.</a:t>
            </a:r>
          </a:p>
          <a:p>
            <a:r>
              <a:rPr lang="en-US" b="1" dirty="0"/>
              <a:t>Theory and Easy Explanation</a:t>
            </a:r>
          </a:p>
          <a:p>
            <a:r>
              <a:rPr lang="en-US" b="1" dirty="0"/>
              <a:t>Purpose:</a:t>
            </a:r>
            <a:br>
              <a:rPr lang="en-US" dirty="0"/>
            </a:br>
            <a:r>
              <a:rPr lang="en-US" dirty="0"/>
              <a:t>The Diffie-Hellman algorithm is used for securely exchanging a </a:t>
            </a:r>
            <a:r>
              <a:rPr lang="en-US" b="1" dirty="0"/>
              <a:t>shared secret key</a:t>
            </a:r>
            <a:r>
              <a:rPr lang="en-US" dirty="0"/>
              <a:t> between two parties (e.g., Alice and Bob) over an insecure network like the internet. This shared key can then be used for symmetric encryption to securely communicate.</a:t>
            </a:r>
          </a:p>
          <a:p>
            <a:endParaRPr lang="en-PK" dirty="0"/>
          </a:p>
        </p:txBody>
      </p:sp>
    </p:spTree>
    <p:extLst>
      <p:ext uri="{BB962C8B-B14F-4D97-AF65-F5344CB8AC3E}">
        <p14:creationId xmlns:p14="http://schemas.microsoft.com/office/powerpoint/2010/main" val="34342956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08A0FB-7924-DE55-24F5-F90A2CA3E815}"/>
              </a:ext>
            </a:extLst>
          </p:cNvPr>
          <p:cNvSpPr>
            <a:spLocks noGrp="1"/>
          </p:cNvSpPr>
          <p:nvPr>
            <p:ph type="title"/>
          </p:nvPr>
        </p:nvSpPr>
        <p:spPr/>
        <p:txBody>
          <a:bodyPr/>
          <a:lstStyle/>
          <a:p>
            <a:r>
              <a:rPr lang="en-US" dirty="0"/>
              <a:t>CONTI….</a:t>
            </a:r>
            <a:endParaRPr lang="en-PK" dirty="0"/>
          </a:p>
        </p:txBody>
      </p:sp>
      <p:sp>
        <p:nvSpPr>
          <p:cNvPr id="3" name="Content Placeholder 2">
            <a:extLst>
              <a:ext uri="{FF2B5EF4-FFF2-40B4-BE49-F238E27FC236}">
                <a16:creationId xmlns:a16="http://schemas.microsoft.com/office/drawing/2014/main" id="{434D0A59-D367-EE25-6C35-AFC0C04362F5}"/>
              </a:ext>
            </a:extLst>
          </p:cNvPr>
          <p:cNvSpPr>
            <a:spLocks noGrp="1"/>
          </p:cNvSpPr>
          <p:nvPr>
            <p:ph idx="1"/>
          </p:nvPr>
        </p:nvSpPr>
        <p:spPr>
          <a:xfrm>
            <a:off x="1069848" y="3429000"/>
            <a:ext cx="8399272" cy="3009392"/>
          </a:xfrm>
        </p:spPr>
        <p:txBody>
          <a:bodyPr>
            <a:normAutofit fontScale="92500" lnSpcReduction="20000"/>
          </a:bodyPr>
          <a:lstStyle/>
          <a:p>
            <a:r>
              <a:rPr lang="en-US" dirty="0"/>
              <a:t>It is the method to exchange keys if we are using symmetric key approach</a:t>
            </a:r>
          </a:p>
          <a:p>
            <a:r>
              <a:rPr lang="en-US" dirty="0"/>
              <a:t>Same key is used for both encryption and decryption </a:t>
            </a:r>
          </a:p>
          <a:p>
            <a:r>
              <a:rPr lang="en-US" dirty="0"/>
              <a:t>Mr. A and </a:t>
            </a:r>
            <a:r>
              <a:rPr lang="en-US" dirty="0" err="1"/>
              <a:t>Mr.b</a:t>
            </a:r>
            <a:r>
              <a:rPr lang="en-US" dirty="0"/>
              <a:t> are communicating each other </a:t>
            </a:r>
          </a:p>
          <a:p>
            <a:r>
              <a:rPr lang="en-US" dirty="0" err="1"/>
              <a:t>Mr.A</a:t>
            </a:r>
            <a:r>
              <a:rPr lang="en-US" dirty="0"/>
              <a:t> have a plaintext which he converted into cipher text</a:t>
            </a:r>
          </a:p>
          <a:p>
            <a:r>
              <a:rPr lang="en-US" dirty="0"/>
              <a:t>Means he did encryption of the text by using key </a:t>
            </a:r>
          </a:p>
          <a:p>
            <a:r>
              <a:rPr lang="en-US" dirty="0"/>
              <a:t>as we know that same key is used in symmetric key approach </a:t>
            </a:r>
          </a:p>
          <a:p>
            <a:r>
              <a:rPr lang="en-US" dirty="0"/>
              <a:t>By using some media cipher text is received by the </a:t>
            </a:r>
            <a:r>
              <a:rPr lang="en-US" dirty="0" err="1"/>
              <a:t>Mr.b</a:t>
            </a:r>
            <a:r>
              <a:rPr lang="en-US" dirty="0"/>
              <a:t> and he will use same key to convert that massage into plaintext </a:t>
            </a:r>
          </a:p>
          <a:p>
            <a:pPr marL="0" indent="0">
              <a:buNone/>
            </a:pPr>
            <a:endParaRPr lang="en-US" dirty="0"/>
          </a:p>
          <a:p>
            <a:pPr marL="0" indent="0">
              <a:buNone/>
            </a:pPr>
            <a:endParaRPr lang="en-US" dirty="0"/>
          </a:p>
          <a:p>
            <a:endParaRPr lang="en-US" dirty="0"/>
          </a:p>
          <a:p>
            <a:pPr marL="0" indent="0">
              <a:buNone/>
            </a:pPr>
            <a:endParaRPr lang="en-US" dirty="0"/>
          </a:p>
          <a:p>
            <a:endParaRPr lang="en-PK" dirty="0"/>
          </a:p>
        </p:txBody>
      </p:sp>
      <p:pic>
        <p:nvPicPr>
          <p:cNvPr id="7" name="Picture 6">
            <a:extLst>
              <a:ext uri="{FF2B5EF4-FFF2-40B4-BE49-F238E27FC236}">
                <a16:creationId xmlns:a16="http://schemas.microsoft.com/office/drawing/2014/main" id="{9164DA2E-3212-F129-F5EA-F2F44263EE15}"/>
              </a:ext>
            </a:extLst>
          </p:cNvPr>
          <p:cNvPicPr>
            <a:picLocks noChangeAspect="1"/>
          </p:cNvPicPr>
          <p:nvPr/>
        </p:nvPicPr>
        <p:blipFill>
          <a:blip r:embed="rId2"/>
          <a:stretch>
            <a:fillRect/>
          </a:stretch>
        </p:blipFill>
        <p:spPr>
          <a:xfrm>
            <a:off x="1063752" y="1567253"/>
            <a:ext cx="8544561" cy="1861747"/>
          </a:xfrm>
          <a:prstGeom prst="rect">
            <a:avLst/>
          </a:prstGeom>
        </p:spPr>
      </p:pic>
    </p:spTree>
    <p:extLst>
      <p:ext uri="{BB962C8B-B14F-4D97-AF65-F5344CB8AC3E}">
        <p14:creationId xmlns:p14="http://schemas.microsoft.com/office/powerpoint/2010/main" val="10821590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6336D1-5A10-CC57-3333-2C997836A609}"/>
              </a:ext>
            </a:extLst>
          </p:cNvPr>
          <p:cNvSpPr>
            <a:spLocks noGrp="1"/>
          </p:cNvSpPr>
          <p:nvPr>
            <p:ph type="title"/>
          </p:nvPr>
        </p:nvSpPr>
        <p:spPr/>
        <p:txBody>
          <a:bodyPr/>
          <a:lstStyle/>
          <a:p>
            <a:r>
              <a:rPr lang="en-US" dirty="0"/>
              <a:t>Cons of this approach </a:t>
            </a:r>
            <a:endParaRPr lang="en-PK" dirty="0"/>
          </a:p>
        </p:txBody>
      </p:sp>
      <p:sp>
        <p:nvSpPr>
          <p:cNvPr id="3" name="Content Placeholder 2">
            <a:extLst>
              <a:ext uri="{FF2B5EF4-FFF2-40B4-BE49-F238E27FC236}">
                <a16:creationId xmlns:a16="http://schemas.microsoft.com/office/drawing/2014/main" id="{7C8BBE65-EAFE-056E-2AF4-0B07D8876971}"/>
              </a:ext>
            </a:extLst>
          </p:cNvPr>
          <p:cNvSpPr>
            <a:spLocks noGrp="1"/>
          </p:cNvSpPr>
          <p:nvPr>
            <p:ph idx="1"/>
          </p:nvPr>
        </p:nvSpPr>
        <p:spPr/>
        <p:txBody>
          <a:bodyPr/>
          <a:lstStyle/>
          <a:p>
            <a:r>
              <a:rPr lang="en-US" dirty="0"/>
              <a:t>Let suppose the network which is used for communication have under attack as far as plaintext key the key which will used by </a:t>
            </a:r>
            <a:r>
              <a:rPr lang="en-US" dirty="0" err="1"/>
              <a:t>Mr.B</a:t>
            </a:r>
            <a:r>
              <a:rPr lang="en-US" dirty="0"/>
              <a:t> to decrypt the massage also travel through the same network medium </a:t>
            </a:r>
          </a:p>
          <a:p>
            <a:r>
              <a:rPr lang="en-US" dirty="0"/>
              <a:t>And it will easy for hacker to encrypt or decrypt that massage by using same share key</a:t>
            </a:r>
          </a:p>
          <a:p>
            <a:r>
              <a:rPr lang="en-US" dirty="0"/>
              <a:t>So this is the main disadvantage for this approach is key is also hacked </a:t>
            </a:r>
          </a:p>
          <a:p>
            <a:r>
              <a:rPr lang="en-US" dirty="0"/>
              <a:t>To mitigate this risk Diffie </a:t>
            </a:r>
            <a:r>
              <a:rPr lang="en-US" dirty="0" err="1"/>
              <a:t>halman</a:t>
            </a:r>
            <a:r>
              <a:rPr lang="en-US" dirty="0"/>
              <a:t> approach is used and the key will exchange by some method that it will difficult for hackers to guess the key </a:t>
            </a:r>
          </a:p>
          <a:p>
            <a:endParaRPr lang="en-US" dirty="0"/>
          </a:p>
        </p:txBody>
      </p:sp>
    </p:spTree>
    <p:extLst>
      <p:ext uri="{BB962C8B-B14F-4D97-AF65-F5344CB8AC3E}">
        <p14:creationId xmlns:p14="http://schemas.microsoft.com/office/powerpoint/2010/main" val="40585055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65AE3E-9B3E-D29A-8DEF-51106A04F6F7}"/>
              </a:ext>
            </a:extLst>
          </p:cNvPr>
          <p:cNvSpPr>
            <a:spLocks noGrp="1"/>
          </p:cNvSpPr>
          <p:nvPr>
            <p:ph type="title"/>
          </p:nvPr>
        </p:nvSpPr>
        <p:spPr/>
        <p:txBody>
          <a:bodyPr/>
          <a:lstStyle/>
          <a:p>
            <a:r>
              <a:rPr lang="en-US" dirty="0"/>
              <a:t>How we can use this algo </a:t>
            </a:r>
            <a:endParaRPr lang="en-PK" dirty="0"/>
          </a:p>
        </p:txBody>
      </p:sp>
      <p:sp>
        <p:nvSpPr>
          <p:cNvPr id="3" name="Content Placeholder 2">
            <a:extLst>
              <a:ext uri="{FF2B5EF4-FFF2-40B4-BE49-F238E27FC236}">
                <a16:creationId xmlns:a16="http://schemas.microsoft.com/office/drawing/2014/main" id="{074FB4A5-7A67-D66D-579C-8A3DCBFBA2EE}"/>
              </a:ext>
            </a:extLst>
          </p:cNvPr>
          <p:cNvSpPr>
            <a:spLocks noGrp="1"/>
          </p:cNvSpPr>
          <p:nvPr>
            <p:ph idx="1"/>
          </p:nvPr>
        </p:nvSpPr>
        <p:spPr>
          <a:xfrm>
            <a:off x="1063752" y="1938528"/>
            <a:ext cx="8689848" cy="2642617"/>
          </a:xfrm>
        </p:spPr>
        <p:txBody>
          <a:bodyPr>
            <a:normAutofit fontScale="92500" lnSpcReduction="20000"/>
          </a:bodyPr>
          <a:lstStyle/>
          <a:p>
            <a:r>
              <a:rPr lang="en-US" dirty="0" err="1"/>
              <a:t>Mr</a:t>
            </a:r>
            <a:r>
              <a:rPr lang="en-US" dirty="0"/>
              <a:t> A. wants to communicate </a:t>
            </a:r>
            <a:r>
              <a:rPr lang="en-US" dirty="0" err="1"/>
              <a:t>Mr.B</a:t>
            </a:r>
            <a:r>
              <a:rPr lang="en-US" dirty="0"/>
              <a:t> by using some network medium</a:t>
            </a:r>
          </a:p>
          <a:p>
            <a:r>
              <a:rPr lang="en-US" dirty="0"/>
              <a:t>In this algorithm we have to take 2 large prime numbers suppose one is </a:t>
            </a:r>
          </a:p>
          <a:p>
            <a:r>
              <a:rPr lang="en-US" dirty="0"/>
              <a:t>n and other is g ( the large prime numbers consider more secure )</a:t>
            </a:r>
          </a:p>
          <a:p>
            <a:r>
              <a:rPr lang="en-US" dirty="0"/>
              <a:t>n= 5 , g= 7 just for example </a:t>
            </a:r>
          </a:p>
          <a:p>
            <a:r>
              <a:rPr lang="en-US" dirty="0"/>
              <a:t>Prime number only divide on 1 and on it self </a:t>
            </a:r>
          </a:p>
          <a:p>
            <a:r>
              <a:rPr lang="en-US" dirty="0"/>
              <a:t>And these keys will share to </a:t>
            </a:r>
            <a:r>
              <a:rPr lang="en-US" dirty="0" err="1"/>
              <a:t>Mr.A</a:t>
            </a:r>
            <a:r>
              <a:rPr lang="en-US" dirty="0"/>
              <a:t> and Mr. b over the network</a:t>
            </a:r>
          </a:p>
          <a:p>
            <a:r>
              <a:rPr lang="en-US" dirty="0"/>
              <a:t>If attackers attacks on the network he wouldn’t know what will be the purpose of these values </a:t>
            </a:r>
            <a:endParaRPr lang="en-PK" dirty="0"/>
          </a:p>
        </p:txBody>
      </p:sp>
      <p:pic>
        <p:nvPicPr>
          <p:cNvPr id="7" name="Picture 6">
            <a:extLst>
              <a:ext uri="{FF2B5EF4-FFF2-40B4-BE49-F238E27FC236}">
                <a16:creationId xmlns:a16="http://schemas.microsoft.com/office/drawing/2014/main" id="{66AA5507-2398-0D63-505D-E7B742F00232}"/>
              </a:ext>
            </a:extLst>
          </p:cNvPr>
          <p:cNvPicPr>
            <a:picLocks noChangeAspect="1"/>
          </p:cNvPicPr>
          <p:nvPr/>
        </p:nvPicPr>
        <p:blipFill>
          <a:blip r:embed="rId2"/>
          <a:stretch>
            <a:fillRect/>
          </a:stretch>
        </p:blipFill>
        <p:spPr>
          <a:xfrm>
            <a:off x="880872" y="4764025"/>
            <a:ext cx="9392961" cy="1848108"/>
          </a:xfrm>
          <a:prstGeom prst="rect">
            <a:avLst/>
          </a:prstGeom>
        </p:spPr>
      </p:pic>
    </p:spTree>
    <p:extLst>
      <p:ext uri="{BB962C8B-B14F-4D97-AF65-F5344CB8AC3E}">
        <p14:creationId xmlns:p14="http://schemas.microsoft.com/office/powerpoint/2010/main" val="31737590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6A633C-796D-7DE6-5A4B-F0DF6AE69D75}"/>
              </a:ext>
            </a:extLst>
          </p:cNvPr>
          <p:cNvSpPr>
            <a:spLocks noGrp="1"/>
          </p:cNvSpPr>
          <p:nvPr>
            <p:ph type="title"/>
          </p:nvPr>
        </p:nvSpPr>
        <p:spPr/>
        <p:txBody>
          <a:bodyPr/>
          <a:lstStyle/>
          <a:p>
            <a:r>
              <a:rPr lang="en-US" dirty="0"/>
              <a:t>Step 2 </a:t>
            </a:r>
            <a:endParaRPr lang="en-PK" dirty="0"/>
          </a:p>
        </p:txBody>
      </p:sp>
      <p:sp>
        <p:nvSpPr>
          <p:cNvPr id="3" name="Content Placeholder 2">
            <a:extLst>
              <a:ext uri="{FF2B5EF4-FFF2-40B4-BE49-F238E27FC236}">
                <a16:creationId xmlns:a16="http://schemas.microsoft.com/office/drawing/2014/main" id="{802CE2D3-8734-F095-5E66-00AA4B3B58FD}"/>
              </a:ext>
            </a:extLst>
          </p:cNvPr>
          <p:cNvSpPr>
            <a:spLocks noGrp="1"/>
          </p:cNvSpPr>
          <p:nvPr>
            <p:ph idx="1"/>
          </p:nvPr>
        </p:nvSpPr>
        <p:spPr>
          <a:xfrm>
            <a:off x="267208" y="2093976"/>
            <a:ext cx="5523992" cy="4126992"/>
          </a:xfrm>
        </p:spPr>
        <p:txBody>
          <a:bodyPr>
            <a:normAutofit fontScale="92500" lnSpcReduction="20000"/>
          </a:bodyPr>
          <a:lstStyle/>
          <a:p>
            <a:r>
              <a:rPr lang="en-US" dirty="0"/>
              <a:t>Now Mr. A will define private number for it self which will X= 3</a:t>
            </a:r>
          </a:p>
          <a:p>
            <a:r>
              <a:rPr lang="en-US" dirty="0"/>
              <a:t>Same Mr. B define private number for his self which will be y = 13</a:t>
            </a:r>
          </a:p>
          <a:p>
            <a:r>
              <a:rPr lang="en-US" dirty="0"/>
              <a:t>And these numbers will remain private and it will never exchange with each others</a:t>
            </a:r>
          </a:p>
          <a:p>
            <a:pPr marL="0" indent="0">
              <a:buNone/>
            </a:pPr>
            <a:r>
              <a:rPr lang="en-US" sz="3600" b="1" dirty="0"/>
              <a:t>Step 3</a:t>
            </a:r>
          </a:p>
          <a:p>
            <a:pPr marL="0" indent="0">
              <a:buNone/>
            </a:pPr>
            <a:r>
              <a:rPr lang="en-US" dirty="0"/>
              <a:t>In this step we will calculate a value A and B </a:t>
            </a:r>
          </a:p>
          <a:p>
            <a:pPr marL="0" indent="0">
              <a:buNone/>
            </a:pPr>
            <a:r>
              <a:rPr lang="en-US" dirty="0"/>
              <a:t>as for Mr. A formula is A = </a:t>
            </a:r>
            <a:r>
              <a:rPr lang="en-US" dirty="0" err="1"/>
              <a:t>g</a:t>
            </a:r>
            <a:r>
              <a:rPr lang="en-US" baseline="30000" dirty="0" err="1"/>
              <a:t>x</a:t>
            </a:r>
            <a:r>
              <a:rPr lang="en-US" baseline="30000" dirty="0"/>
              <a:t> </a:t>
            </a:r>
            <a:r>
              <a:rPr lang="en-US" dirty="0"/>
              <a:t> </a:t>
            </a:r>
            <a:r>
              <a:rPr lang="en-US" dirty="0" err="1"/>
              <a:t>modn</a:t>
            </a:r>
            <a:endParaRPr lang="en-US" dirty="0"/>
          </a:p>
          <a:p>
            <a:pPr marL="0" indent="0">
              <a:buNone/>
            </a:pPr>
            <a:r>
              <a:rPr lang="en-US" dirty="0"/>
              <a:t>                                         </a:t>
            </a:r>
            <a:r>
              <a:rPr lang="en-US" b="1" dirty="0"/>
              <a:t>A = 7^</a:t>
            </a:r>
            <a:r>
              <a:rPr lang="en-US" b="1" baseline="30000" dirty="0"/>
              <a:t>3 </a:t>
            </a:r>
            <a:r>
              <a:rPr lang="en-US" b="1" dirty="0"/>
              <a:t> mod5 = 3</a:t>
            </a:r>
          </a:p>
          <a:p>
            <a:pPr marL="0" indent="0">
              <a:buNone/>
            </a:pPr>
            <a:r>
              <a:rPr lang="en-US" dirty="0"/>
              <a:t>For Mr. b formula is b </a:t>
            </a:r>
            <a:r>
              <a:rPr lang="en-US" dirty="0" err="1"/>
              <a:t>B</a:t>
            </a:r>
            <a:r>
              <a:rPr lang="en-US" dirty="0"/>
              <a:t> = </a:t>
            </a:r>
            <a:r>
              <a:rPr lang="en-US" dirty="0" err="1"/>
              <a:t>g</a:t>
            </a:r>
            <a:r>
              <a:rPr lang="en-US" baseline="30000" dirty="0" err="1"/>
              <a:t>y</a:t>
            </a:r>
            <a:r>
              <a:rPr lang="en-US" baseline="30000" dirty="0"/>
              <a:t>  </a:t>
            </a:r>
            <a:r>
              <a:rPr lang="en-US" dirty="0"/>
              <a:t> mod n</a:t>
            </a:r>
          </a:p>
          <a:p>
            <a:pPr marL="0" indent="0">
              <a:buNone/>
            </a:pPr>
            <a:r>
              <a:rPr lang="en-US" b="1" dirty="0"/>
              <a:t>                                         B = 7^</a:t>
            </a:r>
            <a:r>
              <a:rPr lang="en-US" b="1" baseline="30000" dirty="0"/>
              <a:t>13</a:t>
            </a:r>
            <a:r>
              <a:rPr lang="en-US" b="1" dirty="0"/>
              <a:t> mod5 = 2</a:t>
            </a:r>
          </a:p>
          <a:p>
            <a:pPr marL="0" indent="0">
              <a:buNone/>
            </a:pPr>
            <a:endParaRPr lang="en-US" dirty="0"/>
          </a:p>
          <a:p>
            <a:pPr marL="0" indent="0">
              <a:buNone/>
            </a:pPr>
            <a:endParaRPr lang="en-US" sz="1600" dirty="0"/>
          </a:p>
          <a:p>
            <a:endParaRPr lang="en-PK" dirty="0"/>
          </a:p>
        </p:txBody>
      </p:sp>
      <p:pic>
        <p:nvPicPr>
          <p:cNvPr id="5" name="Picture 4">
            <a:extLst>
              <a:ext uri="{FF2B5EF4-FFF2-40B4-BE49-F238E27FC236}">
                <a16:creationId xmlns:a16="http://schemas.microsoft.com/office/drawing/2014/main" id="{C49856AE-1791-40A4-950A-987432693659}"/>
              </a:ext>
            </a:extLst>
          </p:cNvPr>
          <p:cNvPicPr>
            <a:picLocks noChangeAspect="1"/>
          </p:cNvPicPr>
          <p:nvPr/>
        </p:nvPicPr>
        <p:blipFill>
          <a:blip r:embed="rId2"/>
          <a:stretch>
            <a:fillRect/>
          </a:stretch>
        </p:blipFill>
        <p:spPr>
          <a:xfrm>
            <a:off x="5791200" y="1910188"/>
            <a:ext cx="6319520" cy="2247284"/>
          </a:xfrm>
          <a:prstGeom prst="rect">
            <a:avLst/>
          </a:prstGeom>
        </p:spPr>
      </p:pic>
    </p:spTree>
    <p:extLst>
      <p:ext uri="{BB962C8B-B14F-4D97-AF65-F5344CB8AC3E}">
        <p14:creationId xmlns:p14="http://schemas.microsoft.com/office/powerpoint/2010/main" val="20207667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49D5C8-9830-A7F7-15C3-4F97CF6DA9DD}"/>
              </a:ext>
            </a:extLst>
          </p:cNvPr>
          <p:cNvSpPr>
            <a:spLocks noGrp="1"/>
          </p:cNvSpPr>
          <p:nvPr>
            <p:ph type="title"/>
          </p:nvPr>
        </p:nvSpPr>
        <p:spPr/>
        <p:txBody>
          <a:bodyPr/>
          <a:lstStyle/>
          <a:p>
            <a:r>
              <a:rPr lang="en-US" dirty="0"/>
              <a:t>STEP 4 </a:t>
            </a:r>
            <a:endParaRPr lang="en-PK" dirty="0"/>
          </a:p>
        </p:txBody>
      </p:sp>
      <p:sp>
        <p:nvSpPr>
          <p:cNvPr id="3" name="Content Placeholder 2">
            <a:extLst>
              <a:ext uri="{FF2B5EF4-FFF2-40B4-BE49-F238E27FC236}">
                <a16:creationId xmlns:a16="http://schemas.microsoft.com/office/drawing/2014/main" id="{58D367F2-3FFA-186E-1508-2F6B785164B0}"/>
              </a:ext>
            </a:extLst>
          </p:cNvPr>
          <p:cNvSpPr>
            <a:spLocks noGrp="1"/>
          </p:cNvSpPr>
          <p:nvPr>
            <p:ph idx="1"/>
          </p:nvPr>
        </p:nvSpPr>
        <p:spPr>
          <a:xfrm>
            <a:off x="1069848" y="2275840"/>
            <a:ext cx="9557512" cy="3896360"/>
          </a:xfrm>
        </p:spPr>
        <p:txBody>
          <a:bodyPr>
            <a:normAutofit/>
          </a:bodyPr>
          <a:lstStyle/>
          <a:p>
            <a:r>
              <a:rPr lang="en-US" dirty="0"/>
              <a:t>Now A = 3 and B= 2 Now at this step value will be exchanged between </a:t>
            </a:r>
            <a:r>
              <a:rPr lang="en-US" dirty="0" err="1"/>
              <a:t>Mr.A</a:t>
            </a:r>
            <a:r>
              <a:rPr lang="en-US" dirty="0"/>
              <a:t> and </a:t>
            </a:r>
            <a:r>
              <a:rPr lang="en-US" dirty="0" err="1"/>
              <a:t>Mr.B</a:t>
            </a:r>
            <a:r>
              <a:rPr lang="en-US" dirty="0"/>
              <a:t> </a:t>
            </a:r>
          </a:p>
          <a:p>
            <a:r>
              <a:rPr lang="en-US" dirty="0"/>
              <a:t>Suppose if attackers is on the network he already knew the value of g and n so it will not possible for him to guess the values of A and B </a:t>
            </a:r>
          </a:p>
          <a:p>
            <a:r>
              <a:rPr lang="en-US" dirty="0"/>
              <a:t>If attacker also know that this communication is happened through Diffie </a:t>
            </a:r>
            <a:r>
              <a:rPr lang="en-US" dirty="0" err="1"/>
              <a:t>halman</a:t>
            </a:r>
            <a:r>
              <a:rPr lang="en-US" dirty="0"/>
              <a:t>  and he knows the formula too but also in this case he can not guess the value of X and y on both side </a:t>
            </a:r>
          </a:p>
          <a:p>
            <a:r>
              <a:rPr lang="en-US" dirty="0"/>
              <a:t>Now after exchanging A and B values the values will be</a:t>
            </a:r>
          </a:p>
          <a:p>
            <a:r>
              <a:rPr lang="en-US" dirty="0"/>
              <a:t> For </a:t>
            </a:r>
            <a:r>
              <a:rPr lang="en-US" dirty="0" err="1"/>
              <a:t>Mr.A</a:t>
            </a:r>
            <a:r>
              <a:rPr lang="en-US" dirty="0"/>
              <a:t>  B= 2</a:t>
            </a:r>
          </a:p>
          <a:p>
            <a:r>
              <a:rPr lang="en-US" dirty="0"/>
              <a:t>For </a:t>
            </a:r>
            <a:r>
              <a:rPr lang="en-US" dirty="0" err="1"/>
              <a:t>Mr.B</a:t>
            </a:r>
            <a:r>
              <a:rPr lang="en-US" dirty="0"/>
              <a:t> A= 3</a:t>
            </a:r>
          </a:p>
          <a:p>
            <a:endParaRPr lang="en-US" dirty="0"/>
          </a:p>
          <a:p>
            <a:endParaRPr lang="en-PK" dirty="0"/>
          </a:p>
        </p:txBody>
      </p:sp>
      <p:pic>
        <p:nvPicPr>
          <p:cNvPr id="9" name="Picture 8">
            <a:extLst>
              <a:ext uri="{FF2B5EF4-FFF2-40B4-BE49-F238E27FC236}">
                <a16:creationId xmlns:a16="http://schemas.microsoft.com/office/drawing/2014/main" id="{4A86BBD3-3302-8FE8-1241-FC1745DEB847}"/>
              </a:ext>
            </a:extLst>
          </p:cNvPr>
          <p:cNvPicPr>
            <a:picLocks noChangeAspect="1"/>
          </p:cNvPicPr>
          <p:nvPr/>
        </p:nvPicPr>
        <p:blipFill>
          <a:blip r:embed="rId2"/>
          <a:stretch>
            <a:fillRect/>
          </a:stretch>
        </p:blipFill>
        <p:spPr>
          <a:xfrm>
            <a:off x="1442388" y="5864168"/>
            <a:ext cx="9307224" cy="819264"/>
          </a:xfrm>
          <a:prstGeom prst="rect">
            <a:avLst/>
          </a:prstGeom>
        </p:spPr>
      </p:pic>
    </p:spTree>
    <p:extLst>
      <p:ext uri="{BB962C8B-B14F-4D97-AF65-F5344CB8AC3E}">
        <p14:creationId xmlns:p14="http://schemas.microsoft.com/office/powerpoint/2010/main" val="5497987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74D072-5B06-B236-3159-722EF3A6C371}"/>
              </a:ext>
            </a:extLst>
          </p:cNvPr>
          <p:cNvSpPr>
            <a:spLocks noGrp="1"/>
          </p:cNvSpPr>
          <p:nvPr>
            <p:ph type="title"/>
          </p:nvPr>
        </p:nvSpPr>
        <p:spPr/>
        <p:txBody>
          <a:bodyPr/>
          <a:lstStyle/>
          <a:p>
            <a:r>
              <a:rPr lang="en-US" dirty="0"/>
              <a:t>Step 5 Finding the value of key</a:t>
            </a:r>
            <a:endParaRPr lang="en-PK" dirty="0"/>
          </a:p>
        </p:txBody>
      </p:sp>
      <p:sp>
        <p:nvSpPr>
          <p:cNvPr id="3" name="Content Placeholder 2">
            <a:extLst>
              <a:ext uri="{FF2B5EF4-FFF2-40B4-BE49-F238E27FC236}">
                <a16:creationId xmlns:a16="http://schemas.microsoft.com/office/drawing/2014/main" id="{997CE7C9-9B33-5135-9876-E3252AE825F6}"/>
              </a:ext>
            </a:extLst>
          </p:cNvPr>
          <p:cNvSpPr>
            <a:spLocks noGrp="1"/>
          </p:cNvSpPr>
          <p:nvPr>
            <p:ph idx="1"/>
          </p:nvPr>
        </p:nvSpPr>
        <p:spPr/>
        <p:txBody>
          <a:bodyPr/>
          <a:lstStyle/>
          <a:p>
            <a:r>
              <a:rPr lang="en-US" dirty="0"/>
              <a:t>The formula for finding the key is for Mr. A is</a:t>
            </a:r>
          </a:p>
          <a:p>
            <a:r>
              <a:rPr lang="en-US" dirty="0"/>
              <a:t>K = B^ </a:t>
            </a:r>
            <a:r>
              <a:rPr lang="en-US" baseline="30000" dirty="0"/>
              <a:t>x </a:t>
            </a:r>
            <a:r>
              <a:rPr lang="en-US" dirty="0"/>
              <a:t> mod n</a:t>
            </a:r>
          </a:p>
          <a:p>
            <a:r>
              <a:rPr lang="en-US" b="1" dirty="0"/>
              <a:t>K= 2^</a:t>
            </a:r>
            <a:r>
              <a:rPr lang="en-US" b="1" baseline="30000" dirty="0"/>
              <a:t>3 </a:t>
            </a:r>
            <a:r>
              <a:rPr lang="en-US" b="1" dirty="0"/>
              <a:t> mod 5    = 3</a:t>
            </a:r>
          </a:p>
          <a:p>
            <a:r>
              <a:rPr lang="en-US" dirty="0"/>
              <a:t>formula for finding the key for Mr. B is</a:t>
            </a:r>
          </a:p>
          <a:p>
            <a:r>
              <a:rPr lang="en-US" dirty="0"/>
              <a:t>K = A^ </a:t>
            </a:r>
            <a:r>
              <a:rPr lang="en-US" baseline="30000" dirty="0"/>
              <a:t>y </a:t>
            </a:r>
            <a:r>
              <a:rPr lang="en-US" dirty="0"/>
              <a:t> mod n</a:t>
            </a:r>
          </a:p>
          <a:p>
            <a:r>
              <a:rPr lang="en-US" b="1" dirty="0"/>
              <a:t>K= 3^</a:t>
            </a:r>
            <a:r>
              <a:rPr lang="en-US" b="1" baseline="30000" dirty="0"/>
              <a:t>13 </a:t>
            </a:r>
            <a:r>
              <a:rPr lang="en-US" b="1" dirty="0"/>
              <a:t> mod 5    = 3</a:t>
            </a:r>
          </a:p>
          <a:p>
            <a:pPr marL="0" indent="0">
              <a:buNone/>
            </a:pPr>
            <a:endParaRPr lang="en-US" b="1" dirty="0"/>
          </a:p>
          <a:p>
            <a:endParaRPr lang="en-US" dirty="0"/>
          </a:p>
          <a:p>
            <a:endParaRPr lang="en-US" dirty="0"/>
          </a:p>
          <a:p>
            <a:endParaRPr lang="en-PK" dirty="0"/>
          </a:p>
        </p:txBody>
      </p:sp>
      <p:pic>
        <p:nvPicPr>
          <p:cNvPr id="5" name="Picture 4">
            <a:extLst>
              <a:ext uri="{FF2B5EF4-FFF2-40B4-BE49-F238E27FC236}">
                <a16:creationId xmlns:a16="http://schemas.microsoft.com/office/drawing/2014/main" id="{0A0FA57C-3A3D-1874-BA8E-39ADAFAE5450}"/>
              </a:ext>
            </a:extLst>
          </p:cNvPr>
          <p:cNvPicPr>
            <a:picLocks noChangeAspect="1"/>
          </p:cNvPicPr>
          <p:nvPr/>
        </p:nvPicPr>
        <p:blipFill>
          <a:blip r:embed="rId2"/>
          <a:stretch>
            <a:fillRect/>
          </a:stretch>
        </p:blipFill>
        <p:spPr>
          <a:xfrm>
            <a:off x="1063752" y="4764025"/>
            <a:ext cx="9440592" cy="1581371"/>
          </a:xfrm>
          <a:prstGeom prst="rect">
            <a:avLst/>
          </a:prstGeom>
        </p:spPr>
      </p:pic>
    </p:spTree>
    <p:extLst>
      <p:ext uri="{BB962C8B-B14F-4D97-AF65-F5344CB8AC3E}">
        <p14:creationId xmlns:p14="http://schemas.microsoft.com/office/powerpoint/2010/main" val="20060544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647FC-86E0-5ADC-140E-7E33E1A38B52}"/>
              </a:ext>
            </a:extLst>
          </p:cNvPr>
          <p:cNvSpPr>
            <a:spLocks noGrp="1"/>
          </p:cNvSpPr>
          <p:nvPr>
            <p:ph type="title"/>
          </p:nvPr>
        </p:nvSpPr>
        <p:spPr/>
        <p:txBody>
          <a:bodyPr/>
          <a:lstStyle/>
          <a:p>
            <a:r>
              <a:rPr lang="en-US" dirty="0"/>
              <a:t>Conti…..</a:t>
            </a:r>
            <a:endParaRPr lang="en-PK" dirty="0"/>
          </a:p>
        </p:txBody>
      </p:sp>
      <p:sp>
        <p:nvSpPr>
          <p:cNvPr id="3" name="Content Placeholder 2">
            <a:extLst>
              <a:ext uri="{FF2B5EF4-FFF2-40B4-BE49-F238E27FC236}">
                <a16:creationId xmlns:a16="http://schemas.microsoft.com/office/drawing/2014/main" id="{620FC52B-A590-A6B2-ED25-A2238B4CD3F4}"/>
              </a:ext>
            </a:extLst>
          </p:cNvPr>
          <p:cNvSpPr>
            <a:spLocks noGrp="1"/>
          </p:cNvSpPr>
          <p:nvPr>
            <p:ph idx="1"/>
          </p:nvPr>
        </p:nvSpPr>
        <p:spPr/>
        <p:txBody>
          <a:bodyPr/>
          <a:lstStyle/>
          <a:p>
            <a:r>
              <a:rPr lang="en-US" dirty="0"/>
              <a:t>So 3 will be our private key which will be used for both encryption and decryption </a:t>
            </a:r>
          </a:p>
          <a:p>
            <a:r>
              <a:rPr lang="en-US" dirty="0"/>
              <a:t>This is the main benefit of Diffie </a:t>
            </a:r>
            <a:r>
              <a:rPr lang="en-US" dirty="0" err="1"/>
              <a:t>halman</a:t>
            </a:r>
            <a:r>
              <a:rPr lang="en-US" dirty="0"/>
              <a:t> that if we don’t use this algorithm then attackers have easily take access of the keys and he will decrypt the plaintext </a:t>
            </a:r>
          </a:p>
          <a:p>
            <a:r>
              <a:rPr lang="en-US" dirty="0"/>
              <a:t>By using this algorithm hacker will never guess the original keys </a:t>
            </a:r>
          </a:p>
          <a:p>
            <a:pPr marL="0" indent="0">
              <a:buNone/>
            </a:pPr>
            <a:endParaRPr lang="en-PK" dirty="0"/>
          </a:p>
        </p:txBody>
      </p:sp>
    </p:spTree>
    <p:extLst>
      <p:ext uri="{BB962C8B-B14F-4D97-AF65-F5344CB8AC3E}">
        <p14:creationId xmlns:p14="http://schemas.microsoft.com/office/powerpoint/2010/main" val="100709286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Wood Type</Template>
  <TotalTime>158</TotalTime>
  <Words>1488</Words>
  <Application>Microsoft Office PowerPoint</Application>
  <PresentationFormat>Widescreen</PresentationFormat>
  <Paragraphs>106</Paragraphs>
  <Slides>18</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Calibri</vt:lpstr>
      <vt:lpstr>Rockwell</vt:lpstr>
      <vt:lpstr>Rockwell Condensed</vt:lpstr>
      <vt:lpstr>Wingdings</vt:lpstr>
      <vt:lpstr>Wood Type</vt:lpstr>
      <vt:lpstr>1. Placement of Encryption Function End to end, Link to Link,  2. Key Distribution and Management Key distribution using Secret key cryptography, For link encryption, For E2E encryption, Key Management,  3. Diffie-Hellman Key Exchange</vt:lpstr>
      <vt:lpstr>E TO E encryption </vt:lpstr>
      <vt:lpstr>Link-to-Link Encryption</vt:lpstr>
      <vt:lpstr>Key Distribution and Management</vt:lpstr>
      <vt:lpstr>Key Distribution and Management</vt:lpstr>
      <vt:lpstr>Key distribution for link encryption </vt:lpstr>
      <vt:lpstr>Key Distribution for End-to-End (E2E) Encryption</vt:lpstr>
      <vt:lpstr>Key Management</vt:lpstr>
      <vt:lpstr>Key Distribution Explanation</vt:lpstr>
      <vt:lpstr>Key Rotation </vt:lpstr>
      <vt:lpstr>Diffie-Hellman:key-exchange algo</vt:lpstr>
      <vt:lpstr>CONTI….</vt:lpstr>
      <vt:lpstr>Cons of this approach </vt:lpstr>
      <vt:lpstr>How we can use this algo </vt:lpstr>
      <vt:lpstr>Step 2 </vt:lpstr>
      <vt:lpstr>STEP 4 </vt:lpstr>
      <vt:lpstr>Step 5 Finding the value of key</vt:lpstr>
      <vt:lpstr>Conti…..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ayesha jarral</dc:creator>
  <cp:lastModifiedBy>ayesha jarral</cp:lastModifiedBy>
  <cp:revision>11</cp:revision>
  <dcterms:created xsi:type="dcterms:W3CDTF">2024-11-18T08:15:59Z</dcterms:created>
  <dcterms:modified xsi:type="dcterms:W3CDTF">2025-11-27T13:29:03Z</dcterms:modified>
</cp:coreProperties>
</file>