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0AA9-5AFD-6BB1-8778-D24F0CB4E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B4E56-69CB-9FAA-B768-2F72F7295B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8AEA3-ED4B-3EC1-4D8A-E27177889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520DE-74E4-44CC-B811-CD5C905A9471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97B2B-8A99-7CB6-DB61-0D832DF5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55B8D-5B48-1566-7493-B1DF2A589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B282B-3B13-4364-A791-9B856A2EB7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10965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8DC9-0BD0-D8D8-60B1-2E6E4367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6D4A1-B462-79A2-245D-17B7B03E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E6861-CF66-2703-4BD8-AC44858CD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520DE-74E4-44CC-B811-CD5C905A9471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1A973-2B38-C908-D078-BD0295D56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0221C-2926-EBFB-2C71-339FBBBD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B282B-3B13-4364-A791-9B856A2EB7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9485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9EE9-63A3-38D6-F096-65FED4CAE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27D9B-0BE4-5BFC-28BB-8B5181E57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1C974-10C8-8D87-52AB-C292C930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520DE-74E4-44CC-B811-CD5C905A9471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CFC58-1ABB-A34B-BBD6-DB507C8A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99A56-9151-A7CD-EF01-B6063432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B282B-3B13-4364-A791-9B856A2EB7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860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5502C-45B8-CA80-251F-3FC63C2C6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DA2C9-BDDD-7E3D-F4C4-87FBA04DF4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F25E0-DBB8-8E15-38BE-3DE468FF7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C65B3-8541-5D1F-78CA-B922B652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520DE-74E4-44CC-B811-CD5C905A9471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BA685-5241-D88A-BE45-B3C8AF292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AA41B-F5A7-E3FB-03AA-92436C0E6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B282B-3B13-4364-A791-9B856A2EB7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6042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2B0E-0D29-5DA0-4A50-1D67D07E4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922B1-A2FF-2D5D-544E-7F6773099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F41FC-B4D2-84DF-0026-E0A45F37C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6C9127-64C5-7CFD-9FA9-C120502E7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827D99-1BB6-E57E-E123-F5E244FFB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703C52-0F79-6042-C172-341C7928A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520DE-74E4-44CC-B811-CD5C905A9471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339691-9451-0B53-C370-138134CA4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BA4915-A115-C935-4732-9C206479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B282B-3B13-4364-A791-9B856A2EB7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62810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5249F-3B26-DD4B-06FD-435168EA8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3434A4-4D14-37F2-7468-341DDFFCB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520DE-74E4-44CC-B811-CD5C905A9471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519F4-FBEF-C2A2-2C42-86621393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6E56D-05C9-0752-5EF4-E4CBEB9E8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B282B-3B13-4364-A791-9B856A2EB7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6506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0DD47E-D67B-5F52-56E6-44C162C76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520DE-74E4-44CC-B811-CD5C905A9471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39C845-C732-8B83-6ECC-E6490B4BA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AAF0-D60E-B46D-CCB0-8D339505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B282B-3B13-4364-A791-9B856A2EB7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9595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61DA2-A091-0730-C237-8C3D084C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D2BE-4E1A-EABF-68D0-E431C7EEF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29E9C7-D12F-5C9F-0539-9FF0AA5B3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4B1DD-3E87-EC9B-CE53-BE0DEDA54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520DE-74E4-44CC-B811-CD5C905A9471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D46C9-0C40-96BD-75F6-867985C2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AC496-34F4-9CFE-DC82-039F4B1B1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B282B-3B13-4364-A791-9B856A2EB7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04421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F556D-DB92-A222-F280-AAA68C2B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D463A8-D400-61E3-D2F4-F8AF61AE21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5BD8B-FCB5-F75E-012D-6FB0BF39D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4756C-CD10-3BA9-F3E2-F3F4CDC9C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520DE-74E4-44CC-B811-CD5C905A9471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CB634-0200-0445-0EE2-28B7B4FB4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F8CB2-EB56-DA29-D73C-888E78F1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B282B-3B13-4364-A791-9B856A2EB7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77806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FABC-6CFD-BC9A-AC99-C8B3B5D5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807FF3-E228-23A0-600B-5094823F7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C2C9-1574-5BA2-6FC7-D5A0EDA56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520DE-74E4-44CC-B811-CD5C905A9471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0D97-7C01-DDEE-6C14-D3A92D91C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ED176-61DA-0EC8-FFD3-1805F426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B282B-3B13-4364-A791-9B856A2EB7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3672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4B2425-EC2B-7AC2-AD56-D611027CB2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31AD4-331D-410B-43C5-E938A46AD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10989-0C99-4E9E-9F5F-CFD1A7869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520DE-74E4-44CC-B811-CD5C905A9471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EE21B-5EB8-490D-BFC2-B94B9FDF6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9C784-7F28-ED5F-6CFE-28C09B4F9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B282B-3B13-4364-A791-9B856A2EB7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223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6A27C3-04F5-B567-F21E-2FCA86C14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109CB-79DD-9083-4300-E8A71756B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7A371-D620-6F0B-4D1F-68BFDAD91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520DE-74E4-44CC-B811-CD5C905A9471}" type="datetimeFigureOut">
              <a:rPr lang="en-PK" smtClean="0"/>
              <a:t>11/03/2026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B1566-3676-D818-6947-046E90F91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D69B4-6DFB-2961-E109-143CB5700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B282B-3B13-4364-A791-9B856A2EB7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42690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A0E9B-150C-FF6F-E6E8-6BDC895249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AES Solved example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F49BD-AD08-F533-3733-2455F23FD2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89863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9F599-FD77-8DEE-9063-4C6B2B347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16 ASCII character (1 byte each)</a:t>
            </a:r>
            <a:br>
              <a:rPr lang="en-US" sz="3600" b="1" dirty="0"/>
            </a:br>
            <a:r>
              <a:rPr lang="en-US" sz="3600" b="1" dirty="0"/>
              <a:t>                        key in hex</a:t>
            </a:r>
            <a:endParaRPr lang="en-PK" sz="3600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288FCD2-A2BE-9A7F-5F26-BAD31C3EA5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0711014"/>
              </p:ext>
            </p:extLst>
          </p:nvPr>
        </p:nvGraphicFramePr>
        <p:xfrm>
          <a:off x="303944" y="1781019"/>
          <a:ext cx="7410336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63146">
                  <a:extLst>
                    <a:ext uri="{9D8B030D-6E8A-4147-A177-3AD203B41FA5}">
                      <a16:colId xmlns:a16="http://schemas.microsoft.com/office/drawing/2014/main" val="546238209"/>
                    </a:ext>
                  </a:extLst>
                </a:gridCol>
                <a:gridCol w="463146">
                  <a:extLst>
                    <a:ext uri="{9D8B030D-6E8A-4147-A177-3AD203B41FA5}">
                      <a16:colId xmlns:a16="http://schemas.microsoft.com/office/drawing/2014/main" val="1741631157"/>
                    </a:ext>
                  </a:extLst>
                </a:gridCol>
                <a:gridCol w="463146">
                  <a:extLst>
                    <a:ext uri="{9D8B030D-6E8A-4147-A177-3AD203B41FA5}">
                      <a16:colId xmlns:a16="http://schemas.microsoft.com/office/drawing/2014/main" val="2579541"/>
                    </a:ext>
                  </a:extLst>
                </a:gridCol>
                <a:gridCol w="463146">
                  <a:extLst>
                    <a:ext uri="{9D8B030D-6E8A-4147-A177-3AD203B41FA5}">
                      <a16:colId xmlns:a16="http://schemas.microsoft.com/office/drawing/2014/main" val="571192849"/>
                    </a:ext>
                  </a:extLst>
                </a:gridCol>
                <a:gridCol w="463146">
                  <a:extLst>
                    <a:ext uri="{9D8B030D-6E8A-4147-A177-3AD203B41FA5}">
                      <a16:colId xmlns:a16="http://schemas.microsoft.com/office/drawing/2014/main" val="413444772"/>
                    </a:ext>
                  </a:extLst>
                </a:gridCol>
                <a:gridCol w="463146">
                  <a:extLst>
                    <a:ext uri="{9D8B030D-6E8A-4147-A177-3AD203B41FA5}">
                      <a16:colId xmlns:a16="http://schemas.microsoft.com/office/drawing/2014/main" val="3203600699"/>
                    </a:ext>
                  </a:extLst>
                </a:gridCol>
                <a:gridCol w="463146">
                  <a:extLst>
                    <a:ext uri="{9D8B030D-6E8A-4147-A177-3AD203B41FA5}">
                      <a16:colId xmlns:a16="http://schemas.microsoft.com/office/drawing/2014/main" val="3016863356"/>
                    </a:ext>
                  </a:extLst>
                </a:gridCol>
                <a:gridCol w="463146">
                  <a:extLst>
                    <a:ext uri="{9D8B030D-6E8A-4147-A177-3AD203B41FA5}">
                      <a16:colId xmlns:a16="http://schemas.microsoft.com/office/drawing/2014/main" val="3130936789"/>
                    </a:ext>
                  </a:extLst>
                </a:gridCol>
                <a:gridCol w="463146">
                  <a:extLst>
                    <a:ext uri="{9D8B030D-6E8A-4147-A177-3AD203B41FA5}">
                      <a16:colId xmlns:a16="http://schemas.microsoft.com/office/drawing/2014/main" val="1287499592"/>
                    </a:ext>
                  </a:extLst>
                </a:gridCol>
                <a:gridCol w="463146">
                  <a:extLst>
                    <a:ext uri="{9D8B030D-6E8A-4147-A177-3AD203B41FA5}">
                      <a16:colId xmlns:a16="http://schemas.microsoft.com/office/drawing/2014/main" val="3436428819"/>
                    </a:ext>
                  </a:extLst>
                </a:gridCol>
                <a:gridCol w="463146">
                  <a:extLst>
                    <a:ext uri="{9D8B030D-6E8A-4147-A177-3AD203B41FA5}">
                      <a16:colId xmlns:a16="http://schemas.microsoft.com/office/drawing/2014/main" val="137299613"/>
                    </a:ext>
                  </a:extLst>
                </a:gridCol>
                <a:gridCol w="463146">
                  <a:extLst>
                    <a:ext uri="{9D8B030D-6E8A-4147-A177-3AD203B41FA5}">
                      <a16:colId xmlns:a16="http://schemas.microsoft.com/office/drawing/2014/main" val="3506146149"/>
                    </a:ext>
                  </a:extLst>
                </a:gridCol>
                <a:gridCol w="463146">
                  <a:extLst>
                    <a:ext uri="{9D8B030D-6E8A-4147-A177-3AD203B41FA5}">
                      <a16:colId xmlns:a16="http://schemas.microsoft.com/office/drawing/2014/main" val="637447641"/>
                    </a:ext>
                  </a:extLst>
                </a:gridCol>
                <a:gridCol w="463146">
                  <a:extLst>
                    <a:ext uri="{9D8B030D-6E8A-4147-A177-3AD203B41FA5}">
                      <a16:colId xmlns:a16="http://schemas.microsoft.com/office/drawing/2014/main" val="1995087968"/>
                    </a:ext>
                  </a:extLst>
                </a:gridCol>
                <a:gridCol w="463146">
                  <a:extLst>
                    <a:ext uri="{9D8B030D-6E8A-4147-A177-3AD203B41FA5}">
                      <a16:colId xmlns:a16="http://schemas.microsoft.com/office/drawing/2014/main" val="2067669666"/>
                    </a:ext>
                  </a:extLst>
                </a:gridCol>
                <a:gridCol w="463146">
                  <a:extLst>
                    <a:ext uri="{9D8B030D-6E8A-4147-A177-3AD203B41FA5}">
                      <a16:colId xmlns:a16="http://schemas.microsoft.com/office/drawing/2014/main" val="581420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433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 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6D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4B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0407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18AEA5-857E-8251-22BD-EEAEA7A61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02554"/>
              </p:ext>
            </p:extLst>
          </p:nvPr>
        </p:nvGraphicFramePr>
        <p:xfrm>
          <a:off x="381000" y="2613030"/>
          <a:ext cx="2346788" cy="1828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86697">
                  <a:extLst>
                    <a:ext uri="{9D8B030D-6E8A-4147-A177-3AD203B41FA5}">
                      <a16:colId xmlns:a16="http://schemas.microsoft.com/office/drawing/2014/main" val="2755303284"/>
                    </a:ext>
                  </a:extLst>
                </a:gridCol>
                <a:gridCol w="586697">
                  <a:extLst>
                    <a:ext uri="{9D8B030D-6E8A-4147-A177-3AD203B41FA5}">
                      <a16:colId xmlns:a16="http://schemas.microsoft.com/office/drawing/2014/main" val="2795765428"/>
                    </a:ext>
                  </a:extLst>
                </a:gridCol>
                <a:gridCol w="586697">
                  <a:extLst>
                    <a:ext uri="{9D8B030D-6E8A-4147-A177-3AD203B41FA5}">
                      <a16:colId xmlns:a16="http://schemas.microsoft.com/office/drawing/2014/main" val="2597144377"/>
                    </a:ext>
                  </a:extLst>
                </a:gridCol>
                <a:gridCol w="586697">
                  <a:extLst>
                    <a:ext uri="{9D8B030D-6E8A-4147-A177-3AD203B41FA5}">
                      <a16:colId xmlns:a16="http://schemas.microsoft.com/office/drawing/2014/main" val="1039590514"/>
                    </a:ext>
                  </a:extLst>
                </a:gridCol>
              </a:tblGrid>
              <a:tr h="296766">
                <a:tc>
                  <a:txBody>
                    <a:bodyPr/>
                    <a:lstStyle/>
                    <a:p>
                      <a:r>
                        <a:rPr lang="en-US" dirty="0"/>
                        <a:t>W0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W3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68380"/>
                  </a:ext>
                </a:extLst>
              </a:tr>
              <a:tr h="296766"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193902"/>
                  </a:ext>
                </a:extLst>
              </a:tr>
              <a:tr h="296766">
                <a:tc>
                  <a:txBody>
                    <a:bodyPr/>
                    <a:lstStyle/>
                    <a:p>
                      <a:r>
                        <a:rPr lang="en-US" dirty="0"/>
                        <a:t>68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4B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374378"/>
                  </a:ext>
                </a:extLst>
              </a:tr>
              <a:tr h="296766">
                <a:tc>
                  <a:txBody>
                    <a:bodyPr/>
                    <a:lstStyle/>
                    <a:p>
                      <a:r>
                        <a:rPr lang="en-US" dirty="0"/>
                        <a:t>61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6D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435341"/>
                  </a:ext>
                </a:extLst>
              </a:tr>
              <a:tr h="296766">
                <a:tc>
                  <a:txBody>
                    <a:bodyPr/>
                    <a:lstStyle/>
                    <a:p>
                      <a:r>
                        <a:rPr lang="en-US" dirty="0"/>
                        <a:t>74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6E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8108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4EC9973-3951-EEBA-F912-B1E2DF503727}"/>
              </a:ext>
            </a:extLst>
          </p:cNvPr>
          <p:cNvSpPr txBox="1"/>
          <p:nvPr/>
        </p:nvSpPr>
        <p:spPr>
          <a:xfrm>
            <a:off x="381000" y="4844146"/>
            <a:ext cx="2496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column </a:t>
            </a:r>
            <a:r>
              <a:rPr lang="en-US"/>
              <a:t>for k1 round 1  </a:t>
            </a:r>
            <a:r>
              <a:rPr lang="en-US" dirty="0"/>
              <a:t>in AES algorithm </a:t>
            </a:r>
            <a:endParaRPr lang="en-P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264BB9-F1AA-FB6D-BB60-DA3DCB73F7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514" r="3408"/>
          <a:stretch/>
        </p:blipFill>
        <p:spPr>
          <a:xfrm>
            <a:off x="7827295" y="0"/>
            <a:ext cx="4364706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7C8D02-6711-6E6B-55A5-2ECE69BBB688}"/>
              </a:ext>
            </a:extLst>
          </p:cNvPr>
          <p:cNvSpPr txBox="1"/>
          <p:nvPr/>
        </p:nvSpPr>
        <p:spPr>
          <a:xfrm>
            <a:off x="3051425" y="2989780"/>
            <a:ext cx="3852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will check that how (w4,w7) will be generated from (w0, w3)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85312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EFD2C-8F6A-A6AA-7146-F5BDAEDB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GF function for key substitution 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2842AD-A15A-7785-858F-22184F5FBF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477" y="1394111"/>
            <a:ext cx="5806323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CFF766-063B-9D00-42ED-C2F45F62BF3A}"/>
              </a:ext>
            </a:extLst>
          </p:cNvPr>
          <p:cNvSpPr txBox="1"/>
          <p:nvPr/>
        </p:nvSpPr>
        <p:spPr>
          <a:xfrm>
            <a:off x="6096000" y="6123543"/>
            <a:ext cx="538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</a:t>
            </a:r>
            <a:r>
              <a:rPr lang="en-US" b="1" dirty="0"/>
              <a:t>Key generation for  1 round </a:t>
            </a:r>
            <a:endParaRPr lang="en-PK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E4015-C346-6CD7-6024-8AA1D54A5118}"/>
              </a:ext>
            </a:extLst>
          </p:cNvPr>
          <p:cNvSpPr txBox="1"/>
          <p:nvPr/>
        </p:nvSpPr>
        <p:spPr>
          <a:xfrm>
            <a:off x="626721" y="1394111"/>
            <a:ext cx="466446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apply G function on w3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we will apply left shift function on W3 so it will 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fontAlgn="t"/>
            <a:r>
              <a:rPr lang="en-US" b="1" dirty="0"/>
              <a:t>67 </a:t>
            </a:r>
            <a:r>
              <a:rPr lang="en-US" dirty="0"/>
              <a:t>20  46  75</a:t>
            </a:r>
          </a:p>
          <a:p>
            <a:pPr fontAlgn="t"/>
            <a:r>
              <a:rPr lang="en-US" dirty="0"/>
              <a:t>20 46  75  67  After apply left shit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Now will apply s-box substitution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After s-box substitution this key will be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b="1" dirty="0"/>
              <a:t>B7  5A  9D 85  </a:t>
            </a:r>
            <a:r>
              <a:rPr lang="en-US" dirty="0"/>
              <a:t>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Now XOR with R constant which is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b="1" dirty="0"/>
              <a:t>01 00 00 00  </a:t>
            </a:r>
            <a:r>
              <a:rPr lang="en-US" dirty="0"/>
              <a:t> after XOR key will be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b="1" dirty="0"/>
              <a:t>G(w3)  = B6 5A 9D 85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W3 XOR with w0 then w4 will be generated and so on </a:t>
            </a:r>
          </a:p>
          <a:p>
            <a:pPr fontAlgn="t"/>
            <a:endParaRPr lang="en-PK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54130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E2A2B-CB19-5E60-BFC2-D09CA7848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(w4,w7)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3F1B3A-EC2F-6D5A-8B39-AB57E04E4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7329755" cy="333421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59FCD4-45FA-E590-267E-71BF6290E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955" y="2922050"/>
            <a:ext cx="2383743" cy="19630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991407-C444-59F0-8A1B-2477E2467082}"/>
              </a:ext>
            </a:extLst>
          </p:cNvPr>
          <p:cNvSpPr txBox="1"/>
          <p:nvPr/>
        </p:nvSpPr>
        <p:spPr>
          <a:xfrm>
            <a:off x="838201" y="5167312"/>
            <a:ext cx="3723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w4=  54 68 61 74 </a:t>
            </a:r>
            <a:r>
              <a:rPr lang="en-US" dirty="0" err="1"/>
              <a:t>xor</a:t>
            </a:r>
            <a:r>
              <a:rPr lang="en-US" dirty="0"/>
              <a:t>   B6 5A 9D 85</a:t>
            </a:r>
          </a:p>
          <a:p>
            <a:r>
              <a:rPr lang="en-US" dirty="0"/>
              <a:t>W5 = E2 32 FC F1 </a:t>
            </a:r>
            <a:r>
              <a:rPr lang="en-US" dirty="0" err="1"/>
              <a:t>xor</a:t>
            </a:r>
            <a:r>
              <a:rPr lang="en-US" dirty="0"/>
              <a:t>   73 20 6d  79</a:t>
            </a:r>
          </a:p>
          <a:p>
            <a:r>
              <a:rPr lang="en-US" dirty="0"/>
              <a:t>W6 =  91 12 91 66 </a:t>
            </a:r>
            <a:r>
              <a:rPr lang="en-US" dirty="0" err="1"/>
              <a:t>xor</a:t>
            </a:r>
            <a:r>
              <a:rPr lang="en-US" dirty="0"/>
              <a:t>  20 4b 75 6E</a:t>
            </a:r>
          </a:p>
          <a:p>
            <a:r>
              <a:rPr lang="en-US" dirty="0"/>
              <a:t>W7 = B1 59 E4 E6 XOR  67 20 46 75</a:t>
            </a:r>
            <a:endParaRPr lang="en-PK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C7CCA7-FCF7-57CD-A0E9-3ABB244DF0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727" y="5012774"/>
            <a:ext cx="4591691" cy="17052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363742-AB23-A2DF-61E0-7367D0C639B9}"/>
              </a:ext>
            </a:extLst>
          </p:cNvPr>
          <p:cNvSpPr txBox="1"/>
          <p:nvPr/>
        </p:nvSpPr>
        <p:spPr>
          <a:xfrm>
            <a:off x="8393987" y="1315092"/>
            <a:ext cx="29598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 all rounds key is generated by using this same method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74434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49D78-E73D-5129-20D8-31028737B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 1 </a:t>
            </a: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73AB3A-2C2B-ACFC-FA18-0F695F897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530" y="1825625"/>
            <a:ext cx="11250203" cy="487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90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27A05-5640-466A-AF7D-6900656B0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S-box substitution </a:t>
            </a: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DAD35D-28EC-8DDA-5717-303376873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256" y="1407561"/>
            <a:ext cx="10819544" cy="508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513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80487-3C0A-FAB5-7739-0D6C385D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Rows</a:t>
            </a: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8A3DE4-C4DB-4767-3C6F-F0509A6A23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365" y="1690688"/>
            <a:ext cx="10809270" cy="395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02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69443-61FF-0780-F828-A5560DB4D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 columns </a:t>
            </a: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506DDC-FB24-80F1-A791-53216A4D7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485" y="1690688"/>
            <a:ext cx="10943315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145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97719-0139-A4E6-55BE-88D88DB48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 column calculations </a:t>
            </a: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9230A0-077F-E407-5FFD-50449BAE1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708" y="1690688"/>
            <a:ext cx="10840092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62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261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AES Solved example</vt:lpstr>
      <vt:lpstr>16 ASCII character (1 byte each)                         key in hex</vt:lpstr>
      <vt:lpstr>GF function for key substitution </vt:lpstr>
      <vt:lpstr>Generating (w4,w7)</vt:lpstr>
      <vt:lpstr>Round 1 </vt:lpstr>
      <vt:lpstr>S-box substitution </vt:lpstr>
      <vt:lpstr>Shift Rows</vt:lpstr>
      <vt:lpstr>Mix columns </vt:lpstr>
      <vt:lpstr>Mix column calculations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ayesha jarral</dc:creator>
  <cp:lastModifiedBy>ayesha jarral</cp:lastModifiedBy>
  <cp:revision>8</cp:revision>
  <dcterms:created xsi:type="dcterms:W3CDTF">2025-09-28T19:04:21Z</dcterms:created>
  <dcterms:modified xsi:type="dcterms:W3CDTF">2026-03-11T07:37:03Z</dcterms:modified>
</cp:coreProperties>
</file>