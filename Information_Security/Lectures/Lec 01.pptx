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0"/>
  </p:notesMasterIdLst>
  <p:sldIdLst>
    <p:sldId id="256" r:id="rId2"/>
    <p:sldId id="282" r:id="rId3"/>
    <p:sldId id="283" r:id="rId4"/>
    <p:sldId id="276" r:id="rId5"/>
    <p:sldId id="277" r:id="rId6"/>
    <p:sldId id="278" r:id="rId7"/>
    <p:sldId id="279" r:id="rId8"/>
    <p:sldId id="257" r:id="rId9"/>
    <p:sldId id="258" r:id="rId10"/>
    <p:sldId id="259" r:id="rId11"/>
    <p:sldId id="260" r:id="rId12"/>
    <p:sldId id="263" r:id="rId13"/>
    <p:sldId id="280" r:id="rId14"/>
    <p:sldId id="281" r:id="rId15"/>
    <p:sldId id="262" r:id="rId16"/>
    <p:sldId id="261" r:id="rId17"/>
    <p:sldId id="275" r:id="rId18"/>
    <p:sldId id="265" r:id="rId19"/>
    <p:sldId id="266" r:id="rId20"/>
    <p:sldId id="267" r:id="rId21"/>
    <p:sldId id="268" r:id="rId22"/>
    <p:sldId id="269" r:id="rId23"/>
    <p:sldId id="270" r:id="rId24"/>
    <p:sldId id="271" r:id="rId25"/>
    <p:sldId id="272" r:id="rId26"/>
    <p:sldId id="273" r:id="rId27"/>
    <p:sldId id="274" r:id="rId28"/>
    <p:sldId id="284" r:id="rId29"/>
  </p:sldIdLst>
  <p:sldSz cx="9144000" cy="5143500" type="screen16x9"/>
  <p:notesSz cx="6858000" cy="9144000"/>
  <p:embeddedFontLst>
    <p:embeddedFont>
      <p:font typeface="Open Sans" panose="020B0604020202020204" charset="0"/>
      <p:regular r:id="rId31"/>
      <p:bold r:id="rId32"/>
      <p:italic r:id="rId33"/>
      <p:boldItalic r:id="rId34"/>
    </p:embeddedFont>
    <p:embeddedFont>
      <p:font typeface="PT Sans Narrow" panose="020B060402020202020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250" autoAdjust="0"/>
  </p:normalViewPr>
  <p:slideViewPr>
    <p:cSldViewPr snapToGrid="0">
      <p:cViewPr varScale="1">
        <p:scale>
          <a:sx n="73" d="100"/>
          <a:sy n="73" d="100"/>
        </p:scale>
        <p:origin x="1080" y="4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b87e238397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b87e238397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smtClean="0"/>
              <a:t>Here’s a detailed explanation of each security type listed, along with simple examples and incidents to clarify the concepts:</a:t>
            </a:r>
          </a:p>
          <a:p>
            <a:r>
              <a:rPr lang="en-US" b="1" dirty="0" smtClean="0"/>
              <a:t>1. Physical Security</a:t>
            </a:r>
          </a:p>
          <a:p>
            <a:pPr>
              <a:buFont typeface="Arial" panose="020B0604020202020204" pitchFamily="34" charset="0"/>
              <a:buChar char="•"/>
            </a:pPr>
            <a:r>
              <a:rPr lang="en-US" b="1" dirty="0" smtClean="0"/>
              <a:t>Definition</a:t>
            </a:r>
            <a:r>
              <a:rPr lang="en-US" dirty="0" smtClean="0"/>
              <a:t>: Protection of physical assets like buildings, servers, and equipment from theft, damage, or natural disasters.</a:t>
            </a:r>
          </a:p>
          <a:p>
            <a:pPr>
              <a:buFont typeface="Arial" panose="020B0604020202020204" pitchFamily="34" charset="0"/>
              <a:buChar char="•"/>
            </a:pPr>
            <a:r>
              <a:rPr lang="en-US" b="1" dirty="0" smtClean="0"/>
              <a:t>Example Incident</a:t>
            </a:r>
            <a:r>
              <a:rPr lang="en-US" dirty="0" smtClean="0"/>
              <a:t>: A company installs </a:t>
            </a:r>
            <a:r>
              <a:rPr lang="en-US" b="1" dirty="0" smtClean="0"/>
              <a:t>security cameras and locks</a:t>
            </a:r>
            <a:r>
              <a:rPr lang="en-US" dirty="0" smtClean="0"/>
              <a:t> on server rooms to prevent unauthorized access or theft of sensitive hardware.</a:t>
            </a:r>
          </a:p>
          <a:p>
            <a:pPr>
              <a:buFont typeface="Arial" panose="020B0604020202020204" pitchFamily="34" charset="0"/>
              <a:buChar char="•"/>
            </a:pPr>
            <a:r>
              <a:rPr lang="en-US" b="1" dirty="0" smtClean="0"/>
              <a:t>Real-Life Scenario</a:t>
            </a:r>
            <a:r>
              <a:rPr lang="en-US" dirty="0" smtClean="0"/>
              <a:t>: In 2011, hackers broke into Sony’s PlayStation servers. They stole physical access badges, entered the server room, and caused a data breach, compromising millions of accounts.</a:t>
            </a:r>
          </a:p>
          <a:p>
            <a:r>
              <a:rPr lang="en-US" b="1" dirty="0" smtClean="0"/>
              <a:t>2. Personal Security</a:t>
            </a:r>
          </a:p>
          <a:p>
            <a:pPr>
              <a:buFont typeface="Arial" panose="020B0604020202020204" pitchFamily="34" charset="0"/>
              <a:buChar char="•"/>
            </a:pPr>
            <a:r>
              <a:rPr lang="en-US" b="1" dirty="0" smtClean="0"/>
              <a:t>Definition</a:t>
            </a:r>
            <a:r>
              <a:rPr lang="en-US" dirty="0" smtClean="0"/>
              <a:t>: Ensuring the safety of individuals (employees, executives) against threats such as identity theft, harassment, or kidnapping.</a:t>
            </a:r>
          </a:p>
          <a:p>
            <a:pPr>
              <a:buFont typeface="Arial" panose="020B0604020202020204" pitchFamily="34" charset="0"/>
              <a:buChar char="•"/>
            </a:pPr>
            <a:r>
              <a:rPr lang="en-US" b="1" dirty="0" smtClean="0"/>
              <a:t>Example Incident</a:t>
            </a:r>
            <a:r>
              <a:rPr lang="en-US" dirty="0" smtClean="0"/>
              <a:t>: A high-ranking company executive’s personal data is leaked online, leading to </a:t>
            </a:r>
            <a:r>
              <a:rPr lang="en-US" b="1" dirty="0" smtClean="0"/>
              <a:t>identity theft</a:t>
            </a:r>
            <a:r>
              <a:rPr lang="en-US" dirty="0" smtClean="0"/>
              <a:t> where attackers pose as the executive to gain sensitive information.</a:t>
            </a:r>
          </a:p>
          <a:p>
            <a:pPr>
              <a:buFont typeface="Arial" panose="020B0604020202020204" pitchFamily="34" charset="0"/>
              <a:buChar char="•"/>
            </a:pPr>
            <a:r>
              <a:rPr lang="en-US" b="1" dirty="0" smtClean="0"/>
              <a:t>Real-Life Scenario</a:t>
            </a:r>
            <a:r>
              <a:rPr lang="en-US" dirty="0" smtClean="0"/>
              <a:t>: A CEO is targeted by phishing attacks, where criminals tried to access their bank account using personal identification stolen during an online breach.</a:t>
            </a:r>
          </a:p>
          <a:p>
            <a:r>
              <a:rPr lang="en-US" b="1" dirty="0" smtClean="0"/>
              <a:t>3. Operations Security (OPSEC)</a:t>
            </a:r>
          </a:p>
          <a:p>
            <a:pPr>
              <a:buFont typeface="Arial" panose="020B0604020202020204" pitchFamily="34" charset="0"/>
              <a:buChar char="•"/>
            </a:pPr>
            <a:r>
              <a:rPr lang="en-US" b="1" dirty="0" smtClean="0"/>
              <a:t>Definition</a:t>
            </a:r>
            <a:r>
              <a:rPr lang="en-US" dirty="0" smtClean="0"/>
              <a:t>: Protecting sensitive operational data, such as internal processes and procedures, to prevent it from falling into the wrong hands.</a:t>
            </a:r>
          </a:p>
          <a:p>
            <a:pPr>
              <a:buFont typeface="Arial" panose="020B0604020202020204" pitchFamily="34" charset="0"/>
              <a:buChar char="•"/>
            </a:pPr>
            <a:r>
              <a:rPr lang="en-US" b="1" dirty="0" smtClean="0"/>
              <a:t>Example Incident</a:t>
            </a:r>
            <a:r>
              <a:rPr lang="en-US" dirty="0" smtClean="0"/>
              <a:t>: A business hides its </a:t>
            </a:r>
            <a:r>
              <a:rPr lang="en-US" b="1" dirty="0" smtClean="0"/>
              <a:t>product development plans</a:t>
            </a:r>
            <a:r>
              <a:rPr lang="en-US" dirty="0" smtClean="0"/>
              <a:t> by encrypting emails and using secure file-sharing platforms to avoid leaks during a merger.</a:t>
            </a:r>
          </a:p>
          <a:p>
            <a:pPr>
              <a:buFont typeface="Arial" panose="020B0604020202020204" pitchFamily="34" charset="0"/>
              <a:buChar char="•"/>
            </a:pPr>
            <a:r>
              <a:rPr lang="en-US" b="1" dirty="0" smtClean="0"/>
              <a:t>Real-Life Scenario</a:t>
            </a:r>
            <a:r>
              <a:rPr lang="en-US" dirty="0" smtClean="0"/>
              <a:t>: During a military operation, the location of troops is accidentally disclosed due to weak operational security, putting soldiers at risk.</a:t>
            </a:r>
          </a:p>
          <a:p>
            <a:r>
              <a:rPr lang="en-US" b="1" dirty="0" smtClean="0"/>
              <a:t>4. Communications Security (COMSEC)</a:t>
            </a:r>
          </a:p>
          <a:p>
            <a:pPr>
              <a:buFont typeface="Arial" panose="020B0604020202020204" pitchFamily="34" charset="0"/>
              <a:buChar char="•"/>
            </a:pPr>
            <a:r>
              <a:rPr lang="en-US" b="1" dirty="0" smtClean="0"/>
              <a:t>Definition</a:t>
            </a:r>
            <a:r>
              <a:rPr lang="en-US" dirty="0" smtClean="0"/>
              <a:t>: Securing all communications, both digital and physical, to ensure the confidentiality and integrity of information being transmitted.</a:t>
            </a:r>
          </a:p>
          <a:p>
            <a:pPr>
              <a:buFont typeface="Arial" panose="020B0604020202020204" pitchFamily="34" charset="0"/>
              <a:buChar char="•"/>
            </a:pPr>
            <a:r>
              <a:rPr lang="en-US" b="1" dirty="0" smtClean="0"/>
              <a:t>Example Incident</a:t>
            </a:r>
            <a:r>
              <a:rPr lang="en-US" dirty="0" smtClean="0"/>
              <a:t>: An employee uses </a:t>
            </a:r>
            <a:r>
              <a:rPr lang="en-US" b="1" dirty="0" smtClean="0"/>
              <a:t>encrypted email services</a:t>
            </a:r>
            <a:r>
              <a:rPr lang="en-US" dirty="0" smtClean="0"/>
              <a:t> to send sensitive financial reports, ensuring only authorized personnel can access the information.</a:t>
            </a:r>
          </a:p>
          <a:p>
            <a:pPr>
              <a:buFont typeface="Arial" panose="020B0604020202020204" pitchFamily="34" charset="0"/>
              <a:buChar char="•"/>
            </a:pPr>
            <a:r>
              <a:rPr lang="en-US" b="1" dirty="0" smtClean="0"/>
              <a:t>Real-Life Scenario</a:t>
            </a:r>
            <a:r>
              <a:rPr lang="en-US" dirty="0" smtClean="0"/>
              <a:t>: During World War II, the </a:t>
            </a:r>
            <a:r>
              <a:rPr lang="en-US" b="1" dirty="0" smtClean="0"/>
              <a:t>Enigma code</a:t>
            </a:r>
            <a:r>
              <a:rPr lang="en-US" dirty="0" smtClean="0"/>
              <a:t> used by German forces was cracked by the Allies, allowing them to intercept and decode military communications, which impacted war strategy.</a:t>
            </a:r>
          </a:p>
          <a:p>
            <a:r>
              <a:rPr lang="en-US" b="1" dirty="0" smtClean="0"/>
              <a:t>5. Network Security</a:t>
            </a:r>
          </a:p>
          <a:p>
            <a:pPr>
              <a:buFont typeface="Arial" panose="020B0604020202020204" pitchFamily="34" charset="0"/>
              <a:buChar char="•"/>
            </a:pPr>
            <a:r>
              <a:rPr lang="en-US" b="1" dirty="0" smtClean="0"/>
              <a:t>Definition</a:t>
            </a:r>
            <a:r>
              <a:rPr lang="en-US" dirty="0" smtClean="0"/>
              <a:t>: Safeguarding the organization’s computer networks from unauthorized access, attacks, or disruptions.</a:t>
            </a:r>
          </a:p>
          <a:p>
            <a:pPr>
              <a:buFont typeface="Arial" panose="020B0604020202020204" pitchFamily="34" charset="0"/>
              <a:buChar char="•"/>
            </a:pPr>
            <a:r>
              <a:rPr lang="en-US" b="1" dirty="0" smtClean="0"/>
              <a:t>Example Incident</a:t>
            </a:r>
            <a:r>
              <a:rPr lang="en-US" dirty="0" smtClean="0"/>
              <a:t>: A company's IT team uses </a:t>
            </a:r>
            <a:r>
              <a:rPr lang="en-US" b="1" dirty="0" smtClean="0"/>
              <a:t>firewalls</a:t>
            </a:r>
            <a:r>
              <a:rPr lang="en-US" dirty="0" smtClean="0"/>
              <a:t> and </a:t>
            </a:r>
            <a:r>
              <a:rPr lang="en-US" b="1" dirty="0" smtClean="0"/>
              <a:t>intrusion detection systems</a:t>
            </a:r>
            <a:r>
              <a:rPr lang="en-US" dirty="0" smtClean="0"/>
              <a:t> to prevent hackers from launching a Distributed Denial of Service (</a:t>
            </a:r>
            <a:r>
              <a:rPr lang="en-US" dirty="0" err="1" smtClean="0"/>
              <a:t>DDoS</a:t>
            </a:r>
            <a:r>
              <a:rPr lang="en-US" dirty="0" smtClean="0"/>
              <a:t>) attack on their website.</a:t>
            </a:r>
          </a:p>
          <a:p>
            <a:pPr>
              <a:buFont typeface="Arial" panose="020B0604020202020204" pitchFamily="34" charset="0"/>
              <a:buChar char="•"/>
            </a:pPr>
            <a:r>
              <a:rPr lang="en-US" b="1" dirty="0" smtClean="0"/>
              <a:t>Real-Life Scenario</a:t>
            </a:r>
            <a:r>
              <a:rPr lang="en-US" dirty="0" smtClean="0"/>
              <a:t>: In 2020, a massive </a:t>
            </a:r>
            <a:r>
              <a:rPr lang="en-US" b="1" dirty="0" smtClean="0"/>
              <a:t>Twitter hack</a:t>
            </a:r>
            <a:r>
              <a:rPr lang="en-US" dirty="0" smtClean="0"/>
              <a:t> occurred where attackers accessed internal Twitter systems to send out phishing emails, eventually taking over high-profile accounts like Elon Musk's.</a:t>
            </a:r>
          </a:p>
          <a:p>
            <a:r>
              <a:rPr lang="en-US" b="1" dirty="0" smtClean="0"/>
              <a:t>6. Information Security (InfoSec)</a:t>
            </a:r>
          </a:p>
          <a:p>
            <a:pPr>
              <a:buFont typeface="Arial" panose="020B0604020202020204" pitchFamily="34" charset="0"/>
              <a:buChar char="•"/>
            </a:pPr>
            <a:r>
              <a:rPr lang="en-US" b="1" dirty="0" smtClean="0"/>
              <a:t>Definition</a:t>
            </a:r>
            <a:r>
              <a:rPr lang="en-US" dirty="0" smtClean="0"/>
              <a:t>: Protecting data, whether stored digitally or physically, from unauthorized access or damage.</a:t>
            </a:r>
          </a:p>
          <a:p>
            <a:pPr>
              <a:buFont typeface="Arial" panose="020B0604020202020204" pitchFamily="34" charset="0"/>
              <a:buChar char="•"/>
            </a:pPr>
            <a:r>
              <a:rPr lang="en-US" b="1" dirty="0" smtClean="0"/>
              <a:t>Example Incident</a:t>
            </a:r>
            <a:r>
              <a:rPr lang="en-US" dirty="0" smtClean="0"/>
              <a:t>: An organization uses </a:t>
            </a:r>
            <a:r>
              <a:rPr lang="en-US" b="1" dirty="0" smtClean="0"/>
              <a:t>strong passwords and multi-factor authentication</a:t>
            </a:r>
            <a:r>
              <a:rPr lang="en-US" dirty="0" smtClean="0"/>
              <a:t> to ensure only authorized users can access sensitive business documents.</a:t>
            </a:r>
          </a:p>
          <a:p>
            <a:pPr>
              <a:buFont typeface="Arial" panose="020B0604020202020204" pitchFamily="34" charset="0"/>
              <a:buChar char="•"/>
            </a:pPr>
            <a:r>
              <a:rPr lang="en-US" b="1" dirty="0" smtClean="0"/>
              <a:t>Real-Life Scenario</a:t>
            </a:r>
            <a:r>
              <a:rPr lang="en-US" dirty="0" smtClean="0"/>
              <a:t>: In the </a:t>
            </a:r>
            <a:r>
              <a:rPr lang="en-US" b="1" dirty="0" smtClean="0"/>
              <a:t>Equifax data breach</a:t>
            </a:r>
            <a:r>
              <a:rPr lang="en-US" dirty="0" smtClean="0"/>
              <a:t> of 2017, hackers exploited a vulnerability in the system, accessing the personal data of 147 million people, leading to a huge information security breach.</a:t>
            </a:r>
          </a:p>
          <a:p>
            <a:r>
              <a:rPr lang="en-US" b="1" dirty="0" smtClean="0"/>
              <a:t>Summary Table:</a:t>
            </a:r>
          </a:p>
          <a:p>
            <a:r>
              <a:rPr lang="en-US" b="1" dirty="0" smtClean="0"/>
              <a:t>Security </a:t>
            </a:r>
            <a:r>
              <a:rPr lang="en-US" b="1" dirty="0" err="1" smtClean="0"/>
              <a:t>TypeDefinitionExample</a:t>
            </a:r>
            <a:r>
              <a:rPr lang="en-US" b="1" dirty="0" smtClean="0"/>
              <a:t> </a:t>
            </a:r>
            <a:r>
              <a:rPr lang="en-US" b="1" dirty="0" err="1" smtClean="0"/>
              <a:t>IncidentPhysical</a:t>
            </a:r>
            <a:r>
              <a:rPr lang="en-US" b="1" dirty="0" smtClean="0"/>
              <a:t> </a:t>
            </a:r>
            <a:r>
              <a:rPr lang="en-US" b="1" dirty="0" err="1" smtClean="0"/>
              <a:t>Security</a:t>
            </a:r>
            <a:r>
              <a:rPr lang="en-US" dirty="0" err="1" smtClean="0"/>
              <a:t>Protecting</a:t>
            </a:r>
            <a:r>
              <a:rPr lang="en-US" dirty="0" smtClean="0"/>
              <a:t> physical assets like servers and </a:t>
            </a:r>
            <a:r>
              <a:rPr lang="en-US" dirty="0" err="1" smtClean="0"/>
              <a:t>equipment.Installing</a:t>
            </a:r>
            <a:r>
              <a:rPr lang="en-US" dirty="0" smtClean="0"/>
              <a:t> security cameras to prevent unauthorized access to the server room.</a:t>
            </a:r>
          </a:p>
          <a:p>
            <a:r>
              <a:rPr lang="en-US" b="1" dirty="0" smtClean="0"/>
              <a:t>Personal </a:t>
            </a:r>
            <a:r>
              <a:rPr lang="en-US" b="1" dirty="0" err="1" smtClean="0"/>
              <a:t>Security</a:t>
            </a:r>
            <a:r>
              <a:rPr lang="en-US" dirty="0" err="1" smtClean="0"/>
              <a:t>Ensuring</a:t>
            </a:r>
            <a:r>
              <a:rPr lang="en-US" dirty="0" smtClean="0"/>
              <a:t> the safety of </a:t>
            </a:r>
            <a:r>
              <a:rPr lang="en-US" dirty="0" err="1" smtClean="0"/>
              <a:t>individuals.CEO's</a:t>
            </a:r>
            <a:r>
              <a:rPr lang="en-US" dirty="0" smtClean="0"/>
              <a:t> personal data is stolen, leading to identity theft</a:t>
            </a:r>
          </a:p>
          <a:p>
            <a:r>
              <a:rPr lang="en-US" dirty="0" smtClean="0"/>
              <a:t>.</a:t>
            </a:r>
            <a:r>
              <a:rPr lang="en-US" b="1" dirty="0" smtClean="0"/>
              <a:t>Operations </a:t>
            </a:r>
            <a:r>
              <a:rPr lang="en-US" b="1" dirty="0" err="1" smtClean="0"/>
              <a:t>Security</a:t>
            </a:r>
            <a:r>
              <a:rPr lang="en-US" dirty="0" err="1" smtClean="0"/>
              <a:t>Securing</a:t>
            </a:r>
            <a:r>
              <a:rPr lang="en-US" dirty="0" smtClean="0"/>
              <a:t> sensitive operational processes and </a:t>
            </a:r>
            <a:r>
              <a:rPr lang="en-US" dirty="0" err="1" smtClean="0"/>
              <a:t>procedures.Encrypting</a:t>
            </a:r>
            <a:r>
              <a:rPr lang="en-US" dirty="0" smtClean="0"/>
              <a:t> product development plans to prevent leaks during a merger.</a:t>
            </a:r>
          </a:p>
          <a:p>
            <a:r>
              <a:rPr lang="en-US" b="1" dirty="0" smtClean="0"/>
              <a:t>Communications </a:t>
            </a:r>
            <a:r>
              <a:rPr lang="en-US" b="1" dirty="0" err="1" smtClean="0"/>
              <a:t>Security</a:t>
            </a:r>
            <a:r>
              <a:rPr lang="en-US" dirty="0" err="1" smtClean="0"/>
              <a:t>Securing</a:t>
            </a:r>
            <a:r>
              <a:rPr lang="en-US" dirty="0" smtClean="0"/>
              <a:t> all types of communications to prevent unauthorized </a:t>
            </a:r>
            <a:r>
              <a:rPr lang="en-US" dirty="0" err="1" smtClean="0"/>
              <a:t>access.Using</a:t>
            </a:r>
            <a:r>
              <a:rPr lang="en-US" dirty="0" smtClean="0"/>
              <a:t> encrypted email services to ensure sensitive communications are protected.</a:t>
            </a:r>
          </a:p>
          <a:p>
            <a:r>
              <a:rPr lang="en-US" b="1" dirty="0" smtClean="0"/>
              <a:t>Network </a:t>
            </a:r>
            <a:r>
              <a:rPr lang="en-US" b="1" dirty="0" err="1" smtClean="0"/>
              <a:t>Security</a:t>
            </a:r>
            <a:r>
              <a:rPr lang="en-US" dirty="0" err="1" smtClean="0"/>
              <a:t>Protecting</a:t>
            </a:r>
            <a:r>
              <a:rPr lang="en-US" dirty="0" smtClean="0"/>
              <a:t> computer networks from unauthorized access or </a:t>
            </a:r>
            <a:r>
              <a:rPr lang="en-US" dirty="0" err="1" smtClean="0"/>
              <a:t>attacks.Implementing</a:t>
            </a:r>
            <a:r>
              <a:rPr lang="en-US" dirty="0" smtClean="0"/>
              <a:t> firewalls to block hackers from launching a </a:t>
            </a:r>
            <a:r>
              <a:rPr lang="en-US" dirty="0" err="1" smtClean="0"/>
              <a:t>DDoS</a:t>
            </a:r>
            <a:r>
              <a:rPr lang="en-US" dirty="0" smtClean="0"/>
              <a:t> attack</a:t>
            </a:r>
          </a:p>
          <a:p>
            <a:r>
              <a:rPr lang="en-US" dirty="0" smtClean="0"/>
              <a:t>.</a:t>
            </a:r>
            <a:r>
              <a:rPr lang="en-US" b="1" dirty="0" smtClean="0"/>
              <a:t>Information </a:t>
            </a:r>
            <a:r>
              <a:rPr lang="en-US" b="1" dirty="0" err="1" smtClean="0"/>
              <a:t>Security</a:t>
            </a:r>
            <a:r>
              <a:rPr lang="en-US" dirty="0" err="1" smtClean="0"/>
              <a:t>Safeguarding</a:t>
            </a:r>
            <a:r>
              <a:rPr lang="en-US" dirty="0" smtClean="0"/>
              <a:t> data from unauthorized access or </a:t>
            </a:r>
            <a:r>
              <a:rPr lang="en-US" dirty="0" err="1" smtClean="0"/>
              <a:t>modification.Implementing</a:t>
            </a:r>
            <a:r>
              <a:rPr lang="en-US" dirty="0" smtClean="0"/>
              <a:t> multi-factor authentication to secure sensitive business documents.</a:t>
            </a:r>
            <a:endParaRPr lang="en-AU" dirty="0"/>
          </a:p>
        </p:txBody>
      </p:sp>
    </p:spTree>
    <p:extLst>
      <p:ext uri="{BB962C8B-B14F-4D97-AF65-F5344CB8AC3E}">
        <p14:creationId xmlns:p14="http://schemas.microsoft.com/office/powerpoint/2010/main" val="189753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Availability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Availability ensures that information is accessible and usable when needed by authorized users. It involves measures to prevent or mitigate disruptions that could impact access to information, such as system failures, network outages, or cyber attacks.</a:t>
            </a:r>
          </a:p>
          <a:p>
            <a:pPr algn="l">
              <a:buFont typeface="+mj-lt"/>
              <a:buAutoNum type="arabicPeriod"/>
            </a:pPr>
            <a:r>
              <a:rPr lang="en-US" b="1" i="0" dirty="0">
                <a:solidFill>
                  <a:srgbClr val="0D0D0D"/>
                </a:solidFill>
                <a:effectLst/>
                <a:latin typeface="Söhne"/>
              </a:rPr>
              <a:t>Accuracy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Accuracy refers to the correctness and precision of information. Accurate information is free from errors, omissions, or distortions and reflects the true state of affairs. It is essential for making informed decisions and avoiding misunderstandings or misinterpretations.</a:t>
            </a:r>
          </a:p>
          <a:p>
            <a:pPr algn="l">
              <a:buFont typeface="+mj-lt"/>
              <a:buAutoNum type="arabicPeriod"/>
            </a:pPr>
            <a:r>
              <a:rPr lang="en-US" b="1" i="0" dirty="0">
                <a:solidFill>
                  <a:srgbClr val="0D0D0D"/>
                </a:solidFill>
                <a:effectLst/>
                <a:latin typeface="Söhne"/>
              </a:rPr>
              <a:t>Authenticity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Authenticity verifies the origin and trustworthiness of information. Authentic information is genuine and can be traced back to a reliable and verifiable source. It ensures that information has not been tampered with or falsified and can be trusted for its credibility.</a:t>
            </a:r>
          </a:p>
          <a:p>
            <a:endParaRPr lang="en-US" dirty="0"/>
          </a:p>
        </p:txBody>
      </p:sp>
    </p:spTree>
    <p:extLst>
      <p:ext uri="{BB962C8B-B14F-4D97-AF65-F5344CB8AC3E}">
        <p14:creationId xmlns:p14="http://schemas.microsoft.com/office/powerpoint/2010/main" val="870509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14300" indent="0" algn="l">
              <a:buNone/>
            </a:pPr>
            <a:r>
              <a:rPr lang="en-US" b="1" i="0" dirty="0">
                <a:solidFill>
                  <a:srgbClr val="0D0D0D"/>
                </a:solidFill>
                <a:effectLst/>
                <a:latin typeface="Söhne"/>
              </a:rPr>
              <a:t>4. Confidentiality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Confidentiality protects sensitive information from unauthorized access, disclosure, or exposure. It ensures that only authorized individuals or entities have access to certain data or resources, safeguarding privacy and preventing unauthorized use or exploitation.</a:t>
            </a:r>
          </a:p>
          <a:p>
            <a:pPr marL="114300" indent="0" algn="l">
              <a:buNone/>
            </a:pPr>
            <a:r>
              <a:rPr lang="en-US" b="1" i="0" dirty="0">
                <a:solidFill>
                  <a:srgbClr val="0D0D0D"/>
                </a:solidFill>
                <a:effectLst/>
                <a:latin typeface="Söhne"/>
              </a:rPr>
              <a:t>5. Integrity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Integrity ensures the accuracy and reliability of information by protecting it from unauthorized alteration or corruption. It involves measures to detect and prevent unauthorized changes to data, ensuring that information remains complete, unaltered, and trustworthy.</a:t>
            </a:r>
          </a:p>
          <a:p>
            <a:pPr marL="114300" indent="0" algn="l">
              <a:buNone/>
            </a:pPr>
            <a:r>
              <a:rPr lang="en-US" b="1" i="0" dirty="0">
                <a:solidFill>
                  <a:srgbClr val="0D0D0D"/>
                </a:solidFill>
                <a:effectLst/>
                <a:latin typeface="Söhne"/>
              </a:rPr>
              <a:t>6. Utility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Utility refers to the usefulness and relevance of information to meet specific needs or objectives. Useful information provides value and serves a purpose, whether it's for decision-making, problem-solving, or achieving organizational goals. It should be relevant, timely, and actionable.</a:t>
            </a:r>
          </a:p>
          <a:p>
            <a:pPr marL="114300" indent="0" algn="l">
              <a:buNone/>
            </a:pPr>
            <a:r>
              <a:rPr lang="en-US" b="1" i="0" dirty="0">
                <a:solidFill>
                  <a:srgbClr val="0D0D0D"/>
                </a:solidFill>
                <a:effectLst/>
                <a:latin typeface="Söhne"/>
              </a:rPr>
              <a:t>7. Possession</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Possession refers to the control and ownership of information. It ensures that authorized individuals or entities have the rights and privileges to access, use, or manipulate information as needed. Possession also entails responsibilities for protecting and managing information assets effectively.</a:t>
            </a:r>
          </a:p>
          <a:p>
            <a:endParaRPr lang="en-US" dirty="0"/>
          </a:p>
        </p:txBody>
      </p:sp>
    </p:spTree>
    <p:extLst>
      <p:ext uri="{BB962C8B-B14F-4D97-AF65-F5344CB8AC3E}">
        <p14:creationId xmlns:p14="http://schemas.microsoft.com/office/powerpoint/2010/main" val="3047569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Three Key Goals of Security: Confidentiality, Integrity, and Availability (CIA Triad)</a:t>
            </a:r>
          </a:p>
          <a:p>
            <a:r>
              <a:rPr lang="en-US" dirty="0" smtClean="0"/>
              <a:t>These are the fundamental objectives of information security, often referred to as the </a:t>
            </a:r>
            <a:r>
              <a:rPr lang="en-US" b="1" dirty="0" smtClean="0"/>
              <a:t>CIA triad</a:t>
            </a:r>
            <a:r>
              <a:rPr lang="en-US" dirty="0" smtClean="0"/>
              <a:t>:</a:t>
            </a:r>
          </a:p>
          <a:p>
            <a:r>
              <a:rPr lang="en-US" b="1" dirty="0" smtClean="0"/>
              <a:t>Confidentiality</a:t>
            </a:r>
            <a:r>
              <a:rPr lang="en-US" dirty="0" smtClean="0"/>
              <a:t>: Protecting information from unauthorized access.</a:t>
            </a:r>
          </a:p>
          <a:p>
            <a:pPr lvl="1"/>
            <a:r>
              <a:rPr lang="en-US" b="1" dirty="0" smtClean="0"/>
              <a:t>Example</a:t>
            </a:r>
            <a:r>
              <a:rPr lang="en-US" dirty="0" smtClean="0"/>
              <a:t>: Imagine your bank account details. Confidentiality ensures that only you and authorized personnel can access your account, not hackers. Encryption and passwords help maintain confidentiality.</a:t>
            </a:r>
          </a:p>
          <a:p>
            <a:r>
              <a:rPr lang="en-US" b="1" dirty="0" smtClean="0"/>
              <a:t>Integrity</a:t>
            </a:r>
            <a:r>
              <a:rPr lang="en-US" dirty="0" smtClean="0"/>
              <a:t>: Ensuring the accuracy and completeness of data.</a:t>
            </a:r>
          </a:p>
          <a:p>
            <a:pPr lvl="1"/>
            <a:r>
              <a:rPr lang="en-US" b="1" dirty="0" smtClean="0"/>
              <a:t>Example</a:t>
            </a:r>
            <a:r>
              <a:rPr lang="en-US" dirty="0" smtClean="0"/>
              <a:t>: When sending an email, integrity ensures that the message you send is the exact one received by the recipient, without any changes or corruption.</a:t>
            </a:r>
          </a:p>
          <a:p>
            <a:r>
              <a:rPr lang="en-US" b="1" dirty="0" smtClean="0"/>
              <a:t>Availability</a:t>
            </a:r>
            <a:r>
              <a:rPr lang="en-US" dirty="0" smtClean="0"/>
              <a:t>: Ensuring that information is accessible to authorized users when needed.</a:t>
            </a:r>
          </a:p>
          <a:p>
            <a:pPr lvl="1"/>
            <a:r>
              <a:rPr lang="en-US" b="1" dirty="0" smtClean="0"/>
              <a:t>Example</a:t>
            </a:r>
            <a:r>
              <a:rPr lang="en-US" dirty="0" smtClean="0"/>
              <a:t>: A website of a hospital must be available 24/7 for patients and doctors to access medical records or book appointments. Backup systems and redundant servers ensure availability.</a:t>
            </a:r>
          </a:p>
          <a:p>
            <a:r>
              <a:rPr lang="en-US" b="1" dirty="0" smtClean="0"/>
              <a:t>2. Three Information States: Transmission, Storage, Processing</a:t>
            </a:r>
          </a:p>
          <a:p>
            <a:r>
              <a:rPr lang="en-US" dirty="0" smtClean="0"/>
              <a:t>This dimension focuses on when and where information can be vulnerable:</a:t>
            </a:r>
          </a:p>
          <a:p>
            <a:r>
              <a:rPr lang="en-US" b="1" dirty="0" smtClean="0"/>
              <a:t>Transmission</a:t>
            </a:r>
            <a:r>
              <a:rPr lang="en-US" dirty="0" smtClean="0"/>
              <a:t>: When data is being sent from one place to another.</a:t>
            </a:r>
          </a:p>
          <a:p>
            <a:pPr lvl="1"/>
            <a:r>
              <a:rPr lang="en-US" b="1" dirty="0" smtClean="0"/>
              <a:t>Example</a:t>
            </a:r>
            <a:r>
              <a:rPr lang="en-US" dirty="0" smtClean="0"/>
              <a:t>: Sending a message via WhatsApp is an example of data in transmission. Encryption during transmission ensures that the message can't be intercepted by unauthorized individuals.</a:t>
            </a:r>
          </a:p>
          <a:p>
            <a:r>
              <a:rPr lang="en-US" b="1" dirty="0" smtClean="0"/>
              <a:t>Storage</a:t>
            </a:r>
            <a:r>
              <a:rPr lang="en-US" dirty="0" smtClean="0"/>
              <a:t>: When data is at rest in storage devices.</a:t>
            </a:r>
          </a:p>
          <a:p>
            <a:pPr lvl="1"/>
            <a:r>
              <a:rPr lang="en-US" b="1" dirty="0" smtClean="0"/>
              <a:t>Example</a:t>
            </a:r>
            <a:r>
              <a:rPr lang="en-US" dirty="0" smtClean="0"/>
              <a:t>: Your photos saved on a hard drive are data in storage. Proper security measures, like file encryption or access controls, protect this data from unauthorized access.</a:t>
            </a:r>
          </a:p>
          <a:p>
            <a:r>
              <a:rPr lang="en-US" b="1" dirty="0" smtClean="0"/>
              <a:t>Processing</a:t>
            </a:r>
            <a:r>
              <a:rPr lang="en-US" dirty="0" smtClean="0"/>
              <a:t>: When data is being used or manipulated.</a:t>
            </a:r>
          </a:p>
          <a:p>
            <a:pPr lvl="1"/>
            <a:r>
              <a:rPr lang="en-US" b="1" dirty="0" smtClean="0"/>
              <a:t>Example</a:t>
            </a:r>
            <a:r>
              <a:rPr lang="en-US" dirty="0" smtClean="0"/>
              <a:t>: During online banking, when you input your password and your bank processes the information to verify your identity, this is data in processing. Security is needed to ensure that no one can tamper with or view this data during the verification process.</a:t>
            </a:r>
          </a:p>
          <a:p>
            <a:r>
              <a:rPr lang="en-US" b="1" dirty="0" smtClean="0"/>
              <a:t>3. Three Security Measures: Education Training Awareness, Technology, and Policy &amp; Practices</a:t>
            </a:r>
          </a:p>
          <a:p>
            <a:r>
              <a:rPr lang="en-US" dirty="0" smtClean="0"/>
              <a:t>This dimension represents the strategies used to implement security:</a:t>
            </a:r>
          </a:p>
          <a:p>
            <a:r>
              <a:rPr lang="en-US" b="1" dirty="0" smtClean="0"/>
              <a:t>Education Training Awareness</a:t>
            </a:r>
            <a:r>
              <a:rPr lang="en-US" dirty="0" smtClean="0"/>
              <a:t>: Ensuring that users and employees are aware of security threats and how to avoid them.</a:t>
            </a:r>
          </a:p>
          <a:p>
            <a:pPr lvl="1"/>
            <a:r>
              <a:rPr lang="en-US" b="1" dirty="0" smtClean="0"/>
              <a:t>Example</a:t>
            </a:r>
            <a:r>
              <a:rPr lang="en-US" dirty="0" smtClean="0"/>
              <a:t>: A company can hold a workshop on phishing emails, teaching employees to identify suspicious emails and avoid clicking on harmful links.</a:t>
            </a:r>
          </a:p>
          <a:p>
            <a:r>
              <a:rPr lang="en-US" b="1" dirty="0" smtClean="0"/>
              <a:t>Technology</a:t>
            </a:r>
            <a:r>
              <a:rPr lang="en-US" dirty="0" smtClean="0"/>
              <a:t>: Using technical tools to protect data, like firewalls, encryption, and antivirus software.</a:t>
            </a:r>
          </a:p>
          <a:p>
            <a:pPr lvl="1"/>
            <a:r>
              <a:rPr lang="en-US" b="1" dirty="0" smtClean="0"/>
              <a:t>Example</a:t>
            </a:r>
            <a:r>
              <a:rPr lang="en-US" dirty="0" smtClean="0"/>
              <a:t>: Antivirus software installed on a computer helps detect and remove viruses, protecting the system from malware attacks.</a:t>
            </a:r>
          </a:p>
          <a:p>
            <a:r>
              <a:rPr lang="en-US" b="1" dirty="0" smtClean="0"/>
              <a:t>Policy &amp; Practices</a:t>
            </a:r>
            <a:r>
              <a:rPr lang="en-US" dirty="0" smtClean="0"/>
              <a:t>: Establishing formal rules and procedures to enforce security.</a:t>
            </a:r>
          </a:p>
          <a:p>
            <a:pPr lvl="1"/>
            <a:r>
              <a:rPr lang="en-US" b="1" dirty="0" smtClean="0"/>
              <a:t>Example</a:t>
            </a:r>
            <a:r>
              <a:rPr lang="en-US" dirty="0" smtClean="0"/>
              <a:t>: A company might enforce a policy that requires all employees to change their passwords every 3 months, ensuring password security over time.</a:t>
            </a:r>
          </a:p>
          <a:p>
            <a:r>
              <a:rPr lang="en-US" b="1" dirty="0" smtClean="0"/>
              <a:t>Summary of the CNSS Model:</a:t>
            </a:r>
          </a:p>
          <a:p>
            <a:r>
              <a:rPr lang="en-US" dirty="0" smtClean="0"/>
              <a:t>The CNSS model covers all critical aspects of information security:</a:t>
            </a:r>
          </a:p>
          <a:p>
            <a:r>
              <a:rPr lang="en-US" b="1" dirty="0" smtClean="0"/>
              <a:t>What to protect</a:t>
            </a:r>
            <a:r>
              <a:rPr lang="en-US" dirty="0" smtClean="0"/>
              <a:t>: Confidentiality, Integrity, and Availability (CIA triad).</a:t>
            </a:r>
          </a:p>
          <a:p>
            <a:r>
              <a:rPr lang="en-US" b="1" dirty="0" smtClean="0"/>
              <a:t>Where and when to protect</a:t>
            </a:r>
            <a:r>
              <a:rPr lang="en-US" dirty="0" smtClean="0"/>
              <a:t>: During Transmission, Storage, and Processing.</a:t>
            </a:r>
          </a:p>
          <a:p>
            <a:r>
              <a:rPr lang="en-US" b="1" dirty="0" smtClean="0"/>
              <a:t>How to protect</a:t>
            </a:r>
            <a:r>
              <a:rPr lang="en-US" dirty="0" smtClean="0"/>
              <a:t>: Through Education, Technology, and Policies.</a:t>
            </a:r>
          </a:p>
          <a:p>
            <a:r>
              <a:rPr lang="en-US" dirty="0" smtClean="0"/>
              <a:t>By focusing on these three dimensions, organizations can ensure a comprehensive approach to security.</a:t>
            </a:r>
          </a:p>
          <a:p>
            <a:endParaRPr lang="en-AU" dirty="0"/>
          </a:p>
        </p:txBody>
      </p:sp>
    </p:spTree>
    <p:extLst>
      <p:ext uri="{BB962C8B-B14F-4D97-AF65-F5344CB8AC3E}">
        <p14:creationId xmlns:p14="http://schemas.microsoft.com/office/powerpoint/2010/main" val="1767313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t>Information Security</a:t>
            </a:r>
            <a:endParaRPr dirty="0"/>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0"/>
              </a:spcAft>
              <a:buNone/>
            </a:pPr>
            <a:r>
              <a:rPr lang="en" sz="3100" dirty="0" smtClean="0"/>
              <a:t>Ms.Ayesha Jarral</a:t>
            </a:r>
            <a:endParaRPr lang="en" sz="3100" dirty="0"/>
          </a:p>
          <a:p>
            <a:pPr marL="0" lvl="0" indent="0" algn="ctr" rtl="0">
              <a:spcBef>
                <a:spcPts val="0"/>
              </a:spcBef>
              <a:spcAft>
                <a:spcPts val="0"/>
              </a:spcAft>
              <a:buNone/>
            </a:pPr>
            <a:r>
              <a:rPr lang="en-US" sz="1500" smtClean="0"/>
              <a:t>Ayesha.zafar@numl.edu.pk</a:t>
            </a:r>
            <a:endParaRPr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EAC-B456-C1CE-F04A-1BF79C4ECD5F}"/>
              </a:ext>
            </a:extLst>
          </p:cNvPr>
          <p:cNvSpPr>
            <a:spLocks noGrp="1"/>
          </p:cNvSpPr>
          <p:nvPr>
            <p:ph type="title"/>
          </p:nvPr>
        </p:nvSpPr>
        <p:spPr/>
        <p:txBody>
          <a:bodyPr>
            <a:normAutofit fontScale="90000"/>
          </a:bodyPr>
          <a:lstStyle/>
          <a:p>
            <a:r>
              <a:rPr lang="en-US" dirty="0"/>
              <a:t>Course Objectives</a:t>
            </a:r>
          </a:p>
        </p:txBody>
      </p:sp>
      <p:pic>
        <p:nvPicPr>
          <p:cNvPr id="5" name="Picture 4">
            <a:extLst>
              <a:ext uri="{FF2B5EF4-FFF2-40B4-BE49-F238E27FC236}">
                <a16:creationId xmlns:a16="http://schemas.microsoft.com/office/drawing/2014/main" id="{F783768B-ED0E-46CB-DCB3-F43990E364CB}"/>
              </a:ext>
            </a:extLst>
          </p:cNvPr>
          <p:cNvPicPr>
            <a:picLocks noChangeAspect="1"/>
          </p:cNvPicPr>
          <p:nvPr/>
        </p:nvPicPr>
        <p:blipFill rotWithShape="1">
          <a:blip r:embed="rId2"/>
          <a:srcRect l="36410" t="35789" r="17350" b="26002"/>
          <a:stretch/>
        </p:blipFill>
        <p:spPr>
          <a:xfrm>
            <a:off x="1258425" y="1266092"/>
            <a:ext cx="6994621" cy="3251200"/>
          </a:xfrm>
          <a:prstGeom prst="rect">
            <a:avLst/>
          </a:prstGeom>
        </p:spPr>
      </p:pic>
    </p:spTree>
    <p:extLst>
      <p:ext uri="{BB962C8B-B14F-4D97-AF65-F5344CB8AC3E}">
        <p14:creationId xmlns:p14="http://schemas.microsoft.com/office/powerpoint/2010/main" val="2173498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55967-BD84-A433-7C18-F721DC912F7C}"/>
              </a:ext>
            </a:extLst>
          </p:cNvPr>
          <p:cNvSpPr>
            <a:spLocks noGrp="1"/>
          </p:cNvSpPr>
          <p:nvPr>
            <p:ph type="title"/>
          </p:nvPr>
        </p:nvSpPr>
        <p:spPr/>
        <p:txBody>
          <a:bodyPr>
            <a:normAutofit fontScale="90000"/>
          </a:bodyPr>
          <a:lstStyle/>
          <a:p>
            <a:r>
              <a:rPr lang="en-US" dirty="0"/>
              <a:t>Course Assessments</a:t>
            </a:r>
          </a:p>
        </p:txBody>
      </p:sp>
      <p:pic>
        <p:nvPicPr>
          <p:cNvPr id="5" name="Picture 4">
            <a:extLst>
              <a:ext uri="{FF2B5EF4-FFF2-40B4-BE49-F238E27FC236}">
                <a16:creationId xmlns:a16="http://schemas.microsoft.com/office/drawing/2014/main" id="{A9D03E72-7D63-7CBA-F3F2-60072072FA2A}"/>
              </a:ext>
            </a:extLst>
          </p:cNvPr>
          <p:cNvPicPr>
            <a:picLocks noChangeAspect="1"/>
          </p:cNvPicPr>
          <p:nvPr/>
        </p:nvPicPr>
        <p:blipFill rotWithShape="1">
          <a:blip r:embed="rId2"/>
          <a:srcRect l="38290" t="56593" r="18889" b="22658"/>
          <a:stretch/>
        </p:blipFill>
        <p:spPr>
          <a:xfrm>
            <a:off x="1188412" y="1563077"/>
            <a:ext cx="6767175" cy="1844432"/>
          </a:xfrm>
          <a:prstGeom prst="rect">
            <a:avLst/>
          </a:prstGeom>
        </p:spPr>
      </p:pic>
    </p:spTree>
    <p:extLst>
      <p:ext uri="{BB962C8B-B14F-4D97-AF65-F5344CB8AC3E}">
        <p14:creationId xmlns:p14="http://schemas.microsoft.com/office/powerpoint/2010/main" val="708056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AF0D3-11FC-CA19-E351-93CB5F340FBB}"/>
              </a:ext>
            </a:extLst>
          </p:cNvPr>
          <p:cNvSpPr>
            <a:spLocks noGrp="1"/>
          </p:cNvSpPr>
          <p:nvPr>
            <p:ph type="title"/>
          </p:nvPr>
        </p:nvSpPr>
        <p:spPr/>
        <p:txBody>
          <a:bodyPr>
            <a:normAutofit fontScale="90000"/>
          </a:bodyPr>
          <a:lstStyle/>
          <a:p>
            <a:r>
              <a:rPr lang="en-US" dirty="0"/>
              <a:t>Books</a:t>
            </a:r>
          </a:p>
        </p:txBody>
      </p:sp>
      <p:sp>
        <p:nvSpPr>
          <p:cNvPr id="3" name="Text Placeholder 2">
            <a:extLst>
              <a:ext uri="{FF2B5EF4-FFF2-40B4-BE49-F238E27FC236}">
                <a16:creationId xmlns:a16="http://schemas.microsoft.com/office/drawing/2014/main" id="{8A81608F-EAB3-C7B8-6CC2-3D779F60738B}"/>
              </a:ext>
            </a:extLst>
          </p:cNvPr>
          <p:cNvSpPr>
            <a:spLocks noGrp="1"/>
          </p:cNvSpPr>
          <p:nvPr>
            <p:ph type="body" idx="1"/>
          </p:nvPr>
        </p:nvSpPr>
        <p:spPr/>
        <p:txBody>
          <a:bodyPr/>
          <a:lstStyle/>
          <a:p>
            <a:r>
              <a:rPr lang="en-US" dirty="0"/>
              <a:t>Stallings, W. (2022). Cryptography and network security: principles and practice. Pearson. ISBN: 9789332585225. </a:t>
            </a:r>
          </a:p>
          <a:p>
            <a:r>
              <a:rPr lang="en-US" dirty="0" err="1"/>
              <a:t>Maymi</a:t>
            </a:r>
            <a:r>
              <a:rPr lang="en-US" dirty="0"/>
              <a:t>, F., &amp; Harris, S. (2016). CISSP All-in-One Exam Guide, 7 </a:t>
            </a:r>
            <a:r>
              <a:rPr lang="en-US" dirty="0" err="1"/>
              <a:t>th</a:t>
            </a:r>
            <a:r>
              <a:rPr lang="en-US" dirty="0"/>
              <a:t> Edition. McGraw-Hill Education. ISBN: 9780071849272.</a:t>
            </a:r>
          </a:p>
        </p:txBody>
      </p:sp>
    </p:spTree>
    <p:extLst>
      <p:ext uri="{BB962C8B-B14F-4D97-AF65-F5344CB8AC3E}">
        <p14:creationId xmlns:p14="http://schemas.microsoft.com/office/powerpoint/2010/main" val="2051836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B37F2-8852-5E36-5F9A-3F1BE246B6F4}"/>
              </a:ext>
            </a:extLst>
          </p:cNvPr>
          <p:cNvSpPr>
            <a:spLocks noGrp="1"/>
          </p:cNvSpPr>
          <p:nvPr>
            <p:ph type="title"/>
          </p:nvPr>
        </p:nvSpPr>
        <p:spPr/>
        <p:txBody>
          <a:bodyPr>
            <a:normAutofit fontScale="90000"/>
          </a:bodyPr>
          <a:lstStyle/>
          <a:p>
            <a:r>
              <a:rPr lang="en-US" dirty="0"/>
              <a:t>Your Best Strategy</a:t>
            </a:r>
          </a:p>
        </p:txBody>
      </p:sp>
      <p:sp>
        <p:nvSpPr>
          <p:cNvPr id="3" name="Text Placeholder 2">
            <a:extLst>
              <a:ext uri="{FF2B5EF4-FFF2-40B4-BE49-F238E27FC236}">
                <a16:creationId xmlns:a16="http://schemas.microsoft.com/office/drawing/2014/main" id="{88407EFE-4FA1-F8C0-50CE-2F4C24C1115E}"/>
              </a:ext>
            </a:extLst>
          </p:cNvPr>
          <p:cNvSpPr>
            <a:spLocks noGrp="1"/>
          </p:cNvSpPr>
          <p:nvPr>
            <p:ph type="body" idx="1"/>
          </p:nvPr>
        </p:nvSpPr>
        <p:spPr/>
        <p:txBody>
          <a:bodyPr/>
          <a:lstStyle/>
          <a:p>
            <a:r>
              <a:rPr lang="en-US" dirty="0"/>
              <a:t>Come to every lectures </a:t>
            </a:r>
          </a:p>
          <a:p>
            <a:r>
              <a:rPr lang="en-US" dirty="0"/>
              <a:t>Read every lecture after going home and prepare it well. </a:t>
            </a:r>
          </a:p>
          <a:p>
            <a:r>
              <a:rPr lang="en-US" dirty="0"/>
              <a:t>Do not wait till last minute to prepare for exam or work on projects </a:t>
            </a:r>
          </a:p>
          <a:p>
            <a:r>
              <a:rPr lang="en-US" dirty="0"/>
              <a:t>Enjoy the fun!</a:t>
            </a:r>
          </a:p>
        </p:txBody>
      </p:sp>
    </p:spTree>
    <p:extLst>
      <p:ext uri="{BB962C8B-B14F-4D97-AF65-F5344CB8AC3E}">
        <p14:creationId xmlns:p14="http://schemas.microsoft.com/office/powerpoint/2010/main" val="2706345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6CA8C-DB72-508A-14AC-11A6AB7AB3EA}"/>
              </a:ext>
            </a:extLst>
          </p:cNvPr>
          <p:cNvSpPr>
            <a:spLocks noGrp="1"/>
          </p:cNvSpPr>
          <p:nvPr>
            <p:ph type="title"/>
          </p:nvPr>
        </p:nvSpPr>
        <p:spPr/>
        <p:txBody>
          <a:bodyPr>
            <a:normAutofit fontScale="90000"/>
          </a:bodyPr>
          <a:lstStyle/>
          <a:p>
            <a:r>
              <a:rPr lang="en-US" dirty="0"/>
              <a:t>Lectures need your help!</a:t>
            </a:r>
          </a:p>
        </p:txBody>
      </p:sp>
      <p:sp>
        <p:nvSpPr>
          <p:cNvPr id="3" name="Text Placeholder 2">
            <a:extLst>
              <a:ext uri="{FF2B5EF4-FFF2-40B4-BE49-F238E27FC236}">
                <a16:creationId xmlns:a16="http://schemas.microsoft.com/office/drawing/2014/main" id="{6E4212A7-6B3D-3916-0315-32158455AA05}"/>
              </a:ext>
            </a:extLst>
          </p:cNvPr>
          <p:cNvSpPr>
            <a:spLocks noGrp="1"/>
          </p:cNvSpPr>
          <p:nvPr>
            <p:ph type="body" idx="1"/>
          </p:nvPr>
        </p:nvSpPr>
        <p:spPr/>
        <p:txBody>
          <a:bodyPr/>
          <a:lstStyle/>
          <a:p>
            <a:r>
              <a:rPr lang="en-US" dirty="0"/>
              <a:t>Ask questions </a:t>
            </a:r>
          </a:p>
          <a:p>
            <a:endParaRPr lang="en-US" dirty="0"/>
          </a:p>
          <a:p>
            <a:r>
              <a:rPr lang="en-US" dirty="0"/>
              <a:t>Make suggestions! </a:t>
            </a:r>
          </a:p>
          <a:p>
            <a:endParaRPr lang="en-US" dirty="0"/>
          </a:p>
          <a:p>
            <a:r>
              <a:rPr lang="en-US" dirty="0"/>
              <a:t>Read something interesting and relevant to this course? Announce it in class!</a:t>
            </a:r>
          </a:p>
        </p:txBody>
      </p:sp>
    </p:spTree>
    <p:extLst>
      <p:ext uri="{BB962C8B-B14F-4D97-AF65-F5344CB8AC3E}">
        <p14:creationId xmlns:p14="http://schemas.microsoft.com/office/powerpoint/2010/main" val="4050711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C7B11-3874-35CB-8825-892FD3C77855}"/>
              </a:ext>
            </a:extLst>
          </p:cNvPr>
          <p:cNvSpPr>
            <a:spLocks noGrp="1"/>
          </p:cNvSpPr>
          <p:nvPr>
            <p:ph type="title"/>
          </p:nvPr>
        </p:nvSpPr>
        <p:spPr/>
        <p:txBody>
          <a:bodyPr>
            <a:normAutofit fontScale="90000"/>
          </a:bodyPr>
          <a:lstStyle/>
          <a:p>
            <a:r>
              <a:rPr lang="en-US" dirty="0"/>
              <a:t>Reader’s Guide</a:t>
            </a:r>
          </a:p>
        </p:txBody>
      </p:sp>
      <p:sp>
        <p:nvSpPr>
          <p:cNvPr id="3" name="Text Placeholder 2">
            <a:extLst>
              <a:ext uri="{FF2B5EF4-FFF2-40B4-BE49-F238E27FC236}">
                <a16:creationId xmlns:a16="http://schemas.microsoft.com/office/drawing/2014/main" id="{98D4BF70-AEFE-2028-AAEF-52891A731A90}"/>
              </a:ext>
            </a:extLst>
          </p:cNvPr>
          <p:cNvSpPr>
            <a:spLocks noGrp="1"/>
          </p:cNvSpPr>
          <p:nvPr>
            <p:ph type="body" idx="1"/>
          </p:nvPr>
        </p:nvSpPr>
        <p:spPr/>
        <p:txBody>
          <a:bodyPr/>
          <a:lstStyle/>
          <a:p>
            <a:r>
              <a:rPr lang="en-US" dirty="0"/>
              <a:t>The art of war teaches us to rely not on the likelihood of the enemy's not coming, but on our own readiness to receive him; not on the chance of his not attacking, but rather on the fact that we have made our position unassailable. —The Art of War, Sun Tzu</a:t>
            </a:r>
          </a:p>
        </p:txBody>
      </p:sp>
    </p:spTree>
    <p:extLst>
      <p:ext uri="{BB962C8B-B14F-4D97-AF65-F5344CB8AC3E}">
        <p14:creationId xmlns:p14="http://schemas.microsoft.com/office/powerpoint/2010/main" val="4294146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What is information?</a:t>
            </a:r>
            <a:endParaRPr dirty="0"/>
          </a:p>
        </p:txBody>
      </p:sp>
      <p:sp>
        <p:nvSpPr>
          <p:cNvPr id="73" name="Google Shape;73;p14"/>
          <p:cNvSpPr txBox="1">
            <a:spLocks noGrp="1"/>
          </p:cNvSpPr>
          <p:nvPr>
            <p:ph type="body" idx="1"/>
          </p:nvPr>
        </p:nvSpPr>
        <p:spPr>
          <a:xfrm>
            <a:off x="311699" y="1266325"/>
            <a:ext cx="5166951" cy="3302700"/>
          </a:xfrm>
          <a:prstGeom prst="rect">
            <a:avLst/>
          </a:prstGeom>
        </p:spPr>
        <p:txBody>
          <a:bodyPr spcFirstLastPara="1" wrap="square" lIns="91425" tIns="91425" rIns="91425" bIns="91425" anchor="t" anchorCtr="0">
            <a:normAutofit/>
          </a:bodyPr>
          <a:lstStyle/>
          <a:p>
            <a:pPr marL="0" indent="0">
              <a:spcAft>
                <a:spcPts val="1200"/>
              </a:spcAft>
              <a:buNone/>
            </a:pPr>
            <a:r>
              <a:rPr lang="en-US" b="0" i="0" dirty="0">
                <a:solidFill>
                  <a:srgbClr val="0D0D0D"/>
                </a:solidFill>
                <a:effectLst/>
                <a:latin typeface="Söhne"/>
              </a:rPr>
              <a:t>Information refers to data that has been processed, organized, structured, or presented in a meaningful context, such that it can be understood, interpreted, and used by individuals or systems.</a:t>
            </a:r>
          </a:p>
          <a:p>
            <a:pPr marL="0" lvl="0" indent="0" algn="l" rtl="0">
              <a:spcBef>
                <a:spcPts val="0"/>
              </a:spcBef>
              <a:spcAft>
                <a:spcPts val="1200"/>
              </a:spcAft>
              <a:buNone/>
            </a:pPr>
            <a:endParaRPr dirty="0"/>
          </a:p>
        </p:txBody>
      </p:sp>
      <p:sp>
        <p:nvSpPr>
          <p:cNvPr id="2" name="AutoShape 2" descr="BUSINESS png images | PNGEgg">
            <a:extLst>
              <a:ext uri="{FF2B5EF4-FFF2-40B4-BE49-F238E27FC236}">
                <a16:creationId xmlns:a16="http://schemas.microsoft.com/office/drawing/2014/main" id="{C9B269C7-0F84-654B-243A-E2CB80C2350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BUSINESS png images | PNGEgg">
            <a:extLst>
              <a:ext uri="{FF2B5EF4-FFF2-40B4-BE49-F238E27FC236}">
                <a16:creationId xmlns:a16="http://schemas.microsoft.com/office/drawing/2014/main" id="{1CD04E10-B58B-4F59-7539-9FB7E5253F6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foregroundMark x1="18778" y1="47308" x2="18778" y2="47308"/>
                        <a14:foregroundMark x1="30556" y1="18846" x2="30556" y2="18846"/>
                        <a14:foregroundMark x1="42111" y1="15769" x2="42111" y2="15769"/>
                        <a14:foregroundMark x1="52333" y1="15962" x2="52333" y2="15962"/>
                        <a14:foregroundMark x1="66222" y1="14423" x2="66222" y2="14423"/>
                        <a14:foregroundMark x1="80222" y1="44038" x2="80222" y2="44038"/>
                        <a14:foregroundMark x1="84444" y1="40000" x2="84444" y2="40000"/>
                        <a14:foregroundMark x1="75111" y1="39615" x2="75111" y2="39615"/>
                        <a14:foregroundMark x1="74000" y1="84231" x2="74000" y2="84231"/>
                        <a14:foregroundMark x1="65444" y1="87115" x2="65444" y2="87115"/>
                        <a14:foregroundMark x1="51444" y1="87115" x2="51444" y2="87115"/>
                        <a14:foregroundMark x1="31444" y1="80385" x2="31444" y2="80385"/>
                        <a14:foregroundMark x1="35556" y1="13462" x2="35556" y2="13462"/>
                        <a14:foregroundMark x1="20111" y1="38654" x2="20111" y2="38654"/>
                        <a14:foregroundMark x1="18778" y1="50962" x2="18778" y2="50962"/>
                        <a14:foregroundMark x1="87333" y1="43462" x2="87333" y2="43462"/>
                        <a14:foregroundMark x1="85000" y1="40577" x2="85000" y2="40577"/>
                        <a14:foregroundMark x1="73222" y1="44808" x2="73222" y2="44808"/>
                        <a14:foregroundMark x1="77333" y1="53462" x2="77333" y2="53462"/>
                        <a14:foregroundMark x1="79222" y1="55192" x2="79222" y2="55192"/>
                        <a14:foregroundMark x1="84667" y1="44038" x2="84667" y2="44038"/>
                        <a14:foregroundMark x1="84889" y1="46346" x2="84889" y2="46346"/>
                        <a14:foregroundMark x1="74444" y1="45385" x2="74444" y2="45385"/>
                        <a14:foregroundMark x1="84889" y1="47115" x2="84889" y2="47115"/>
                        <a14:foregroundMark x1="84444" y1="44808" x2="84444" y2="44808"/>
                        <a14:foregroundMark x1="85000" y1="46346" x2="85000" y2="46346"/>
                        <a14:foregroundMark x1="86000" y1="39038" x2="86000" y2="39038"/>
                        <a14:foregroundMark x1="86000" y1="39038" x2="86000" y2="39038"/>
                        <a14:foregroundMark x1="86000" y1="39038" x2="86000" y2="39038"/>
                        <a14:foregroundMark x1="86556" y1="39038" x2="86556" y2="39038"/>
                        <a14:foregroundMark x1="86111" y1="36923" x2="86111" y2="36923"/>
                        <a14:foregroundMark x1="86111" y1="40192" x2="86111" y2="40192"/>
                        <a14:foregroundMark x1="86111" y1="40192" x2="86111" y2="40192"/>
                        <a14:foregroundMark x1="23000" y1="45962" x2="23000" y2="45962"/>
                        <a14:foregroundMark x1="15000" y1="44038" x2="15000" y2="44038"/>
                        <a14:foregroundMark x1="26444" y1="42115" x2="26444" y2="42115"/>
                        <a14:backgroundMark x1="13778" y1="16731" x2="13778" y2="16731"/>
                        <a14:backgroundMark x1="13778" y1="16731" x2="13778" y2="16731"/>
                        <a14:backgroundMark x1="13778" y1="16731" x2="13778" y2="16731"/>
                        <a14:backgroundMark x1="13778" y1="16731" x2="13778" y2="16731"/>
                        <a14:backgroundMark x1="83000" y1="68269" x2="83000" y2="68269"/>
                        <a14:backgroundMark x1="83000" y1="68269" x2="83000" y2="68269"/>
                        <a14:backgroundMark x1="85679" y1="36923" x2="88111" y2="8462"/>
                        <a14:backgroundMark x1="85498" y1="39038" x2="85679" y2="36923"/>
                        <a14:backgroundMark x1="85416" y1="40000" x2="85498" y2="39038"/>
                        <a14:backgroundMark x1="85367" y1="40577" x2="85416" y2="40000"/>
                        <a14:backgroundMark x1="85120" y1="43462" x2="85367" y2="40577"/>
                        <a14:backgroundMark x1="85071" y1="44038" x2="85120" y2="43462"/>
                        <a14:backgroundMark x1="85005" y1="44808" x2="85071" y2="44038"/>
                        <a14:backgroundMark x1="84874" y1="46346" x2="85005" y2="44808"/>
                        <a14:backgroundMark x1="84808" y1="47115" x2="84874" y2="46346"/>
                        <a14:backgroundMark x1="83000" y1="68269" x2="84808" y2="47115"/>
                        <a14:backgroundMark x1="88111" y1="8462" x2="88111" y2="8462"/>
                        <a14:backgroundMark x1="88111" y1="8462" x2="88111" y2="8462"/>
                      </a14:backgroundRemoval>
                    </a14:imgEffect>
                  </a14:imgLayer>
                </a14:imgProps>
              </a:ext>
              <a:ext uri="{28A0092B-C50C-407E-A947-70E740481C1C}">
                <a14:useLocalDpi xmlns:a14="http://schemas.microsoft.com/office/drawing/2010/main" val="0"/>
              </a:ext>
            </a:extLst>
          </a:blip>
          <a:srcRect/>
          <a:stretch>
            <a:fillRect/>
          </a:stretch>
        </p:blipFill>
        <p:spPr bwMode="auto">
          <a:xfrm>
            <a:off x="5257985" y="1525130"/>
            <a:ext cx="4150454" cy="23980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E9841-8F70-6279-D040-B3D60ED9F37D}"/>
              </a:ext>
            </a:extLst>
          </p:cNvPr>
          <p:cNvSpPr>
            <a:spLocks noGrp="1"/>
          </p:cNvSpPr>
          <p:nvPr>
            <p:ph type="title"/>
          </p:nvPr>
        </p:nvSpPr>
        <p:spPr/>
        <p:txBody>
          <a:bodyPr>
            <a:normAutofit fontScale="90000"/>
          </a:bodyPr>
          <a:lstStyle/>
          <a:p>
            <a:r>
              <a:rPr lang="en-US" dirty="0"/>
              <a:t>What is Security?</a:t>
            </a:r>
          </a:p>
        </p:txBody>
      </p:sp>
      <p:sp>
        <p:nvSpPr>
          <p:cNvPr id="3" name="Text Placeholder 2">
            <a:extLst>
              <a:ext uri="{FF2B5EF4-FFF2-40B4-BE49-F238E27FC236}">
                <a16:creationId xmlns:a16="http://schemas.microsoft.com/office/drawing/2014/main" id="{4AFB70B1-61C3-E22C-A9C7-809C0138DD23}"/>
              </a:ext>
            </a:extLst>
          </p:cNvPr>
          <p:cNvSpPr>
            <a:spLocks noGrp="1"/>
          </p:cNvSpPr>
          <p:nvPr>
            <p:ph type="body" idx="1"/>
          </p:nvPr>
        </p:nvSpPr>
        <p:spPr/>
        <p:txBody>
          <a:bodyPr/>
          <a:lstStyle/>
          <a:p>
            <a:r>
              <a:rPr lang="en-US" dirty="0"/>
              <a:t>The quality or state of being secure – to be free from danger.</a:t>
            </a:r>
          </a:p>
          <a:p>
            <a:r>
              <a:rPr lang="en-US" dirty="0"/>
              <a:t>A successful organization should have multiple layer of security in place:</a:t>
            </a:r>
          </a:p>
          <a:p>
            <a:pPr lvl="1"/>
            <a:r>
              <a:rPr lang="en-US" dirty="0"/>
              <a:t>Physical security</a:t>
            </a:r>
          </a:p>
          <a:p>
            <a:pPr lvl="1"/>
            <a:r>
              <a:rPr lang="en-US" dirty="0"/>
              <a:t>Personal security</a:t>
            </a:r>
          </a:p>
          <a:p>
            <a:pPr lvl="1"/>
            <a:r>
              <a:rPr lang="en-US" dirty="0"/>
              <a:t>Operations security</a:t>
            </a:r>
          </a:p>
          <a:p>
            <a:pPr lvl="1"/>
            <a:r>
              <a:rPr lang="en-US" dirty="0"/>
              <a:t>Communications security </a:t>
            </a:r>
          </a:p>
          <a:p>
            <a:pPr lvl="1"/>
            <a:r>
              <a:rPr lang="en-US" dirty="0"/>
              <a:t>Network security</a:t>
            </a:r>
          </a:p>
          <a:p>
            <a:pPr lvl="1"/>
            <a:r>
              <a:rPr lang="en-US" dirty="0"/>
              <a:t>Information security</a:t>
            </a:r>
          </a:p>
          <a:p>
            <a:pPr marL="114300" indent="0">
              <a:buNone/>
            </a:pPr>
            <a:endParaRPr lang="en-US" dirty="0"/>
          </a:p>
        </p:txBody>
      </p:sp>
    </p:spTree>
    <p:extLst>
      <p:ext uri="{BB962C8B-B14F-4D97-AF65-F5344CB8AC3E}">
        <p14:creationId xmlns:p14="http://schemas.microsoft.com/office/powerpoint/2010/main" val="3801500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42D2-6772-43E9-2ECA-249EC85C0DCB}"/>
              </a:ext>
            </a:extLst>
          </p:cNvPr>
          <p:cNvSpPr>
            <a:spLocks noGrp="1"/>
          </p:cNvSpPr>
          <p:nvPr>
            <p:ph type="title"/>
          </p:nvPr>
        </p:nvSpPr>
        <p:spPr/>
        <p:txBody>
          <a:bodyPr>
            <a:normAutofit fontScale="90000"/>
          </a:bodyPr>
          <a:lstStyle/>
          <a:p>
            <a:r>
              <a:rPr lang="en-US" dirty="0"/>
              <a:t>What is Information Security?</a:t>
            </a:r>
          </a:p>
        </p:txBody>
      </p:sp>
      <p:sp>
        <p:nvSpPr>
          <p:cNvPr id="3" name="Text Placeholder 2">
            <a:extLst>
              <a:ext uri="{FF2B5EF4-FFF2-40B4-BE49-F238E27FC236}">
                <a16:creationId xmlns:a16="http://schemas.microsoft.com/office/drawing/2014/main" id="{CBE4D531-909F-3163-FBB0-33EBA7F28985}"/>
              </a:ext>
            </a:extLst>
          </p:cNvPr>
          <p:cNvSpPr>
            <a:spLocks noGrp="1"/>
          </p:cNvSpPr>
          <p:nvPr>
            <p:ph type="body" idx="1"/>
          </p:nvPr>
        </p:nvSpPr>
        <p:spPr/>
        <p:txBody>
          <a:bodyPr/>
          <a:lstStyle/>
          <a:p>
            <a:r>
              <a:rPr lang="en-US" dirty="0"/>
              <a:t>The protection of information and its critical elements including systems and hardware that use, store, and transmit that information.</a:t>
            </a:r>
          </a:p>
          <a:p>
            <a:endParaRPr lang="en-US" dirty="0"/>
          </a:p>
        </p:txBody>
      </p:sp>
    </p:spTree>
    <p:extLst>
      <p:ext uri="{BB962C8B-B14F-4D97-AF65-F5344CB8AC3E}">
        <p14:creationId xmlns:p14="http://schemas.microsoft.com/office/powerpoint/2010/main" val="861673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3BC72-DEEE-BB91-1EAF-BABDECDBCFC5}"/>
              </a:ext>
            </a:extLst>
          </p:cNvPr>
          <p:cNvSpPr>
            <a:spLocks noGrp="1"/>
          </p:cNvSpPr>
          <p:nvPr>
            <p:ph type="title"/>
          </p:nvPr>
        </p:nvSpPr>
        <p:spPr/>
        <p:txBody>
          <a:bodyPr>
            <a:normAutofit fontScale="90000"/>
          </a:bodyPr>
          <a:lstStyle/>
          <a:p>
            <a:r>
              <a:rPr lang="en-US" dirty="0"/>
              <a:t>Critical Characteristics of Information</a:t>
            </a:r>
          </a:p>
        </p:txBody>
      </p:sp>
      <p:sp>
        <p:nvSpPr>
          <p:cNvPr id="3" name="Text Placeholder 2">
            <a:extLst>
              <a:ext uri="{FF2B5EF4-FFF2-40B4-BE49-F238E27FC236}">
                <a16:creationId xmlns:a16="http://schemas.microsoft.com/office/drawing/2014/main" id="{364F38F0-E584-7955-92D1-78F2207389B8}"/>
              </a:ext>
            </a:extLst>
          </p:cNvPr>
          <p:cNvSpPr>
            <a:spLocks noGrp="1"/>
          </p:cNvSpPr>
          <p:nvPr>
            <p:ph type="body" idx="1"/>
          </p:nvPr>
        </p:nvSpPr>
        <p:spPr/>
        <p:txBody>
          <a:bodyPr>
            <a:normAutofit/>
          </a:bodyPr>
          <a:lstStyle/>
          <a:p>
            <a:pPr marL="114300" indent="0">
              <a:buNone/>
            </a:pPr>
            <a:r>
              <a:rPr lang="en-US" dirty="0"/>
              <a:t>The value of information comes from the characteristics it comes:</a:t>
            </a:r>
          </a:p>
          <a:p>
            <a:pPr marL="114300" indent="0">
              <a:buNone/>
            </a:pPr>
            <a:endParaRPr lang="en-US" dirty="0"/>
          </a:p>
          <a:p>
            <a:pPr algn="l">
              <a:buFont typeface="+mj-lt"/>
              <a:buAutoNum type="arabicPeriod"/>
            </a:pPr>
            <a:r>
              <a:rPr lang="en-US" b="1" i="0" dirty="0">
                <a:solidFill>
                  <a:srgbClr val="0D0D0D"/>
                </a:solidFill>
                <a:effectLst/>
                <a:latin typeface="Söhne"/>
              </a:rPr>
              <a:t>Availability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Availability ensures that information is accessible and usable when needed by authorized users. </a:t>
            </a:r>
          </a:p>
          <a:p>
            <a:pPr algn="l">
              <a:buFont typeface="+mj-lt"/>
              <a:buAutoNum type="arabicPeriod"/>
            </a:pPr>
            <a:r>
              <a:rPr lang="en-US" b="1" i="0" dirty="0">
                <a:solidFill>
                  <a:srgbClr val="0D0D0D"/>
                </a:solidFill>
                <a:effectLst/>
                <a:latin typeface="Söhne"/>
              </a:rPr>
              <a:t>Accuracy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Accuracy refers to the correctness and precision of information. Accurate information is free from errors, omissions, or distortions and reflects the true state of affairs. </a:t>
            </a:r>
          </a:p>
          <a:p>
            <a:pPr algn="l">
              <a:buFont typeface="+mj-lt"/>
              <a:buAutoNum type="arabicPeriod"/>
            </a:pPr>
            <a:r>
              <a:rPr lang="en-US" b="1" i="0" dirty="0">
                <a:solidFill>
                  <a:srgbClr val="0D0D0D"/>
                </a:solidFill>
                <a:effectLst/>
                <a:latin typeface="Söhne"/>
              </a:rPr>
              <a:t>Authenticity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Authenticity verifies the origin and trustworthiness of information. </a:t>
            </a:r>
            <a:endParaRPr lang="en-US" dirty="0"/>
          </a:p>
        </p:txBody>
      </p:sp>
    </p:spTree>
    <p:extLst>
      <p:ext uri="{BB962C8B-B14F-4D97-AF65-F5344CB8AC3E}">
        <p14:creationId xmlns:p14="http://schemas.microsoft.com/office/powerpoint/2010/main" val="3892254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34E35-C201-BC1D-0BC9-53EF88349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E0C97-2F33-D592-A459-76B64991F79D}"/>
              </a:ext>
            </a:extLst>
          </p:cNvPr>
          <p:cNvSpPr>
            <a:spLocks noGrp="1"/>
          </p:cNvSpPr>
          <p:nvPr>
            <p:ph type="title"/>
          </p:nvPr>
        </p:nvSpPr>
        <p:spPr/>
        <p:txBody>
          <a:bodyPr>
            <a:normAutofit fontScale="90000"/>
          </a:bodyPr>
          <a:lstStyle/>
          <a:p>
            <a:r>
              <a:rPr lang="en-US" dirty="0"/>
              <a:t>Critical Characteristics of Information</a:t>
            </a:r>
          </a:p>
        </p:txBody>
      </p:sp>
      <p:sp>
        <p:nvSpPr>
          <p:cNvPr id="3" name="Text Placeholder 2">
            <a:extLst>
              <a:ext uri="{FF2B5EF4-FFF2-40B4-BE49-F238E27FC236}">
                <a16:creationId xmlns:a16="http://schemas.microsoft.com/office/drawing/2014/main" id="{BE935418-7BCE-06BF-2EA0-F3DF09D9C524}"/>
              </a:ext>
            </a:extLst>
          </p:cNvPr>
          <p:cNvSpPr>
            <a:spLocks noGrp="1"/>
          </p:cNvSpPr>
          <p:nvPr>
            <p:ph type="body" idx="1"/>
          </p:nvPr>
        </p:nvSpPr>
        <p:spPr/>
        <p:txBody>
          <a:bodyPr>
            <a:normAutofit/>
          </a:bodyPr>
          <a:lstStyle/>
          <a:p>
            <a:pPr marL="114300" indent="0" algn="l">
              <a:buNone/>
            </a:pPr>
            <a:r>
              <a:rPr lang="en-US" b="1" i="0" dirty="0">
                <a:solidFill>
                  <a:srgbClr val="0D0D0D"/>
                </a:solidFill>
                <a:effectLst/>
                <a:latin typeface="Söhne"/>
              </a:rPr>
              <a:t>4. Confidentiality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Confidentiality protects sensitive information from unauthorized access, disclosure, or exposure. </a:t>
            </a:r>
          </a:p>
          <a:p>
            <a:pPr marL="0" indent="0">
              <a:buNone/>
            </a:pPr>
            <a:r>
              <a:rPr lang="en-US" b="1" i="0" dirty="0">
                <a:solidFill>
                  <a:srgbClr val="0D0D0D"/>
                </a:solidFill>
                <a:effectLst/>
                <a:latin typeface="Söhne"/>
              </a:rPr>
              <a:t>  5. Integrity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Integrity ensures the accuracy and reliability of information by protecting it from unauthorized alteration or corruption.</a:t>
            </a:r>
          </a:p>
          <a:p>
            <a:pPr marL="114300" indent="0" algn="l">
              <a:buNone/>
            </a:pPr>
            <a:r>
              <a:rPr lang="en-US" b="1" i="0" dirty="0">
                <a:solidFill>
                  <a:srgbClr val="0D0D0D"/>
                </a:solidFill>
                <a:effectLst/>
                <a:latin typeface="Söhne"/>
              </a:rPr>
              <a:t>6. Utility</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Utility refers to the usefulness and relevance of information to meet specific needs or objectives. </a:t>
            </a:r>
          </a:p>
          <a:p>
            <a:pPr marL="114300" indent="0" algn="l">
              <a:buNone/>
            </a:pPr>
            <a:r>
              <a:rPr lang="en-US" b="1" i="0" dirty="0">
                <a:solidFill>
                  <a:srgbClr val="0D0D0D"/>
                </a:solidFill>
                <a:effectLst/>
                <a:latin typeface="Söhne"/>
              </a:rPr>
              <a:t>7. Possession</a:t>
            </a:r>
            <a:r>
              <a:rPr lang="en-US" b="0" i="0" dirty="0">
                <a:solidFill>
                  <a:srgbClr val="0D0D0D"/>
                </a:solidFill>
                <a:effectLst/>
                <a:latin typeface="Söhne"/>
              </a:rPr>
              <a:t>:</a:t>
            </a:r>
          </a:p>
          <a:p>
            <a:pPr marL="457200" lvl="1" indent="0" algn="l">
              <a:buNone/>
            </a:pPr>
            <a:r>
              <a:rPr lang="en-US" b="0" i="0" dirty="0">
                <a:solidFill>
                  <a:srgbClr val="0D0D0D"/>
                </a:solidFill>
                <a:effectLst/>
                <a:latin typeface="Söhne"/>
              </a:rPr>
              <a:t>Possession refers to the control and ownership of information. </a:t>
            </a:r>
          </a:p>
        </p:txBody>
      </p:sp>
    </p:spTree>
    <p:extLst>
      <p:ext uri="{BB962C8B-B14F-4D97-AF65-F5344CB8AC3E}">
        <p14:creationId xmlns:p14="http://schemas.microsoft.com/office/powerpoint/2010/main" val="5538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40C7-A92C-FAC3-3946-DE34AF9B4BF1}"/>
              </a:ext>
            </a:extLst>
          </p:cNvPr>
          <p:cNvSpPr>
            <a:spLocks noGrp="1"/>
          </p:cNvSpPr>
          <p:nvPr>
            <p:ph type="title"/>
          </p:nvPr>
        </p:nvSpPr>
        <p:spPr/>
        <p:txBody>
          <a:bodyPr>
            <a:normAutofit fontScale="90000"/>
          </a:bodyPr>
          <a:lstStyle/>
          <a:p>
            <a:r>
              <a:rPr lang="en-US" dirty="0"/>
              <a:t>Subsets of Information Security</a:t>
            </a:r>
          </a:p>
        </p:txBody>
      </p:sp>
      <p:sp>
        <p:nvSpPr>
          <p:cNvPr id="3" name="Text Placeholder 2">
            <a:extLst>
              <a:ext uri="{FF2B5EF4-FFF2-40B4-BE49-F238E27FC236}">
                <a16:creationId xmlns:a16="http://schemas.microsoft.com/office/drawing/2014/main" id="{EA5329F2-2574-ECE8-1395-7712A06A2C9F}"/>
              </a:ext>
            </a:extLst>
          </p:cNvPr>
          <p:cNvSpPr>
            <a:spLocks noGrp="1"/>
          </p:cNvSpPr>
          <p:nvPr>
            <p:ph type="body" idx="1"/>
          </p:nvPr>
        </p:nvSpPr>
        <p:spPr/>
        <p:txBody>
          <a:bodyPr/>
          <a:lstStyle/>
          <a:p>
            <a:pPr algn="just"/>
            <a:r>
              <a:rPr lang="en-US" b="1" dirty="0">
                <a:solidFill>
                  <a:schemeClr val="bg2">
                    <a:lumMod val="75000"/>
                  </a:schemeClr>
                </a:solidFill>
              </a:rPr>
              <a:t>Cyber Security </a:t>
            </a:r>
            <a:r>
              <a:rPr lang="en-US" dirty="0">
                <a:solidFill>
                  <a:schemeClr val="bg2">
                    <a:lumMod val="75000"/>
                  </a:schemeClr>
                </a:solidFill>
              </a:rPr>
              <a:t>- </a:t>
            </a:r>
            <a:r>
              <a:rPr lang="en-US" b="0" i="0" dirty="0">
                <a:solidFill>
                  <a:schemeClr val="bg2">
                    <a:lumMod val="75000"/>
                  </a:schemeClr>
                </a:solidFill>
                <a:effectLst/>
                <a:latin typeface="Google Sans"/>
              </a:rPr>
              <a:t>Cybersecurity is the practice of protecting systems, networks, and programs from digital attacks. </a:t>
            </a:r>
            <a:endParaRPr lang="en-US" dirty="0">
              <a:solidFill>
                <a:schemeClr val="bg2">
                  <a:lumMod val="75000"/>
                </a:schemeClr>
              </a:solidFill>
            </a:endParaRPr>
          </a:p>
          <a:p>
            <a:pPr algn="just"/>
            <a:r>
              <a:rPr lang="en-US" b="1" dirty="0">
                <a:solidFill>
                  <a:schemeClr val="bg2">
                    <a:lumMod val="75000"/>
                  </a:schemeClr>
                </a:solidFill>
                <a:latin typeface="Google Sans"/>
              </a:rPr>
              <a:t>Computer Security </a:t>
            </a:r>
            <a:r>
              <a:rPr lang="en-US" dirty="0">
                <a:solidFill>
                  <a:schemeClr val="bg2">
                    <a:lumMod val="75000"/>
                  </a:schemeClr>
                </a:solidFill>
                <a:latin typeface="Google Sans"/>
              </a:rPr>
              <a:t>- generic name for the collection of tools designed to protect data and to thwart hackers </a:t>
            </a:r>
          </a:p>
          <a:p>
            <a:pPr algn="just"/>
            <a:r>
              <a:rPr lang="en-US" b="1" dirty="0">
                <a:solidFill>
                  <a:schemeClr val="bg2">
                    <a:lumMod val="75000"/>
                  </a:schemeClr>
                </a:solidFill>
                <a:latin typeface="Google Sans"/>
              </a:rPr>
              <a:t>Network Security</a:t>
            </a:r>
            <a:r>
              <a:rPr lang="en-US" dirty="0">
                <a:solidFill>
                  <a:schemeClr val="bg2">
                    <a:lumMod val="75000"/>
                  </a:schemeClr>
                </a:solidFill>
                <a:latin typeface="Google Sans"/>
              </a:rPr>
              <a:t> - measures to protect data during their transmission</a:t>
            </a:r>
          </a:p>
          <a:p>
            <a:pPr algn="just"/>
            <a:r>
              <a:rPr lang="en-US" b="1" dirty="0">
                <a:solidFill>
                  <a:schemeClr val="bg2">
                    <a:lumMod val="75000"/>
                  </a:schemeClr>
                </a:solidFill>
                <a:latin typeface="Google Sans"/>
              </a:rPr>
              <a:t>Internet Security </a:t>
            </a:r>
            <a:r>
              <a:rPr lang="en-US" dirty="0">
                <a:solidFill>
                  <a:schemeClr val="bg2">
                    <a:lumMod val="75000"/>
                  </a:schemeClr>
                </a:solidFill>
                <a:latin typeface="Google Sans"/>
              </a:rPr>
              <a:t>- measures to protect data during their transmission over a collection of interconnected networks</a:t>
            </a:r>
          </a:p>
          <a:p>
            <a:endParaRPr lang="en-US" dirty="0"/>
          </a:p>
        </p:txBody>
      </p:sp>
    </p:spTree>
    <p:extLst>
      <p:ext uri="{BB962C8B-B14F-4D97-AF65-F5344CB8AC3E}">
        <p14:creationId xmlns:p14="http://schemas.microsoft.com/office/powerpoint/2010/main" val="4255181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5F100-DD6E-6AA4-842F-B49E1DDE0BD4}"/>
              </a:ext>
            </a:extLst>
          </p:cNvPr>
          <p:cNvSpPr>
            <a:spLocks noGrp="1"/>
          </p:cNvSpPr>
          <p:nvPr>
            <p:ph type="title"/>
          </p:nvPr>
        </p:nvSpPr>
        <p:spPr/>
        <p:txBody>
          <a:bodyPr>
            <a:normAutofit fontScale="90000"/>
          </a:bodyPr>
          <a:lstStyle/>
          <a:p>
            <a:r>
              <a:rPr lang="en-US" dirty="0"/>
              <a:t>CNSS Security Model</a:t>
            </a:r>
          </a:p>
        </p:txBody>
      </p:sp>
      <p:sp>
        <p:nvSpPr>
          <p:cNvPr id="3" name="Text Placeholder 2">
            <a:extLst>
              <a:ext uri="{FF2B5EF4-FFF2-40B4-BE49-F238E27FC236}">
                <a16:creationId xmlns:a16="http://schemas.microsoft.com/office/drawing/2014/main" id="{36127E2A-D5EF-40FD-0E74-04F7553A038C}"/>
              </a:ext>
            </a:extLst>
          </p:cNvPr>
          <p:cNvSpPr>
            <a:spLocks noGrp="1"/>
          </p:cNvSpPr>
          <p:nvPr>
            <p:ph type="body" idx="1"/>
          </p:nvPr>
        </p:nvSpPr>
        <p:spPr/>
        <p:txBody>
          <a:bodyPr/>
          <a:lstStyle/>
          <a:p>
            <a:pPr algn="just"/>
            <a:r>
              <a:rPr lang="en-US" b="0" i="0" dirty="0">
                <a:solidFill>
                  <a:srgbClr val="202124"/>
                </a:solidFill>
                <a:effectLst/>
                <a:latin typeface="Google Sans"/>
              </a:rPr>
              <a:t>CNSS (Committee on National Security Systems is </a:t>
            </a:r>
            <a:r>
              <a:rPr lang="en-US" b="0" i="0" dirty="0">
                <a:solidFill>
                  <a:srgbClr val="040C28"/>
                </a:solidFill>
                <a:effectLst/>
                <a:latin typeface="Google Sans"/>
              </a:rPr>
              <a:t>a three-dimensional security model</a:t>
            </a:r>
            <a:r>
              <a:rPr lang="en-US" b="0" i="0" dirty="0">
                <a:solidFill>
                  <a:srgbClr val="202124"/>
                </a:solidFill>
                <a:effectLst/>
                <a:latin typeface="Google Sans"/>
              </a:rPr>
              <a:t> which has now become a standard security model for many of the currently operating information systems. </a:t>
            </a:r>
          </a:p>
          <a:p>
            <a:pPr algn="just"/>
            <a:r>
              <a:rPr lang="en-US" b="0" i="0" dirty="0">
                <a:solidFill>
                  <a:srgbClr val="202124"/>
                </a:solidFill>
                <a:effectLst/>
                <a:latin typeface="Google Sans"/>
              </a:rPr>
              <a:t>The CNSS model has three key goals of security: Confidentiality, Integrity, and Availability. This comprises one dimension.</a:t>
            </a:r>
          </a:p>
          <a:p>
            <a:pPr algn="just"/>
            <a:r>
              <a:rPr lang="en-US" b="0" i="0" dirty="0">
                <a:solidFill>
                  <a:srgbClr val="202124"/>
                </a:solidFill>
                <a:effectLst/>
                <a:latin typeface="Google Sans"/>
              </a:rPr>
              <a:t>The CNSS model has three information states: Transmission, Storage, Processing. This comprises one dimension.</a:t>
            </a:r>
          </a:p>
          <a:p>
            <a:pPr algn="just"/>
            <a:r>
              <a:rPr lang="en-US" b="0" i="0" dirty="0">
                <a:solidFill>
                  <a:srgbClr val="202124"/>
                </a:solidFill>
                <a:effectLst/>
                <a:latin typeface="Google Sans"/>
              </a:rPr>
              <a:t>The CNSS model has three security measures to adopt: Education Training Awareness, Technology, and Policy &amp; Practices.</a:t>
            </a:r>
            <a:endParaRPr lang="en-US" dirty="0"/>
          </a:p>
        </p:txBody>
      </p:sp>
    </p:spTree>
    <p:extLst>
      <p:ext uri="{BB962C8B-B14F-4D97-AF65-F5344CB8AC3E}">
        <p14:creationId xmlns:p14="http://schemas.microsoft.com/office/powerpoint/2010/main" val="1187243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DB288-04EB-E7A9-1EFB-5F562AA2A765}"/>
              </a:ext>
            </a:extLst>
          </p:cNvPr>
          <p:cNvSpPr>
            <a:spLocks noGrp="1"/>
          </p:cNvSpPr>
          <p:nvPr>
            <p:ph type="title"/>
          </p:nvPr>
        </p:nvSpPr>
        <p:spPr/>
        <p:txBody>
          <a:bodyPr>
            <a:normAutofit fontScale="90000"/>
          </a:bodyPr>
          <a:lstStyle/>
          <a:p>
            <a:r>
              <a:rPr lang="en-US" dirty="0"/>
              <a:t>CNSS Security Model</a:t>
            </a:r>
          </a:p>
        </p:txBody>
      </p:sp>
      <p:sp>
        <p:nvSpPr>
          <p:cNvPr id="3" name="Text Placeholder 2">
            <a:extLst>
              <a:ext uri="{FF2B5EF4-FFF2-40B4-BE49-F238E27FC236}">
                <a16:creationId xmlns:a16="http://schemas.microsoft.com/office/drawing/2014/main" id="{67CCE4D9-2510-A8B2-5EB9-653E6471BED1}"/>
              </a:ext>
            </a:extLst>
          </p:cNvPr>
          <p:cNvSpPr>
            <a:spLocks noGrp="1"/>
          </p:cNvSpPr>
          <p:nvPr>
            <p:ph type="body" idx="1"/>
          </p:nvPr>
        </p:nvSpPr>
        <p:spPr>
          <a:xfrm>
            <a:off x="311700" y="1266325"/>
            <a:ext cx="5604546" cy="3302700"/>
          </a:xfrm>
        </p:spPr>
        <p:txBody>
          <a:bodyPr/>
          <a:lstStyle/>
          <a:p>
            <a:pPr algn="just"/>
            <a:r>
              <a:rPr lang="en-US" dirty="0"/>
              <a:t>To develop a secure system one must consider not only key </a:t>
            </a:r>
            <a:r>
              <a:rPr lang="en-US" dirty="0">
                <a:solidFill>
                  <a:srgbClr val="FF0000"/>
                </a:solidFill>
              </a:rPr>
              <a:t>security goals </a:t>
            </a:r>
            <a:r>
              <a:rPr lang="en-US" dirty="0"/>
              <a:t>(</a:t>
            </a:r>
            <a:r>
              <a:rPr lang="en-US" dirty="0">
                <a:solidFill>
                  <a:srgbClr val="FF0000"/>
                </a:solidFill>
              </a:rPr>
              <a:t>CIA</a:t>
            </a:r>
            <a:r>
              <a:rPr lang="en-US" dirty="0"/>
              <a:t>) but also have these goals relate to various </a:t>
            </a:r>
            <a:r>
              <a:rPr lang="en-US" dirty="0">
                <a:solidFill>
                  <a:srgbClr val="FF0000"/>
                </a:solidFill>
              </a:rPr>
              <a:t>states</a:t>
            </a:r>
            <a:r>
              <a:rPr lang="en-US" dirty="0"/>
              <a:t> in which information resides and full range of available </a:t>
            </a:r>
            <a:r>
              <a:rPr lang="en-US" dirty="0">
                <a:solidFill>
                  <a:srgbClr val="FF0000"/>
                </a:solidFill>
              </a:rPr>
              <a:t>security measures</a:t>
            </a:r>
            <a:r>
              <a:rPr lang="en-US" dirty="0"/>
              <a:t>.</a:t>
            </a:r>
          </a:p>
        </p:txBody>
      </p:sp>
      <p:pic>
        <p:nvPicPr>
          <p:cNvPr id="2050" name="Picture 2" descr="CNSS Security Model (cont.) most challenging to protect - PDF Free Download">
            <a:extLst>
              <a:ext uri="{FF2B5EF4-FFF2-40B4-BE49-F238E27FC236}">
                <a16:creationId xmlns:a16="http://schemas.microsoft.com/office/drawing/2014/main" id="{784376B6-4E31-1F22-4FCA-EF8474CD3C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6536" y="1152425"/>
            <a:ext cx="2835764" cy="3017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302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3BA76-9DF0-5362-CB7B-80BA174EE4FF}"/>
              </a:ext>
            </a:extLst>
          </p:cNvPr>
          <p:cNvSpPr>
            <a:spLocks noGrp="1"/>
          </p:cNvSpPr>
          <p:nvPr>
            <p:ph type="title"/>
          </p:nvPr>
        </p:nvSpPr>
        <p:spPr/>
        <p:txBody>
          <a:bodyPr>
            <a:normAutofit fontScale="90000"/>
          </a:bodyPr>
          <a:lstStyle/>
          <a:p>
            <a:r>
              <a:rPr lang="en-US" dirty="0"/>
              <a:t>CNSS Security Model</a:t>
            </a:r>
          </a:p>
        </p:txBody>
      </p:sp>
      <p:sp>
        <p:nvSpPr>
          <p:cNvPr id="3" name="Text Placeholder 2">
            <a:extLst>
              <a:ext uri="{FF2B5EF4-FFF2-40B4-BE49-F238E27FC236}">
                <a16:creationId xmlns:a16="http://schemas.microsoft.com/office/drawing/2014/main" id="{EFD8E0A5-64E6-C815-C5A0-06E645987872}"/>
              </a:ext>
            </a:extLst>
          </p:cNvPr>
          <p:cNvSpPr>
            <a:spLocks noGrp="1"/>
          </p:cNvSpPr>
          <p:nvPr>
            <p:ph type="body" idx="1"/>
          </p:nvPr>
        </p:nvSpPr>
        <p:spPr/>
        <p:txBody>
          <a:bodyPr/>
          <a:lstStyle/>
          <a:p>
            <a:pPr marL="114300" indent="0">
              <a:buNone/>
            </a:pPr>
            <a:r>
              <a:rPr lang="en-US" dirty="0"/>
              <a:t>Different groups within an organization may be responsible for data in each of the various states.</a:t>
            </a:r>
          </a:p>
          <a:p>
            <a:r>
              <a:rPr lang="en-US" dirty="0"/>
              <a:t>For example, the network security group is responsible for data during transmission.</a:t>
            </a:r>
          </a:p>
          <a:p>
            <a:r>
              <a:rPr lang="en-US" dirty="0"/>
              <a:t>Programmers and data entry people are responsible for data during processing.</a:t>
            </a:r>
          </a:p>
        </p:txBody>
      </p:sp>
    </p:spTree>
    <p:extLst>
      <p:ext uri="{BB962C8B-B14F-4D97-AF65-F5344CB8AC3E}">
        <p14:creationId xmlns:p14="http://schemas.microsoft.com/office/powerpoint/2010/main" val="3895827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87D5C-460B-61FF-93EE-90453A54A5BC}"/>
              </a:ext>
            </a:extLst>
          </p:cNvPr>
          <p:cNvSpPr>
            <a:spLocks noGrp="1"/>
          </p:cNvSpPr>
          <p:nvPr>
            <p:ph type="title"/>
          </p:nvPr>
        </p:nvSpPr>
        <p:spPr/>
        <p:txBody>
          <a:bodyPr>
            <a:normAutofit fontScale="90000"/>
          </a:bodyPr>
          <a:lstStyle/>
          <a:p>
            <a:r>
              <a:rPr lang="en-US" dirty="0"/>
              <a:t>Aspects of Information Security</a:t>
            </a:r>
          </a:p>
        </p:txBody>
      </p:sp>
      <p:sp>
        <p:nvSpPr>
          <p:cNvPr id="3" name="Text Placeholder 2">
            <a:extLst>
              <a:ext uri="{FF2B5EF4-FFF2-40B4-BE49-F238E27FC236}">
                <a16:creationId xmlns:a16="http://schemas.microsoft.com/office/drawing/2014/main" id="{EB6E63FA-207B-850B-8109-1E8DEB90D129}"/>
              </a:ext>
            </a:extLst>
          </p:cNvPr>
          <p:cNvSpPr>
            <a:spLocks noGrp="1"/>
          </p:cNvSpPr>
          <p:nvPr>
            <p:ph type="body" idx="1"/>
          </p:nvPr>
        </p:nvSpPr>
        <p:spPr/>
        <p:txBody>
          <a:bodyPr/>
          <a:lstStyle/>
          <a:p>
            <a:pPr marL="114300" indent="0">
              <a:buNone/>
            </a:pPr>
            <a:r>
              <a:rPr lang="en-US" dirty="0"/>
              <a:t>Consider 3 aspects of information security</a:t>
            </a:r>
          </a:p>
          <a:p>
            <a:endParaRPr lang="en-US" dirty="0"/>
          </a:p>
          <a:p>
            <a:pPr lvl="1"/>
            <a:r>
              <a:rPr lang="en-US" dirty="0"/>
              <a:t>Security Attack </a:t>
            </a:r>
          </a:p>
          <a:p>
            <a:pPr lvl="1"/>
            <a:r>
              <a:rPr lang="en-US" dirty="0"/>
              <a:t>Security Service</a:t>
            </a:r>
          </a:p>
          <a:p>
            <a:pPr lvl="1"/>
            <a:r>
              <a:rPr lang="en-US" dirty="0"/>
              <a:t>Security Mechanism</a:t>
            </a:r>
          </a:p>
        </p:txBody>
      </p:sp>
    </p:spTree>
    <p:extLst>
      <p:ext uri="{BB962C8B-B14F-4D97-AF65-F5344CB8AC3E}">
        <p14:creationId xmlns:p14="http://schemas.microsoft.com/office/powerpoint/2010/main" val="1216243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352D6-6D5B-7749-195D-041F6CABA990}"/>
              </a:ext>
            </a:extLst>
          </p:cNvPr>
          <p:cNvSpPr>
            <a:spLocks noGrp="1"/>
          </p:cNvSpPr>
          <p:nvPr>
            <p:ph type="title"/>
          </p:nvPr>
        </p:nvSpPr>
        <p:spPr/>
        <p:txBody>
          <a:bodyPr>
            <a:normAutofit fontScale="90000"/>
          </a:bodyPr>
          <a:lstStyle/>
          <a:p>
            <a:r>
              <a:rPr lang="en-US" dirty="0"/>
              <a:t>Security Attacks</a:t>
            </a:r>
          </a:p>
        </p:txBody>
      </p:sp>
      <p:sp>
        <p:nvSpPr>
          <p:cNvPr id="3" name="Text Placeholder 2">
            <a:extLst>
              <a:ext uri="{FF2B5EF4-FFF2-40B4-BE49-F238E27FC236}">
                <a16:creationId xmlns:a16="http://schemas.microsoft.com/office/drawing/2014/main" id="{AD2646C9-5CC7-BCBD-8B52-B7B896C3E3E1}"/>
              </a:ext>
            </a:extLst>
          </p:cNvPr>
          <p:cNvSpPr>
            <a:spLocks noGrp="1"/>
          </p:cNvSpPr>
          <p:nvPr>
            <p:ph type="body" idx="1"/>
          </p:nvPr>
        </p:nvSpPr>
        <p:spPr/>
        <p:txBody>
          <a:bodyPr/>
          <a:lstStyle/>
          <a:p>
            <a:r>
              <a:rPr lang="en-US" dirty="0"/>
              <a:t>Any action that compromises the security of information owned by an organization </a:t>
            </a:r>
          </a:p>
          <a:p>
            <a:r>
              <a:rPr lang="en-US" dirty="0"/>
              <a:t>Information Security is about how to prevent attacks, or failing that, to detect attacks on information-based systems </a:t>
            </a:r>
          </a:p>
          <a:p>
            <a:r>
              <a:rPr lang="en-US" dirty="0"/>
              <a:t>Often threat &amp; attack used to mean same thing have a wide range of attacks </a:t>
            </a:r>
          </a:p>
          <a:p>
            <a:r>
              <a:rPr lang="en-US" dirty="0"/>
              <a:t>can focus of generic types of attacks </a:t>
            </a:r>
          </a:p>
          <a:p>
            <a:pPr lvl="1"/>
            <a:r>
              <a:rPr lang="en-US" dirty="0"/>
              <a:t>passive </a:t>
            </a:r>
          </a:p>
          <a:p>
            <a:pPr lvl="1"/>
            <a:r>
              <a:rPr lang="en-US" dirty="0"/>
              <a:t>active</a:t>
            </a:r>
          </a:p>
        </p:txBody>
      </p:sp>
    </p:spTree>
    <p:extLst>
      <p:ext uri="{BB962C8B-B14F-4D97-AF65-F5344CB8AC3E}">
        <p14:creationId xmlns:p14="http://schemas.microsoft.com/office/powerpoint/2010/main" val="3849042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A2C91-4F5C-5A3D-CDF6-8BABC8D59107}"/>
              </a:ext>
            </a:extLst>
          </p:cNvPr>
          <p:cNvSpPr>
            <a:spLocks noGrp="1"/>
          </p:cNvSpPr>
          <p:nvPr>
            <p:ph type="title"/>
          </p:nvPr>
        </p:nvSpPr>
        <p:spPr/>
        <p:txBody>
          <a:bodyPr>
            <a:normAutofit fontScale="90000"/>
          </a:bodyPr>
          <a:lstStyle/>
          <a:p>
            <a:r>
              <a:rPr lang="en-US" dirty="0"/>
              <a:t>Passive Attack</a:t>
            </a:r>
          </a:p>
        </p:txBody>
      </p:sp>
      <p:pic>
        <p:nvPicPr>
          <p:cNvPr id="5" name="Picture 4">
            <a:extLst>
              <a:ext uri="{FF2B5EF4-FFF2-40B4-BE49-F238E27FC236}">
                <a16:creationId xmlns:a16="http://schemas.microsoft.com/office/drawing/2014/main" id="{3CFAAD50-20DF-0727-0A70-C0E14635F59A}"/>
              </a:ext>
            </a:extLst>
          </p:cNvPr>
          <p:cNvPicPr>
            <a:picLocks noChangeAspect="1"/>
          </p:cNvPicPr>
          <p:nvPr/>
        </p:nvPicPr>
        <p:blipFill rotWithShape="1">
          <a:blip r:embed="rId2"/>
          <a:srcRect l="31112" t="30693" r="12735" b="16277"/>
          <a:stretch/>
        </p:blipFill>
        <p:spPr>
          <a:xfrm>
            <a:off x="1637323" y="1429128"/>
            <a:ext cx="6154616" cy="3269347"/>
          </a:xfrm>
          <a:prstGeom prst="rect">
            <a:avLst/>
          </a:prstGeom>
        </p:spPr>
      </p:pic>
    </p:spTree>
    <p:extLst>
      <p:ext uri="{BB962C8B-B14F-4D97-AF65-F5344CB8AC3E}">
        <p14:creationId xmlns:p14="http://schemas.microsoft.com/office/powerpoint/2010/main" val="2737312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5DC48-0C4F-71A7-0085-7804C385B7CA}"/>
              </a:ext>
            </a:extLst>
          </p:cNvPr>
          <p:cNvSpPr>
            <a:spLocks noGrp="1"/>
          </p:cNvSpPr>
          <p:nvPr>
            <p:ph type="title"/>
          </p:nvPr>
        </p:nvSpPr>
        <p:spPr/>
        <p:txBody>
          <a:bodyPr>
            <a:normAutofit fontScale="90000"/>
          </a:bodyPr>
          <a:lstStyle/>
          <a:p>
            <a:r>
              <a:rPr lang="en-US" dirty="0"/>
              <a:t>Active Attack</a:t>
            </a:r>
          </a:p>
        </p:txBody>
      </p:sp>
      <p:pic>
        <p:nvPicPr>
          <p:cNvPr id="5" name="Picture 4">
            <a:extLst>
              <a:ext uri="{FF2B5EF4-FFF2-40B4-BE49-F238E27FC236}">
                <a16:creationId xmlns:a16="http://schemas.microsoft.com/office/drawing/2014/main" id="{E65369D4-A8D5-B1ED-1A41-0B8E4BA3E3AB}"/>
              </a:ext>
            </a:extLst>
          </p:cNvPr>
          <p:cNvPicPr>
            <a:picLocks noChangeAspect="1"/>
          </p:cNvPicPr>
          <p:nvPr/>
        </p:nvPicPr>
        <p:blipFill rotWithShape="1">
          <a:blip r:embed="rId2"/>
          <a:srcRect l="30940" t="32365" r="12906" b="17037"/>
          <a:stretch/>
        </p:blipFill>
        <p:spPr>
          <a:xfrm>
            <a:off x="1438029" y="1219200"/>
            <a:ext cx="6568725" cy="3329354"/>
          </a:xfrm>
          <a:prstGeom prst="rect">
            <a:avLst/>
          </a:prstGeom>
        </p:spPr>
      </p:pic>
    </p:spTree>
    <p:extLst>
      <p:ext uri="{BB962C8B-B14F-4D97-AF65-F5344CB8AC3E}">
        <p14:creationId xmlns:p14="http://schemas.microsoft.com/office/powerpoint/2010/main" val="2469355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E36CF-E3F3-465D-DB79-81D3BB6E78CA}"/>
              </a:ext>
            </a:extLst>
          </p:cNvPr>
          <p:cNvSpPr>
            <a:spLocks noGrp="1"/>
          </p:cNvSpPr>
          <p:nvPr>
            <p:ph type="title"/>
          </p:nvPr>
        </p:nvSpPr>
        <p:spPr/>
        <p:txBody>
          <a:bodyPr>
            <a:normAutofit fontScale="90000"/>
          </a:bodyPr>
          <a:lstStyle/>
          <a:p>
            <a:r>
              <a:rPr lang="en-US" dirty="0"/>
              <a:t>Types of Attacks</a:t>
            </a:r>
          </a:p>
        </p:txBody>
      </p:sp>
      <p:pic>
        <p:nvPicPr>
          <p:cNvPr id="5" name="Picture 4">
            <a:extLst>
              <a:ext uri="{FF2B5EF4-FFF2-40B4-BE49-F238E27FC236}">
                <a16:creationId xmlns:a16="http://schemas.microsoft.com/office/drawing/2014/main" id="{B10A4566-6A61-5966-4B10-87EBDE32FA45}"/>
              </a:ext>
            </a:extLst>
          </p:cNvPr>
          <p:cNvPicPr>
            <a:picLocks noChangeAspect="1"/>
          </p:cNvPicPr>
          <p:nvPr/>
        </p:nvPicPr>
        <p:blipFill rotWithShape="1">
          <a:blip r:embed="rId2"/>
          <a:srcRect l="29829" t="46192" r="12222" b="16581"/>
          <a:stretch/>
        </p:blipFill>
        <p:spPr>
          <a:xfrm>
            <a:off x="935167" y="1523999"/>
            <a:ext cx="7439992" cy="2688493"/>
          </a:xfrm>
          <a:prstGeom prst="rect">
            <a:avLst/>
          </a:prstGeom>
        </p:spPr>
      </p:pic>
    </p:spTree>
    <p:extLst>
      <p:ext uri="{BB962C8B-B14F-4D97-AF65-F5344CB8AC3E}">
        <p14:creationId xmlns:p14="http://schemas.microsoft.com/office/powerpoint/2010/main" val="3514239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C6F6C-CD99-27A5-AB92-526CF9C9ADC0}"/>
              </a:ext>
            </a:extLst>
          </p:cNvPr>
          <p:cNvSpPr>
            <a:spLocks noGrp="1"/>
          </p:cNvSpPr>
          <p:nvPr>
            <p:ph type="title"/>
          </p:nvPr>
        </p:nvSpPr>
        <p:spPr/>
        <p:txBody>
          <a:bodyPr>
            <a:normAutofit fontScale="90000"/>
          </a:bodyPr>
          <a:lstStyle/>
          <a:p>
            <a:r>
              <a:rPr lang="en-US" dirty="0"/>
              <a:t>Security Service</a:t>
            </a:r>
          </a:p>
        </p:txBody>
      </p:sp>
      <p:sp>
        <p:nvSpPr>
          <p:cNvPr id="3" name="Text Placeholder 2">
            <a:extLst>
              <a:ext uri="{FF2B5EF4-FFF2-40B4-BE49-F238E27FC236}">
                <a16:creationId xmlns:a16="http://schemas.microsoft.com/office/drawing/2014/main" id="{1CCBD849-C031-DAFC-47AC-CBEE8EE90542}"/>
              </a:ext>
            </a:extLst>
          </p:cNvPr>
          <p:cNvSpPr>
            <a:spLocks noGrp="1"/>
          </p:cNvSpPr>
          <p:nvPr>
            <p:ph type="body" idx="1"/>
          </p:nvPr>
        </p:nvSpPr>
        <p:spPr/>
        <p:txBody>
          <a:bodyPr/>
          <a:lstStyle/>
          <a:p>
            <a:r>
              <a:rPr lang="en-US" dirty="0"/>
              <a:t>Enhance security of data processing systems and information transfers of an organization </a:t>
            </a:r>
          </a:p>
          <a:p>
            <a:r>
              <a:rPr lang="en-US" dirty="0"/>
              <a:t>intended to counter security attacks </a:t>
            </a:r>
          </a:p>
          <a:p>
            <a:r>
              <a:rPr lang="en-US" dirty="0"/>
              <a:t>using one or more security mechanisms </a:t>
            </a:r>
          </a:p>
          <a:p>
            <a:r>
              <a:rPr lang="en-US" dirty="0"/>
              <a:t>often replicates functions normally associated with physical documents</a:t>
            </a:r>
          </a:p>
          <a:p>
            <a:pPr lvl="1"/>
            <a:endParaRPr lang="en-US" dirty="0"/>
          </a:p>
          <a:p>
            <a:pPr lvl="1"/>
            <a:r>
              <a:rPr lang="en-US" dirty="0"/>
              <a:t>for example, have signatures, dates; need protection from disclosure, tampering, or destruction; be notarized or witnessed; be recorded or licensed</a:t>
            </a:r>
          </a:p>
        </p:txBody>
      </p:sp>
    </p:spTree>
    <p:extLst>
      <p:ext uri="{BB962C8B-B14F-4D97-AF65-F5344CB8AC3E}">
        <p14:creationId xmlns:p14="http://schemas.microsoft.com/office/powerpoint/2010/main" val="926428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A048F-8CA1-6EB4-06F1-EEF49A4D7A60}"/>
              </a:ext>
            </a:extLst>
          </p:cNvPr>
          <p:cNvSpPr>
            <a:spLocks noGrp="1"/>
          </p:cNvSpPr>
          <p:nvPr>
            <p:ph type="title"/>
          </p:nvPr>
        </p:nvSpPr>
        <p:spPr/>
        <p:txBody>
          <a:bodyPr>
            <a:normAutofit fontScale="90000"/>
          </a:bodyPr>
          <a:lstStyle/>
          <a:p>
            <a:r>
              <a:rPr lang="en-US" dirty="0"/>
              <a:t>Security Services</a:t>
            </a:r>
          </a:p>
        </p:txBody>
      </p:sp>
      <p:pic>
        <p:nvPicPr>
          <p:cNvPr id="5" name="Picture 4">
            <a:extLst>
              <a:ext uri="{FF2B5EF4-FFF2-40B4-BE49-F238E27FC236}">
                <a16:creationId xmlns:a16="http://schemas.microsoft.com/office/drawing/2014/main" id="{15858392-F54A-DD48-AE7A-3CB953EB5626}"/>
              </a:ext>
            </a:extLst>
          </p:cNvPr>
          <p:cNvPicPr>
            <a:picLocks noChangeAspect="1"/>
          </p:cNvPicPr>
          <p:nvPr/>
        </p:nvPicPr>
        <p:blipFill rotWithShape="1">
          <a:blip r:embed="rId2"/>
          <a:srcRect l="28719" t="41026" r="9743" b="20532"/>
          <a:stretch/>
        </p:blipFill>
        <p:spPr>
          <a:xfrm>
            <a:off x="828429" y="1573429"/>
            <a:ext cx="7651047" cy="2688492"/>
          </a:xfrm>
          <a:prstGeom prst="rect">
            <a:avLst/>
          </a:prstGeom>
        </p:spPr>
      </p:pic>
    </p:spTree>
    <p:extLst>
      <p:ext uri="{BB962C8B-B14F-4D97-AF65-F5344CB8AC3E}">
        <p14:creationId xmlns:p14="http://schemas.microsoft.com/office/powerpoint/2010/main" val="932149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289AB-89B1-ECC5-2112-BC7B6E65B506}"/>
              </a:ext>
            </a:extLst>
          </p:cNvPr>
          <p:cNvSpPr>
            <a:spLocks noGrp="1"/>
          </p:cNvSpPr>
          <p:nvPr>
            <p:ph type="title"/>
          </p:nvPr>
        </p:nvSpPr>
        <p:spPr/>
        <p:txBody>
          <a:bodyPr>
            <a:normAutofit fontScale="90000"/>
          </a:bodyPr>
          <a:lstStyle/>
          <a:p>
            <a:r>
              <a:rPr lang="en-US" dirty="0"/>
              <a:t>Security Services</a:t>
            </a:r>
          </a:p>
        </p:txBody>
      </p:sp>
      <p:sp>
        <p:nvSpPr>
          <p:cNvPr id="3" name="Text Placeholder 2">
            <a:extLst>
              <a:ext uri="{FF2B5EF4-FFF2-40B4-BE49-F238E27FC236}">
                <a16:creationId xmlns:a16="http://schemas.microsoft.com/office/drawing/2014/main" id="{B0B86427-CB39-8E59-34E3-3A361648E414}"/>
              </a:ext>
            </a:extLst>
          </p:cNvPr>
          <p:cNvSpPr>
            <a:spLocks noGrp="1"/>
          </p:cNvSpPr>
          <p:nvPr>
            <p:ph type="body" idx="1"/>
          </p:nvPr>
        </p:nvSpPr>
        <p:spPr/>
        <p:txBody>
          <a:bodyPr/>
          <a:lstStyle/>
          <a:p>
            <a:r>
              <a:rPr lang="en-US" dirty="0"/>
              <a:t>Authentication - assurance that the communicating entity is the one claimed </a:t>
            </a:r>
          </a:p>
          <a:p>
            <a:r>
              <a:rPr lang="en-US" dirty="0"/>
              <a:t>Access Control - prevention of the unauthorized use of a resource </a:t>
            </a:r>
          </a:p>
          <a:p>
            <a:r>
              <a:rPr lang="en-US" dirty="0"/>
              <a:t>Data Confidentiality –protection of data from unauthorized disclosure </a:t>
            </a:r>
          </a:p>
          <a:p>
            <a:r>
              <a:rPr lang="en-US" dirty="0"/>
              <a:t>Data Integrity - assurance that data received is as sent by an authorized entity </a:t>
            </a:r>
          </a:p>
          <a:p>
            <a:r>
              <a:rPr lang="en-US" dirty="0"/>
              <a:t>Non-Repudiation - protection against denial by one of the parties in a communication</a:t>
            </a:r>
          </a:p>
        </p:txBody>
      </p:sp>
    </p:spTree>
    <p:extLst>
      <p:ext uri="{BB962C8B-B14F-4D97-AF65-F5344CB8AC3E}">
        <p14:creationId xmlns:p14="http://schemas.microsoft.com/office/powerpoint/2010/main" val="3860423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111-5D61-10F4-23A3-213CCA0B6A48}"/>
              </a:ext>
            </a:extLst>
          </p:cNvPr>
          <p:cNvSpPr>
            <a:spLocks noGrp="1"/>
          </p:cNvSpPr>
          <p:nvPr>
            <p:ph type="title"/>
          </p:nvPr>
        </p:nvSpPr>
        <p:spPr/>
        <p:txBody>
          <a:bodyPr>
            <a:normAutofit fontScale="90000"/>
          </a:bodyPr>
          <a:lstStyle/>
          <a:p>
            <a:r>
              <a:rPr lang="en-US" dirty="0"/>
              <a:t>Security Mechanism</a:t>
            </a:r>
          </a:p>
        </p:txBody>
      </p:sp>
      <p:sp>
        <p:nvSpPr>
          <p:cNvPr id="3" name="Text Placeholder 2">
            <a:extLst>
              <a:ext uri="{FF2B5EF4-FFF2-40B4-BE49-F238E27FC236}">
                <a16:creationId xmlns:a16="http://schemas.microsoft.com/office/drawing/2014/main" id="{45D8EBFD-0C57-0E55-66C1-650943D2C753}"/>
              </a:ext>
            </a:extLst>
          </p:cNvPr>
          <p:cNvSpPr>
            <a:spLocks noGrp="1"/>
          </p:cNvSpPr>
          <p:nvPr>
            <p:ph type="body" idx="1"/>
          </p:nvPr>
        </p:nvSpPr>
        <p:spPr/>
        <p:txBody>
          <a:bodyPr/>
          <a:lstStyle/>
          <a:p>
            <a:r>
              <a:rPr lang="en-US" dirty="0"/>
              <a:t>feature designed to detect, prevent, or recover from a security attack </a:t>
            </a:r>
          </a:p>
          <a:p>
            <a:pPr algn="just"/>
            <a:r>
              <a:rPr lang="en-US" dirty="0"/>
              <a:t>no single mechanism that will support all services required </a:t>
            </a:r>
          </a:p>
          <a:p>
            <a:r>
              <a:rPr lang="en-US" dirty="0"/>
              <a:t>however one particular element underlies many of the security mechanisms in use: </a:t>
            </a:r>
          </a:p>
          <a:p>
            <a:endParaRPr lang="en-US" dirty="0"/>
          </a:p>
          <a:p>
            <a:pPr lvl="1"/>
            <a:r>
              <a:rPr lang="en-US" dirty="0"/>
              <a:t>cryptographic techniques</a:t>
            </a:r>
          </a:p>
        </p:txBody>
      </p:sp>
    </p:spTree>
    <p:extLst>
      <p:ext uri="{BB962C8B-B14F-4D97-AF65-F5344CB8AC3E}">
        <p14:creationId xmlns:p14="http://schemas.microsoft.com/office/powerpoint/2010/main" val="3805931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2D7A1-5BB5-E358-C12A-A8C973E082F0}"/>
              </a:ext>
            </a:extLst>
          </p:cNvPr>
          <p:cNvSpPr>
            <a:spLocks noGrp="1"/>
          </p:cNvSpPr>
          <p:nvPr>
            <p:ph type="title"/>
          </p:nvPr>
        </p:nvSpPr>
        <p:spPr/>
        <p:txBody>
          <a:bodyPr>
            <a:normAutofit fontScale="90000"/>
          </a:bodyPr>
          <a:lstStyle/>
          <a:p>
            <a:r>
              <a:rPr lang="en-US" dirty="0"/>
              <a:t>Security Mechanisms</a:t>
            </a:r>
          </a:p>
        </p:txBody>
      </p:sp>
      <p:pic>
        <p:nvPicPr>
          <p:cNvPr id="5" name="Picture 4">
            <a:extLst>
              <a:ext uri="{FF2B5EF4-FFF2-40B4-BE49-F238E27FC236}">
                <a16:creationId xmlns:a16="http://schemas.microsoft.com/office/drawing/2014/main" id="{E630A3CD-988D-9E40-C293-7D941218C05F}"/>
              </a:ext>
            </a:extLst>
          </p:cNvPr>
          <p:cNvPicPr>
            <a:picLocks noChangeAspect="1"/>
          </p:cNvPicPr>
          <p:nvPr/>
        </p:nvPicPr>
        <p:blipFill rotWithShape="1">
          <a:blip r:embed="rId2"/>
          <a:srcRect l="29316" t="50000" r="11112" b="21444"/>
          <a:stretch/>
        </p:blipFill>
        <p:spPr>
          <a:xfrm>
            <a:off x="876443" y="1985108"/>
            <a:ext cx="7391114" cy="2227384"/>
          </a:xfrm>
          <a:prstGeom prst="rect">
            <a:avLst/>
          </a:prstGeom>
        </p:spPr>
      </p:pic>
    </p:spTree>
    <p:extLst>
      <p:ext uri="{BB962C8B-B14F-4D97-AF65-F5344CB8AC3E}">
        <p14:creationId xmlns:p14="http://schemas.microsoft.com/office/powerpoint/2010/main" val="18546377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46408-1193-D791-FE72-4E1A77D86EC6}"/>
              </a:ext>
            </a:extLst>
          </p:cNvPr>
          <p:cNvSpPr>
            <a:spLocks noGrp="1"/>
          </p:cNvSpPr>
          <p:nvPr>
            <p:ph type="title"/>
          </p:nvPr>
        </p:nvSpPr>
        <p:spPr/>
        <p:txBody>
          <a:bodyPr>
            <a:normAutofit fontScale="90000"/>
          </a:bodyPr>
          <a:lstStyle/>
          <a:p>
            <a:r>
              <a:rPr lang="en-US" dirty="0"/>
              <a:t>Security Mechanisms</a:t>
            </a:r>
          </a:p>
        </p:txBody>
      </p:sp>
      <p:sp>
        <p:nvSpPr>
          <p:cNvPr id="3" name="Text Placeholder 2">
            <a:extLst>
              <a:ext uri="{FF2B5EF4-FFF2-40B4-BE49-F238E27FC236}">
                <a16:creationId xmlns:a16="http://schemas.microsoft.com/office/drawing/2014/main" id="{D0D54F13-962B-3A6D-BCB3-E7F706670CEB}"/>
              </a:ext>
            </a:extLst>
          </p:cNvPr>
          <p:cNvSpPr>
            <a:spLocks noGrp="1"/>
          </p:cNvSpPr>
          <p:nvPr>
            <p:ph type="body" idx="1"/>
          </p:nvPr>
        </p:nvSpPr>
        <p:spPr/>
        <p:txBody>
          <a:bodyPr/>
          <a:lstStyle/>
          <a:p>
            <a:pPr algn="just">
              <a:buFont typeface="+mj-lt"/>
              <a:buAutoNum type="arabicPeriod"/>
            </a:pPr>
            <a:r>
              <a:rPr lang="en-US" b="1" dirty="0"/>
              <a:t>Specific security mechanisms:</a:t>
            </a:r>
            <a:endParaRPr lang="en-US" b="1" i="0" dirty="0">
              <a:solidFill>
                <a:srgbClr val="040C28"/>
              </a:solidFill>
              <a:effectLst/>
              <a:latin typeface="Google Sans"/>
            </a:endParaRPr>
          </a:p>
          <a:p>
            <a:pPr lvl="1" algn="just"/>
            <a:r>
              <a:rPr lang="en-US" b="0" i="0" dirty="0">
                <a:solidFill>
                  <a:srgbClr val="040C28"/>
                </a:solidFill>
                <a:effectLst/>
                <a:latin typeface="Google Sans"/>
              </a:rPr>
              <a:t>A process (or a device compilation such a process) that is designed to identify, avoid, or restore from a security attack</a:t>
            </a:r>
            <a:r>
              <a:rPr lang="en-US" b="0" i="0" dirty="0">
                <a:solidFill>
                  <a:srgbClr val="4D5156"/>
                </a:solidFill>
                <a:effectLst/>
                <a:latin typeface="Google Sans"/>
              </a:rPr>
              <a:t>. </a:t>
            </a:r>
          </a:p>
          <a:p>
            <a:pPr lvl="1" algn="just"/>
            <a:r>
              <a:rPr lang="en-US" dirty="0">
                <a:solidFill>
                  <a:srgbClr val="4D5156"/>
                </a:solidFill>
                <a:latin typeface="Google Sans"/>
              </a:rPr>
              <a:t>For example, encipherment, digital signatures, access controls, data integrity, authentication exchange, traffic padding, routing control, notarization</a:t>
            </a:r>
          </a:p>
          <a:p>
            <a:pPr marL="596900" lvl="1" indent="0" algn="just">
              <a:buNone/>
            </a:pPr>
            <a:endParaRPr lang="en-US" dirty="0">
              <a:solidFill>
                <a:srgbClr val="4D5156"/>
              </a:solidFill>
              <a:latin typeface="Google Sans"/>
            </a:endParaRPr>
          </a:p>
          <a:p>
            <a:pPr marL="114300" indent="0" algn="just">
              <a:buNone/>
            </a:pPr>
            <a:r>
              <a:rPr lang="en-US" b="1" dirty="0"/>
              <a:t>2. Pervasive security mechanisms:</a:t>
            </a:r>
          </a:p>
          <a:p>
            <a:pPr marL="857250" lvl="1" indent="-285750" algn="just"/>
            <a:r>
              <a:rPr lang="en-US" dirty="0">
                <a:latin typeface="Google Sans"/>
              </a:rPr>
              <a:t>Pervasive Security or Passive Security mechanisms are those which cannot be specific to particular services and are in general directly related to the level of security required.</a:t>
            </a:r>
          </a:p>
          <a:p>
            <a:pPr marL="857250" lvl="1" indent="-285750" algn="just"/>
            <a:r>
              <a:rPr lang="en-US" dirty="0">
                <a:latin typeface="Google Sans"/>
              </a:rPr>
              <a:t>For example, trusted functionality, security labels, event detection, security audit trails, security recovery</a:t>
            </a:r>
          </a:p>
        </p:txBody>
      </p:sp>
    </p:spTree>
    <p:extLst>
      <p:ext uri="{BB962C8B-B14F-4D97-AF65-F5344CB8AC3E}">
        <p14:creationId xmlns:p14="http://schemas.microsoft.com/office/powerpoint/2010/main" val="3328190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855E-D8F3-3D79-4E44-7D9FE3BFA731}"/>
              </a:ext>
            </a:extLst>
          </p:cNvPr>
          <p:cNvSpPr>
            <a:spLocks noGrp="1"/>
          </p:cNvSpPr>
          <p:nvPr>
            <p:ph type="title"/>
          </p:nvPr>
        </p:nvSpPr>
        <p:spPr>
          <a:xfrm>
            <a:off x="3258100" y="1953394"/>
            <a:ext cx="2486208" cy="707400"/>
          </a:xfrm>
        </p:spPr>
        <p:txBody>
          <a:bodyPr>
            <a:normAutofit fontScale="90000"/>
          </a:bodyPr>
          <a:lstStyle/>
          <a:p>
            <a:r>
              <a:rPr lang="en-US" dirty="0"/>
              <a:t>Thank you!</a:t>
            </a:r>
          </a:p>
        </p:txBody>
      </p:sp>
    </p:spTree>
    <p:extLst>
      <p:ext uri="{BB962C8B-B14F-4D97-AF65-F5344CB8AC3E}">
        <p14:creationId xmlns:p14="http://schemas.microsoft.com/office/powerpoint/2010/main" val="4152910283"/>
      </p:ext>
    </p:extLst>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500</TotalTime>
  <Words>2325</Words>
  <Application>Microsoft Office PowerPoint</Application>
  <PresentationFormat>On-screen Show (16:9)</PresentationFormat>
  <Paragraphs>190</Paragraphs>
  <Slides>28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Söhne</vt:lpstr>
      <vt:lpstr>Google Sans</vt:lpstr>
      <vt:lpstr>Open Sans</vt:lpstr>
      <vt:lpstr>PT Sans Narrow</vt:lpstr>
      <vt:lpstr>Arial</vt:lpstr>
      <vt:lpstr>Tropic</vt:lpstr>
      <vt:lpstr>Information Security</vt:lpstr>
      <vt:lpstr>Course Objectives</vt:lpstr>
      <vt:lpstr>Course Assessments</vt:lpstr>
      <vt:lpstr>Books</vt:lpstr>
      <vt:lpstr>Your Best Strategy</vt:lpstr>
      <vt:lpstr>Lectures need your help!</vt:lpstr>
      <vt:lpstr>Reader’s Guide</vt:lpstr>
      <vt:lpstr>What is information?</vt:lpstr>
      <vt:lpstr>What is Security?</vt:lpstr>
      <vt:lpstr>What is Information Security?</vt:lpstr>
      <vt:lpstr>Critical Characteristics of Information</vt:lpstr>
      <vt:lpstr>Critical Characteristics of Information</vt:lpstr>
      <vt:lpstr>Subsets of Information Security</vt:lpstr>
      <vt:lpstr>CNSS Security Model</vt:lpstr>
      <vt:lpstr>CNSS Security Model</vt:lpstr>
      <vt:lpstr>CNSS Security Model</vt:lpstr>
      <vt:lpstr>Aspects of Information Security</vt:lpstr>
      <vt:lpstr>Security Attacks</vt:lpstr>
      <vt:lpstr>Passive Attack</vt:lpstr>
      <vt:lpstr>Active Attack</vt:lpstr>
      <vt:lpstr>Types of Attacks</vt:lpstr>
      <vt:lpstr>Security Service</vt:lpstr>
      <vt:lpstr>Security Services</vt:lpstr>
      <vt:lpstr>Security Services</vt:lpstr>
      <vt:lpstr>Security Mechanism</vt:lpstr>
      <vt:lpstr>Security Mechanisms</vt:lpstr>
      <vt:lpstr>Security Mechanisms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InformationSecurity</dc:title>
  <dc:creator>ayesha jarral</dc:creator>
  <cp:lastModifiedBy>ayesha jarral</cp:lastModifiedBy>
  <cp:revision>19</cp:revision>
  <dcterms:modified xsi:type="dcterms:W3CDTF">2024-09-09T11:48:04Z</dcterms:modified>
</cp:coreProperties>
</file>