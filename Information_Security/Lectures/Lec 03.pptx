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311" r:id="rId3"/>
    <p:sldId id="310" r:id="rId4"/>
    <p:sldId id="259" r:id="rId5"/>
    <p:sldId id="257" r:id="rId6"/>
    <p:sldId id="258" r:id="rId7"/>
    <p:sldId id="285" r:id="rId8"/>
    <p:sldId id="269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7" r:id="rId20"/>
    <p:sldId id="271" r:id="rId21"/>
    <p:sldId id="298" r:id="rId22"/>
    <p:sldId id="299" r:id="rId23"/>
    <p:sldId id="300" r:id="rId24"/>
    <p:sldId id="301" r:id="rId25"/>
    <p:sldId id="302" r:id="rId26"/>
    <p:sldId id="303" r:id="rId27"/>
    <p:sldId id="305" r:id="rId28"/>
    <p:sldId id="306" r:id="rId29"/>
    <p:sldId id="304" r:id="rId30"/>
    <p:sldId id="307" r:id="rId31"/>
    <p:sldId id="284" r:id="rId32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PT Sans Narrow" panose="020B0506020203020204" pitchFamily="3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51" autoAdjust="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en-US" dirty="0"/>
              <a:t>Steganography typically takes the data, divides it into smaller pieces, and hides these in unused portions of the file.</a:t>
            </a:r>
          </a:p>
          <a:p>
            <a:pPr marL="114300" indent="0" algn="just">
              <a:buNone/>
            </a:pPr>
            <a:r>
              <a:rPr lang="en-US" dirty="0"/>
              <a:t>Steganography may hide data the file header fields that describe the file, between sections of</a:t>
            </a:r>
          </a:p>
          <a:p>
            <a:pPr marL="114300" indent="0" algn="just">
              <a:buNone/>
            </a:pPr>
            <a:r>
              <a:rPr lang="en-US" dirty="0"/>
              <a:t>the metadata (data that is used to describe the content or structure of the actual data), or in the areas of a file that contain the content itself.</a:t>
            </a:r>
          </a:p>
          <a:p>
            <a:pPr marL="114300" indent="0" algn="just">
              <a:buNone/>
            </a:pPr>
            <a:r>
              <a:rPr lang="en-US" dirty="0"/>
              <a:t>Steganography can use a wide variety of file types image files, audio files, video files, etc.to hide messages and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080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b87e23839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b87e238397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950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452D-D9C9-0D21-BAA4-CE26F2F1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F52D6-F8BD-49A6-88A8-8AA204E80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B0FE9-D9E2-F260-9E07-7ACF13658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122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Information Security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Ms. Nabeela Bibi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00CE-CABC-6FC7-E65C-C08FE2DD7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cipher?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FBF2A-F527-62ED-3D3E-893A9EABF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In cryptology, the discipline concerned with the study of cryptographic algorithms, a cipher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an algorithm for encrypting and decrypting data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Symmetric key encryption, also called secret key encryption, depends on the use of ciphers, which operate symmetrically.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04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7C22-1A40-2C74-3E20-5023F15C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Types/ Categories of Ciphers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BBC74-182E-EF82-02A9-59D6162FC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Traditionally, ciphers used these two main types of transformation: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Transposition ciphers</a:t>
            </a:r>
            <a:r>
              <a:rPr 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 keep all the original bits of data in a byte but mix their order.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Substitution ciphers</a:t>
            </a:r>
            <a:r>
              <a:rPr 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 replace specific data sequences with other data sequences. For example, one type of substitution would be to transform all bits with a value of 1 to a value of 0, and vice versa.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11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FF3A68-01C9-BF8A-E12D-946BE353250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2059" y="251616"/>
            <a:ext cx="8659881" cy="464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73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699" y="1266324"/>
            <a:ext cx="8636358" cy="35538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There are different categories of algorithms and within those different types.</a:t>
            </a:r>
          </a:p>
          <a:p>
            <a:pPr marL="285750" indent="-285750" algn="just">
              <a:spcAft>
                <a:spcPts val="1200"/>
              </a:spcAft>
            </a:pPr>
            <a:r>
              <a:rPr lang="en-US" dirty="0"/>
              <a:t>One category is a substitution cipher that substitutes one character for another. By substituting 1 for the letter A, 2 for the letter B, etc., the word security becomes 1804022017081924 (-1 for 1953211892025).</a:t>
            </a:r>
          </a:p>
          <a:p>
            <a:pPr marL="285750" indent="-285750" algn="just">
              <a:spcAft>
                <a:spcPts val="1200"/>
              </a:spcAft>
            </a:pPr>
            <a:r>
              <a:rPr lang="en-US" dirty="0"/>
              <a:t> One type of substitution cipher is a ROT13, in which the entire alphabet is rotated 13 steps: A=N, B=O, etc., so that the word security becomes </a:t>
            </a:r>
            <a:r>
              <a:rPr lang="en-US" dirty="0" err="1"/>
              <a:t>frphevgl</a:t>
            </a:r>
            <a:r>
              <a:rPr lang="en-US" dirty="0"/>
              <a:t>.</a:t>
            </a:r>
          </a:p>
          <a:p>
            <a:pPr marL="285750" indent="-285750" algn="just">
              <a:spcAft>
                <a:spcPts val="1200"/>
              </a:spcAft>
            </a:pPr>
            <a:r>
              <a:rPr lang="en-US" dirty="0"/>
              <a:t> Another common algorithm is the XOR cipher. This is based on the binary operation </a:t>
            </a:r>
            <a:r>
              <a:rPr lang="en-US" dirty="0" err="1"/>
              <a:t>eXclusive</a:t>
            </a:r>
            <a:r>
              <a:rPr lang="en-US" dirty="0"/>
              <a:t> OR that compares two bits: if the bits are different a 1 is returned, but if they are identical then a 0 is returned. For example, to encrypt the word security by “XOR-</a:t>
            </a:r>
            <a:r>
              <a:rPr lang="en-US" dirty="0" err="1"/>
              <a:t>ing</a:t>
            </a:r>
            <a:r>
              <a:rPr lang="en-US" dirty="0"/>
              <a:t>” it with the word flapjack the binary equivalent of the first letter s(01110011) is compared with that of the letter f (01100110) to return 00010101. Then the letter e is compared with the l, etc., followed by a comparison of each remaining letter.</a:t>
            </a:r>
          </a:p>
        </p:txBody>
      </p:sp>
      <p:sp>
        <p:nvSpPr>
          <p:cNvPr id="2" name="AutoShape 2" descr="BUSINESS png images | PNGEgg">
            <a:extLst>
              <a:ext uri="{FF2B5EF4-FFF2-40B4-BE49-F238E27FC236}">
                <a16:creationId xmlns:a16="http://schemas.microsoft.com/office/drawing/2014/main" id="{C9B269C7-0F84-654B-243A-E2CB80C23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E9841-8F70-6279-D040-B3D60ED9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Alphabet to Binary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AAE66-93D7-A556-B099-3D5355880B8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89120" y="181224"/>
            <a:ext cx="4168860" cy="478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0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B6669-AB7F-57EF-F338-C7D14A83C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7E43-D83B-280D-8614-7215E072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2415010" cy="1788724"/>
          </a:xfrm>
        </p:spPr>
        <p:txBody>
          <a:bodyPr>
            <a:normAutofit/>
          </a:bodyPr>
          <a:lstStyle/>
          <a:p>
            <a:r>
              <a:rPr lang="en-US" dirty="0"/>
              <a:t>Binary to </a:t>
            </a:r>
            <a:br>
              <a:rPr lang="en-US" dirty="0"/>
            </a:br>
            <a:r>
              <a:rPr lang="en-US" dirty="0"/>
              <a:t>Hexadecimal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A0F729-14F6-D414-5A8D-06FD9A68D4C2}"/>
              </a:ext>
            </a:extLst>
          </p:cNvPr>
          <p:cNvGrpSpPr/>
          <p:nvPr/>
        </p:nvGrpSpPr>
        <p:grpSpPr>
          <a:xfrm>
            <a:off x="3082834" y="322443"/>
            <a:ext cx="5931625" cy="4498613"/>
            <a:chOff x="0" y="0"/>
            <a:chExt cx="7970520" cy="58917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79A781E-67EA-CC89-B544-DF004461EF52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293108" cy="589178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B740957-3F50-81AD-BE65-74B04935B8C9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4771644" y="2337817"/>
              <a:ext cx="3198876" cy="2395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2511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6F6C-CD99-27A5-AB92-526CF9C9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ROT - 13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BD849-C031-DAFC-47AC-CBEE8EE90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69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ROT-13 cipher was commonly used to hide the meaning of messages on the Internet (particularly on Usenet and E-mail).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15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Each letter in the plaintext is substituted with the ciphertext letter according to the following mapping: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139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 : ABCDEFGHIJKLMNOPQRSTUVWXYZ • F(p) : NOPQRSTUVWXYZABCDEFGHIJKLM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15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225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Plaintext: 	THIS IS A SECRET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144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Ciphertext: 	GUVF VF N FRPERG</a:t>
            </a:r>
          </a:p>
        </p:txBody>
      </p:sp>
    </p:spTree>
    <p:extLst>
      <p:ext uri="{BB962C8B-B14F-4D97-AF65-F5344CB8AC3E}">
        <p14:creationId xmlns:p14="http://schemas.microsoft.com/office/powerpoint/2010/main" val="92642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FCA9-F86A-EE1E-1923-3E58066F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Caesar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1B24A-4E4F-971B-168E-12DBB2F0C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15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Roman emperor Julius Caesar used to substitute each letter in his diplomatic communications with the letter that was three letters further along in the alphabet.</a:t>
            </a:r>
          </a:p>
          <a:p>
            <a:pPr marL="342900" marR="0" lvl="0" indent="-342900" fontAlgn="base">
              <a:lnSpc>
                <a:spcPct val="105000"/>
              </a:lnSpc>
              <a:spcBef>
                <a:spcPts val="0"/>
              </a:spcBef>
              <a:spcAft>
                <a:spcPts val="75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 : ABCDEFGHIJKLMNOPQRSTUVWXYZ</a:t>
            </a:r>
          </a:p>
          <a:p>
            <a:pPr marL="342900" marR="0" lvl="0" indent="-342900" fontAlgn="base">
              <a:lnSpc>
                <a:spcPct val="105000"/>
              </a:lnSpc>
              <a:spcBef>
                <a:spcPts val="0"/>
              </a:spcBef>
              <a:spcAft>
                <a:spcPts val="446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F(p) : DEFGHIJKLMNOPQRSTUVWXYZABC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450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Plaintext: ET TU BRUTUS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15"/>
              </a:spcAft>
              <a:buClr>
                <a:srgbClr val="000000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Ciphertext: HW WX EUXWXV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89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D981-9FB0-8CDF-09A0-3D621E82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Affine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27B2C-73BE-78C1-B04D-A4A37945F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Affine cipher is a type of mono-alphabetic substitution cipher, wherein each letter in an alphabet is mapped to its numeric equivalent, encrypted using a simple mathematical function, and converted back to a letter</a:t>
            </a:r>
          </a:p>
          <a:p>
            <a:r>
              <a:rPr lang="en-US" dirty="0"/>
              <a:t>Encryption Function </a:t>
            </a:r>
          </a:p>
          <a:p>
            <a:pPr marL="11430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Decryption Function </a:t>
            </a:r>
          </a:p>
          <a:p>
            <a:pPr marL="11430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Here a and m must be coprime numbers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B16B86-C0A4-D885-4B7A-91B226B757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81496" y="2860765"/>
            <a:ext cx="2944223" cy="465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6A2474-62C6-EB1B-B2D3-06AE7474ACC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181496" y="3481940"/>
            <a:ext cx="3083923" cy="46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34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357E-A8BA-D6FA-4692-8041D061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Affine Cipher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77C3EB-FC8B-9343-2346-23F5BC3FA6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1700" y="1802674"/>
            <a:ext cx="8696597" cy="254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11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05B5-7A96-2359-4A07-8516575B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Affine Cipher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9273B-4CEB-C540-3C95-14CC37517C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5850" y="1724297"/>
            <a:ext cx="8832300" cy="233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38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787D5-7953-37C0-48DF-04ECFC79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to calculate mod 26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A788A-7B02-83AB-0D99-913B0D121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First divide the number by 26</a:t>
            </a:r>
          </a:p>
          <a:p>
            <a:r>
              <a:rPr lang="en-GB" dirty="0"/>
              <a:t>Minus the value before decimal point</a:t>
            </a:r>
          </a:p>
          <a:p>
            <a:r>
              <a:rPr lang="en-GB" dirty="0"/>
              <a:t>Then multiply by 26</a:t>
            </a:r>
          </a:p>
          <a:p>
            <a:r>
              <a:rPr lang="en-GB" dirty="0"/>
              <a:t>The answer will be remainder.</a:t>
            </a:r>
          </a:p>
          <a:p>
            <a:endParaRPr lang="en-GB" dirty="0"/>
          </a:p>
          <a:p>
            <a:r>
              <a:rPr lang="en-GB" dirty="0"/>
              <a:t>For example</a:t>
            </a:r>
          </a:p>
          <a:p>
            <a:r>
              <a:rPr lang="en-GB" dirty="0"/>
              <a:t>210 mod 26</a:t>
            </a:r>
          </a:p>
          <a:p>
            <a:r>
              <a:rPr lang="en-GB" dirty="0"/>
              <a:t>210/ 26 = 8.07</a:t>
            </a:r>
          </a:p>
          <a:p>
            <a:r>
              <a:rPr lang="en-GB" dirty="0"/>
              <a:t>-8</a:t>
            </a:r>
          </a:p>
          <a:p>
            <a:r>
              <a:rPr lang="en-GB" dirty="0"/>
              <a:t>Then multiple by 26</a:t>
            </a:r>
          </a:p>
          <a:p>
            <a:r>
              <a:rPr lang="en-GB" dirty="0"/>
              <a:t>The remainder is 2</a:t>
            </a:r>
          </a:p>
        </p:txBody>
      </p:sp>
    </p:spTree>
    <p:extLst>
      <p:ext uri="{BB962C8B-B14F-4D97-AF65-F5344CB8AC3E}">
        <p14:creationId xmlns:p14="http://schemas.microsoft.com/office/powerpoint/2010/main" val="357410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8C9CE-1F14-6543-C4A7-43E125EE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Transpositional Cipher: </a:t>
            </a:r>
            <a:r>
              <a:rPr lang="en-US" dirty="0" err="1"/>
              <a:t>Railfence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BFF84-D97B-B51A-8A91-419466D10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The plaintext is written down as a sequence of diagonals and then read off as a sequence of rows.</a:t>
            </a:r>
          </a:p>
          <a:p>
            <a:pPr algn="just"/>
            <a:r>
              <a:rPr lang="en-US" dirty="0"/>
              <a:t>For example, to encipher the message “meet me after the toga party” with a rail fence of depth 2, we write the following:</a:t>
            </a:r>
          </a:p>
          <a:p>
            <a:pPr marL="114300" indent="0" algn="just">
              <a:buNone/>
            </a:pPr>
            <a:r>
              <a:rPr lang="en-US" dirty="0"/>
              <a:t>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The encrypted message is</a:t>
            </a:r>
          </a:p>
          <a:p>
            <a:pPr algn="just"/>
            <a:r>
              <a:rPr lang="en-US" dirty="0"/>
              <a:t>MEMATRHTGPRYETEFETEOAAT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0CF72-09AA-6445-E568-682C78549C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57070" y="2728504"/>
            <a:ext cx="5229860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38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8B13FA-DEE6-B8D8-882F-AD80A21C1135}"/>
              </a:ext>
            </a:extLst>
          </p:cNvPr>
          <p:cNvGrpSpPr/>
          <p:nvPr/>
        </p:nvGrpSpPr>
        <p:grpSpPr>
          <a:xfrm>
            <a:off x="365760" y="230232"/>
            <a:ext cx="8412480" cy="4683036"/>
            <a:chOff x="0" y="1018902"/>
            <a:chExt cx="8412480" cy="468303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5841FED-8FA6-E9F3-EBA2-3D8C63E95CF7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259873" y="1018902"/>
              <a:ext cx="3357156" cy="199045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F3080F-766D-C272-6A7D-D5544CA20081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61430"/>
              <a:ext cx="8412480" cy="2540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856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2DF3E-2E1C-4790-1F6A-1FF0E18D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Columnar Transpositional Cipher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7E4E2-6EA2-5973-A389-66FC9A5B9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6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Problems with the rail fence cipher: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26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first and last letters of the plaintext do not move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93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key is a number that divides the total message length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79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 a single columnar transposition cipher, the key is a word or phrase whose letters, in alphabetic order, indicate the order of the columns as they are read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929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3320-157C-5E9F-3801-B20B05EF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Columnar Transpositional Cipher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7B1E6-E5C2-F486-58F9-150CD4052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4"/>
            <a:ext cx="8520600" cy="3606121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6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26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Plaintext: TRANSPOSITIONCIPHER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Key is “SECRET”, so re-write as rows of 6-letter blocks:</a:t>
            </a:r>
          </a:p>
          <a:p>
            <a:pPr marL="342900" fontAlgn="base">
              <a:lnSpc>
                <a:spcPct val="107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fontAlgn="base">
              <a:lnSpc>
                <a:spcPct val="107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fontAlgn="base">
              <a:lnSpc>
                <a:spcPct val="107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fontAlgn="base">
              <a:lnSpc>
                <a:spcPct val="107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fontAlgn="base">
              <a:lnSpc>
                <a:spcPct val="107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fontAlgn="base">
              <a:lnSpc>
                <a:spcPct val="107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fontAlgn="base">
              <a:lnSpc>
                <a:spcPct val="107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fontAlgn="base">
              <a:lnSpc>
                <a:spcPct val="107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fontAlgn="base">
              <a:lnSpc>
                <a:spcPct val="107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fontAlgn="base">
              <a:lnSpc>
                <a:spcPct val="107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–Ciphertext: AIIXRSCXSIHXNTPXTONRPOEX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E2FAA6-23D6-6656-21A9-666D726FB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594149"/>
              </p:ext>
            </p:extLst>
          </p:nvPr>
        </p:nvGraphicFramePr>
        <p:xfrm>
          <a:off x="2142309" y="2402635"/>
          <a:ext cx="4584563" cy="193802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236699">
                  <a:extLst>
                    <a:ext uri="{9D8B030D-6E8A-4147-A177-3AD203B41FA5}">
                      <a16:colId xmlns:a16="http://schemas.microsoft.com/office/drawing/2014/main" val="2005502568"/>
                    </a:ext>
                  </a:extLst>
                </a:gridCol>
                <a:gridCol w="2347864">
                  <a:extLst>
                    <a:ext uri="{9D8B030D-6E8A-4147-A177-3AD203B41FA5}">
                      <a16:colId xmlns:a16="http://schemas.microsoft.com/office/drawing/2014/main" val="846010977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SECRET </a:t>
                      </a:r>
                      <a:endParaRPr lang="en-US" sz="1100" kern="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CEERST</a:t>
                      </a:r>
                      <a:endParaRPr lang="en-US" sz="1100" kern="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14794721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521436 </a:t>
                      </a:r>
                      <a:endParaRPr lang="en-US" sz="1100" kern="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123456</a:t>
                      </a:r>
                      <a:endParaRPr lang="en-US" sz="1100" kern="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29253566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TRANSP </a:t>
                      </a:r>
                      <a:endParaRPr lang="en-US" sz="1100" kern="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ARSNTP</a:t>
                      </a:r>
                      <a:endParaRPr lang="en-US" sz="1100" kern="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9410162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OSITIO </a:t>
                      </a:r>
                      <a:endParaRPr lang="en-US" sz="1100" kern="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ISITOO</a:t>
                      </a:r>
                      <a:endParaRPr lang="en-US" sz="1100" kern="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11834608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NCIPHE </a:t>
                      </a:r>
                      <a:endParaRPr lang="en-US" sz="1100" kern="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ICHPNE</a:t>
                      </a:r>
                      <a:endParaRPr lang="en-US" sz="1100" kern="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4077896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RXXXXX </a:t>
                      </a:r>
                      <a:endParaRPr lang="en-US" sz="1100" kern="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XXXXRX</a:t>
                      </a:r>
                      <a:endParaRPr lang="en-US" sz="1100" kern="1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64534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947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F2B2-D682-29D4-995F-8D19C5B3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7E768-96D1-D69A-741D-F5C7E085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CA1AAD-1376-D91C-9EA8-CA4710CE75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1700" y="445025"/>
            <a:ext cx="8662444" cy="43640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7EEB85-C383-FFC5-027E-9C3C90FDC545}"/>
              </a:ext>
            </a:extLst>
          </p:cNvPr>
          <p:cNvSpPr txBox="1"/>
          <p:nvPr/>
        </p:nvSpPr>
        <p:spPr>
          <a:xfrm>
            <a:off x="4345937" y="1152425"/>
            <a:ext cx="1343662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No of columns</a:t>
            </a:r>
          </a:p>
        </p:txBody>
      </p:sp>
    </p:spTree>
    <p:extLst>
      <p:ext uri="{BB962C8B-B14F-4D97-AF65-F5344CB8AC3E}">
        <p14:creationId xmlns:p14="http://schemas.microsoft.com/office/powerpoint/2010/main" val="3394437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1AA5-C2F1-1DE0-DF8F-A9D8C8BF8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Cryptanalysis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02F79-8CB1-F1E5-8C9D-872F05F8C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fontAlgn="base">
              <a:lnSpc>
                <a:spcPct val="105000"/>
              </a:lnSpc>
              <a:spcBef>
                <a:spcPts val="0"/>
              </a:spcBef>
              <a:spcAft>
                <a:spcPts val="705"/>
              </a:spcAft>
              <a:buClr>
                <a:srgbClr val="000000"/>
              </a:buClr>
              <a:buSzPts val="2800"/>
              <a:buNone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Cryptanalysis is the study of breaking ciphers (also called code breaking or cracking) or reading encrypted messages without knowledge of the key</a:t>
            </a:r>
          </a:p>
          <a:p>
            <a:pPr marL="0" marR="0" lvl="0" indent="0" fontAlgn="base">
              <a:lnSpc>
                <a:spcPct val="105000"/>
              </a:lnSpc>
              <a:spcBef>
                <a:spcPts val="0"/>
              </a:spcBef>
              <a:spcAft>
                <a:spcPts val="75"/>
              </a:spcAft>
              <a:buClr>
                <a:srgbClr val="000000"/>
              </a:buClr>
              <a:buSzPts val="2800"/>
              <a:buNone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Goals: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15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Decrypt a message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94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Recover the key</a:t>
            </a:r>
          </a:p>
          <a:p>
            <a:pPr marL="0" marR="0" lvl="0" indent="0" fontAlgn="base">
              <a:lnSpc>
                <a:spcPct val="105000"/>
              </a:lnSpc>
              <a:spcBef>
                <a:spcPts val="0"/>
              </a:spcBef>
              <a:spcAft>
                <a:spcPts val="75"/>
              </a:spcAft>
              <a:buClr>
                <a:srgbClr val="000000"/>
              </a:buClr>
              <a:buSzPts val="2800"/>
              <a:buNone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Types of attacks depend on: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15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type of information available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15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Interaction with the cipher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316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89AB-89B1-ECC5-2112-BC7B6E65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Attacks on Encrypted Messages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86427-CB39-8E59-34E3-3A361648E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3056731" cy="3302700"/>
          </a:xfrm>
        </p:spPr>
        <p:txBody>
          <a:bodyPr/>
          <a:lstStyle/>
          <a:p>
            <a:pPr algn="just"/>
            <a:r>
              <a:rPr lang="en-US" dirty="0"/>
              <a:t>The table summarizes the various types of cryptanalytic attacks based on the amount of information known to the cryptanalyst.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5A34F-C3BF-983D-F720-6F88DD0050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98" t="37227" r="36838" b="16429"/>
          <a:stretch/>
        </p:blipFill>
        <p:spPr>
          <a:xfrm>
            <a:off x="3368431" y="1395775"/>
            <a:ext cx="5392604" cy="330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23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7382-2556-E9F7-C536-4828F620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Computational vs. Unconditional Secure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9E02A-8892-9488-47E0-6F924EC05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just" fontAlgn="base">
              <a:lnSpc>
                <a:spcPct val="90000"/>
              </a:lnSpc>
              <a:spcBef>
                <a:spcPts val="0"/>
              </a:spcBef>
              <a:spcAft>
                <a:spcPts val="795"/>
              </a:spcAft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An encryption scheme is </a:t>
            </a:r>
            <a:r>
              <a:rPr lang="en-US" sz="18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unconditionally secure </a:t>
            </a: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if the ciphertext generated by the scheme does not contain enough information to determine uniquely the corresponding plaintext, no matter how much ciphertext is available.</a:t>
            </a:r>
          </a:p>
          <a:p>
            <a:pPr marL="342900" marR="0" lvl="0" indent="-342900" algn="just" fontAlgn="base">
              <a:lnSpc>
                <a:spcPct val="90000"/>
              </a:lnSpc>
              <a:spcBef>
                <a:spcPts val="0"/>
              </a:spcBef>
              <a:spcAft>
                <a:spcPts val="795"/>
              </a:spcAft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That is, no matter how much time an opponent has, it is impossible for him or her to decrypt the ciphertext simply because the required information is not there</a:t>
            </a:r>
          </a:p>
          <a:p>
            <a:pPr marL="342900" marR="0" lvl="0" indent="-342900" algn="just" fontAlgn="base">
              <a:lnSpc>
                <a:spcPct val="90000"/>
              </a:lnSpc>
              <a:spcBef>
                <a:spcPts val="0"/>
              </a:spcBef>
              <a:spcAft>
                <a:spcPts val="795"/>
              </a:spcAft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An encryption scheme is said to be </a:t>
            </a:r>
            <a:r>
              <a:rPr lang="en-US" sz="18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computationally secure </a:t>
            </a: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if either of the foregoing two criteria are met.</a:t>
            </a:r>
          </a:p>
          <a:p>
            <a:pPr marL="342900" marR="0" lvl="0" indent="-342900" algn="just" fontAlgn="base">
              <a:lnSpc>
                <a:spcPct val="90000"/>
              </a:lnSpc>
              <a:spcBef>
                <a:spcPts val="0"/>
              </a:spcBef>
              <a:spcAft>
                <a:spcPts val="795"/>
              </a:spcAft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Unfortunately, it is very difficult to estimate the amount of effort required to cryptanalyze ciphertext successfully.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51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4C962-D148-FE42-B7E0-C279D4BDB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Exhaustive key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E44B8-AED8-0727-CCCF-D0D393501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20D88-09ED-EACA-71EC-6E6473C48C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2339" y="1051047"/>
            <a:ext cx="8399961" cy="3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98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A9D8-EC98-5BD8-E49B-15758438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Brute Force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8F2D8-6ABF-318D-4F70-B0242757B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fontAlgn="base">
              <a:lnSpc>
                <a:spcPct val="105000"/>
              </a:lnSpc>
              <a:spcBef>
                <a:spcPts val="0"/>
              </a:spcBef>
              <a:spcAft>
                <a:spcPts val="595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Always possible to simply try every key</a:t>
            </a:r>
          </a:p>
          <a:p>
            <a:pPr marL="342900" marR="0" lvl="0" indent="-342900" fontAlgn="base">
              <a:lnSpc>
                <a:spcPct val="105000"/>
              </a:lnSpc>
              <a:spcBef>
                <a:spcPts val="0"/>
              </a:spcBef>
              <a:spcAft>
                <a:spcPts val="985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Most basic attack, proportional to key size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242E1-3127-842C-8CED-46ABD513DD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79830" y="2258060"/>
            <a:ext cx="6784340" cy="26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14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4AF83-BEAE-D70C-54D9-22091D2DD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Cracking the simple substitution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E6782-FF4D-AF1A-6461-A35305743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fontAlgn="base">
              <a:lnSpc>
                <a:spcPct val="105000"/>
              </a:lnSpc>
              <a:spcBef>
                <a:spcPts val="0"/>
              </a:spcBef>
              <a:spcAft>
                <a:spcPts val="595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There are 26! = ~4 x 10^26 possible keys</a:t>
            </a:r>
          </a:p>
          <a:p>
            <a:pPr marL="342900" marR="0" lvl="0" indent="-342900" fontAlgn="base">
              <a:lnSpc>
                <a:spcPct val="105000"/>
              </a:lnSpc>
              <a:spcBef>
                <a:spcPts val="0"/>
              </a:spcBef>
              <a:spcAft>
                <a:spcPts val="58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Exhaustive key search is not practical</a:t>
            </a:r>
          </a:p>
          <a:p>
            <a:pPr marL="342900" marR="0" lvl="0" indent="-342900" fontAlgn="base">
              <a:lnSpc>
                <a:spcPct val="105000"/>
              </a:lnSpc>
              <a:spcBef>
                <a:spcPts val="0"/>
              </a:spcBef>
              <a:spcAft>
                <a:spcPts val="69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Simple substitution ciphers were considered strong for many centuries</a:t>
            </a:r>
          </a:p>
          <a:p>
            <a:pPr marL="342900" marR="0" lvl="0" indent="-342900" fontAlgn="base">
              <a:lnSpc>
                <a:spcPct val="105000"/>
              </a:lnSpc>
              <a:spcBef>
                <a:spcPts val="0"/>
              </a:spcBef>
              <a:spcAft>
                <a:spcPts val="695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 850 CE, Arab/Iraqi scientist Abu Yusuf Yaqub ibn Ishaq al-</a:t>
            </a:r>
            <a:r>
              <a:rPr lang="en-US" sz="1800" u="none" strike="noStrike" kern="10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Kindi</a:t>
            </a: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published his book “</a:t>
            </a:r>
            <a:r>
              <a:rPr lang="en-US" sz="1800" u="none" strike="noStrike" kern="10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Risalah</a:t>
            </a: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fi </a:t>
            </a:r>
            <a:r>
              <a:rPr lang="en-US" sz="1800" u="none" strike="noStrike" kern="10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Istikhraj</a:t>
            </a: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al-</a:t>
            </a:r>
            <a:r>
              <a:rPr lang="en-US" sz="1800" u="none" strike="noStrike" kern="10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Mu‟amma</a:t>
            </a: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 (A Manuscript on Deciphering Cryptographic Messages), which contains the first ever published description of how to crack simple substitution ciphers</a:t>
            </a:r>
          </a:p>
          <a:p>
            <a:pPr marL="342900" marR="0" lvl="0" indent="-342900" fontAlgn="base">
              <a:lnSpc>
                <a:spcPct val="105000"/>
              </a:lnSpc>
              <a:spcBef>
                <a:spcPts val="0"/>
              </a:spcBef>
              <a:spcAft>
                <a:spcPts val="75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method he described is now known as frequency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66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4CFE-B29F-68AC-D8D1-8E089751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Frequency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45B9C-6157-3D89-94F7-DDEEC372B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42900" marR="0" lvl="0" indent="-342900" fontAlgn="base">
              <a:lnSpc>
                <a:spcPct val="90000"/>
              </a:lnSpc>
              <a:spcBef>
                <a:spcPts val="0"/>
              </a:spcBef>
              <a:spcAft>
                <a:spcPts val="805"/>
              </a:spcAft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statistical distribution of letter frequencies of a message (text) written in any language tend towards a known letter frequency distribution profile of the language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ts val="0"/>
              </a:spcBef>
              <a:spcAft>
                <a:spcPts val="795"/>
              </a:spcAft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This is particularly true for long messages (i.e., the longer the text, the closer the letter frequency distributions match the language's letter frequency distributions)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ts val="0"/>
              </a:spcBef>
              <a:spcAft>
                <a:spcPts val="805"/>
              </a:spcAft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simple substitution cipher preserves the letter frequency distributions of the plaintext in the ciphertext (i.e., information about the plaintext is leaked in the ciphertext)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ts val="0"/>
              </a:spcBef>
              <a:spcAft>
                <a:spcPts val="805"/>
              </a:spcAft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attacker takes a frequency count of the ciphertext letters and tries to match them to the letter frequency distribution profile of the plaintext language</a:t>
            </a:r>
          </a:p>
        </p:txBody>
      </p:sp>
    </p:spTree>
    <p:extLst>
      <p:ext uri="{BB962C8B-B14F-4D97-AF65-F5344CB8AC3E}">
        <p14:creationId xmlns:p14="http://schemas.microsoft.com/office/powerpoint/2010/main" val="3004426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3F987-F3EF-A433-FF27-1F4B3025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Time Pad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A0715-5020-1145-912C-33E8C4D5D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many variations of cryptographic algorithms. One variation is based on the device—if any—that is used in the cryptographic process.</a:t>
            </a:r>
          </a:p>
          <a:p>
            <a:r>
              <a:rPr lang="en-US" dirty="0"/>
              <a:t>Prior to this, cryptographic algorithms were entirely hand-calculated.</a:t>
            </a:r>
          </a:p>
          <a:p>
            <a:r>
              <a:rPr lang="en-US" dirty="0"/>
              <a:t>An example is a one-time pad (OTP) that combines plaintext with a random key.</a:t>
            </a:r>
          </a:p>
          <a:p>
            <a:r>
              <a:rPr lang="en-US" dirty="0"/>
              <a:t>A pad is a long sequence of random letters.</a:t>
            </a:r>
          </a:p>
          <a:p>
            <a:r>
              <a:rPr lang="en-US" dirty="0"/>
              <a:t> These letters are combined with the plaintext message to produce the ciphertext.   To decipher the message, the recipient must have a copy of the pad to reverse the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09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36AD-0FD0-060B-75AF-DA2DE4057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Time Pad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E0FC63-6372-6626-3E2C-E02902BE2F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49084" y="1371601"/>
            <a:ext cx="7747363" cy="355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59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08A44-C401-E2EE-7117-B68748C6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Time Pad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5452BC-E3F5-ED8A-BE21-271776F6844F}"/>
              </a:ext>
            </a:extLst>
          </p:cNvPr>
          <p:cNvGrpSpPr/>
          <p:nvPr/>
        </p:nvGrpSpPr>
        <p:grpSpPr>
          <a:xfrm>
            <a:off x="204555" y="1478461"/>
            <a:ext cx="8627745" cy="3388360"/>
            <a:chOff x="0" y="0"/>
            <a:chExt cx="8627872" cy="338848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97132B5-6C8F-244D-C8BA-6F82E385D9CD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97688" y="0"/>
              <a:ext cx="8330184" cy="298551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2AD0ED-6B38-2F9D-1A97-97D8F2573C7E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3228467"/>
              <a:ext cx="102108" cy="1600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5842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1BF6C-3D08-2C18-24B6-569C6C64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Time Pad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5CD20-AF23-501F-A8CF-4BCE84D23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To encipher a message, the position in the alphabet of the first letter in the plaintext message is added to the position in the alphabet of the first random letter from the pad.</a:t>
            </a:r>
          </a:p>
          <a:p>
            <a:pPr algn="just"/>
            <a:r>
              <a:rPr lang="en-US" dirty="0"/>
              <a:t>  For example, if SECRET is to be encrypted using the pad CBYFEA, the first letter S (#19 of the alphabet) is added to the first letter of the pad C (#3 of the alphabet) and then 1 is subtracted (19 1 3 2 1 5 21). This results in U (#21 of the alphabet).</a:t>
            </a:r>
          </a:p>
          <a:p>
            <a:pPr algn="just"/>
            <a:r>
              <a:rPr lang="en-US" dirty="0"/>
              <a:t>  Each letter is similarly encrypted (any number larger than 26 is wrapped around to the start of the alphabet). To decipher a message, the recipient takes the first letter of the ciphertext and subtracts the first random letter from the pad (any negative numbers are wrapped around to the end of the alphabet).</a:t>
            </a:r>
          </a:p>
          <a:p>
            <a:pPr marL="11430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618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36C9-4D79-609D-58BA-CC765C85C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Activity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5D4C7-9D7A-DEBA-C968-108A941A1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656964"/>
            <a:ext cx="8520600" cy="1829572"/>
          </a:xfrm>
        </p:spPr>
        <p:txBody>
          <a:bodyPr/>
          <a:lstStyle/>
          <a:p>
            <a:pPr marL="1349375" marR="0" indent="0">
              <a:lnSpc>
                <a:spcPct val="107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3600" kern="100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Plain Text :  ATTACK AT DAWN</a:t>
            </a:r>
            <a:endParaRPr lang="en-US" sz="36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452245" marR="0" indent="0">
              <a:lnSpc>
                <a:spcPct val="107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3600" kern="100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Pad:             YUPRQI TW JKBN</a:t>
            </a:r>
            <a:endParaRPr lang="en-US" sz="36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17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855E-D8F3-3D79-4E44-7D9FE3BFA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100" y="1953394"/>
            <a:ext cx="2486208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52910283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1948</TotalTime>
  <Words>1498</Words>
  <Application>Microsoft Office PowerPoint</Application>
  <PresentationFormat>On-screen Show (16:9)</PresentationFormat>
  <Paragraphs>139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Open Sans</vt:lpstr>
      <vt:lpstr>PT Sans Narrow</vt:lpstr>
      <vt:lpstr>Google Sans</vt:lpstr>
      <vt:lpstr>Tropic</vt:lpstr>
      <vt:lpstr>Information Security</vt:lpstr>
      <vt:lpstr>What is cipher?</vt:lpstr>
      <vt:lpstr>Types/ Categories of Ciphers</vt:lpstr>
      <vt:lpstr>PowerPoint Presentation</vt:lpstr>
      <vt:lpstr>PowerPoint Presentation</vt:lpstr>
      <vt:lpstr>Alphabet to Binary</vt:lpstr>
      <vt:lpstr>Binary to  Hexadecimal</vt:lpstr>
      <vt:lpstr>ROT - 13</vt:lpstr>
      <vt:lpstr>Caesar Cipher</vt:lpstr>
      <vt:lpstr>Affine Cipher</vt:lpstr>
      <vt:lpstr>Affine Cipher Example</vt:lpstr>
      <vt:lpstr>Affine Cipher Example</vt:lpstr>
      <vt:lpstr>How to calculate mod 26</vt:lpstr>
      <vt:lpstr>Transpositional Cipher: Railfence</vt:lpstr>
      <vt:lpstr>PowerPoint Presentation</vt:lpstr>
      <vt:lpstr>Columnar Transpositional Cipher </vt:lpstr>
      <vt:lpstr>Columnar Transpositional Cipher </vt:lpstr>
      <vt:lpstr>PowerPoint Presentation</vt:lpstr>
      <vt:lpstr>Cryptanalysis</vt:lpstr>
      <vt:lpstr>Types of Attacks on Encrypted Messages</vt:lpstr>
      <vt:lpstr>Computational vs. Unconditional Secure</vt:lpstr>
      <vt:lpstr>Example: Exhaustive key search</vt:lpstr>
      <vt:lpstr>Brute Force Search</vt:lpstr>
      <vt:lpstr>Cracking the simple substitution cipher</vt:lpstr>
      <vt:lpstr>Frequency analysis</vt:lpstr>
      <vt:lpstr>One Time Pad </vt:lpstr>
      <vt:lpstr>One Time Pad </vt:lpstr>
      <vt:lpstr>One Time Pad </vt:lpstr>
      <vt:lpstr>One Time Pad </vt:lpstr>
      <vt:lpstr>Activity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InformationSecurity</dc:title>
  <dc:creator>hp</dc:creator>
  <cp:lastModifiedBy>hp</cp:lastModifiedBy>
  <cp:revision>27</cp:revision>
  <dcterms:modified xsi:type="dcterms:W3CDTF">2024-03-08T04:03:01Z</dcterms:modified>
</cp:coreProperties>
</file>