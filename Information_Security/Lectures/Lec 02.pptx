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9" r:id="rId3"/>
    <p:sldId id="257" r:id="rId4"/>
    <p:sldId id="258" r:id="rId5"/>
    <p:sldId id="285" r:id="rId6"/>
    <p:sldId id="267" r:id="rId7"/>
    <p:sldId id="268" r:id="rId8"/>
    <p:sldId id="269" r:id="rId9"/>
    <p:sldId id="271" r:id="rId10"/>
    <p:sldId id="284" r:id="rId11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3"/>
      <p:bold r:id="rId14"/>
      <p:italic r:id="rId15"/>
      <p:boldItalic r:id="rId16"/>
    </p:embeddedFont>
    <p:embeddedFont>
      <p:font typeface="PT Sans Narrow" panose="020B0506020203020204" pitchFamily="3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51" autoAdjust="0"/>
  </p:normalViewPr>
  <p:slideViewPr>
    <p:cSldViewPr snapToGrid="0">
      <p:cViewPr varScale="1">
        <p:scale>
          <a:sx n="82" d="100"/>
          <a:sy n="82" d="100"/>
        </p:scale>
        <p:origin x="82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just">
              <a:buNone/>
            </a:pPr>
            <a:r>
              <a:rPr lang="en-US" dirty="0"/>
              <a:t>Steganography typically takes the data, divides it into smaller pieces, and hides these in unused portions of the file.</a:t>
            </a:r>
          </a:p>
          <a:p>
            <a:pPr marL="114300" indent="0" algn="just">
              <a:buNone/>
            </a:pPr>
            <a:r>
              <a:rPr lang="en-US" dirty="0"/>
              <a:t>Steganography may hide data the file header fields that describe the file, between sections of</a:t>
            </a:r>
          </a:p>
          <a:p>
            <a:pPr marL="114300" indent="0" algn="just">
              <a:buNone/>
            </a:pPr>
            <a:r>
              <a:rPr lang="en-US" dirty="0"/>
              <a:t>the metadata (data that is used to describe the content or structure of the actual data), or in the areas of a file that contain the content itself.</a:t>
            </a:r>
          </a:p>
          <a:p>
            <a:pPr marL="114300" indent="0" algn="just">
              <a:buNone/>
            </a:pPr>
            <a:r>
              <a:rPr lang="en-US" dirty="0"/>
              <a:t>Steganography can use a wide variety of file types image files, audio files, video files, etc.to hide messages and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080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b87e238397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b87e238397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950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Information Security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Ms. Ayesha jarral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B42D2-6772-43E9-2ECA-249EC85C0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Cryptography?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4D531-909F-3163-FBB0-33EBA7F28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US" dirty="0"/>
              <a:t>Cryptography (from Greek words meaning hidden writing) is the practice of transforming information so that it is secure and cannot be accessed by unauthorized parties.</a:t>
            </a:r>
          </a:p>
          <a:p>
            <a:pPr marL="114300" indent="0" algn="just">
              <a:buNone/>
            </a:pPr>
            <a:r>
              <a:rPr lang="en-US" dirty="0"/>
              <a:t>This is accomplished through scrambling the information in such a way that only approved recipients can access it.</a:t>
            </a:r>
          </a:p>
          <a:p>
            <a:pPr marL="114300" indent="0" algn="just">
              <a:buNone/>
            </a:pPr>
            <a:r>
              <a:rPr lang="en-US" dirty="0"/>
              <a:t>Whereas cryptography scrambles a message so that it cannot be understood, steganography hides the existence of the data.</a:t>
            </a:r>
          </a:p>
          <a:p>
            <a:pPr marL="114300" indent="0" algn="just">
              <a:buNone/>
            </a:pPr>
            <a:r>
              <a:rPr lang="en-US" dirty="0"/>
              <a:t>What appears to be a harmless image can contain hidden data, usually some type of message, embedded within the image.</a:t>
            </a:r>
          </a:p>
        </p:txBody>
      </p:sp>
    </p:spTree>
    <p:extLst>
      <p:ext uri="{BB962C8B-B14F-4D97-AF65-F5344CB8AC3E}">
        <p14:creationId xmlns:p14="http://schemas.microsoft.com/office/powerpoint/2010/main" val="861673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Basic Terms</a:t>
            </a:r>
            <a:endParaRPr dirty="0"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699" y="1266325"/>
            <a:ext cx="8464978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/>
              <a:t>An original message is known as the </a:t>
            </a:r>
            <a:r>
              <a:rPr lang="en-US" b="1" dirty="0">
                <a:solidFill>
                  <a:srgbClr val="FF0000"/>
                </a:solidFill>
              </a:rPr>
              <a:t>plaintext</a:t>
            </a:r>
            <a:r>
              <a:rPr lang="en-US" dirty="0"/>
              <a:t>, while the coded message is called the </a:t>
            </a:r>
            <a:r>
              <a:rPr lang="en-US" b="1" dirty="0">
                <a:solidFill>
                  <a:srgbClr val="FF0000"/>
                </a:solidFill>
              </a:rPr>
              <a:t>ciphertext</a:t>
            </a:r>
            <a:r>
              <a:rPr lang="en-US" dirty="0"/>
              <a:t>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The process of converting from plaintext to ciphertext is known as </a:t>
            </a:r>
            <a:r>
              <a:rPr lang="en-US" b="1" dirty="0">
                <a:solidFill>
                  <a:srgbClr val="FF0000"/>
                </a:solidFill>
              </a:rPr>
              <a:t>enciphering or encryption</a:t>
            </a:r>
            <a:r>
              <a:rPr lang="en-US" dirty="0"/>
              <a:t>;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restoring the plaintext from the ciphertext is </a:t>
            </a:r>
            <a:r>
              <a:rPr lang="en-US" b="1" dirty="0">
                <a:solidFill>
                  <a:srgbClr val="FF0000"/>
                </a:solidFill>
              </a:rPr>
              <a:t>deciphering or decryption</a:t>
            </a:r>
            <a:r>
              <a:rPr lang="en-US" dirty="0"/>
              <a:t>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The many schemes used for encryption constitute the area of study known as </a:t>
            </a:r>
            <a:r>
              <a:rPr lang="en-US" b="1" dirty="0">
                <a:solidFill>
                  <a:srgbClr val="FF0000"/>
                </a:solidFill>
              </a:rPr>
              <a:t>cryptography</a:t>
            </a:r>
            <a:r>
              <a:rPr lang="en-US" dirty="0"/>
              <a:t>. Such a scheme is known as a cryptographic system or a cipher.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Techniques used for deciphering message without any knowledge of the enciphering details fall into the area of </a:t>
            </a:r>
            <a:r>
              <a:rPr lang="en-US" b="1" dirty="0">
                <a:solidFill>
                  <a:srgbClr val="FF0000"/>
                </a:solidFill>
              </a:rPr>
              <a:t>cryptanalysis</a:t>
            </a:r>
            <a:r>
              <a:rPr lang="en-US" dirty="0"/>
              <a:t>. Cryptanalysis is what the layperson calls “breaking the code.”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The areas of cryptography and cryptanalysis together are called </a:t>
            </a:r>
            <a:r>
              <a:rPr lang="en-US" b="1" dirty="0">
                <a:solidFill>
                  <a:srgbClr val="FF0000"/>
                </a:solidFill>
              </a:rPr>
              <a:t>cryptology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" name="AutoShape 2" descr="BUSINESS png images | PNGEgg">
            <a:extLst>
              <a:ext uri="{FF2B5EF4-FFF2-40B4-BE49-F238E27FC236}">
                <a16:creationId xmlns:a16="http://schemas.microsoft.com/office/drawing/2014/main" id="{C9B269C7-0F84-654B-243A-E2CB80C235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E9841-8F70-6279-D040-B3D60ED9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Symmetric Cipher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B70B1-61C3-E22C-A9C7-809C0138D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A symmetric encryption scheme has five ingredients: </a:t>
            </a:r>
          </a:p>
          <a:p>
            <a:pPr>
              <a:lnSpc>
                <a:spcPct val="120000"/>
              </a:lnSpc>
            </a:pPr>
            <a:r>
              <a:rPr lang="en-US" dirty="0"/>
              <a:t>Plaintext: This is the original intelligible message or data that is fed into the algorithm as input. </a:t>
            </a:r>
          </a:p>
          <a:p>
            <a:pPr>
              <a:lnSpc>
                <a:spcPct val="120000"/>
              </a:lnSpc>
            </a:pPr>
            <a:r>
              <a:rPr lang="en-US" dirty="0"/>
              <a:t>Encryption algorithm: The encryption algorithm performs various substitutions and transformations on the plaintext. </a:t>
            </a:r>
          </a:p>
          <a:p>
            <a:pPr>
              <a:lnSpc>
                <a:spcPct val="120000"/>
              </a:lnSpc>
            </a:pPr>
            <a:r>
              <a:rPr lang="en-US" dirty="0"/>
              <a:t>Secret key: The secret key is also input to the encryption algorithm. The key is a value independent of the plaintext and of the algorithm. The algorithm will produce a different output depending on the specific key being used at the time. The exact substitutions and transformations performed by the algorithm depend on the key. </a:t>
            </a:r>
          </a:p>
          <a:p>
            <a:pPr>
              <a:lnSpc>
                <a:spcPct val="120000"/>
              </a:lnSpc>
            </a:pPr>
            <a:r>
              <a:rPr lang="en-US" dirty="0"/>
              <a:t>Ciphertext: This is the scrambled message produced as output. It depends on the plaintext and the secret key. For a given message, two different keys will produce two different ciphertexts. The ciphertext is an apparently random stream of data and, as it stands, is unintelligible.</a:t>
            </a:r>
          </a:p>
          <a:p>
            <a:pPr>
              <a:lnSpc>
                <a:spcPct val="120000"/>
              </a:lnSpc>
            </a:pPr>
            <a:r>
              <a:rPr lang="en-US" dirty="0"/>
              <a:t>Decryption algorithm: This is essentially the encryption algorithm run in reverse. It takes the ciphertext and the secret key and produces the original plaintext.</a:t>
            </a:r>
          </a:p>
        </p:txBody>
      </p:sp>
    </p:spTree>
    <p:extLst>
      <p:ext uri="{BB962C8B-B14F-4D97-AF65-F5344CB8AC3E}">
        <p14:creationId xmlns:p14="http://schemas.microsoft.com/office/powerpoint/2010/main" val="3801500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BED604-8A71-F91E-11A9-D05062575C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342" t="31757" r="22478" b="40132"/>
          <a:stretch/>
        </p:blipFill>
        <p:spPr>
          <a:xfrm>
            <a:off x="648479" y="767334"/>
            <a:ext cx="7847042" cy="333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267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878E7F-3A5E-25E3-14A7-BD3277D341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09" t="20968" r="36752" b="16126"/>
          <a:stretch/>
        </p:blipFill>
        <p:spPr>
          <a:xfrm>
            <a:off x="444562" y="296984"/>
            <a:ext cx="7730330" cy="457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355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0ED56E-EAC5-FEA8-6921-8F9B558919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42" t="28414" r="40172" b="10959"/>
          <a:stretch/>
        </p:blipFill>
        <p:spPr>
          <a:xfrm>
            <a:off x="820616" y="180242"/>
            <a:ext cx="7683991" cy="478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239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C6F6C-CD99-27A5-AB92-526CF9C9A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Cryptanalysis and Brute-force Attack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BD849-C031-DAFC-47AC-CBEE8EE90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US" dirty="0"/>
              <a:t>There are two general approaches to attacking a conventional encryption scheme.</a:t>
            </a:r>
          </a:p>
          <a:p>
            <a:pPr marL="114300" indent="0" algn="just">
              <a:buNone/>
            </a:pPr>
            <a:r>
              <a:rPr lang="en-US" b="1" dirty="0"/>
              <a:t>Cryptanalysis: </a:t>
            </a:r>
            <a:r>
              <a:rPr lang="en-US" dirty="0"/>
              <a:t>Cryptanalytic attacks rely on the nature of the algorithm plus </a:t>
            </a:r>
          </a:p>
          <a:p>
            <a:pPr marL="114300" indent="0" algn="just">
              <a:buNone/>
            </a:pPr>
            <a:r>
              <a:rPr lang="en-US" dirty="0"/>
              <a:t>perhaps some knowledge of the general characteristics of the plaintext or </a:t>
            </a:r>
          </a:p>
          <a:p>
            <a:pPr marL="114300" indent="0" algn="just">
              <a:buNone/>
            </a:pPr>
            <a:r>
              <a:rPr lang="en-US" dirty="0"/>
              <a:t>even some sample plaintext–ciphertext pairs.</a:t>
            </a:r>
          </a:p>
          <a:p>
            <a:pPr marL="114300" indent="0" algn="just">
              <a:buNone/>
            </a:pPr>
            <a:r>
              <a:rPr lang="en-US" b="1" dirty="0"/>
              <a:t>Brute-force attack: </a:t>
            </a:r>
            <a:r>
              <a:rPr lang="en-US" dirty="0"/>
              <a:t>The attacker tries every possible key on a piece of cipher </a:t>
            </a:r>
          </a:p>
          <a:p>
            <a:pPr marL="114300" indent="0" algn="just">
              <a:buNone/>
            </a:pPr>
            <a:r>
              <a:rPr lang="en-US" dirty="0"/>
              <a:t>text until an intelligible translation into plaintext is obtained. On average, half </a:t>
            </a:r>
          </a:p>
          <a:p>
            <a:pPr marL="114300" indent="0" algn="just">
              <a:buNone/>
            </a:pPr>
            <a:r>
              <a:rPr lang="en-US" dirty="0"/>
              <a:t>of all possible keys must be tried to achieve success.</a:t>
            </a:r>
          </a:p>
        </p:txBody>
      </p:sp>
    </p:spTree>
    <p:extLst>
      <p:ext uri="{BB962C8B-B14F-4D97-AF65-F5344CB8AC3E}">
        <p14:creationId xmlns:p14="http://schemas.microsoft.com/office/powerpoint/2010/main" val="926428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289AB-89B1-ECC5-2112-BC7B6E65B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Cryptanalysis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86427-CB39-8E59-34E3-3A361648E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3056731" cy="3302700"/>
          </a:xfrm>
        </p:spPr>
        <p:txBody>
          <a:bodyPr/>
          <a:lstStyle/>
          <a:p>
            <a:pPr algn="just"/>
            <a:r>
              <a:rPr lang="en-US" dirty="0"/>
              <a:t>The table summarizes the various types of cryptanalytic attacks based on the amount of information known to the cryptanalyst.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5A34F-C3BF-983D-F720-6F88DD0050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98" t="37227" r="36838" b="16429"/>
          <a:stretch/>
        </p:blipFill>
        <p:spPr>
          <a:xfrm>
            <a:off x="3368431" y="1395775"/>
            <a:ext cx="5392604" cy="330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423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2855E-D8F3-3D79-4E44-7D9FE3BFA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100" y="1953394"/>
            <a:ext cx="2486208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152910283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</TotalTime>
  <Words>605</Words>
  <Application>Microsoft Office PowerPoint</Application>
  <PresentationFormat>On-screen Show (16:9)</PresentationFormat>
  <Paragraphs>36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Open Sans</vt:lpstr>
      <vt:lpstr>Arial</vt:lpstr>
      <vt:lpstr>PT Sans Narrow</vt:lpstr>
      <vt:lpstr>Tropic</vt:lpstr>
      <vt:lpstr>Information Security</vt:lpstr>
      <vt:lpstr>What is Cryptography?</vt:lpstr>
      <vt:lpstr>Basic Terms</vt:lpstr>
      <vt:lpstr>Symmetric Cipher Model</vt:lpstr>
      <vt:lpstr>PowerPoint Presentation</vt:lpstr>
      <vt:lpstr>PowerPoint Presentation</vt:lpstr>
      <vt:lpstr>PowerPoint Presentation</vt:lpstr>
      <vt:lpstr>Cryptanalysis and Brute-force Attack</vt:lpstr>
      <vt:lpstr>Cryptanalysis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InformationSecurity</dc:title>
  <dc:creator>hp</dc:creator>
  <cp:lastModifiedBy>ayesha jarral</cp:lastModifiedBy>
  <cp:revision>18</cp:revision>
  <dcterms:modified xsi:type="dcterms:W3CDTF">2026-02-25T08:14:17Z</dcterms:modified>
</cp:coreProperties>
</file>