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73" r:id="rId3"/>
    <p:sldId id="274" r:id="rId4"/>
    <p:sldId id="310" r:id="rId5"/>
    <p:sldId id="311" r:id="rId6"/>
    <p:sldId id="281" r:id="rId7"/>
    <p:sldId id="283" r:id="rId8"/>
    <p:sldId id="284" r:id="rId9"/>
    <p:sldId id="285" r:id="rId10"/>
    <p:sldId id="286" r:id="rId11"/>
    <p:sldId id="303" r:id="rId12"/>
    <p:sldId id="290" r:id="rId13"/>
    <p:sldId id="289" r:id="rId14"/>
    <p:sldId id="288" r:id="rId15"/>
    <p:sldId id="287" r:id="rId16"/>
    <p:sldId id="304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5" r:id="rId29"/>
    <p:sldId id="306" r:id="rId30"/>
    <p:sldId id="307" r:id="rId31"/>
    <p:sldId id="308" r:id="rId32"/>
    <p:sldId id="30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1032" autoAdjust="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9B775-E431-4107-B06A-8D9427A0A84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97D3C-9212-409F-B5BE-B8355F43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7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 smtClean="0"/>
              <a:t>Jakob</a:t>
            </a:r>
            <a:r>
              <a:rPr lang="en-US" b="1" dirty="0" smtClean="0"/>
              <a:t> Nielsen</a:t>
            </a:r>
            <a:r>
              <a:rPr lang="en-US" dirty="0" smtClean="0"/>
              <a:t> is a </a:t>
            </a:r>
            <a:r>
              <a:rPr lang="en-US" b="1" dirty="0" smtClean="0"/>
              <a:t>Danish computer scientist and usability expert</a:t>
            </a:r>
            <a:r>
              <a:rPr lang="en-US" dirty="0" smtClean="0"/>
              <a:t>.</a:t>
            </a:r>
          </a:p>
          <a:p>
            <a:r>
              <a:rPr lang="en-US" dirty="0" smtClean="0"/>
              <a:t>He is famous for his work on </a:t>
            </a:r>
            <a:r>
              <a:rPr lang="en-US" b="1" dirty="0" smtClean="0"/>
              <a:t>user interface design</a:t>
            </a:r>
            <a:r>
              <a:rPr lang="en-US" dirty="0" smtClean="0"/>
              <a:t> and </a:t>
            </a:r>
            <a:r>
              <a:rPr lang="en-US" b="1" dirty="0" smtClean="0"/>
              <a:t>usability</a:t>
            </a:r>
            <a:r>
              <a:rPr lang="en-US" dirty="0" smtClean="0"/>
              <a:t>, and he created the </a:t>
            </a:r>
            <a:r>
              <a:rPr lang="en-US" b="1" dirty="0" smtClean="0"/>
              <a:t>10 usability heuristics</a:t>
            </a:r>
            <a:r>
              <a:rPr lang="en-US" dirty="0" smtClean="0"/>
              <a:t> as general rules to help designers make systems easier to use.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97D3C-9212-409F-B5BE-B8355F439F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73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23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44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1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8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7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11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88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0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388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9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32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45F86-01FA-420D-9D3F-4E2069A88C8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0EF98-1455-4282-922F-50E7F870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HCI and User-Centered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35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/>
              <a:t>Understanding Users and Usability Principles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1707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Introduction to User-Centered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User-Centered Design (UCD) is a design approach that focuses on users’ needs, goals, and limitations at every stage of system development.</a:t>
            </a:r>
          </a:p>
          <a:p>
            <a:r>
              <a:rPr lang="en-US" dirty="0" smtClean="0"/>
              <a:t>Instead of designing for technology, we design for people.</a:t>
            </a:r>
          </a:p>
          <a:p>
            <a:r>
              <a:rPr lang="en-US" dirty="0" smtClean="0"/>
              <a:t>Why UCD is Important? </a:t>
            </a:r>
          </a:p>
          <a:p>
            <a:pPr lvl="1"/>
            <a:r>
              <a:rPr lang="en-US" dirty="0" smtClean="0"/>
              <a:t>Reduces user frustration </a:t>
            </a:r>
          </a:p>
          <a:p>
            <a:pPr lvl="1"/>
            <a:r>
              <a:rPr lang="en-US" dirty="0" smtClean="0"/>
              <a:t>It improves usability</a:t>
            </a:r>
          </a:p>
          <a:p>
            <a:pPr lvl="1"/>
            <a:r>
              <a:rPr lang="en-US" dirty="0" smtClean="0"/>
              <a:t>Increases product success</a:t>
            </a:r>
          </a:p>
          <a:p>
            <a:pPr lvl="1"/>
            <a:r>
              <a:rPr lang="en-US" dirty="0" smtClean="0"/>
              <a:t>Saves development cost in long term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7358743" y="3953691"/>
            <a:ext cx="4153988" cy="2223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000" dirty="0" smtClean="0"/>
              <a:t>Who is my user?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9638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User-Centered Design</a:t>
            </a:r>
            <a:r>
              <a:rPr lang="en-US" dirty="0" smtClean="0"/>
              <a:t> Principles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607723"/>
              </p:ext>
            </p:extLst>
          </p:nvPr>
        </p:nvGraphicFramePr>
        <p:xfrm>
          <a:off x="838200" y="2761139"/>
          <a:ext cx="10515600" cy="35661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227640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891284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81338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Mapped UCD Principle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Usability 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874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1. Simplicity</a:t>
                      </a:r>
                      <a:endParaRPr lang="en-US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Easy to 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Simple design helps users understand the system quickly.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485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2. Consistency</a:t>
                      </a:r>
                      <a:endParaRPr lang="en-US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Efficient to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Consistent layout and commands improve task speed.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989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3. Visibility</a:t>
                      </a:r>
                      <a:endParaRPr lang="en-US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Easy to remember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Visible options reduce the need to memorize commands.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403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4. Feedback</a:t>
                      </a:r>
                      <a:endParaRPr lang="en-US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Error-free (or error-tolerant)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Feedback helps users detect and correct errors.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029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5. Accessibility</a:t>
                      </a:r>
                      <a:endParaRPr lang="en-US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Satisfying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Accessible systems improve overall user satisfaction.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705962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38200" y="1631286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In order to evaluate a particular system with respect to HCI we use </a:t>
            </a:r>
            <a:r>
              <a:rPr lang="en-US" sz="2400" dirty="0" smtClean="0">
                <a:solidFill>
                  <a:srgbClr val="FF0000"/>
                </a:solidFill>
              </a:rPr>
              <a:t>these 5 </a:t>
            </a:r>
            <a:r>
              <a:rPr lang="en-US" sz="2400" dirty="0">
                <a:solidFill>
                  <a:srgbClr val="FF0000"/>
                </a:solidFill>
              </a:rPr>
              <a:t>points known as UCD </a:t>
            </a:r>
            <a:r>
              <a:rPr lang="en-US" sz="2400" dirty="0" smtClean="0">
                <a:solidFill>
                  <a:srgbClr val="FF0000"/>
                </a:solidFill>
              </a:rPr>
              <a:t>Principles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88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User-Centered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1. Easy to learn → Simplicity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simple interface helps new users understand the system quickly and reduces cognitive load.</a:t>
            </a:r>
          </a:p>
          <a:p>
            <a:r>
              <a:rPr lang="en-US" b="1" dirty="0"/>
              <a:t>2. Efficient to use → Consistency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Consistent layouts and commands allow users to perform tasks faster without relearning actions.</a:t>
            </a:r>
          </a:p>
          <a:p>
            <a:r>
              <a:rPr lang="en-US" b="1" dirty="0"/>
              <a:t>3. Easy to remember → Visibility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Visible options and controls reduce the need for users to memorize commands.</a:t>
            </a:r>
          </a:p>
          <a:p>
            <a:r>
              <a:rPr lang="en-US" b="1" dirty="0"/>
              <a:t>4. Error-free (or error-tolerant) → Feedback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Feedback</a:t>
            </a:r>
            <a:r>
              <a:rPr lang="en-US" dirty="0"/>
              <a:t> informs users about actions and errors, helping them correct mistakes.</a:t>
            </a:r>
          </a:p>
          <a:p>
            <a:r>
              <a:rPr lang="en-US" b="1" dirty="0"/>
              <a:t>5. Satisfying → Accessibility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Accessible systems support diverse users and improve overall user satisfaction.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28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the System Based on User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1823177"/>
              </p:ext>
            </p:extLst>
          </p:nvPr>
        </p:nvGraphicFramePr>
        <p:xfrm>
          <a:off x="838200" y="1825623"/>
          <a:ext cx="10421982" cy="4351339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321526">
                  <a:extLst>
                    <a:ext uri="{9D8B030D-6E8A-4147-A177-3AD203B41FA5}">
                      <a16:colId xmlns:a16="http://schemas.microsoft.com/office/drawing/2014/main" val="3431572215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1802583157"/>
                    </a:ext>
                  </a:extLst>
                </a:gridCol>
                <a:gridCol w="6601096">
                  <a:extLst>
                    <a:ext uri="{9D8B030D-6E8A-4147-A177-3AD203B41FA5}">
                      <a16:colId xmlns:a16="http://schemas.microsoft.com/office/drawing/2014/main" val="191658176"/>
                    </a:ext>
                  </a:extLst>
                </a:gridCol>
              </a:tblGrid>
              <a:tr h="704853">
                <a:tc>
                  <a:txBody>
                    <a:bodyPr/>
                    <a:lstStyle/>
                    <a:p>
                      <a:r>
                        <a:rPr lang="en-US" sz="240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Goal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018196"/>
                  </a:ext>
                </a:extLst>
              </a:tr>
              <a:tr h="704853">
                <a:tc>
                  <a:txBody>
                    <a:bodyPr/>
                    <a:lstStyle/>
                    <a:p>
                      <a:r>
                        <a:rPr lang="en-US" sz="2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Understand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Identify needs and goals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28906"/>
                  </a:ext>
                </a:extLst>
              </a:tr>
              <a:tr h="704853">
                <a:tc>
                  <a:txBody>
                    <a:bodyPr/>
                    <a:lstStyle/>
                    <a:p>
                      <a:r>
                        <a:rPr lang="en-US" sz="2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Involve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Collect feedback early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625009"/>
                  </a:ext>
                </a:extLst>
              </a:tr>
              <a:tr h="827074">
                <a:tc>
                  <a:txBody>
                    <a:bodyPr/>
                    <a:lstStyle/>
                    <a:p>
                      <a:r>
                        <a:rPr lang="en-US" sz="24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Design Solutions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Create wireframes &amp; prototypes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384093"/>
                  </a:ext>
                </a:extLst>
              </a:tr>
              <a:tr h="704853">
                <a:tc>
                  <a:txBody>
                    <a:bodyPr/>
                    <a:lstStyle/>
                    <a:p>
                      <a:r>
                        <a:rPr lang="en-US" sz="24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Test with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Identify usability problems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444627"/>
                  </a:ext>
                </a:extLst>
              </a:tr>
              <a:tr h="704853">
                <a:tc>
                  <a:txBody>
                    <a:bodyPr/>
                    <a:lstStyle/>
                    <a:p>
                      <a:r>
                        <a:rPr lang="en-US" sz="24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Iterate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Improve continuously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78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62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Cognitive Models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Explain how users think and process information</a:t>
            </a:r>
          </a:p>
          <a:p>
            <a:r>
              <a:rPr lang="en-US" dirty="0" smtClean="0"/>
              <a:t>Based on perception, memory, attention, decision-making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Short-term memory is limited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Too many options → confusion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84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Mental Workload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Mental workload = amount of thinking effort required</a:t>
            </a:r>
          </a:p>
          <a:p>
            <a:r>
              <a:rPr lang="en-US" dirty="0" smtClean="0"/>
              <a:t>High workload causes:</a:t>
            </a:r>
          </a:p>
          <a:p>
            <a:pPr lvl="1"/>
            <a:r>
              <a:rPr lang="en-US" dirty="0" smtClean="0"/>
              <a:t>Errors</a:t>
            </a:r>
          </a:p>
          <a:p>
            <a:pPr lvl="1"/>
            <a:r>
              <a:rPr lang="en-US" dirty="0" smtClean="0"/>
              <a:t>Slow performance</a:t>
            </a:r>
          </a:p>
          <a:p>
            <a:pPr lvl="1"/>
            <a:r>
              <a:rPr lang="en-US" dirty="0" smtClean="0"/>
              <a:t>Frustration</a:t>
            </a:r>
          </a:p>
          <a:p>
            <a:r>
              <a:rPr lang="en-US" dirty="0" smtClean="0"/>
              <a:t>Design goal:</a:t>
            </a:r>
            <a:endParaRPr lang="en-US" dirty="0"/>
          </a:p>
          <a:p>
            <a:pPr lvl="1"/>
            <a:r>
              <a:rPr lang="en-US" dirty="0" smtClean="0"/>
              <a:t>Reduce user thinking effort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7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UX vs Usability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4431428"/>
              </p:ext>
            </p:extLst>
          </p:nvPr>
        </p:nvGraphicFramePr>
        <p:xfrm>
          <a:off x="2095500" y="3319463"/>
          <a:ext cx="7452360" cy="2730432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726180">
                  <a:extLst>
                    <a:ext uri="{9D8B030D-6E8A-4147-A177-3AD203B41FA5}">
                      <a16:colId xmlns:a16="http://schemas.microsoft.com/office/drawing/2014/main" val="1193585363"/>
                    </a:ext>
                  </a:extLst>
                </a:gridCol>
                <a:gridCol w="3726180">
                  <a:extLst>
                    <a:ext uri="{9D8B030D-6E8A-4147-A177-3AD203B41FA5}">
                      <a16:colId xmlns:a16="http://schemas.microsoft.com/office/drawing/2014/main" val="1620519415"/>
                    </a:ext>
                  </a:extLst>
                </a:gridCol>
              </a:tblGrid>
              <a:tr h="682608">
                <a:tc>
                  <a:txBody>
                    <a:bodyPr/>
                    <a:lstStyle/>
                    <a:p>
                      <a:r>
                        <a:rPr lang="en-US" dirty="0"/>
                        <a:t>UX (User Experience)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97204"/>
                  </a:ext>
                </a:extLst>
              </a:tr>
              <a:tr h="682608">
                <a:tc>
                  <a:txBody>
                    <a:bodyPr/>
                    <a:lstStyle/>
                    <a:p>
                      <a:r>
                        <a:rPr lang="en-US"/>
                        <a:t>Overall experience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Ease of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590960"/>
                  </a:ext>
                </a:extLst>
              </a:tr>
              <a:tr h="682608">
                <a:tc>
                  <a:txBody>
                    <a:bodyPr/>
                    <a:lstStyle/>
                    <a:p>
                      <a:r>
                        <a:rPr lang="en-US"/>
                        <a:t>Emotions &amp; satisfaction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Efficiency &amp; effectiveness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653484"/>
                  </a:ext>
                </a:extLst>
              </a:tr>
              <a:tr h="682608">
                <a:tc>
                  <a:txBody>
                    <a:bodyPr/>
                    <a:lstStyle/>
                    <a:p>
                      <a:r>
                        <a:rPr lang="en-US" dirty="0"/>
                        <a:t>Broader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 of 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74891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33450" y="1581744"/>
            <a:ext cx="102679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UX (User Experience) includes the complete overall experience of the user.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Usability focuses only on how easy a system is to use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5114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Jakob</a:t>
            </a:r>
            <a:r>
              <a:rPr lang="en-US" b="1" dirty="0" smtClean="0"/>
              <a:t> Nielsen’s 10 Usability Heuristics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1190625"/>
            <a:ext cx="11325225" cy="5162550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Visibility of system status</a:t>
            </a:r>
            <a:r>
              <a:rPr lang="en-US" dirty="0" smtClean="0"/>
              <a:t> – Show users what’s happening (e.g., loading bars).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Match system &amp; real world</a:t>
            </a:r>
            <a:r>
              <a:rPr lang="en-US" dirty="0" smtClean="0"/>
              <a:t> – Use familiar words, visuals and concepts.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User control &amp; freedom</a:t>
            </a:r>
            <a:r>
              <a:rPr lang="en-US" dirty="0" smtClean="0"/>
              <a:t> – Let users undo/redo actions easily.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Consistency &amp; standards</a:t>
            </a:r>
            <a:r>
              <a:rPr lang="en-US" dirty="0" smtClean="0"/>
              <a:t> – Keep design uniform and predictable (sight icons).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Error prevention</a:t>
            </a:r>
            <a:r>
              <a:rPr lang="en-US" dirty="0" smtClean="0"/>
              <a:t> – Avoid mistakes before they happen.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Recognition over recall</a:t>
            </a:r>
            <a:r>
              <a:rPr lang="en-US" dirty="0" smtClean="0"/>
              <a:t> – Make options visible; reduce memory load.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Flexibility &amp; efficiency</a:t>
            </a:r>
            <a:r>
              <a:rPr lang="en-US" dirty="0" smtClean="0"/>
              <a:t> – Support both beginners and experts (use shortcuts).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Minimalist design</a:t>
            </a:r>
            <a:r>
              <a:rPr lang="en-US" dirty="0" smtClean="0"/>
              <a:t> – Keep interface simple and uncluttered.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Help users recover from errors</a:t>
            </a:r>
            <a:r>
              <a:rPr lang="en-US" dirty="0" smtClean="0"/>
              <a:t> – Give clear, helpful error messages.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Help &amp; documentation</a:t>
            </a:r>
            <a:r>
              <a:rPr lang="en-US" dirty="0" smtClean="0"/>
              <a:t> – Provide guidance when needed.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2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Nielsen's 10 Usability Heuristics (Explained for Modern SaaS, with Real  Example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6"/>
            <a:ext cx="12192000" cy="685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7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 smtClean="0">
                <a:latin typeface="Arial" panose="020B0604020202020204" pitchFamily="34" charset="0"/>
              </a:rPr>
              <a:t>A </a:t>
            </a:r>
            <a:r>
              <a:rPr lang="en-US" altLang="en-US" sz="2000" b="1" dirty="0">
                <a:latin typeface="Arial" panose="020B0604020202020204" pitchFamily="34" charset="0"/>
              </a:rPr>
              <a:t>drawing/painting application</a:t>
            </a:r>
            <a:r>
              <a:rPr lang="en-US" altLang="en-US" sz="2000" dirty="0">
                <a:latin typeface="Arial" panose="020B0604020202020204" pitchFamily="34" charset="0"/>
              </a:rPr>
              <a:t> (like </a:t>
            </a:r>
            <a:r>
              <a:rPr lang="en-US" altLang="en-US" sz="2000" dirty="0" smtClean="0">
                <a:latin typeface="Arial" panose="020B0604020202020204" pitchFamily="34" charset="0"/>
              </a:rPr>
              <a:t>MS Paint) </a:t>
            </a:r>
            <a:br>
              <a:rPr lang="en-US" altLang="en-US" sz="2000" dirty="0" smtClean="0">
                <a:latin typeface="Arial" panose="020B0604020202020204" pitchFamily="34" charset="0"/>
              </a:rPr>
            </a:br>
            <a:r>
              <a:rPr lang="en-US" altLang="en-US" sz="2000" dirty="0" smtClean="0">
                <a:latin typeface="Arial" panose="020B0604020202020204" pitchFamily="34" charset="0"/>
              </a:rPr>
              <a:t/>
            </a:r>
            <a:br>
              <a:rPr lang="en-US" altLang="en-US" sz="2000" dirty="0" smtClean="0">
                <a:latin typeface="Arial" panose="020B0604020202020204" pitchFamily="34" charset="0"/>
              </a:rPr>
            </a:br>
            <a:endParaRPr lang="en-US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161517"/>
              </p:ext>
            </p:extLst>
          </p:nvPr>
        </p:nvGraphicFramePr>
        <p:xfrm>
          <a:off x="838197" y="1333496"/>
          <a:ext cx="11077578" cy="5029206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352803">
                  <a:extLst>
                    <a:ext uri="{9D8B030D-6E8A-4147-A177-3AD203B41FA5}">
                      <a16:colId xmlns:a16="http://schemas.microsoft.com/office/drawing/2014/main" val="24539823"/>
                    </a:ext>
                  </a:extLst>
                </a:gridCol>
                <a:gridCol w="7724775">
                  <a:extLst>
                    <a:ext uri="{9D8B030D-6E8A-4147-A177-3AD203B41FA5}">
                      <a16:colId xmlns:a16="http://schemas.microsoft.com/office/drawing/2014/main" val="2472011063"/>
                    </a:ext>
                  </a:extLst>
                </a:gridCol>
              </a:tblGrid>
              <a:tr h="379563">
                <a:tc>
                  <a:txBody>
                    <a:bodyPr/>
                    <a:lstStyle/>
                    <a:p>
                      <a:r>
                        <a:rPr lang="en-US" sz="1600" b="1" dirty="0"/>
                        <a:t>Heuristic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Example in Drawing App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898935222"/>
                  </a:ext>
                </a:extLst>
              </a:tr>
              <a:tr h="379563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Visibility </a:t>
                      </a:r>
                      <a:r>
                        <a:rPr lang="en-US" sz="1600" dirty="0"/>
                        <a:t>of system status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Show a “Saving…” or “Undo successful” message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665942162"/>
                  </a:ext>
                </a:extLst>
              </a:tr>
              <a:tr h="379563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 Match </a:t>
                      </a:r>
                      <a:r>
                        <a:rPr lang="en-US" sz="1600" dirty="0"/>
                        <a:t>system &amp; real world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Tool names like “Brush,” “Eraser,” “Fill”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640931916"/>
                  </a:ext>
                </a:extLst>
              </a:tr>
              <a:tr h="379563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3. User </a:t>
                      </a:r>
                      <a:r>
                        <a:rPr lang="en-US" sz="1600" dirty="0"/>
                        <a:t>control &amp; freedom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Undo/redo strokes anytime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82820551"/>
                  </a:ext>
                </a:extLst>
              </a:tr>
              <a:tr h="379563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4. Consistency </a:t>
                      </a:r>
                      <a:r>
                        <a:rPr lang="en-US" sz="1600" dirty="0"/>
                        <a:t>&amp; standards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Same icon shapes/colors for tools across menus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45528419"/>
                  </a:ext>
                </a:extLst>
              </a:tr>
              <a:tr h="379563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 Error </a:t>
                      </a:r>
                      <a:r>
                        <a:rPr lang="en-US" sz="1600" dirty="0"/>
                        <a:t>prevention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Warn before closing unsaved drawings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326657343"/>
                  </a:ext>
                </a:extLst>
              </a:tr>
              <a:tr h="66423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 Recognition </a:t>
                      </a:r>
                      <a:r>
                        <a:rPr lang="en-US" sz="1600" dirty="0"/>
                        <a:t>over recall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Show icons for tools instead of making user remember commands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955251856"/>
                  </a:ext>
                </a:extLst>
              </a:tr>
              <a:tr h="66423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7. Flexibility </a:t>
                      </a:r>
                      <a:r>
                        <a:rPr lang="en-US" sz="1600" dirty="0"/>
                        <a:t>&amp; efficiency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Keyboard shortcuts for experienced users (Ctrl+Z, Ctrl+Y)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34828471"/>
                  </a:ext>
                </a:extLst>
              </a:tr>
              <a:tr h="66423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8. Minimalist </a:t>
                      </a:r>
                      <a:r>
                        <a:rPr lang="en-US" sz="1600" dirty="0"/>
                        <a:t>design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Only main tools visible; advanced options in side menu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230581909"/>
                  </a:ext>
                </a:extLst>
              </a:tr>
              <a:tr h="379563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9.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Help </a:t>
                      </a:r>
                      <a:r>
                        <a:rPr lang="en-US" sz="1600" dirty="0"/>
                        <a:t>users recover from errors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Prompt to recover last session after a crash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034090805"/>
                  </a:ext>
                </a:extLst>
              </a:tr>
              <a:tr h="379563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10. Help </a:t>
                      </a:r>
                      <a:r>
                        <a:rPr lang="en-US" sz="1600" dirty="0"/>
                        <a:t>&amp; documentation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Built-in tips or quick-start tutorial available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724104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39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Let’s consider a </a:t>
            </a:r>
            <a:r>
              <a:rPr lang="en-US" sz="2000" b="1" dirty="0" smtClean="0"/>
              <a:t>scenario in computer graphics</a:t>
            </a:r>
            <a:r>
              <a:rPr lang="en-US" sz="2000" dirty="0" smtClean="0"/>
              <a:t>, like a </a:t>
            </a:r>
            <a:r>
              <a:rPr lang="en-US" sz="2000" b="1" dirty="0" smtClean="0"/>
              <a:t>3D modeling software</a:t>
            </a:r>
            <a:r>
              <a:rPr lang="en-US" sz="2000" dirty="0" smtClean="0"/>
              <a:t> (e.g., something like Blender or Autodesk Maya). Here’s how </a:t>
            </a:r>
            <a:r>
              <a:rPr lang="en-US" sz="2000" b="1" dirty="0" err="1" smtClean="0"/>
              <a:t>Jakob</a:t>
            </a:r>
            <a:r>
              <a:rPr lang="en-US" sz="2000" b="1" dirty="0" smtClean="0"/>
              <a:t> Nielsen’s 10 usability heuristics</a:t>
            </a:r>
            <a:r>
              <a:rPr lang="en-US" sz="2000" dirty="0" smtClean="0"/>
              <a:t> can be applied:</a:t>
            </a:r>
            <a:endParaRPr lang="en-US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172440"/>
              </p:ext>
            </p:extLst>
          </p:nvPr>
        </p:nvGraphicFramePr>
        <p:xfrm>
          <a:off x="838200" y="1495430"/>
          <a:ext cx="10315576" cy="508634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1174889263"/>
                    </a:ext>
                  </a:extLst>
                </a:gridCol>
                <a:gridCol w="6638926">
                  <a:extLst>
                    <a:ext uri="{9D8B030D-6E8A-4147-A177-3AD203B41FA5}">
                      <a16:colId xmlns:a16="http://schemas.microsoft.com/office/drawing/2014/main" val="3294748305"/>
                    </a:ext>
                  </a:extLst>
                </a:gridCol>
              </a:tblGrid>
              <a:tr h="462395">
                <a:tc>
                  <a:txBody>
                    <a:bodyPr/>
                    <a:lstStyle/>
                    <a:p>
                      <a:r>
                        <a:rPr lang="en-US" b="1" dirty="0"/>
                        <a:t>Heuristic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Example in 3D Graphics Software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983010"/>
                  </a:ext>
                </a:extLst>
              </a:tr>
              <a:tr h="462395">
                <a:tc>
                  <a:txBody>
                    <a:bodyPr/>
                    <a:lstStyle/>
                    <a:p>
                      <a:r>
                        <a:rPr lang="en-US" dirty="0" smtClean="0"/>
                        <a:t>1.Visibility </a:t>
                      </a:r>
                      <a:r>
                        <a:rPr lang="en-US" dirty="0"/>
                        <a:t>of system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Show progress bar when rendering a scene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7374643"/>
                  </a:ext>
                </a:extLst>
              </a:tr>
              <a:tr h="462395">
                <a:tc>
                  <a:txBody>
                    <a:bodyPr/>
                    <a:lstStyle/>
                    <a:p>
                      <a:r>
                        <a:rPr lang="en-US" dirty="0" smtClean="0"/>
                        <a:t>2.Match </a:t>
                      </a:r>
                      <a:r>
                        <a:rPr lang="en-US" dirty="0"/>
                        <a:t>system &amp; real world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Tools named “Move,” “Rotate,” “Scale”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4732402"/>
                  </a:ext>
                </a:extLst>
              </a:tr>
              <a:tr h="462395">
                <a:tc>
                  <a:txBody>
                    <a:bodyPr/>
                    <a:lstStyle/>
                    <a:p>
                      <a:r>
                        <a:rPr lang="en-US" dirty="0" smtClean="0"/>
                        <a:t>3. User </a:t>
                      </a:r>
                      <a:r>
                        <a:rPr lang="en-US" dirty="0"/>
                        <a:t>control &amp; freedom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Undo/redo transformations easily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286901"/>
                  </a:ext>
                </a:extLst>
              </a:tr>
              <a:tr h="462395">
                <a:tc>
                  <a:txBody>
                    <a:bodyPr/>
                    <a:lstStyle/>
                    <a:p>
                      <a:r>
                        <a:rPr lang="en-US" dirty="0" smtClean="0"/>
                        <a:t>4. Consistency </a:t>
                      </a:r>
                      <a:r>
                        <a:rPr lang="en-US" dirty="0"/>
                        <a:t>&amp; standards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Toolbar icons and shortcuts consistent across views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6103601"/>
                  </a:ext>
                </a:extLst>
              </a:tr>
              <a:tr h="462395">
                <a:tc>
                  <a:txBody>
                    <a:bodyPr/>
                    <a:lstStyle/>
                    <a:p>
                      <a:r>
                        <a:rPr lang="en-US" dirty="0" smtClean="0"/>
                        <a:t>5. Error </a:t>
                      </a:r>
                      <a:r>
                        <a:rPr lang="en-US" dirty="0"/>
                        <a:t>prevention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Confirm before deleting main camera or light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085411"/>
                  </a:ext>
                </a:extLst>
              </a:tr>
              <a:tr h="462395">
                <a:tc>
                  <a:txBody>
                    <a:bodyPr/>
                    <a:lstStyle/>
                    <a:p>
                      <a:r>
                        <a:rPr lang="en-US" dirty="0" smtClean="0"/>
                        <a:t>6. Recognition </a:t>
                      </a:r>
                      <a:r>
                        <a:rPr lang="en-US" dirty="0"/>
                        <a:t>over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Show icons for common actions like extrude or bevel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719234"/>
                  </a:ext>
                </a:extLst>
              </a:tr>
              <a:tr h="462395">
                <a:tc>
                  <a:txBody>
                    <a:bodyPr/>
                    <a:lstStyle/>
                    <a:p>
                      <a:r>
                        <a:rPr lang="en-US" dirty="0" smtClean="0"/>
                        <a:t>7. Flexibility </a:t>
                      </a:r>
                      <a:r>
                        <a:rPr lang="en-US" dirty="0"/>
                        <a:t>&amp;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Shortcuts for experts, drag tools for beginners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15868"/>
                  </a:ext>
                </a:extLst>
              </a:tr>
              <a:tr h="462395">
                <a:tc>
                  <a:txBody>
                    <a:bodyPr/>
                    <a:lstStyle/>
                    <a:p>
                      <a:r>
                        <a:rPr lang="en-US" dirty="0" smtClean="0"/>
                        <a:t>8. Minimalist </a:t>
                      </a:r>
                      <a:r>
                        <a:rPr lang="en-US" dirty="0"/>
                        <a:t>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Only essential panels shown; extras in menus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6230370"/>
                  </a:ext>
                </a:extLst>
              </a:tr>
              <a:tr h="462395">
                <a:tc>
                  <a:txBody>
                    <a:bodyPr/>
                    <a:lstStyle/>
                    <a:p>
                      <a:r>
                        <a:rPr lang="en-US" dirty="0" smtClean="0"/>
                        <a:t>9. Help </a:t>
                      </a:r>
                      <a:r>
                        <a:rPr lang="en-US" dirty="0"/>
                        <a:t>users recover from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Suggest how to relink missing textures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23238"/>
                  </a:ext>
                </a:extLst>
              </a:tr>
              <a:tr h="462395">
                <a:tc>
                  <a:txBody>
                    <a:bodyPr/>
                    <a:lstStyle/>
                    <a:p>
                      <a:r>
                        <a:rPr lang="en-US" dirty="0" smtClean="0"/>
                        <a:t>10. Help </a:t>
                      </a:r>
                      <a:r>
                        <a:rPr lang="en-US" dirty="0"/>
                        <a:t>&amp;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Tooltips and tutorials accessible from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89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74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Good UX Example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Features of good design:</a:t>
            </a:r>
          </a:p>
          <a:p>
            <a:pPr lvl="1"/>
            <a:r>
              <a:rPr lang="en-US" dirty="0" smtClean="0"/>
              <a:t>Clear navigation</a:t>
            </a:r>
          </a:p>
          <a:p>
            <a:pPr lvl="1"/>
            <a:r>
              <a:rPr lang="en-US" dirty="0" smtClean="0"/>
              <a:t>Simple layout</a:t>
            </a:r>
          </a:p>
          <a:p>
            <a:pPr lvl="1"/>
            <a:r>
              <a:rPr lang="en-US" dirty="0" smtClean="0"/>
              <a:t>Fast response</a:t>
            </a:r>
          </a:p>
          <a:p>
            <a:pPr lvl="1"/>
            <a:r>
              <a:rPr lang="en-US" dirty="0" smtClean="0"/>
              <a:t>Clear feedback</a:t>
            </a:r>
          </a:p>
          <a:p>
            <a:r>
              <a:rPr lang="en-US" dirty="0" smtClean="0"/>
              <a:t>Result:</a:t>
            </a:r>
            <a:br>
              <a:rPr lang="en-US" dirty="0" smtClean="0"/>
            </a:br>
            <a:r>
              <a:rPr lang="en-US" dirty="0" smtClean="0"/>
              <a:t>✔ Users feel comfortable</a:t>
            </a:r>
            <a:br>
              <a:rPr lang="en-US" dirty="0" smtClean="0"/>
            </a:br>
            <a:r>
              <a:rPr lang="en-US" dirty="0" smtClean="0"/>
              <a:t>✔ Fewer mistakes</a:t>
            </a:r>
          </a:p>
          <a:p>
            <a:endParaRPr lang="en-US" dirty="0"/>
          </a:p>
        </p:txBody>
      </p:sp>
      <p:sp>
        <p:nvSpPr>
          <p:cNvPr id="5" name="AutoShape 4" descr="Eye-Opening Examples of Good &amp; Bad UX Desig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237" y="1027906"/>
            <a:ext cx="6224587" cy="521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61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Bad UX Example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Problems:</a:t>
            </a:r>
          </a:p>
          <a:p>
            <a:pPr lvl="1"/>
            <a:r>
              <a:rPr lang="en-US" dirty="0" smtClean="0"/>
              <a:t>Too many buttons</a:t>
            </a:r>
          </a:p>
          <a:p>
            <a:pPr lvl="1"/>
            <a:r>
              <a:rPr lang="en-US" dirty="0" smtClean="0"/>
              <a:t>Confusing menu</a:t>
            </a:r>
          </a:p>
          <a:p>
            <a:pPr lvl="1"/>
            <a:r>
              <a:rPr lang="en-US" dirty="0" smtClean="0"/>
              <a:t>No feedback</a:t>
            </a:r>
          </a:p>
          <a:p>
            <a:pPr lvl="1"/>
            <a:r>
              <a:rPr lang="en-US" dirty="0" smtClean="0"/>
              <a:t>Small text</a:t>
            </a:r>
          </a:p>
          <a:p>
            <a:r>
              <a:rPr lang="en-US" dirty="0" smtClean="0"/>
              <a:t>Result:</a:t>
            </a:r>
            <a:br>
              <a:rPr lang="en-US" dirty="0" smtClean="0"/>
            </a:br>
            <a:r>
              <a:rPr lang="en-US" dirty="0" smtClean="0"/>
              <a:t>❌ User frustration</a:t>
            </a:r>
            <a:br>
              <a:rPr lang="en-US" dirty="0" smtClean="0"/>
            </a:br>
            <a:r>
              <a:rPr lang="en-US" dirty="0" smtClean="0"/>
              <a:t>❌ High error rate</a:t>
            </a:r>
          </a:p>
          <a:p>
            <a:endParaRPr lang="en-US" dirty="0"/>
          </a:p>
        </p:txBody>
      </p:sp>
      <p:pic>
        <p:nvPicPr>
          <p:cNvPr id="16386" name="Picture 2" descr="15 Bad UX Design Examples That Fails And How to Fix 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424" y="437356"/>
            <a:ext cx="7016751" cy="5969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90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Multi-ethnic Group People Activity Concept Stock Photo 229793107 | 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9"/>
          <a:stretch/>
        </p:blipFill>
        <p:spPr bwMode="auto">
          <a:xfrm>
            <a:off x="0" y="137794"/>
            <a:ext cx="12192000" cy="6720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448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Visibility of system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4197"/>
            <a:ext cx="3523720" cy="447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Match between system and the real world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4450"/>
            <a:ext cx="36957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1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User control and freedom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819525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3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Consistency and standards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2563"/>
            <a:ext cx="67437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0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Error prevention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1607"/>
            <a:ext cx="416242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64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Recognition </a:t>
            </a:r>
            <a:r>
              <a:rPr lang="en-US" dirty="0"/>
              <a:t>rather than </a:t>
            </a:r>
            <a:r>
              <a:rPr lang="en-US" dirty="0" err="1"/>
              <a:t>recal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475923" cy="398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34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Flexibility and efficiency of use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038600" cy="455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Aesthetic and minimalist design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943" y="1536065"/>
            <a:ext cx="38870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4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9. Help users recognize, diagnose, and recover from errors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5438"/>
            <a:ext cx="4219575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43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Help and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7169"/>
            <a:ext cx="402907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50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1" y="519083"/>
            <a:ext cx="7369492" cy="576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6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51080" cy="706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6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85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8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6684"/>
            <a:ext cx="11780520" cy="699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6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96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8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914</Words>
  <Application>Microsoft Office PowerPoint</Application>
  <PresentationFormat>Widescreen</PresentationFormat>
  <Paragraphs>166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Introduction to HCI and User-Centered Design</vt:lpstr>
      <vt:lpstr>Lecture 2</vt:lpstr>
      <vt:lpstr> Introduction to User-Centered Design</vt:lpstr>
      <vt:lpstr>User-Centered Design Principles</vt:lpstr>
      <vt:lpstr>User-Centered Design Principles</vt:lpstr>
      <vt:lpstr>Improving the System Based on User Needs</vt:lpstr>
      <vt:lpstr>Cognitive Models </vt:lpstr>
      <vt:lpstr>Mental Workload </vt:lpstr>
      <vt:lpstr>UX vs Usability</vt:lpstr>
      <vt:lpstr>Jakob Nielsen’s 10 Usability Heuristics </vt:lpstr>
      <vt:lpstr>PowerPoint Presentation</vt:lpstr>
      <vt:lpstr>A drawing/painting application (like MS Paint)   </vt:lpstr>
      <vt:lpstr>Let’s consider a scenario in computer graphics, like a 3D modeling software (e.g., something like Blender or Autodesk Maya). Here’s how Jakob Nielsen’s 10 usability heuristics can be applied:</vt:lpstr>
      <vt:lpstr>Good UX Example </vt:lpstr>
      <vt:lpstr>Bad UX Example </vt:lpstr>
      <vt:lpstr>PowerPoint Presentation</vt:lpstr>
      <vt:lpstr>1. Visibility of system status</vt:lpstr>
      <vt:lpstr>2. Match between system and the real world </vt:lpstr>
      <vt:lpstr>3. User control and freedom </vt:lpstr>
      <vt:lpstr>4. Consistency and standards </vt:lpstr>
      <vt:lpstr>5. Error prevention </vt:lpstr>
      <vt:lpstr>6. Recognition rather than recal </vt:lpstr>
      <vt:lpstr>7. Flexibility and efficiency of use </vt:lpstr>
      <vt:lpstr>8. Aesthetic and minimalist design</vt:lpstr>
      <vt:lpstr>9. Help users recognize, diagnose, and recover from errors </vt:lpstr>
      <vt:lpstr>10. Help and documentation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Sabina</dc:creator>
  <cp:lastModifiedBy>Sabina</cp:lastModifiedBy>
  <cp:revision>129</cp:revision>
  <dcterms:created xsi:type="dcterms:W3CDTF">2026-03-03T08:04:19Z</dcterms:created>
  <dcterms:modified xsi:type="dcterms:W3CDTF">2026-03-05T06:44:28Z</dcterms:modified>
</cp:coreProperties>
</file>