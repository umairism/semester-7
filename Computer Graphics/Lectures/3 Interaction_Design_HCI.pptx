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uman Computer Interaction (HCI) Guide w/Examples | UXtwea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12"/>
          <a:stretch/>
        </p:blipFill>
        <p:spPr bwMode="auto">
          <a:xfrm>
            <a:off x="1" y="0"/>
            <a:ext cx="9144000" cy="672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96240" y="1447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5400" dirty="0" smtClean="0"/>
              <a:t>Interaction Design &amp; Prototyping in HCI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71534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Interaction </a:t>
            </a:r>
            <a:r>
              <a:rPr lang="en-US" b="1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Focuses </a:t>
            </a:r>
            <a:r>
              <a:rPr lang="en-US" dirty="0"/>
              <a:t>on </a:t>
            </a:r>
            <a:r>
              <a:rPr lang="en-US" b="1" dirty="0"/>
              <a:t>how users interact with a system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Goals:</a:t>
            </a:r>
          </a:p>
          <a:p>
            <a:pPr marL="457200" lvl="1" indent="0">
              <a:buNone/>
            </a:pPr>
            <a:r>
              <a:rPr lang="en-US" dirty="0"/>
              <a:t>Make interfaces </a:t>
            </a:r>
            <a:r>
              <a:rPr lang="en-US" b="1" dirty="0"/>
              <a:t>intuitive and user-friendly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dirty="0"/>
              <a:t>Support users’ </a:t>
            </a:r>
            <a:r>
              <a:rPr lang="en-US" b="1" dirty="0"/>
              <a:t>tasks and goals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Key Elements:</a:t>
            </a:r>
          </a:p>
          <a:p>
            <a:pPr marL="457200" lvl="1" indent="0">
              <a:buNone/>
            </a:pPr>
            <a:r>
              <a:rPr lang="en-US" b="1" dirty="0"/>
              <a:t>Consistency</a:t>
            </a:r>
            <a:r>
              <a:rPr lang="en-US" dirty="0"/>
              <a:t> – Similar actions should behave similarly.</a:t>
            </a:r>
          </a:p>
          <a:p>
            <a:pPr marL="457200" lvl="1" indent="0">
              <a:buNone/>
            </a:pPr>
            <a:r>
              <a:rPr lang="en-US" b="1" dirty="0"/>
              <a:t>Feedback</a:t>
            </a:r>
            <a:r>
              <a:rPr lang="en-US" dirty="0"/>
              <a:t> – Users should know what’s happening (e.g., loading spinner).</a:t>
            </a:r>
          </a:p>
          <a:p>
            <a:pPr marL="457200" lvl="1" indent="0">
              <a:buNone/>
            </a:pPr>
            <a:r>
              <a:rPr lang="en-US" b="1" dirty="0"/>
              <a:t>Affordances</a:t>
            </a:r>
            <a:r>
              <a:rPr lang="en-US" dirty="0"/>
              <a:t> – Visual clues showing how to interact (e.g., buttons).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The Process of Interaction </a:t>
            </a:r>
            <a:r>
              <a:rPr lang="en-US" b="1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Understanding </a:t>
            </a:r>
            <a:r>
              <a:rPr lang="en-US" b="1" dirty="0"/>
              <a:t>Users</a:t>
            </a:r>
            <a:r>
              <a:rPr lang="en-US" dirty="0"/>
              <a:t> – Research target users, their tasks, and goals.</a:t>
            </a:r>
          </a:p>
          <a:p>
            <a:pPr marL="0" indent="0">
              <a:buNone/>
            </a:pPr>
            <a:r>
              <a:rPr lang="en-US" b="1" dirty="0"/>
              <a:t>Design Requirements</a:t>
            </a:r>
            <a:r>
              <a:rPr lang="en-US" dirty="0"/>
              <a:t> – Define what the system should do.</a:t>
            </a:r>
          </a:p>
          <a:p>
            <a:pPr marL="0" indent="0">
              <a:buNone/>
            </a:pPr>
            <a:r>
              <a:rPr lang="en-US" b="1" dirty="0"/>
              <a:t>Design Solutions</a:t>
            </a:r>
            <a:r>
              <a:rPr lang="en-US" dirty="0"/>
              <a:t> – Sketch ideas and layouts.</a:t>
            </a:r>
          </a:p>
          <a:p>
            <a:pPr marL="0" indent="0">
              <a:buNone/>
            </a:pPr>
            <a:r>
              <a:rPr lang="en-US" b="1" dirty="0"/>
              <a:t>Prototyping</a:t>
            </a:r>
            <a:r>
              <a:rPr lang="en-US" dirty="0"/>
              <a:t> – Create interactive models.</a:t>
            </a:r>
          </a:p>
          <a:p>
            <a:pPr marL="0" indent="0">
              <a:buNone/>
            </a:pPr>
            <a:r>
              <a:rPr lang="en-US" b="1" dirty="0"/>
              <a:t>Evaluation &amp; Iteration</a:t>
            </a:r>
            <a:r>
              <a:rPr lang="en-US" dirty="0"/>
              <a:t> – Test with users and improve.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Paper Prototyping &amp; Digital </a:t>
            </a:r>
            <a:r>
              <a:rPr lang="en-US" b="1" dirty="0" err="1" smtClean="0"/>
              <a:t>Wireframing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Paper </a:t>
            </a:r>
            <a:r>
              <a:rPr lang="en-US" b="1" dirty="0"/>
              <a:t>Prototyping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Quick sketches on paper.</a:t>
            </a:r>
          </a:p>
          <a:p>
            <a:pPr marL="457200" lvl="1" indent="0">
              <a:buNone/>
            </a:pPr>
            <a:r>
              <a:rPr lang="en-US" dirty="0"/>
              <a:t>Low-cost, fast iteration.</a:t>
            </a:r>
          </a:p>
          <a:p>
            <a:pPr marL="457200" lvl="1" indent="0">
              <a:buNone/>
            </a:pPr>
            <a:r>
              <a:rPr lang="en-US" dirty="0"/>
              <a:t>Good for </a:t>
            </a:r>
            <a:r>
              <a:rPr lang="en-US" b="1" dirty="0"/>
              <a:t>early-stage ideas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Digital </a:t>
            </a:r>
            <a:r>
              <a:rPr lang="en-US" b="1" dirty="0" err="1"/>
              <a:t>Wireframing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Tools: </a:t>
            </a:r>
            <a:r>
              <a:rPr lang="en-US" b="1" dirty="0" err="1"/>
              <a:t>Figma</a:t>
            </a:r>
            <a:r>
              <a:rPr lang="en-US" dirty="0"/>
              <a:t>, </a:t>
            </a:r>
            <a:r>
              <a:rPr lang="en-US" b="1" dirty="0"/>
              <a:t>Adobe XD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dirty="0"/>
              <a:t>Create interactive mockups.</a:t>
            </a:r>
          </a:p>
          <a:p>
            <a:pPr marL="457200" lvl="1" indent="0">
              <a:buNone/>
            </a:pPr>
            <a:r>
              <a:rPr lang="en-US" dirty="0"/>
              <a:t>Easier to </a:t>
            </a:r>
            <a:r>
              <a:rPr lang="en-US" b="1" dirty="0"/>
              <a:t>share and test</a:t>
            </a:r>
            <a:r>
              <a:rPr lang="en-US" dirty="0"/>
              <a:t> digitally.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 </a:t>
            </a:r>
            <a:r>
              <a:rPr dirty="0" smtClean="0"/>
              <a:t>Low-Fidelity </a:t>
            </a:r>
            <a:r>
              <a:rPr dirty="0"/>
              <a:t>vs. High-Fidelity Prototypes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Low-Fidelity: Simple sketches, minimal interactivity, test concepts, </a:t>
            </a:r>
            <a:r>
              <a:rPr dirty="0" smtClean="0"/>
              <a:t>Paper</a:t>
            </a:r>
            <a:endParaRPr lang="en-US" dirty="0" smtClean="0"/>
          </a:p>
          <a:p>
            <a:r>
              <a:rPr dirty="0" smtClean="0"/>
              <a:t>High-Fidelity</a:t>
            </a:r>
            <a:r>
              <a:rPr dirty="0"/>
              <a:t>: Realistic design, fully interactive, test detailed UI/UX, </a:t>
            </a:r>
            <a:r>
              <a:rPr dirty="0" err="1"/>
              <a:t>Figma</a:t>
            </a:r>
            <a:r>
              <a:rPr dirty="0"/>
              <a:t>/Adobe XD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484924"/>
              </p:ext>
            </p:extLst>
          </p:nvPr>
        </p:nvGraphicFramePr>
        <p:xfrm>
          <a:off x="762000" y="3934691"/>
          <a:ext cx="8229600" cy="233947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19127338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3082913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35789574"/>
                    </a:ext>
                  </a:extLst>
                </a:gridCol>
              </a:tblGrid>
              <a:tr h="467894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Low-Fidelity (Lo-Fi)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High-Fidelity (Hi-Fi)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328253"/>
                  </a:ext>
                </a:extLst>
              </a:tr>
              <a:tr h="467894">
                <a:tc>
                  <a:txBody>
                    <a:bodyPr/>
                    <a:lstStyle/>
                    <a:p>
                      <a:r>
                        <a:rPr lang="en-US"/>
                        <a:t>Appearance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sketches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Realistic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83828"/>
                  </a:ext>
                </a:extLst>
              </a:tr>
              <a:tr h="467894">
                <a:tc>
                  <a:txBody>
                    <a:bodyPr/>
                    <a:lstStyle/>
                    <a:p>
                      <a:r>
                        <a:rPr lang="en-US"/>
                        <a:t>Interactivity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Fully interactive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300620"/>
                  </a:ext>
                </a:extLst>
              </a:tr>
              <a:tr h="467894"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 detailed UI/UX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153273"/>
                  </a:ext>
                </a:extLst>
              </a:tr>
              <a:tr h="467894">
                <a:tc>
                  <a:txBody>
                    <a:bodyPr/>
                    <a:lstStyle/>
                    <a:p>
                      <a:r>
                        <a:rPr lang="en-US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Paper, Balsamiq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Figma</a:t>
                      </a:r>
                      <a:r>
                        <a:rPr lang="en-US" dirty="0"/>
                        <a:t>, Adobe XD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3377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 Case Study: Improving UI of an Existing </a:t>
            </a:r>
            <a:r>
              <a:rPr lang="en-US" b="1" dirty="0" smtClean="0"/>
              <a:t>App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  <a:r>
              <a:rPr lang="en-US" dirty="0"/>
              <a:t>: Redesigning a </a:t>
            </a:r>
            <a:r>
              <a:rPr lang="en-US" b="1" dirty="0"/>
              <a:t>to-do list app</a:t>
            </a:r>
            <a:r>
              <a:rPr lang="en-US" dirty="0"/>
              <a:t>.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Observe user pain points (e.g., </a:t>
            </a:r>
            <a:r>
              <a:rPr lang="en-US" dirty="0" smtClean="0"/>
              <a:t>mixed-up </a:t>
            </a:r>
            <a:r>
              <a:rPr lang="en-US" dirty="0"/>
              <a:t>layout).</a:t>
            </a:r>
          </a:p>
          <a:p>
            <a:pPr lvl="1"/>
            <a:r>
              <a:rPr lang="en-US" dirty="0"/>
              <a:t>Create </a:t>
            </a:r>
            <a:r>
              <a:rPr lang="en-US" b="1" dirty="0"/>
              <a:t>Lo-Fi sketches</a:t>
            </a:r>
            <a:r>
              <a:rPr lang="en-US" dirty="0"/>
              <a:t> of simpler layout.</a:t>
            </a:r>
          </a:p>
          <a:p>
            <a:pPr lvl="1"/>
            <a:r>
              <a:rPr lang="en-US" dirty="0"/>
              <a:t>Build </a:t>
            </a:r>
            <a:r>
              <a:rPr lang="en-US" b="1" dirty="0"/>
              <a:t>Hi-Fi prototype</a:t>
            </a:r>
            <a:r>
              <a:rPr lang="en-US" dirty="0"/>
              <a:t> in </a:t>
            </a:r>
            <a:r>
              <a:rPr lang="en-US" dirty="0" err="1"/>
              <a:t>Figma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Test with users and iterate.</a:t>
            </a:r>
          </a:p>
          <a:p>
            <a:r>
              <a:rPr lang="en-US" dirty="0"/>
              <a:t>Result: Users complete tasks </a:t>
            </a:r>
            <a:r>
              <a:rPr lang="en-US" b="1" dirty="0"/>
              <a:t>faster</a:t>
            </a:r>
            <a:r>
              <a:rPr lang="en-US" dirty="0"/>
              <a:t> and </a:t>
            </a:r>
            <a:r>
              <a:rPr lang="en-US" b="1" dirty="0"/>
              <a:t>with less confusion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 smtClean="0"/>
              <a:t>Case </a:t>
            </a:r>
            <a:r>
              <a:rPr lang="en-US" b="1" dirty="0"/>
              <a:t>Study: Improving UI of a Weather App</a:t>
            </a:r>
          </a:p>
          <a:p>
            <a:pPr algn="just"/>
            <a:r>
              <a:rPr lang="en-US" b="1" dirty="0"/>
              <a:t>Example:</a:t>
            </a:r>
            <a:r>
              <a:rPr lang="en-US" dirty="0"/>
              <a:t> Redesigning a simple weather app.</a:t>
            </a:r>
          </a:p>
          <a:p>
            <a:pPr algn="just"/>
            <a:r>
              <a:rPr lang="en-US" b="1" dirty="0"/>
              <a:t>Steps:</a:t>
            </a:r>
            <a:endParaRPr lang="en-US" dirty="0"/>
          </a:p>
          <a:p>
            <a:pPr algn="just"/>
            <a:r>
              <a:rPr lang="en-US" b="1" dirty="0"/>
              <a:t>Observe user pain points</a:t>
            </a:r>
            <a:r>
              <a:rPr lang="en-US" dirty="0"/>
              <a:t> – Users find the app confusing because the temperature, forecast, and icons are all cluttered.</a:t>
            </a:r>
          </a:p>
          <a:p>
            <a:pPr algn="just"/>
            <a:r>
              <a:rPr lang="en-US" b="1" dirty="0"/>
              <a:t>Create Lo-Fi sketches</a:t>
            </a:r>
            <a:r>
              <a:rPr lang="en-US" dirty="0"/>
              <a:t> – Draw a simple layout showing the temperature at the top, forecast below, and large clear icons.</a:t>
            </a:r>
          </a:p>
          <a:p>
            <a:pPr algn="just"/>
            <a:r>
              <a:rPr lang="en-US" b="1" dirty="0"/>
              <a:t>Build Hi-Fi prototype</a:t>
            </a:r>
            <a:r>
              <a:rPr lang="en-US" dirty="0"/>
              <a:t> – Use </a:t>
            </a:r>
            <a:r>
              <a:rPr lang="en-US" b="1" dirty="0" err="1"/>
              <a:t>Figma</a:t>
            </a:r>
            <a:r>
              <a:rPr lang="en-US" dirty="0"/>
              <a:t> to make an interactive version where users can tap icons to see hourly forecast.</a:t>
            </a:r>
          </a:p>
          <a:p>
            <a:pPr algn="just"/>
            <a:r>
              <a:rPr lang="en-US" b="1" dirty="0"/>
              <a:t>Test &amp; iterate</a:t>
            </a:r>
            <a:r>
              <a:rPr lang="en-US" dirty="0"/>
              <a:t> – Users test the prototype, give feedback, and changes are made to make it even clearer.</a:t>
            </a:r>
          </a:p>
          <a:p>
            <a:pPr algn="just"/>
            <a:r>
              <a:rPr lang="en-US" b="1" dirty="0"/>
              <a:t>Result:</a:t>
            </a:r>
            <a:r>
              <a:rPr lang="en-US" dirty="0"/>
              <a:t> Users can </a:t>
            </a:r>
            <a:r>
              <a:rPr lang="en-US" b="1" dirty="0"/>
              <a:t>check the weather quickly</a:t>
            </a:r>
            <a:r>
              <a:rPr lang="en-US" dirty="0"/>
              <a:t> without confusion.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997" y="184727"/>
            <a:ext cx="8213491" cy="627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1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228600"/>
            <a:ext cx="84677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2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414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1. Interaction Design</vt:lpstr>
      <vt:lpstr>2. The Process of Interaction Design</vt:lpstr>
      <vt:lpstr>3. Paper Prototyping &amp; Digital Wireframing</vt:lpstr>
      <vt:lpstr>4. Low-Fidelity vs. High-Fidelity Prototypes</vt:lpstr>
      <vt:lpstr>5. Case Study: Improving UI of an Existing App</vt:lpstr>
      <vt:lpstr>EXAMPLE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Sabina</cp:lastModifiedBy>
  <cp:revision>18</cp:revision>
  <dcterms:created xsi:type="dcterms:W3CDTF">2013-01-27T09:14:16Z</dcterms:created>
  <dcterms:modified xsi:type="dcterms:W3CDTF">2026-03-03T11:40:52Z</dcterms:modified>
  <cp:category/>
</cp:coreProperties>
</file>