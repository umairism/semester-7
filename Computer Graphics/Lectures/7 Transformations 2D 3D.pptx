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4" r:id="rId5"/>
    <p:sldId id="259" r:id="rId6"/>
    <p:sldId id="270" r:id="rId7"/>
    <p:sldId id="260" r:id="rId8"/>
    <p:sldId id="266" r:id="rId9"/>
    <p:sldId id="273" r:id="rId10"/>
    <p:sldId id="261" r:id="rId11"/>
    <p:sldId id="271" r:id="rId12"/>
    <p:sldId id="263" r:id="rId13"/>
    <p:sldId id="272" r:id="rId14"/>
    <p:sldId id="262" r:id="rId15"/>
    <p:sldId id="267" r:id="rId16"/>
    <p:sldId id="268" r:id="rId17"/>
    <p:sldId id="269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522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8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8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7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5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3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0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8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35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5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59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0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82153-7E20-46DB-ABE2-B386C4F3E78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11331-1C4C-4BF5-9FC4-F109FD8DC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3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2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What Makes Transformation and Change Efforts Actually Succeed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21" y="404235"/>
            <a:ext cx="11430000" cy="611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8246" y="1471036"/>
            <a:ext cx="9144000" cy="3443864"/>
          </a:xfrm>
        </p:spPr>
        <p:txBody>
          <a:bodyPr>
            <a:normAutofit/>
          </a:bodyPr>
          <a:lstStyle/>
          <a:p>
            <a:r>
              <a:rPr lang="en-US" sz="8800" b="1" dirty="0" smtClean="0"/>
              <a:t>Transformations in Computer Graphics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03746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Introduction to Transformations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Transformation is the application of some mathematical rules to an object or a pixel to bring about some change to it.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This change can be a displacement of an object from one point to another or a change in its size or shape.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Two types of transformations are </a:t>
            </a:r>
          </a:p>
          <a:p>
            <a:pPr marL="11430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Solid body transformations</a:t>
            </a:r>
          </a:p>
          <a:p>
            <a:pPr marL="11430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Affine transformations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9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81" t="31850" r="4306" b="23458"/>
          <a:stretch/>
        </p:blipFill>
        <p:spPr bwMode="auto">
          <a:xfrm>
            <a:off x="181059" y="148033"/>
            <a:ext cx="11733850" cy="6539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819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Affine Transformations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Translation – Move 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Scaling – Resize 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Rotation – Turn 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Reflection – Mirror 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Shearing – Slant object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93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Translation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054" y="1223169"/>
            <a:ext cx="10515600" cy="4351338"/>
          </a:xfrm>
        </p:spPr>
        <p:txBody>
          <a:bodyPr/>
          <a:lstStyle/>
          <a:p>
            <a:r>
              <a:rPr lang="en-US" dirty="0" smtClean="0"/>
              <a:t>Moves an object from one position to another.</a:t>
            </a:r>
          </a:p>
          <a:p>
            <a:r>
              <a:rPr lang="en-US" dirty="0" smtClean="0"/>
              <a:t>Formula (2D): (</a:t>
            </a:r>
            <a:r>
              <a:rPr lang="en-US" dirty="0" err="1" smtClean="0"/>
              <a:t>x′,y</a:t>
            </a:r>
            <a:r>
              <a:rPr lang="en-US" dirty="0" smtClean="0"/>
              <a:t>′)=(</a:t>
            </a:r>
            <a:r>
              <a:rPr lang="en-US" dirty="0" err="1" smtClean="0"/>
              <a:t>x+tx,y+ty</a:t>
            </a:r>
            <a:r>
              <a:rPr lang="en-US" dirty="0" smtClean="0"/>
              <a:t>)</a:t>
            </a:r>
          </a:p>
          <a:p>
            <a:r>
              <a:rPr lang="en-US" dirty="0" smtClean="0"/>
              <a:t>Formula (3D): (</a:t>
            </a:r>
            <a:r>
              <a:rPr lang="en-US" dirty="0" err="1" smtClean="0"/>
              <a:t>x′,y′,z</a:t>
            </a:r>
            <a:r>
              <a:rPr lang="en-US" dirty="0" smtClean="0"/>
              <a:t>′)=(</a:t>
            </a:r>
            <a:r>
              <a:rPr lang="en-US" dirty="0" err="1" smtClean="0"/>
              <a:t>x+tx,y+ty,z+tz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Google Shape;102;p2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56327" y="2789238"/>
            <a:ext cx="8229600" cy="3459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046" y="365125"/>
            <a:ext cx="3599900" cy="193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Translation (Move Object)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64" y="934460"/>
            <a:ext cx="3836700" cy="55871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484" y="1878733"/>
            <a:ext cx="4209986" cy="226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1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Changes the </a:t>
            </a:r>
            <a:r>
              <a:rPr lang="en-US" b="1" dirty="0" smtClean="0"/>
              <a:t>size</a:t>
            </a:r>
            <a:r>
              <a:rPr lang="en-US" dirty="0" smtClean="0"/>
              <a:t> of an object</a:t>
            </a:r>
          </a:p>
          <a:p>
            <a:pPr marL="0" indent="0">
              <a:buNone/>
            </a:pPr>
            <a:r>
              <a:rPr lang="en-US" dirty="0" smtClean="0"/>
              <a:t>Formula (2D): (</a:t>
            </a:r>
            <a:r>
              <a:rPr lang="en-US" dirty="0" err="1" smtClean="0"/>
              <a:t>x′,y</a:t>
            </a:r>
            <a:r>
              <a:rPr lang="en-US" dirty="0" smtClean="0"/>
              <a:t>′)=(</a:t>
            </a:r>
            <a:r>
              <a:rPr lang="en-US" dirty="0" err="1" smtClean="0"/>
              <a:t>x⋅sx,y⋅sy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Formula (3D): (</a:t>
            </a:r>
            <a:r>
              <a:rPr lang="en-US" dirty="0" err="1" smtClean="0"/>
              <a:t>x′,y′,z</a:t>
            </a:r>
            <a:r>
              <a:rPr lang="en-US" dirty="0" smtClean="0"/>
              <a:t>′)=(</a:t>
            </a:r>
            <a:r>
              <a:rPr lang="en-US" dirty="0" err="1" smtClean="0"/>
              <a:t>x⋅sx,y⋅sy,z⋅sz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2050" name="Picture 2" descr="2D Transformation in Computer Graphics | Set 1 (Scaling of Objects) - 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102" y="3413557"/>
            <a:ext cx="4772025" cy="250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764" y="753161"/>
            <a:ext cx="3798410" cy="20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2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 smtClean="0"/>
              <a:t>Types of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Uniform vs Non-uniform scaling </a:t>
            </a:r>
          </a:p>
          <a:p>
            <a:r>
              <a:rPr lang="en-US" dirty="0" smtClean="0"/>
              <a:t>Uniform Scaling-&gt; x and y are same</a:t>
            </a:r>
          </a:p>
          <a:p>
            <a:r>
              <a:rPr lang="en-US" dirty="0" smtClean="0"/>
              <a:t>Non uniform scaling -&gt; x and y are not same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351" y="3408218"/>
            <a:ext cx="7156739" cy="327526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526473" y="3676073"/>
            <a:ext cx="1737878" cy="9698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526473" y="5387522"/>
            <a:ext cx="1737878" cy="969818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8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27" y="365125"/>
            <a:ext cx="5205846" cy="6137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891" y="365125"/>
            <a:ext cx="4050546" cy="214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Rotation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Rotates object about a point (2D) or axis (3D)</a:t>
            </a:r>
          </a:p>
          <a:p>
            <a:r>
              <a:rPr lang="en-US" dirty="0" smtClean="0"/>
              <a:t>2D Formula (rotation about origin):</a:t>
            </a:r>
          </a:p>
          <a:p>
            <a:r>
              <a:rPr lang="en-US" dirty="0" smtClean="0"/>
              <a:t>2D: </a:t>
            </a:r>
          </a:p>
          <a:p>
            <a:pPr lvl="1"/>
            <a:r>
              <a:rPr lang="en-US" dirty="0" smtClean="0"/>
              <a:t>x′=</a:t>
            </a:r>
            <a:r>
              <a:rPr lang="en-US" dirty="0" err="1" smtClean="0"/>
              <a:t>xcos</a:t>
            </a:r>
            <a:r>
              <a:rPr lang="en-US" dirty="0" smtClean="0"/>
              <a:t>⁡</a:t>
            </a:r>
            <a:r>
              <a:rPr lang="el-GR" dirty="0" smtClean="0"/>
              <a:t>θ−</a:t>
            </a:r>
            <a:r>
              <a:rPr lang="en-US" dirty="0" err="1" smtClean="0"/>
              <a:t>ysin</a:t>
            </a:r>
            <a:r>
              <a:rPr lang="en-US" dirty="0" smtClean="0"/>
              <a:t>⁡</a:t>
            </a:r>
            <a:r>
              <a:rPr lang="el-GR" dirty="0" smtClean="0"/>
              <a:t>θ,</a:t>
            </a:r>
            <a:endParaRPr lang="en-US" dirty="0" smtClean="0"/>
          </a:p>
          <a:p>
            <a:pPr lvl="1"/>
            <a:r>
              <a:rPr lang="en-US" dirty="0" smtClean="0"/>
              <a:t>y′=</a:t>
            </a:r>
            <a:r>
              <a:rPr lang="en-US" dirty="0" err="1" smtClean="0"/>
              <a:t>xsin</a:t>
            </a:r>
            <a:r>
              <a:rPr lang="en-US" dirty="0" smtClean="0"/>
              <a:t>⁡</a:t>
            </a:r>
            <a:r>
              <a:rPr lang="el-GR" dirty="0" smtClean="0"/>
              <a:t>θ+</a:t>
            </a:r>
            <a:r>
              <a:rPr lang="en-US" dirty="0" err="1" smtClean="0"/>
              <a:t>ycos</a:t>
            </a:r>
            <a:r>
              <a:rPr lang="en-US" dirty="0" smtClean="0"/>
              <a:t>⁡</a:t>
            </a:r>
            <a:r>
              <a:rPr lang="el-GR" dirty="0" smtClean="0"/>
              <a:t>θ</a:t>
            </a:r>
            <a:r>
              <a:rPr lang="en-US" dirty="0" smtClean="0"/>
              <a:t>x’</a:t>
            </a:r>
          </a:p>
          <a:p>
            <a:r>
              <a:rPr lang="el-GR" dirty="0" smtClean="0"/>
              <a:t>3</a:t>
            </a:r>
            <a:r>
              <a:rPr lang="en-US" dirty="0" smtClean="0"/>
              <a:t>D: Rotate about X, Y, or Z axis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098" name="Picture 2" descr="Rotation transformations | Transformation geometry | Siyavu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066" y="748145"/>
            <a:ext cx="4111625" cy="542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omputer Graphics - 3D Rotation Transformations - GeeksforGee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127" y="4799189"/>
            <a:ext cx="4470400" cy="201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82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284596"/>
            <a:ext cx="6191105" cy="6362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223" y="915156"/>
            <a:ext cx="4985904" cy="308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4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Shearing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Slants the shape along X or Y axis</a:t>
            </a:r>
          </a:p>
          <a:p>
            <a:r>
              <a:rPr lang="en-US" dirty="0" smtClean="0"/>
              <a:t>Formula (2D):</a:t>
            </a:r>
          </a:p>
          <a:p>
            <a:pPr lvl="1"/>
            <a:r>
              <a:rPr lang="en-US" dirty="0" smtClean="0"/>
              <a:t>X-shear: x′=</a:t>
            </a:r>
            <a:r>
              <a:rPr lang="en-US" dirty="0" err="1" smtClean="0"/>
              <a:t>x+shx⋅y</a:t>
            </a:r>
            <a:endParaRPr lang="en-US" dirty="0" smtClean="0"/>
          </a:p>
          <a:p>
            <a:pPr lvl="1"/>
            <a:r>
              <a:rPr lang="en-US" dirty="0" smtClean="0"/>
              <a:t>shear: y′=</a:t>
            </a:r>
            <a:r>
              <a:rPr lang="en-US" dirty="0" err="1" smtClean="0"/>
              <a:t>y+shy⋅x</a:t>
            </a:r>
            <a:endParaRPr lang="en-US" dirty="0" smtClean="0"/>
          </a:p>
          <a:p>
            <a:pPr lvl="1"/>
            <a:r>
              <a:rPr lang="en-US" dirty="0" smtClean="0"/>
              <a:t>Rectangle skewed to form a parallelogram</a:t>
            </a:r>
          </a:p>
          <a:p>
            <a:endParaRPr lang="en-US" dirty="0"/>
          </a:p>
        </p:txBody>
      </p:sp>
      <p:pic>
        <p:nvPicPr>
          <p:cNvPr id="6146" name="Picture 2" descr="What is a RECTANGLE, anyway? Part 3: Is a Rectangle a Parallelogram? Is a  Parallelogram a Rectangle?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62" r="279" b="28781"/>
          <a:stretch/>
        </p:blipFill>
        <p:spPr bwMode="auto">
          <a:xfrm>
            <a:off x="2954193" y="4165600"/>
            <a:ext cx="8027843" cy="221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112" y="638175"/>
            <a:ext cx="3745923" cy="283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8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7425" y="4994275"/>
            <a:ext cx="1476375" cy="1247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4238625" cy="5876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426" y="469970"/>
            <a:ext cx="4390448" cy="594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9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Reflection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309" y="1437698"/>
            <a:ext cx="10515600" cy="4351338"/>
          </a:xfrm>
        </p:spPr>
        <p:txBody>
          <a:bodyPr/>
          <a:lstStyle/>
          <a:p>
            <a:r>
              <a:rPr lang="en-US" dirty="0" smtClean="0"/>
              <a:t>Mirror image of object across an axis/plane</a:t>
            </a:r>
          </a:p>
          <a:p>
            <a:r>
              <a:rPr lang="en-US" dirty="0" smtClean="0"/>
              <a:t>Common axes: X-axis, Y-axis, origin</a:t>
            </a:r>
          </a:p>
          <a:p>
            <a:r>
              <a:rPr lang="en-US" dirty="0" smtClean="0"/>
              <a:t>3D: Reflection across XY, YZ, or ZX plane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122" name="Picture 2" descr="Reflection of Shapes on Mirror Line | Definition &amp; Examples - Lesson |  Study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793" y="3040750"/>
            <a:ext cx="5247698" cy="3743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52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COMPOSING AFFINE TRANSFORMATIONS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Combination of two or more transformations</a:t>
            </a:r>
          </a:p>
          <a:p>
            <a:r>
              <a:rPr lang="en-US" dirty="0" smtClean="0"/>
              <a:t>Applied one after another on the same object</a:t>
            </a:r>
          </a:p>
          <a:p>
            <a:r>
              <a:rPr lang="en-US" dirty="0" smtClean="0"/>
              <a:t>Order of transformations matters</a:t>
            </a:r>
          </a:p>
          <a:p>
            <a:r>
              <a:rPr lang="en-US" dirty="0" smtClean="0"/>
              <a:t>Implemented using matrix multiplication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8837" lvl="4" indent="-173037">
              <a:spcBef>
                <a:spcPts val="300"/>
              </a:spcBef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translate by (3,  - 4) </a:t>
            </a:r>
            <a:endParaRPr lang="en-US" sz="2000" dirty="0" smtClean="0"/>
          </a:p>
          <a:p>
            <a:pPr marL="858837" lvl="4" indent="-173037">
              <a:spcBef>
                <a:spcPts val="300"/>
              </a:spcBef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rotate by 30</a:t>
            </a:r>
            <a:r>
              <a:rPr lang="en-US" sz="2800" b="0" i="0" u="none" strike="noStrike" cap="none" baseline="30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000" dirty="0" smtClean="0"/>
          </a:p>
          <a:p>
            <a:pPr marL="858837" lvl="4" indent="-173037">
              <a:spcBef>
                <a:spcPts val="300"/>
              </a:spcBef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scale by (2,  - 1)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2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42" name="Picture 2" descr="Composite Transformations | CK-12 Found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" y="157163"/>
            <a:ext cx="11833225" cy="642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23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Sequences of Transform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0"/>
            <a:ext cx="10033000" cy="720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22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22325" y="365125"/>
            <a:ext cx="7521575" cy="54927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mtClean="0">
                <a:ea typeface="Microsoft YaHei" panose="020B0503020204020204" pitchFamily="34" charset="-122"/>
              </a:rPr>
              <a:t>Combining Translation &amp; Rotation</a:t>
            </a:r>
            <a:endParaRPr lang="en-US" altLang="en-US">
              <a:ea typeface="Microsoft YaHei" panose="020B0503020204020204" pitchFamily="34" charset="-122"/>
            </a:endParaRPr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 bwMode="auto">
          <a:xfrm>
            <a:off x="3517900" y="6284913"/>
            <a:ext cx="4724400" cy="274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r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</a:rPr>
              <a:t>INSTRUCTOR: Sabina Irum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8401050" y="6170613"/>
            <a:ext cx="503238" cy="503237"/>
          </a:xfrm>
          <a:noFill/>
          <a:ln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fld id="{B6F45F7F-02E9-4D86-AD80-40F7752FD8CF}" type="slidenum">
              <a:rPr lang="en-US" altLang="en-US">
                <a:solidFill>
                  <a:srgbClr val="FFFFFF"/>
                </a:solidFill>
                <a:latin typeface="Arial" panose="020B0604020202020204" pitchFamily="34" charset="0"/>
              </a:rPr>
              <a:pPr/>
              <a:t>14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1905000" y="2133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1905000" y="3429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V="1">
            <a:off x="1905000" y="4343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1905000" y="5638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 flipV="1">
            <a:off x="5867400" y="4343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5867400" y="5638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 flipV="1">
            <a:off x="5867400" y="2133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5867400" y="3429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846282"/>
              </p:ext>
            </p:extLst>
          </p:nvPr>
        </p:nvGraphicFramePr>
        <p:xfrm>
          <a:off x="561975" y="2590800"/>
          <a:ext cx="8588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r:id="rId3" imgW="381829" imgH="203642" progId="Equation.3">
                  <p:embed/>
                </p:oleObj>
              </mc:Choice>
              <mc:Fallback>
                <p:oleObj r:id="rId3" imgW="381829" imgH="203642" progId="Equation.3">
                  <p:embed/>
                  <p:pic>
                    <p:nvPicPr>
                      <p:cNvPr id="2049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2590800"/>
                        <a:ext cx="8588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127169"/>
              </p:ext>
            </p:extLst>
          </p:nvPr>
        </p:nvGraphicFramePr>
        <p:xfrm>
          <a:off x="385763" y="4876800"/>
          <a:ext cx="10588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5" imgW="470922" imgH="203642" progId="Equation.3">
                  <p:embed/>
                </p:oleObj>
              </mc:Choice>
              <mc:Fallback>
                <p:oleObj r:id="rId5" imgW="470922" imgH="203642" progId="Equation.3">
                  <p:embed/>
                  <p:pic>
                    <p:nvPicPr>
                      <p:cNvPr id="2049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4876800"/>
                        <a:ext cx="105886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500721"/>
              </p:ext>
            </p:extLst>
          </p:nvPr>
        </p:nvGraphicFramePr>
        <p:xfrm>
          <a:off x="4495800" y="2590800"/>
          <a:ext cx="10588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r:id="rId7" imgW="470922" imgH="203642" progId="Equation.3">
                  <p:embed/>
                </p:oleObj>
              </mc:Choice>
              <mc:Fallback>
                <p:oleObj r:id="rId7" imgW="470922" imgH="203642" progId="Equation.3">
                  <p:embed/>
                  <p:pic>
                    <p:nvPicPr>
                      <p:cNvPr id="204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590800"/>
                        <a:ext cx="10588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504449"/>
              </p:ext>
            </p:extLst>
          </p:nvPr>
        </p:nvGraphicFramePr>
        <p:xfrm>
          <a:off x="4627563" y="4876800"/>
          <a:ext cx="8588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" r:id="rId8" imgW="381829" imgH="203642" progId="Equation.3">
                  <p:embed/>
                </p:oleObj>
              </mc:Choice>
              <mc:Fallback>
                <p:oleObj r:id="rId8" imgW="381829" imgH="203642" progId="Equation.3">
                  <p:embed/>
                  <p:pic>
                    <p:nvPicPr>
                      <p:cNvPr id="2049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7563" y="4876800"/>
                        <a:ext cx="8588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4114800" y="2133600"/>
            <a:ext cx="0" cy="457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1905000" y="34290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 flipV="1">
            <a:off x="1905000" y="2819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5867400" y="34290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 flipV="1">
            <a:off x="5867400" y="2819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flipV="1">
            <a:off x="2552700" y="4437063"/>
            <a:ext cx="495300" cy="517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 flipH="1" flipV="1">
            <a:off x="2133600" y="4437063"/>
            <a:ext cx="427038" cy="519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2438400" y="2819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 flipV="1">
            <a:off x="2438400" y="22098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 rot="-2664521">
            <a:off x="5562600" y="2665413"/>
            <a:ext cx="609600" cy="611187"/>
            <a:chOff x="2112" y="2256"/>
            <a:chExt cx="384" cy="385"/>
          </a:xfrm>
        </p:grpSpPr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2112" y="2640"/>
              <a:ext cx="38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 flipV="1">
              <a:off x="2112" y="2256"/>
              <a:ext cx="1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3"/>
          <p:cNvGrpSpPr>
            <a:grpSpLocks/>
          </p:cNvGrpSpPr>
          <p:nvPr/>
        </p:nvGrpSpPr>
        <p:grpSpPr bwMode="auto">
          <a:xfrm rot="-2664521">
            <a:off x="5581650" y="4127500"/>
            <a:ext cx="609600" cy="611188"/>
            <a:chOff x="2112" y="2256"/>
            <a:chExt cx="384" cy="385"/>
          </a:xfrm>
        </p:grpSpPr>
        <p:sp>
          <p:nvSpPr>
            <p:cNvPr id="32" name="Line 34"/>
            <p:cNvSpPr>
              <a:spLocks noChangeShapeType="1"/>
            </p:cNvSpPr>
            <p:nvPr/>
          </p:nvSpPr>
          <p:spPr bwMode="auto">
            <a:xfrm>
              <a:off x="2112" y="2640"/>
              <a:ext cx="38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 flipV="1">
              <a:off x="2112" y="2256"/>
              <a:ext cx="1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278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>
            <a:grpSpLocks/>
          </p:cNvGrpSpPr>
          <p:nvPr/>
        </p:nvGrpSpPr>
        <p:grpSpPr bwMode="auto">
          <a:xfrm>
            <a:off x="1219200" y="5715000"/>
            <a:ext cx="685800" cy="685800"/>
            <a:chOff x="288" y="2448"/>
            <a:chExt cx="432" cy="432"/>
          </a:xfrm>
        </p:grpSpPr>
        <p:sp>
          <p:nvSpPr>
            <p:cNvPr id="80" name="Oval 3"/>
            <p:cNvSpPr>
              <a:spLocks noChangeArrowheads="1"/>
            </p:cNvSpPr>
            <p:nvPr/>
          </p:nvSpPr>
          <p:spPr bwMode="auto">
            <a:xfrm>
              <a:off x="288" y="244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Oval 4"/>
            <p:cNvSpPr>
              <a:spLocks noChangeArrowheads="1"/>
            </p:cNvSpPr>
            <p:nvPr/>
          </p:nvSpPr>
          <p:spPr bwMode="auto">
            <a:xfrm>
              <a:off x="384" y="259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Oval 5"/>
            <p:cNvSpPr>
              <a:spLocks noChangeArrowheads="1"/>
            </p:cNvSpPr>
            <p:nvPr/>
          </p:nvSpPr>
          <p:spPr bwMode="auto">
            <a:xfrm>
              <a:off x="528" y="259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 6"/>
            <p:cNvSpPr>
              <a:spLocks noChangeArrowheads="1"/>
            </p:cNvSpPr>
            <p:nvPr/>
          </p:nvSpPr>
          <p:spPr bwMode="auto">
            <a:xfrm>
              <a:off x="384" y="2733"/>
              <a:ext cx="216" cy="45"/>
            </a:xfrm>
            <a:custGeom>
              <a:avLst/>
              <a:gdLst>
                <a:gd name="T0" fmla="*/ 0 w 216"/>
                <a:gd name="T1" fmla="*/ 18 h 45"/>
                <a:gd name="T2" fmla="*/ 54 w 216"/>
                <a:gd name="T3" fmla="*/ 36 h 45"/>
                <a:gd name="T4" fmla="*/ 81 w 216"/>
                <a:gd name="T5" fmla="*/ 45 h 45"/>
                <a:gd name="T6" fmla="*/ 171 w 216"/>
                <a:gd name="T7" fmla="*/ 36 h 45"/>
                <a:gd name="T8" fmla="*/ 198 w 216"/>
                <a:gd name="T9" fmla="*/ 27 h 45"/>
                <a:gd name="T10" fmla="*/ 216 w 216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"/>
                <a:gd name="T19" fmla="*/ 0 h 45"/>
                <a:gd name="T20" fmla="*/ 216 w 216"/>
                <a:gd name="T21" fmla="*/ 45 h 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" h="45">
                  <a:moveTo>
                    <a:pt x="0" y="18"/>
                  </a:moveTo>
                  <a:cubicBezTo>
                    <a:pt x="18" y="24"/>
                    <a:pt x="36" y="30"/>
                    <a:pt x="54" y="36"/>
                  </a:cubicBezTo>
                  <a:cubicBezTo>
                    <a:pt x="63" y="39"/>
                    <a:pt x="81" y="45"/>
                    <a:pt x="81" y="45"/>
                  </a:cubicBezTo>
                  <a:cubicBezTo>
                    <a:pt x="111" y="42"/>
                    <a:pt x="141" y="41"/>
                    <a:pt x="171" y="36"/>
                  </a:cubicBezTo>
                  <a:cubicBezTo>
                    <a:pt x="180" y="35"/>
                    <a:pt x="191" y="33"/>
                    <a:pt x="198" y="27"/>
                  </a:cubicBezTo>
                  <a:cubicBezTo>
                    <a:pt x="206" y="20"/>
                    <a:pt x="216" y="0"/>
                    <a:pt x="216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4" name="Rectangle 7"/>
          <p:cNvSpPr txBox="1">
            <a:spLocks noChangeArrowheads="1"/>
          </p:cNvSpPr>
          <p:nvPr/>
        </p:nvSpPr>
        <p:spPr bwMode="auto">
          <a:xfrm>
            <a:off x="822325" y="365125"/>
            <a:ext cx="7521575" cy="54927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mtClean="0">
                <a:ea typeface="Microsoft YaHei" panose="020B0503020204020204" pitchFamily="34" charset="-122"/>
              </a:rPr>
              <a:t>Translate Coordinate Frame</a:t>
            </a:r>
            <a:endParaRPr lang="en-US" altLang="en-US">
              <a:ea typeface="Microsoft YaHei" panose="020B0503020204020204" pitchFamily="34" charset="-122"/>
            </a:endParaRPr>
          </a:p>
        </p:txBody>
      </p:sp>
      <p:sp>
        <p:nvSpPr>
          <p:cNvPr id="85" name="Footer Placeholder 1"/>
          <p:cNvSpPr>
            <a:spLocks noGrp="1"/>
          </p:cNvSpPr>
          <p:nvPr>
            <p:ph type="ftr" sz="quarter" idx="11"/>
          </p:nvPr>
        </p:nvSpPr>
        <p:spPr bwMode="auto">
          <a:xfrm>
            <a:off x="3517900" y="6284913"/>
            <a:ext cx="4724400" cy="274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r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</a:rPr>
              <a:t>INSTRUCTOR: Sabina Irum</a:t>
            </a:r>
          </a:p>
        </p:txBody>
      </p:sp>
      <p:sp>
        <p:nvSpPr>
          <p:cNvPr id="86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8401050" y="6170613"/>
            <a:ext cx="503238" cy="503237"/>
          </a:xfrm>
          <a:noFill/>
          <a:ln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fld id="{6E3CE037-9D9D-43C5-A215-D97DDCB8CE82}" type="slidenum">
              <a:rPr lang="en-US" altLang="en-US">
                <a:solidFill>
                  <a:srgbClr val="FFFFFF"/>
                </a:solidFill>
                <a:latin typeface="Arial" panose="020B0604020202020204" pitchFamily="34" charset="0"/>
              </a:rPr>
              <a:pPr/>
              <a:t>18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87" name="Group 8"/>
          <p:cNvGrpSpPr>
            <a:grpSpLocks/>
          </p:cNvGrpSpPr>
          <p:nvPr/>
        </p:nvGrpSpPr>
        <p:grpSpPr bwMode="auto">
          <a:xfrm>
            <a:off x="1384300" y="3200400"/>
            <a:ext cx="3352800" cy="2971800"/>
            <a:chOff x="384" y="1584"/>
            <a:chExt cx="2112" cy="1872"/>
          </a:xfrm>
        </p:grpSpPr>
        <p:sp>
          <p:nvSpPr>
            <p:cNvPr id="88" name="Line 9"/>
            <p:cNvSpPr>
              <a:spLocks noChangeShapeType="1"/>
            </p:cNvSpPr>
            <p:nvPr/>
          </p:nvSpPr>
          <p:spPr bwMode="auto">
            <a:xfrm>
              <a:off x="480" y="1584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10"/>
            <p:cNvSpPr>
              <a:spLocks noChangeShapeType="1"/>
            </p:cNvSpPr>
            <p:nvPr/>
          </p:nvSpPr>
          <p:spPr bwMode="auto">
            <a:xfrm>
              <a:off x="384" y="3408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11"/>
            <p:cNvSpPr>
              <a:spLocks noChangeShapeType="1"/>
            </p:cNvSpPr>
            <p:nvPr/>
          </p:nvSpPr>
          <p:spPr bwMode="auto">
            <a:xfrm>
              <a:off x="672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12"/>
            <p:cNvSpPr>
              <a:spLocks noChangeShapeType="1"/>
            </p:cNvSpPr>
            <p:nvPr/>
          </p:nvSpPr>
          <p:spPr bwMode="auto">
            <a:xfrm>
              <a:off x="816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13"/>
            <p:cNvSpPr>
              <a:spLocks noChangeShapeType="1"/>
            </p:cNvSpPr>
            <p:nvPr/>
          </p:nvSpPr>
          <p:spPr bwMode="auto">
            <a:xfrm>
              <a:off x="960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14"/>
            <p:cNvSpPr>
              <a:spLocks noChangeShapeType="1"/>
            </p:cNvSpPr>
            <p:nvPr/>
          </p:nvSpPr>
          <p:spPr bwMode="auto">
            <a:xfrm>
              <a:off x="1104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15"/>
            <p:cNvSpPr>
              <a:spLocks noChangeShapeType="1"/>
            </p:cNvSpPr>
            <p:nvPr/>
          </p:nvSpPr>
          <p:spPr bwMode="auto">
            <a:xfrm>
              <a:off x="1248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16"/>
            <p:cNvSpPr>
              <a:spLocks noChangeShapeType="1"/>
            </p:cNvSpPr>
            <p:nvPr/>
          </p:nvSpPr>
          <p:spPr bwMode="auto">
            <a:xfrm>
              <a:off x="1392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17"/>
            <p:cNvSpPr>
              <a:spLocks noChangeShapeType="1"/>
            </p:cNvSpPr>
            <p:nvPr/>
          </p:nvSpPr>
          <p:spPr bwMode="auto">
            <a:xfrm>
              <a:off x="1536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18"/>
            <p:cNvSpPr>
              <a:spLocks noChangeShapeType="1"/>
            </p:cNvSpPr>
            <p:nvPr/>
          </p:nvSpPr>
          <p:spPr bwMode="auto">
            <a:xfrm>
              <a:off x="1680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19"/>
            <p:cNvSpPr>
              <a:spLocks noChangeShapeType="1"/>
            </p:cNvSpPr>
            <p:nvPr/>
          </p:nvSpPr>
          <p:spPr bwMode="auto">
            <a:xfrm>
              <a:off x="1824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20"/>
            <p:cNvSpPr>
              <a:spLocks noChangeShapeType="1"/>
            </p:cNvSpPr>
            <p:nvPr/>
          </p:nvSpPr>
          <p:spPr bwMode="auto">
            <a:xfrm>
              <a:off x="1968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21"/>
            <p:cNvSpPr>
              <a:spLocks noChangeShapeType="1"/>
            </p:cNvSpPr>
            <p:nvPr/>
          </p:nvSpPr>
          <p:spPr bwMode="auto">
            <a:xfrm>
              <a:off x="2112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22"/>
            <p:cNvSpPr>
              <a:spLocks noChangeShapeType="1"/>
            </p:cNvSpPr>
            <p:nvPr/>
          </p:nvSpPr>
          <p:spPr bwMode="auto">
            <a:xfrm>
              <a:off x="2256" y="33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23"/>
            <p:cNvSpPr>
              <a:spLocks noChangeShapeType="1"/>
            </p:cNvSpPr>
            <p:nvPr/>
          </p:nvSpPr>
          <p:spPr bwMode="auto">
            <a:xfrm>
              <a:off x="432" y="321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24"/>
            <p:cNvSpPr>
              <a:spLocks noChangeShapeType="1"/>
            </p:cNvSpPr>
            <p:nvPr/>
          </p:nvSpPr>
          <p:spPr bwMode="auto">
            <a:xfrm>
              <a:off x="432" y="312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Line 25"/>
            <p:cNvSpPr>
              <a:spLocks noChangeShapeType="1"/>
            </p:cNvSpPr>
            <p:nvPr/>
          </p:nvSpPr>
          <p:spPr bwMode="auto">
            <a:xfrm>
              <a:off x="432" y="302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26"/>
            <p:cNvSpPr>
              <a:spLocks noChangeShapeType="1"/>
            </p:cNvSpPr>
            <p:nvPr/>
          </p:nvSpPr>
          <p:spPr bwMode="auto">
            <a:xfrm>
              <a:off x="432" y="292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Line 27"/>
            <p:cNvSpPr>
              <a:spLocks noChangeShapeType="1"/>
            </p:cNvSpPr>
            <p:nvPr/>
          </p:nvSpPr>
          <p:spPr bwMode="auto">
            <a:xfrm>
              <a:off x="432" y="283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28"/>
            <p:cNvSpPr>
              <a:spLocks noChangeShapeType="1"/>
            </p:cNvSpPr>
            <p:nvPr/>
          </p:nvSpPr>
          <p:spPr bwMode="auto">
            <a:xfrm>
              <a:off x="432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29"/>
            <p:cNvSpPr>
              <a:spLocks noChangeShapeType="1"/>
            </p:cNvSpPr>
            <p:nvPr/>
          </p:nvSpPr>
          <p:spPr bwMode="auto">
            <a:xfrm>
              <a:off x="432" y="26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30"/>
            <p:cNvSpPr>
              <a:spLocks noChangeShapeType="1"/>
            </p:cNvSpPr>
            <p:nvPr/>
          </p:nvSpPr>
          <p:spPr bwMode="auto">
            <a:xfrm>
              <a:off x="432" y="254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31"/>
            <p:cNvSpPr>
              <a:spLocks noChangeShapeType="1"/>
            </p:cNvSpPr>
            <p:nvPr/>
          </p:nvSpPr>
          <p:spPr bwMode="auto">
            <a:xfrm>
              <a:off x="432" y="244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32"/>
            <p:cNvSpPr>
              <a:spLocks noChangeShapeType="1"/>
            </p:cNvSpPr>
            <p:nvPr/>
          </p:nvSpPr>
          <p:spPr bwMode="auto">
            <a:xfrm>
              <a:off x="432" y="23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33"/>
            <p:cNvSpPr>
              <a:spLocks noChangeShapeType="1"/>
            </p:cNvSpPr>
            <p:nvPr/>
          </p:nvSpPr>
          <p:spPr bwMode="auto">
            <a:xfrm>
              <a:off x="432" y="225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34"/>
            <p:cNvSpPr>
              <a:spLocks noChangeShapeType="1"/>
            </p:cNvSpPr>
            <p:nvPr/>
          </p:nvSpPr>
          <p:spPr bwMode="auto">
            <a:xfrm>
              <a:off x="432" y="216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35"/>
            <p:cNvSpPr>
              <a:spLocks noChangeShapeType="1"/>
            </p:cNvSpPr>
            <p:nvPr/>
          </p:nvSpPr>
          <p:spPr bwMode="auto">
            <a:xfrm>
              <a:off x="432" y="206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36"/>
            <p:cNvSpPr>
              <a:spLocks noChangeShapeType="1"/>
            </p:cNvSpPr>
            <p:nvPr/>
          </p:nvSpPr>
          <p:spPr bwMode="auto">
            <a:xfrm>
              <a:off x="43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6" name="Text Box 37"/>
          <p:cNvSpPr txBox="1">
            <a:spLocks noChangeArrowheads="1"/>
          </p:cNvSpPr>
          <p:nvPr/>
        </p:nvSpPr>
        <p:spPr bwMode="auto">
          <a:xfrm>
            <a:off x="4343400" y="2743200"/>
            <a:ext cx="3149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Translate (3,3</a:t>
            </a:r>
            <a:r>
              <a:rPr lang="en-US" altLang="en-US" sz="2400" dirty="0" smtClean="0"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dirty="0" smtClean="0"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Scale(2,2) </a:t>
            </a:r>
            <a:endParaRPr lang="en-US" altLang="en-US" sz="2400" dirty="0">
              <a:latin typeface="Tahoma" panose="020B0604030504040204" pitchFamily="34" charset="0"/>
              <a:ea typeface="隶书" charset="0"/>
              <a:cs typeface="Arial" panose="020B0604020202020204" pitchFamily="34" charset="0"/>
            </a:endParaRPr>
          </a:p>
        </p:txBody>
      </p:sp>
      <p:grpSp>
        <p:nvGrpSpPr>
          <p:cNvPr id="117" name="Group 38"/>
          <p:cNvGrpSpPr>
            <a:grpSpLocks/>
          </p:cNvGrpSpPr>
          <p:nvPr/>
        </p:nvGrpSpPr>
        <p:grpSpPr bwMode="auto">
          <a:xfrm>
            <a:off x="1752600" y="2514600"/>
            <a:ext cx="3810000" cy="3505200"/>
            <a:chOff x="1968" y="1776"/>
            <a:chExt cx="2400" cy="2208"/>
          </a:xfrm>
        </p:grpSpPr>
        <p:grpSp>
          <p:nvGrpSpPr>
            <p:cNvPr id="118" name="Group 39"/>
            <p:cNvGrpSpPr>
              <a:grpSpLocks/>
            </p:cNvGrpSpPr>
            <p:nvPr/>
          </p:nvGrpSpPr>
          <p:grpSpPr bwMode="auto">
            <a:xfrm>
              <a:off x="2040" y="3312"/>
              <a:ext cx="664" cy="576"/>
              <a:chOff x="216" y="2352"/>
              <a:chExt cx="664" cy="576"/>
            </a:xfrm>
          </p:grpSpPr>
          <p:sp>
            <p:nvSpPr>
              <p:cNvPr id="150" name="Oval 40"/>
              <p:cNvSpPr>
                <a:spLocks noChangeArrowheads="1"/>
              </p:cNvSpPr>
              <p:nvPr/>
            </p:nvSpPr>
            <p:spPr bwMode="auto">
              <a:xfrm>
                <a:off x="216" y="2352"/>
                <a:ext cx="664" cy="57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1" name="Oval 41"/>
              <p:cNvSpPr>
                <a:spLocks noChangeArrowheads="1"/>
              </p:cNvSpPr>
              <p:nvPr/>
            </p:nvSpPr>
            <p:spPr bwMode="auto">
              <a:xfrm>
                <a:off x="384" y="259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l 42"/>
              <p:cNvSpPr>
                <a:spLocks noChangeArrowheads="1"/>
              </p:cNvSpPr>
              <p:nvPr/>
            </p:nvSpPr>
            <p:spPr bwMode="auto">
              <a:xfrm>
                <a:off x="528" y="259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Freeform 43"/>
              <p:cNvSpPr>
                <a:spLocks noChangeArrowheads="1"/>
              </p:cNvSpPr>
              <p:nvPr/>
            </p:nvSpPr>
            <p:spPr bwMode="auto">
              <a:xfrm>
                <a:off x="384" y="2733"/>
                <a:ext cx="216" cy="45"/>
              </a:xfrm>
              <a:custGeom>
                <a:avLst/>
                <a:gdLst>
                  <a:gd name="T0" fmla="*/ 0 w 216"/>
                  <a:gd name="T1" fmla="*/ 18 h 45"/>
                  <a:gd name="T2" fmla="*/ 54 w 216"/>
                  <a:gd name="T3" fmla="*/ 36 h 45"/>
                  <a:gd name="T4" fmla="*/ 81 w 216"/>
                  <a:gd name="T5" fmla="*/ 45 h 45"/>
                  <a:gd name="T6" fmla="*/ 171 w 216"/>
                  <a:gd name="T7" fmla="*/ 36 h 45"/>
                  <a:gd name="T8" fmla="*/ 198 w 216"/>
                  <a:gd name="T9" fmla="*/ 27 h 45"/>
                  <a:gd name="T10" fmla="*/ 216 w 216"/>
                  <a:gd name="T11" fmla="*/ 0 h 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6"/>
                  <a:gd name="T19" fmla="*/ 0 h 45"/>
                  <a:gd name="T20" fmla="*/ 216 w 216"/>
                  <a:gd name="T21" fmla="*/ 45 h 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6" h="45">
                    <a:moveTo>
                      <a:pt x="0" y="18"/>
                    </a:moveTo>
                    <a:cubicBezTo>
                      <a:pt x="18" y="24"/>
                      <a:pt x="36" y="30"/>
                      <a:pt x="54" y="36"/>
                    </a:cubicBezTo>
                    <a:cubicBezTo>
                      <a:pt x="63" y="39"/>
                      <a:pt x="81" y="45"/>
                      <a:pt x="81" y="45"/>
                    </a:cubicBezTo>
                    <a:cubicBezTo>
                      <a:pt x="111" y="42"/>
                      <a:pt x="141" y="41"/>
                      <a:pt x="171" y="36"/>
                    </a:cubicBezTo>
                    <a:cubicBezTo>
                      <a:pt x="180" y="35"/>
                      <a:pt x="191" y="33"/>
                      <a:pt x="198" y="27"/>
                    </a:cubicBezTo>
                    <a:cubicBezTo>
                      <a:pt x="206" y="20"/>
                      <a:pt x="216" y="0"/>
                      <a:pt x="216" y="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9" name="Group 44"/>
            <p:cNvGrpSpPr>
              <a:grpSpLocks/>
            </p:cNvGrpSpPr>
            <p:nvPr/>
          </p:nvGrpSpPr>
          <p:grpSpPr bwMode="auto">
            <a:xfrm>
              <a:off x="1968" y="1776"/>
              <a:ext cx="2400" cy="2208"/>
              <a:chOff x="2448" y="1248"/>
              <a:chExt cx="2400" cy="2208"/>
            </a:xfrm>
          </p:grpSpPr>
          <p:grpSp>
            <p:nvGrpSpPr>
              <p:cNvPr id="120" name="Group 45"/>
              <p:cNvGrpSpPr>
                <a:grpSpLocks/>
              </p:cNvGrpSpPr>
              <p:nvPr/>
            </p:nvGrpSpPr>
            <p:grpSpPr bwMode="auto">
              <a:xfrm>
                <a:off x="2736" y="1248"/>
                <a:ext cx="2112" cy="1872"/>
                <a:chOff x="384" y="1584"/>
                <a:chExt cx="2112" cy="1872"/>
              </a:xfrm>
            </p:grpSpPr>
            <p:sp>
              <p:nvSpPr>
                <p:cNvPr id="122" name="Line 46"/>
                <p:cNvSpPr>
                  <a:spLocks noChangeShapeType="1"/>
                </p:cNvSpPr>
                <p:nvPr/>
              </p:nvSpPr>
              <p:spPr bwMode="auto">
                <a:xfrm>
                  <a:off x="480" y="1584"/>
                  <a:ext cx="0" cy="1872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Line 47"/>
                <p:cNvSpPr>
                  <a:spLocks noChangeShapeType="1"/>
                </p:cNvSpPr>
                <p:nvPr/>
              </p:nvSpPr>
              <p:spPr bwMode="auto">
                <a:xfrm>
                  <a:off x="384" y="3408"/>
                  <a:ext cx="2112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Line 48"/>
                <p:cNvSpPr>
                  <a:spLocks noChangeShapeType="1"/>
                </p:cNvSpPr>
                <p:nvPr/>
              </p:nvSpPr>
              <p:spPr bwMode="auto">
                <a:xfrm>
                  <a:off x="672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Line 49"/>
                <p:cNvSpPr>
                  <a:spLocks noChangeShapeType="1"/>
                </p:cNvSpPr>
                <p:nvPr/>
              </p:nvSpPr>
              <p:spPr bwMode="auto">
                <a:xfrm>
                  <a:off x="816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Line 50"/>
                <p:cNvSpPr>
                  <a:spLocks noChangeShapeType="1"/>
                </p:cNvSpPr>
                <p:nvPr/>
              </p:nvSpPr>
              <p:spPr bwMode="auto">
                <a:xfrm>
                  <a:off x="960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Line 51"/>
                <p:cNvSpPr>
                  <a:spLocks noChangeShapeType="1"/>
                </p:cNvSpPr>
                <p:nvPr/>
              </p:nvSpPr>
              <p:spPr bwMode="auto">
                <a:xfrm>
                  <a:off x="1104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Line 52"/>
                <p:cNvSpPr>
                  <a:spLocks noChangeShapeType="1"/>
                </p:cNvSpPr>
                <p:nvPr/>
              </p:nvSpPr>
              <p:spPr bwMode="auto">
                <a:xfrm>
                  <a:off x="1248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Line 53"/>
                <p:cNvSpPr>
                  <a:spLocks noChangeShapeType="1"/>
                </p:cNvSpPr>
                <p:nvPr/>
              </p:nvSpPr>
              <p:spPr bwMode="auto">
                <a:xfrm>
                  <a:off x="1392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Line 54"/>
                <p:cNvSpPr>
                  <a:spLocks noChangeShapeType="1"/>
                </p:cNvSpPr>
                <p:nvPr/>
              </p:nvSpPr>
              <p:spPr bwMode="auto">
                <a:xfrm>
                  <a:off x="1536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Line 55"/>
                <p:cNvSpPr>
                  <a:spLocks noChangeShapeType="1"/>
                </p:cNvSpPr>
                <p:nvPr/>
              </p:nvSpPr>
              <p:spPr bwMode="auto">
                <a:xfrm>
                  <a:off x="1680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Line 56"/>
                <p:cNvSpPr>
                  <a:spLocks noChangeShapeType="1"/>
                </p:cNvSpPr>
                <p:nvPr/>
              </p:nvSpPr>
              <p:spPr bwMode="auto">
                <a:xfrm>
                  <a:off x="1824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Line 57"/>
                <p:cNvSpPr>
                  <a:spLocks noChangeShapeType="1"/>
                </p:cNvSpPr>
                <p:nvPr/>
              </p:nvSpPr>
              <p:spPr bwMode="auto">
                <a:xfrm>
                  <a:off x="1968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Line 58"/>
                <p:cNvSpPr>
                  <a:spLocks noChangeShapeType="1"/>
                </p:cNvSpPr>
                <p:nvPr/>
              </p:nvSpPr>
              <p:spPr bwMode="auto">
                <a:xfrm>
                  <a:off x="2112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Line 59"/>
                <p:cNvSpPr>
                  <a:spLocks noChangeShapeType="1"/>
                </p:cNvSpPr>
                <p:nvPr/>
              </p:nvSpPr>
              <p:spPr bwMode="auto">
                <a:xfrm>
                  <a:off x="2256" y="336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Line 60"/>
                <p:cNvSpPr>
                  <a:spLocks noChangeShapeType="1"/>
                </p:cNvSpPr>
                <p:nvPr/>
              </p:nvSpPr>
              <p:spPr bwMode="auto">
                <a:xfrm>
                  <a:off x="432" y="3216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Line 61"/>
                <p:cNvSpPr>
                  <a:spLocks noChangeShapeType="1"/>
                </p:cNvSpPr>
                <p:nvPr/>
              </p:nvSpPr>
              <p:spPr bwMode="auto">
                <a:xfrm>
                  <a:off x="432" y="3120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Line 62"/>
                <p:cNvSpPr>
                  <a:spLocks noChangeShapeType="1"/>
                </p:cNvSpPr>
                <p:nvPr/>
              </p:nvSpPr>
              <p:spPr bwMode="auto">
                <a:xfrm>
                  <a:off x="432" y="302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Line 63"/>
                <p:cNvSpPr>
                  <a:spLocks noChangeShapeType="1"/>
                </p:cNvSpPr>
                <p:nvPr/>
              </p:nvSpPr>
              <p:spPr bwMode="auto">
                <a:xfrm>
                  <a:off x="432" y="292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Line 64"/>
                <p:cNvSpPr>
                  <a:spLocks noChangeShapeType="1"/>
                </p:cNvSpPr>
                <p:nvPr/>
              </p:nvSpPr>
              <p:spPr bwMode="auto">
                <a:xfrm>
                  <a:off x="432" y="283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Line 65"/>
                <p:cNvSpPr>
                  <a:spLocks noChangeShapeType="1"/>
                </p:cNvSpPr>
                <p:nvPr/>
              </p:nvSpPr>
              <p:spPr bwMode="auto">
                <a:xfrm>
                  <a:off x="432" y="2736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Line 66"/>
                <p:cNvSpPr>
                  <a:spLocks noChangeShapeType="1"/>
                </p:cNvSpPr>
                <p:nvPr/>
              </p:nvSpPr>
              <p:spPr bwMode="auto">
                <a:xfrm>
                  <a:off x="432" y="2640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Line 67"/>
                <p:cNvSpPr>
                  <a:spLocks noChangeShapeType="1"/>
                </p:cNvSpPr>
                <p:nvPr/>
              </p:nvSpPr>
              <p:spPr bwMode="auto">
                <a:xfrm>
                  <a:off x="432" y="254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Line 68"/>
                <p:cNvSpPr>
                  <a:spLocks noChangeShapeType="1"/>
                </p:cNvSpPr>
                <p:nvPr/>
              </p:nvSpPr>
              <p:spPr bwMode="auto">
                <a:xfrm>
                  <a:off x="432" y="244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Line 69"/>
                <p:cNvSpPr>
                  <a:spLocks noChangeShapeType="1"/>
                </p:cNvSpPr>
                <p:nvPr/>
              </p:nvSpPr>
              <p:spPr bwMode="auto">
                <a:xfrm>
                  <a:off x="432" y="235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Line 70"/>
                <p:cNvSpPr>
                  <a:spLocks noChangeShapeType="1"/>
                </p:cNvSpPr>
                <p:nvPr/>
              </p:nvSpPr>
              <p:spPr bwMode="auto">
                <a:xfrm>
                  <a:off x="432" y="2256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Line 71"/>
                <p:cNvSpPr>
                  <a:spLocks noChangeShapeType="1"/>
                </p:cNvSpPr>
                <p:nvPr/>
              </p:nvSpPr>
              <p:spPr bwMode="auto">
                <a:xfrm>
                  <a:off x="432" y="2160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Line 72"/>
                <p:cNvSpPr>
                  <a:spLocks noChangeShapeType="1"/>
                </p:cNvSpPr>
                <p:nvPr/>
              </p:nvSpPr>
              <p:spPr bwMode="auto">
                <a:xfrm>
                  <a:off x="432" y="2064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Line 73"/>
                <p:cNvSpPr>
                  <a:spLocks noChangeShapeType="1"/>
                </p:cNvSpPr>
                <p:nvPr/>
              </p:nvSpPr>
              <p:spPr bwMode="auto">
                <a:xfrm>
                  <a:off x="432" y="196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21" name="Line 74"/>
              <p:cNvSpPr>
                <a:spLocks noChangeShapeType="1"/>
              </p:cNvSpPr>
              <p:nvPr/>
            </p:nvSpPr>
            <p:spPr bwMode="auto">
              <a:xfrm flipV="1">
                <a:off x="2448" y="3168"/>
                <a:ext cx="384" cy="288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743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4400">
                <a:solidFill>
                  <a:schemeClr val="tx2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Example (cont’d)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810000" y="2667000"/>
            <a:ext cx="48704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If you think of </a:t>
            </a:r>
            <a:r>
              <a:rPr lang="en-US" altLang="en-US" sz="2400">
                <a:solidFill>
                  <a:schemeClr val="hlink"/>
                </a:solidFill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transformations as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hlink"/>
                </a:solidFill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moving the local coordinate frame.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572000" y="3810000"/>
            <a:ext cx="2738438" cy="1219200"/>
            <a:chOff x="2736" y="2928"/>
            <a:chExt cx="1725" cy="768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736" y="2928"/>
              <a:ext cx="1725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AutoNum type="arabicParenR"/>
              </a:pPr>
              <a:endParaRPr lang="en-US" altLang="en-US" sz="2400">
                <a:latin typeface="Tahoma" panose="020B0604030504040204" pitchFamily="34" charset="0"/>
                <a:ea typeface="隶书" charset="0"/>
                <a:cs typeface="Arial" panose="020B0604020202020204" pitchFamily="34" charset="0"/>
              </a:endParaRPr>
            </a:p>
            <a:p>
              <a:pPr eaLnBrk="1" hangingPunct="1">
                <a:buFont typeface="Arial" panose="020B0604020202020204" pitchFamily="34" charset="0"/>
                <a:buAutoNum type="arabicParenR"/>
              </a:pPr>
              <a:r>
                <a:rPr lang="en-US" altLang="en-US" sz="2400">
                  <a:latin typeface="Tahoma" panose="020B0604030504040204" pitchFamily="34" charset="0"/>
                  <a:ea typeface="隶书" charset="0"/>
                  <a:cs typeface="Arial" panose="020B0604020202020204" pitchFamily="34" charset="0"/>
                </a:rPr>
                <a:t>Translate (5,0) </a:t>
              </a:r>
              <a:endParaRPr lang="en-US" altLang="en-US">
                <a:latin typeface="Tahoma" panose="020B0604030504040204" pitchFamily="34" charset="0"/>
                <a:ea typeface="隶书" charset="0"/>
                <a:cs typeface="Arial" panose="020B0604020202020204" pitchFamily="34" charset="0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en-US" sz="2400">
                  <a:latin typeface="Tahoma" panose="020B0604030504040204" pitchFamily="34" charset="0"/>
                  <a:ea typeface="隶书" charset="0"/>
                  <a:cs typeface="Arial" panose="020B0604020202020204" pitchFamily="34" charset="0"/>
                </a:rPr>
                <a:t>2)  Rotate (       )  </a:t>
              </a: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3800" y="3341"/>
              <a:ext cx="376" cy="355"/>
              <a:chOff x="1536" y="1940"/>
              <a:chExt cx="376" cy="355"/>
            </a:xfrm>
          </p:grpSpPr>
          <p:sp>
            <p:nvSpPr>
              <p:cNvPr id="9" name="Text Box 7"/>
              <p:cNvSpPr txBox="1">
                <a:spLocks noChangeArrowheads="1"/>
              </p:cNvSpPr>
              <p:nvPr/>
            </p:nvSpPr>
            <p:spPr bwMode="auto">
              <a:xfrm>
                <a:off x="1536" y="2064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en-US">
                    <a:latin typeface="Tahoma" panose="020B0604030504040204" pitchFamily="34" charset="0"/>
                    <a:ea typeface="隶书" charset="0"/>
                    <a:cs typeface="Arial" panose="020B0604020202020204" pitchFamily="34" charset="0"/>
                  </a:rPr>
                  <a:t>60</a:t>
                </a:r>
              </a:p>
            </p:txBody>
          </p:sp>
          <p:sp>
            <p:nvSpPr>
              <p:cNvPr id="10" name="Text Box 8"/>
              <p:cNvSpPr txBox="1">
                <a:spLocks noChangeArrowheads="1"/>
              </p:cNvSpPr>
              <p:nvPr/>
            </p:nvSpPr>
            <p:spPr bwMode="auto">
              <a:xfrm>
                <a:off x="1718" y="1940"/>
                <a:ext cx="19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en-US">
                    <a:latin typeface="Tahoma" panose="020B0604030504040204" pitchFamily="34" charset="0"/>
                    <a:ea typeface="隶书" charset="0"/>
                    <a:cs typeface="Arial" panose="020B0604020202020204" pitchFamily="34" charset="0"/>
                  </a:rPr>
                  <a:t>o</a:t>
                </a:r>
              </a:p>
            </p:txBody>
          </p:sp>
        </p:grpSp>
      </p:grpSp>
      <p:grpSp>
        <p:nvGrpSpPr>
          <p:cNvPr id="11" name="Group 9"/>
          <p:cNvGrpSpPr>
            <a:grpSpLocks/>
          </p:cNvGrpSpPr>
          <p:nvPr/>
        </p:nvGrpSpPr>
        <p:grpSpPr bwMode="auto">
          <a:xfrm>
            <a:off x="609600" y="3124200"/>
            <a:ext cx="3048000" cy="2651125"/>
            <a:chOff x="144" y="1248"/>
            <a:chExt cx="1920" cy="1670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44" y="2448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V="1">
              <a:off x="384" y="124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auto">
            <a:xfrm>
              <a:off x="192" y="220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288" y="235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4"/>
            <p:cNvSpPr>
              <a:spLocks noChangeArrowheads="1"/>
            </p:cNvSpPr>
            <p:nvPr/>
          </p:nvSpPr>
          <p:spPr bwMode="auto">
            <a:xfrm>
              <a:off x="432" y="235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 noChangeArrowheads="1"/>
            </p:cNvSpPr>
            <p:nvPr/>
          </p:nvSpPr>
          <p:spPr bwMode="auto">
            <a:xfrm>
              <a:off x="288" y="2493"/>
              <a:ext cx="216" cy="45"/>
            </a:xfrm>
            <a:custGeom>
              <a:avLst/>
              <a:gdLst>
                <a:gd name="T0" fmla="*/ 0 w 216"/>
                <a:gd name="T1" fmla="*/ 18 h 45"/>
                <a:gd name="T2" fmla="*/ 54 w 216"/>
                <a:gd name="T3" fmla="*/ 36 h 45"/>
                <a:gd name="T4" fmla="*/ 81 w 216"/>
                <a:gd name="T5" fmla="*/ 45 h 45"/>
                <a:gd name="T6" fmla="*/ 171 w 216"/>
                <a:gd name="T7" fmla="*/ 36 h 45"/>
                <a:gd name="T8" fmla="*/ 198 w 216"/>
                <a:gd name="T9" fmla="*/ 27 h 45"/>
                <a:gd name="T10" fmla="*/ 216 w 216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"/>
                <a:gd name="T19" fmla="*/ 0 h 45"/>
                <a:gd name="T20" fmla="*/ 216 w 216"/>
                <a:gd name="T21" fmla="*/ 45 h 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" h="45">
                  <a:moveTo>
                    <a:pt x="0" y="18"/>
                  </a:moveTo>
                  <a:cubicBezTo>
                    <a:pt x="18" y="24"/>
                    <a:pt x="36" y="30"/>
                    <a:pt x="54" y="36"/>
                  </a:cubicBezTo>
                  <a:cubicBezTo>
                    <a:pt x="63" y="39"/>
                    <a:pt x="81" y="45"/>
                    <a:pt x="81" y="45"/>
                  </a:cubicBezTo>
                  <a:cubicBezTo>
                    <a:pt x="111" y="42"/>
                    <a:pt x="141" y="41"/>
                    <a:pt x="171" y="36"/>
                  </a:cubicBezTo>
                  <a:cubicBezTo>
                    <a:pt x="180" y="35"/>
                    <a:pt x="191" y="33"/>
                    <a:pt x="198" y="27"/>
                  </a:cubicBezTo>
                  <a:cubicBezTo>
                    <a:pt x="206" y="20"/>
                    <a:pt x="216" y="0"/>
                    <a:pt x="216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16"/>
            <p:cNvGrpSpPr>
              <a:grpSpLocks/>
            </p:cNvGrpSpPr>
            <p:nvPr/>
          </p:nvGrpSpPr>
          <p:grpSpPr bwMode="auto">
            <a:xfrm>
              <a:off x="1344" y="2208"/>
              <a:ext cx="432" cy="432"/>
              <a:chOff x="1632" y="3072"/>
              <a:chExt cx="432" cy="432"/>
            </a:xfrm>
          </p:grpSpPr>
          <p:sp>
            <p:nvSpPr>
              <p:cNvPr id="28" name="Oval 17"/>
              <p:cNvSpPr>
                <a:spLocks noChangeArrowheads="1"/>
              </p:cNvSpPr>
              <p:nvPr/>
            </p:nvSpPr>
            <p:spPr bwMode="auto">
              <a:xfrm>
                <a:off x="1632" y="3072"/>
                <a:ext cx="432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Oval 18"/>
              <p:cNvSpPr>
                <a:spLocks noChangeArrowheads="1"/>
              </p:cNvSpPr>
              <p:nvPr/>
            </p:nvSpPr>
            <p:spPr bwMode="auto">
              <a:xfrm>
                <a:off x="1728" y="331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Oval 19"/>
              <p:cNvSpPr>
                <a:spLocks noChangeArrowheads="1"/>
              </p:cNvSpPr>
              <p:nvPr/>
            </p:nvSpPr>
            <p:spPr bwMode="auto">
              <a:xfrm>
                <a:off x="1776" y="316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Freeform 20"/>
              <p:cNvSpPr>
                <a:spLocks noChangeArrowheads="1"/>
              </p:cNvSpPr>
              <p:nvPr/>
            </p:nvSpPr>
            <p:spPr bwMode="auto">
              <a:xfrm>
                <a:off x="1827" y="3204"/>
                <a:ext cx="153" cy="234"/>
              </a:xfrm>
              <a:custGeom>
                <a:avLst/>
                <a:gdLst>
                  <a:gd name="T0" fmla="*/ 126 w 153"/>
                  <a:gd name="T1" fmla="*/ 0 h 234"/>
                  <a:gd name="T2" fmla="*/ 72 w 153"/>
                  <a:gd name="T3" fmla="*/ 207 h 234"/>
                  <a:gd name="T4" fmla="*/ 0 w 153"/>
                  <a:gd name="T5" fmla="*/ 234 h 234"/>
                  <a:gd name="T6" fmla="*/ 0 60000 65536"/>
                  <a:gd name="T7" fmla="*/ 0 60000 65536"/>
                  <a:gd name="T8" fmla="*/ 0 60000 65536"/>
                  <a:gd name="T9" fmla="*/ 0 w 153"/>
                  <a:gd name="T10" fmla="*/ 0 h 234"/>
                  <a:gd name="T11" fmla="*/ 153 w 153"/>
                  <a:gd name="T12" fmla="*/ 234 h 2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" h="234">
                    <a:moveTo>
                      <a:pt x="126" y="0"/>
                    </a:moveTo>
                    <a:cubicBezTo>
                      <a:pt x="137" y="76"/>
                      <a:pt x="153" y="172"/>
                      <a:pt x="72" y="207"/>
                    </a:cubicBezTo>
                    <a:cubicBezTo>
                      <a:pt x="48" y="217"/>
                      <a:pt x="27" y="234"/>
                      <a:pt x="0" y="23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1343" y="2687"/>
              <a:ext cx="4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en-US">
                  <a:latin typeface="Tahoma" panose="020B0604030504040204" pitchFamily="34" charset="0"/>
                  <a:ea typeface="隶书" charset="0"/>
                  <a:cs typeface="Arial" panose="020B0604020202020204" pitchFamily="34" charset="0"/>
                </a:rPr>
                <a:t>(5,0) </a:t>
              </a:r>
            </a:p>
          </p:txBody>
        </p:sp>
        <p:sp>
          <p:nvSpPr>
            <p:cNvPr id="20" name="Freeform 22"/>
            <p:cNvSpPr>
              <a:spLocks noChangeArrowheads="1"/>
            </p:cNvSpPr>
            <p:nvPr/>
          </p:nvSpPr>
          <p:spPr bwMode="auto">
            <a:xfrm>
              <a:off x="1392" y="2064"/>
              <a:ext cx="528" cy="192"/>
            </a:xfrm>
            <a:custGeom>
              <a:avLst/>
              <a:gdLst>
                <a:gd name="T0" fmla="*/ 528 w 528"/>
                <a:gd name="T1" fmla="*/ 192 h 192"/>
                <a:gd name="T2" fmla="*/ 384 w 528"/>
                <a:gd name="T3" fmla="*/ 48 h 192"/>
                <a:gd name="T4" fmla="*/ 144 w 528"/>
                <a:gd name="T5" fmla="*/ 0 h 192"/>
                <a:gd name="T6" fmla="*/ 0 w 528"/>
                <a:gd name="T7" fmla="*/ 48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8"/>
                <a:gd name="T13" fmla="*/ 0 h 192"/>
                <a:gd name="T14" fmla="*/ 528 w 528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8" h="192">
                  <a:moveTo>
                    <a:pt x="528" y="192"/>
                  </a:moveTo>
                  <a:cubicBezTo>
                    <a:pt x="488" y="136"/>
                    <a:pt x="448" y="80"/>
                    <a:pt x="384" y="48"/>
                  </a:cubicBezTo>
                  <a:cubicBezTo>
                    <a:pt x="320" y="16"/>
                    <a:pt x="208" y="0"/>
                    <a:pt x="144" y="0"/>
                  </a:cubicBezTo>
                  <a:cubicBezTo>
                    <a:pt x="80" y="0"/>
                    <a:pt x="24" y="40"/>
                    <a:pt x="0" y="4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23"/>
            <p:cNvGrpSpPr>
              <a:grpSpLocks/>
            </p:cNvGrpSpPr>
            <p:nvPr/>
          </p:nvGrpSpPr>
          <p:grpSpPr bwMode="auto">
            <a:xfrm>
              <a:off x="1440" y="1700"/>
              <a:ext cx="376" cy="355"/>
              <a:chOff x="1536" y="1940"/>
              <a:chExt cx="376" cy="355"/>
            </a:xfrm>
          </p:grpSpPr>
          <p:sp>
            <p:nvSpPr>
              <p:cNvPr id="26" name="Text Box 24"/>
              <p:cNvSpPr txBox="1">
                <a:spLocks noChangeArrowheads="1"/>
              </p:cNvSpPr>
              <p:nvPr/>
            </p:nvSpPr>
            <p:spPr bwMode="auto">
              <a:xfrm>
                <a:off x="1536" y="2064"/>
                <a:ext cx="27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en-US">
                    <a:latin typeface="Tahoma" panose="020B0604030504040204" pitchFamily="34" charset="0"/>
                    <a:ea typeface="隶书" charset="0"/>
                    <a:cs typeface="Arial" panose="020B0604020202020204" pitchFamily="34" charset="0"/>
                  </a:rPr>
                  <a:t>60</a:t>
                </a:r>
              </a:p>
            </p:txBody>
          </p:sp>
          <p:sp>
            <p:nvSpPr>
              <p:cNvPr id="27" name="Text Box 25"/>
              <p:cNvSpPr txBox="1">
                <a:spLocks noChangeArrowheads="1"/>
              </p:cNvSpPr>
              <p:nvPr/>
            </p:nvSpPr>
            <p:spPr bwMode="auto">
              <a:xfrm>
                <a:off x="1718" y="1940"/>
                <a:ext cx="19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en-US">
                    <a:latin typeface="Tahoma" panose="020B0604030504040204" pitchFamily="34" charset="0"/>
                    <a:ea typeface="隶书" charset="0"/>
                    <a:cs typeface="Arial" panose="020B0604020202020204" pitchFamily="34" charset="0"/>
                  </a:rPr>
                  <a:t>o</a:t>
                </a:r>
              </a:p>
            </p:txBody>
          </p:sp>
        </p:grp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384" y="2448"/>
              <a:ext cx="4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7"/>
            <p:cNvSpPr>
              <a:spLocks noChangeShapeType="1"/>
            </p:cNvSpPr>
            <p:nvPr/>
          </p:nvSpPr>
          <p:spPr bwMode="auto">
            <a:xfrm flipV="1">
              <a:off x="384" y="2064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8"/>
            <p:cNvSpPr>
              <a:spLocks noChangeShapeType="1"/>
            </p:cNvSpPr>
            <p:nvPr/>
          </p:nvSpPr>
          <p:spPr bwMode="auto">
            <a:xfrm flipV="1">
              <a:off x="1584" y="2112"/>
              <a:ext cx="192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9"/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384" cy="14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3962400" y="5486400"/>
            <a:ext cx="494665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Exact the opposite order compared to the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000"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previous slide!! </a:t>
            </a:r>
          </a:p>
        </p:txBody>
      </p:sp>
      <p:sp>
        <p:nvSpPr>
          <p:cNvPr id="33" name="Footer Placeholder 1"/>
          <p:cNvSpPr>
            <a:spLocks noGrp="1"/>
          </p:cNvSpPr>
          <p:nvPr>
            <p:ph type="ftr" sz="quarter" idx="11"/>
          </p:nvPr>
        </p:nvSpPr>
        <p:spPr bwMode="auto">
          <a:xfrm>
            <a:off x="3517900" y="6284913"/>
            <a:ext cx="4724400" cy="274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r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</a:rPr>
              <a:t>INSTRUCTOR: Sabina Irum</a:t>
            </a:r>
          </a:p>
        </p:txBody>
      </p:sp>
      <p:sp>
        <p:nvSpPr>
          <p:cNvPr id="34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8401050" y="6170613"/>
            <a:ext cx="503238" cy="503237"/>
          </a:xfrm>
          <a:noFill/>
          <a:ln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fld id="{99F70715-3F64-4437-8DE0-AB621518B496}" type="slidenum">
              <a:rPr lang="en-US" altLang="en-US">
                <a:solidFill>
                  <a:srgbClr val="FFFFFF"/>
                </a:solidFill>
                <a:latin typeface="Arial" panose="020B0604020202020204" pitchFamily="34" charset="0"/>
              </a:rPr>
              <a:pPr/>
              <a:t>27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81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4400">
                <a:solidFill>
                  <a:schemeClr val="tx2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Example (cont’d)</a:t>
            </a:r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609600" y="2286000"/>
            <a:ext cx="4114800" cy="3606800"/>
            <a:chOff x="144" y="1248"/>
            <a:chExt cx="1920" cy="1726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144" y="2448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 flipV="1">
              <a:off x="384" y="124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Oval 12"/>
            <p:cNvSpPr>
              <a:spLocks noChangeArrowheads="1"/>
            </p:cNvSpPr>
            <p:nvPr/>
          </p:nvSpPr>
          <p:spPr bwMode="auto">
            <a:xfrm>
              <a:off x="192" y="2208"/>
              <a:ext cx="432" cy="43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13"/>
            <p:cNvSpPr>
              <a:spLocks noChangeArrowheads="1"/>
            </p:cNvSpPr>
            <p:nvPr/>
          </p:nvSpPr>
          <p:spPr bwMode="auto">
            <a:xfrm>
              <a:off x="288" y="235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14"/>
            <p:cNvSpPr>
              <a:spLocks noChangeArrowheads="1"/>
            </p:cNvSpPr>
            <p:nvPr/>
          </p:nvSpPr>
          <p:spPr bwMode="auto">
            <a:xfrm>
              <a:off x="432" y="235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 15"/>
            <p:cNvSpPr>
              <a:spLocks noChangeArrowheads="1"/>
            </p:cNvSpPr>
            <p:nvPr/>
          </p:nvSpPr>
          <p:spPr bwMode="auto">
            <a:xfrm>
              <a:off x="288" y="2493"/>
              <a:ext cx="216" cy="45"/>
            </a:xfrm>
            <a:custGeom>
              <a:avLst/>
              <a:gdLst>
                <a:gd name="T0" fmla="*/ 0 w 216"/>
                <a:gd name="T1" fmla="*/ 18 h 45"/>
                <a:gd name="T2" fmla="*/ 54 w 216"/>
                <a:gd name="T3" fmla="*/ 36 h 45"/>
                <a:gd name="T4" fmla="*/ 81 w 216"/>
                <a:gd name="T5" fmla="*/ 45 h 45"/>
                <a:gd name="T6" fmla="*/ 171 w 216"/>
                <a:gd name="T7" fmla="*/ 36 h 45"/>
                <a:gd name="T8" fmla="*/ 198 w 216"/>
                <a:gd name="T9" fmla="*/ 27 h 45"/>
                <a:gd name="T10" fmla="*/ 216 w 216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"/>
                <a:gd name="T19" fmla="*/ 0 h 45"/>
                <a:gd name="T20" fmla="*/ 216 w 216"/>
                <a:gd name="T21" fmla="*/ 45 h 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" h="45">
                  <a:moveTo>
                    <a:pt x="0" y="18"/>
                  </a:moveTo>
                  <a:cubicBezTo>
                    <a:pt x="18" y="24"/>
                    <a:pt x="36" y="30"/>
                    <a:pt x="54" y="36"/>
                  </a:cubicBezTo>
                  <a:cubicBezTo>
                    <a:pt x="63" y="39"/>
                    <a:pt x="81" y="45"/>
                    <a:pt x="81" y="45"/>
                  </a:cubicBezTo>
                  <a:cubicBezTo>
                    <a:pt x="111" y="42"/>
                    <a:pt x="141" y="41"/>
                    <a:pt x="171" y="36"/>
                  </a:cubicBezTo>
                  <a:cubicBezTo>
                    <a:pt x="180" y="35"/>
                    <a:pt x="191" y="33"/>
                    <a:pt x="198" y="27"/>
                  </a:cubicBezTo>
                  <a:cubicBezTo>
                    <a:pt x="206" y="20"/>
                    <a:pt x="216" y="0"/>
                    <a:pt x="216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16"/>
            <p:cNvGrpSpPr>
              <a:grpSpLocks/>
            </p:cNvGrpSpPr>
            <p:nvPr/>
          </p:nvGrpSpPr>
          <p:grpSpPr bwMode="auto">
            <a:xfrm>
              <a:off x="1246" y="2123"/>
              <a:ext cx="711" cy="620"/>
              <a:chOff x="1534" y="2987"/>
              <a:chExt cx="711" cy="620"/>
            </a:xfrm>
          </p:grpSpPr>
          <p:sp>
            <p:nvSpPr>
              <p:cNvPr id="16" name="Oval 17"/>
              <p:cNvSpPr>
                <a:spLocks noChangeArrowheads="1"/>
              </p:cNvSpPr>
              <p:nvPr/>
            </p:nvSpPr>
            <p:spPr bwMode="auto">
              <a:xfrm>
                <a:off x="1534" y="2987"/>
                <a:ext cx="711" cy="6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Oval 18"/>
              <p:cNvSpPr>
                <a:spLocks noChangeArrowheads="1"/>
              </p:cNvSpPr>
              <p:nvPr/>
            </p:nvSpPr>
            <p:spPr bwMode="auto">
              <a:xfrm>
                <a:off x="1728" y="331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Oval 19"/>
              <p:cNvSpPr>
                <a:spLocks noChangeArrowheads="1"/>
              </p:cNvSpPr>
              <p:nvPr/>
            </p:nvSpPr>
            <p:spPr bwMode="auto">
              <a:xfrm>
                <a:off x="1776" y="316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Freeform 20"/>
              <p:cNvSpPr>
                <a:spLocks noChangeArrowheads="1"/>
              </p:cNvSpPr>
              <p:nvPr/>
            </p:nvSpPr>
            <p:spPr bwMode="auto">
              <a:xfrm>
                <a:off x="1827" y="3204"/>
                <a:ext cx="153" cy="234"/>
              </a:xfrm>
              <a:custGeom>
                <a:avLst/>
                <a:gdLst>
                  <a:gd name="T0" fmla="*/ 126 w 153"/>
                  <a:gd name="T1" fmla="*/ 0 h 234"/>
                  <a:gd name="T2" fmla="*/ 72 w 153"/>
                  <a:gd name="T3" fmla="*/ 207 h 234"/>
                  <a:gd name="T4" fmla="*/ 0 w 153"/>
                  <a:gd name="T5" fmla="*/ 234 h 234"/>
                  <a:gd name="T6" fmla="*/ 0 60000 65536"/>
                  <a:gd name="T7" fmla="*/ 0 60000 65536"/>
                  <a:gd name="T8" fmla="*/ 0 60000 65536"/>
                  <a:gd name="T9" fmla="*/ 0 w 153"/>
                  <a:gd name="T10" fmla="*/ 0 h 234"/>
                  <a:gd name="T11" fmla="*/ 153 w 153"/>
                  <a:gd name="T12" fmla="*/ 234 h 2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" h="234">
                    <a:moveTo>
                      <a:pt x="126" y="0"/>
                    </a:moveTo>
                    <a:cubicBezTo>
                      <a:pt x="137" y="76"/>
                      <a:pt x="153" y="172"/>
                      <a:pt x="72" y="207"/>
                    </a:cubicBezTo>
                    <a:cubicBezTo>
                      <a:pt x="48" y="217"/>
                      <a:pt x="27" y="234"/>
                      <a:pt x="0" y="23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1455" y="2743"/>
              <a:ext cx="4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en-US">
                  <a:latin typeface="Tahoma" panose="020B0604030504040204" pitchFamily="34" charset="0"/>
                  <a:ea typeface="隶书" charset="0"/>
                  <a:cs typeface="Arial" panose="020B0604020202020204" pitchFamily="34" charset="0"/>
                </a:rPr>
                <a:t>(5,0) </a:t>
              </a:r>
            </a:p>
          </p:txBody>
        </p:sp>
        <p:sp>
          <p:nvSpPr>
            <p:cNvPr id="14" name="Line 26"/>
            <p:cNvSpPr>
              <a:spLocks noChangeShapeType="1"/>
            </p:cNvSpPr>
            <p:nvPr/>
          </p:nvSpPr>
          <p:spPr bwMode="auto">
            <a:xfrm>
              <a:off x="384" y="2448"/>
              <a:ext cx="432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7"/>
            <p:cNvSpPr>
              <a:spLocks noChangeShapeType="1"/>
            </p:cNvSpPr>
            <p:nvPr/>
          </p:nvSpPr>
          <p:spPr bwMode="auto">
            <a:xfrm flipV="1">
              <a:off x="384" y="2064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ooter Placeholder 1"/>
          <p:cNvSpPr>
            <a:spLocks noGrp="1"/>
          </p:cNvSpPr>
          <p:nvPr>
            <p:ph type="ftr" sz="quarter" idx="11"/>
          </p:nvPr>
        </p:nvSpPr>
        <p:spPr bwMode="auto">
          <a:xfrm>
            <a:off x="3517900" y="6284913"/>
            <a:ext cx="4724400" cy="2746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r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</a:rPr>
              <a:t>INSTRUCTOR: Sabina Irum</a:t>
            </a:r>
          </a:p>
        </p:txBody>
      </p:sp>
      <p:sp>
        <p:nvSpPr>
          <p:cNvPr id="21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8401050" y="6170613"/>
            <a:ext cx="503238" cy="503237"/>
          </a:xfrm>
          <a:noFill/>
          <a:ln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fld id="{027C0E4A-AED1-428B-A20F-CBB6BD27B4A9}" type="slidenum">
              <a:rPr lang="en-US" altLang="en-US">
                <a:solidFill>
                  <a:srgbClr val="FFFFFF"/>
                </a:solidFill>
                <a:latin typeface="Arial" panose="020B0604020202020204" pitchFamily="34" charset="0"/>
              </a:rPr>
              <a:pPr/>
              <a:t>34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720725" y="5314950"/>
            <a:ext cx="755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>
                <a:latin typeface="Tahoma" panose="020B0604030504040204" pitchFamily="34" charset="0"/>
                <a:ea typeface="隶书" charset="0"/>
                <a:cs typeface="Arial" panose="020B0604020202020204" pitchFamily="34" charset="0"/>
              </a:rPr>
              <a:t>(0,0) </a:t>
            </a:r>
          </a:p>
        </p:txBody>
      </p:sp>
    </p:spTree>
    <p:extLst>
      <p:ext uri="{BB962C8B-B14F-4D97-AF65-F5344CB8AC3E}">
        <p14:creationId xmlns:p14="http://schemas.microsoft.com/office/powerpoint/2010/main" val="46429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432</Words>
  <Application>Microsoft Office PowerPoint</Application>
  <PresentationFormat>Widescreen</PresentationFormat>
  <Paragraphs>81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Microsoft YaHei</vt:lpstr>
      <vt:lpstr>Arial</vt:lpstr>
      <vt:lpstr>Calibri</vt:lpstr>
      <vt:lpstr>Calibri Light</vt:lpstr>
      <vt:lpstr>隶书</vt:lpstr>
      <vt:lpstr>Noto Sans Symbols</vt:lpstr>
      <vt:lpstr>Tahoma</vt:lpstr>
      <vt:lpstr>Times New Roman</vt:lpstr>
      <vt:lpstr>Office Theme</vt:lpstr>
      <vt:lpstr>Microsoft Equation 3.0</vt:lpstr>
      <vt:lpstr>Transformations in Computer Graphics</vt:lpstr>
      <vt:lpstr>Introduction to Transformations </vt:lpstr>
      <vt:lpstr>PowerPoint Presentation</vt:lpstr>
      <vt:lpstr>Affine Transformations</vt:lpstr>
      <vt:lpstr>Translation </vt:lpstr>
      <vt:lpstr>Translation (Move Object) </vt:lpstr>
      <vt:lpstr>Scaling</vt:lpstr>
      <vt:lpstr>Types of Scaling</vt:lpstr>
      <vt:lpstr>PowerPoint Presentation</vt:lpstr>
      <vt:lpstr>Rotation </vt:lpstr>
      <vt:lpstr>PowerPoint Presentation</vt:lpstr>
      <vt:lpstr>Shearing </vt:lpstr>
      <vt:lpstr>PowerPoint Presentation</vt:lpstr>
      <vt:lpstr>Reflection</vt:lpstr>
      <vt:lpstr>COMPOSING AFFINE TRANSFORMATIONS</vt:lpstr>
      <vt:lpstr>Example: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Sabina</dc:creator>
  <cp:lastModifiedBy>Sabina</cp:lastModifiedBy>
  <cp:revision>27</cp:revision>
  <dcterms:created xsi:type="dcterms:W3CDTF">2026-03-03T10:55:24Z</dcterms:created>
  <dcterms:modified xsi:type="dcterms:W3CDTF">2026-03-03T11:40:07Z</dcterms:modified>
</cp:coreProperties>
</file>