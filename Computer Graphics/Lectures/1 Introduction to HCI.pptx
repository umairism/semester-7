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2" r:id="rId3"/>
    <p:sldId id="257" r:id="rId4"/>
    <p:sldId id="264" r:id="rId5"/>
    <p:sldId id="258" r:id="rId6"/>
    <p:sldId id="265" r:id="rId7"/>
    <p:sldId id="266" r:id="rId8"/>
    <p:sldId id="267" r:id="rId9"/>
    <p:sldId id="268" r:id="rId10"/>
    <p:sldId id="269" r:id="rId11"/>
    <p:sldId id="259" r:id="rId12"/>
    <p:sldId id="291" r:id="rId13"/>
    <p:sldId id="260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1032" autoAdjust="0"/>
  </p:normalViewPr>
  <p:slideViewPr>
    <p:cSldViewPr snapToGrid="0">
      <p:cViewPr varScale="1">
        <p:scale>
          <a:sx n="80" d="100"/>
          <a:sy n="80" d="100"/>
        </p:scale>
        <p:origin x="78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9B775-E431-4107-B06A-8D9427A0A84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C97D3C-9212-409F-B5BE-B8355F439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670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relating to or involving the processes of thinking and reasoning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is cognitive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C97D3C-9212-409F-B5BE-B8355F439FD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376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5F86-01FA-420D-9D3F-4E2069A88C8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EF98-1455-4282-922F-50E7F870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923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5F86-01FA-420D-9D3F-4E2069A88C8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EF98-1455-4282-922F-50E7F870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44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5F86-01FA-420D-9D3F-4E2069A88C8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EF98-1455-4282-922F-50E7F870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1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5F86-01FA-420D-9D3F-4E2069A88C8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EF98-1455-4282-922F-50E7F870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388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5F86-01FA-420D-9D3F-4E2069A88C8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EF98-1455-4282-922F-50E7F870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470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5F86-01FA-420D-9D3F-4E2069A88C8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EF98-1455-4282-922F-50E7F870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11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5F86-01FA-420D-9D3F-4E2069A88C8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EF98-1455-4282-922F-50E7F870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288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5F86-01FA-420D-9D3F-4E2069A88C8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EF98-1455-4282-922F-50E7F870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905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5F86-01FA-420D-9D3F-4E2069A88C8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EF98-1455-4282-922F-50E7F870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388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5F86-01FA-420D-9D3F-4E2069A88C8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EF98-1455-4282-922F-50E7F870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99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5F86-01FA-420D-9D3F-4E2069A88C8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EF98-1455-4282-922F-50E7F870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332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45F86-01FA-420D-9D3F-4E2069A88C8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0EF98-1455-4282-922F-50E7F870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71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 to HCI and User-Centered Design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35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HCI?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Human-Computer Interaction (HCI) is the:</a:t>
            </a:r>
          </a:p>
          <a:p>
            <a:pPr algn="just"/>
            <a:r>
              <a:rPr lang="en-US" dirty="0" smtClean="0">
                <a:solidFill>
                  <a:srgbClr val="00B050"/>
                </a:solidFill>
              </a:rPr>
              <a:t>academic study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design practice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how people interact with computers and technologies. </a:t>
            </a:r>
          </a:p>
          <a:p>
            <a:pPr algn="just"/>
            <a:r>
              <a:rPr lang="en-US" dirty="0" smtClean="0"/>
              <a:t>It bridges computer science, behavioral psychology, design to ensure technology is usable, effective, and efficient.</a:t>
            </a:r>
          </a:p>
          <a:p>
            <a:pPr algn="just"/>
            <a:endParaRPr lang="en-US" dirty="0"/>
          </a:p>
        </p:txBody>
      </p:sp>
      <p:pic>
        <p:nvPicPr>
          <p:cNvPr id="4" name="Picture 3" descr="High-level diagram of a typical human–computer interaction (HCI). | 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2056" y="4098788"/>
            <a:ext cx="6277666" cy="2759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087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90" y="0"/>
            <a:ext cx="10515600" cy="1325563"/>
          </a:xfrm>
        </p:spPr>
        <p:txBody>
          <a:bodyPr/>
          <a:lstStyle/>
          <a:p>
            <a:r>
              <a:rPr lang="en-US" dirty="0" smtClean="0"/>
              <a:t>1. Introduction to HCI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295053"/>
              </p:ext>
            </p:extLst>
          </p:nvPr>
        </p:nvGraphicFramePr>
        <p:xfrm>
          <a:off x="791390" y="1436915"/>
          <a:ext cx="10689772" cy="2209191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596244">
                  <a:extLst>
                    <a:ext uri="{9D8B030D-6E8A-4147-A177-3AD203B41FA5}">
                      <a16:colId xmlns:a16="http://schemas.microsoft.com/office/drawing/2014/main" val="4251568496"/>
                    </a:ext>
                  </a:extLst>
                </a:gridCol>
                <a:gridCol w="8093528">
                  <a:extLst>
                    <a:ext uri="{9D8B030D-6E8A-4147-A177-3AD203B41FA5}">
                      <a16:colId xmlns:a16="http://schemas.microsoft.com/office/drawing/2014/main" val="1557365936"/>
                    </a:ext>
                  </a:extLst>
                </a:gridCol>
              </a:tblGrid>
              <a:tr h="35113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00"/>
                          </a:solidFill>
                        </a:rPr>
                        <a:t>Component of HCI</a:t>
                      </a:r>
                      <a:endParaRPr lang="en-US" b="1" dirty="0">
                        <a:solidFill>
                          <a:srgbClr val="FFFF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259839"/>
                  </a:ext>
                </a:extLst>
              </a:tr>
              <a:tr h="614477">
                <a:tc>
                  <a:txBody>
                    <a:bodyPr/>
                    <a:lstStyle/>
                    <a:p>
                      <a:r>
                        <a:rPr lang="en-US" dirty="0" smtClean="0"/>
                        <a:t>User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Humans with different cognitive and physical abilities who use the system.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574068"/>
                  </a:ext>
                </a:extLst>
              </a:tr>
              <a:tr h="614477">
                <a:tc>
                  <a:txBody>
                    <a:bodyPr/>
                    <a:lstStyle/>
                    <a:p>
                      <a:r>
                        <a:rPr lang="en-US" smtClean="0"/>
                        <a:t>Computer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Hardware and software including input/output devices (touch, voice, screen).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4771285"/>
                  </a:ext>
                </a:extLst>
              </a:tr>
              <a:tr h="614477">
                <a:tc>
                  <a:txBody>
                    <a:bodyPr/>
                    <a:lstStyle/>
                    <a:p>
                      <a:r>
                        <a:rPr lang="en-US" smtClean="0"/>
                        <a:t>Interaction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communication between the user and the computer.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1674528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661026"/>
              </p:ext>
            </p:extLst>
          </p:nvPr>
        </p:nvGraphicFramePr>
        <p:xfrm>
          <a:off x="791390" y="4019006"/>
          <a:ext cx="10770326" cy="2242457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575562">
                  <a:extLst>
                    <a:ext uri="{9D8B030D-6E8A-4147-A177-3AD203B41FA5}">
                      <a16:colId xmlns:a16="http://schemas.microsoft.com/office/drawing/2014/main" val="683278821"/>
                    </a:ext>
                  </a:extLst>
                </a:gridCol>
                <a:gridCol w="8194764">
                  <a:extLst>
                    <a:ext uri="{9D8B030D-6E8A-4147-A177-3AD203B41FA5}">
                      <a16:colId xmlns:a16="http://schemas.microsoft.com/office/drawing/2014/main" val="4159155424"/>
                    </a:ext>
                  </a:extLst>
                </a:gridCol>
              </a:tblGrid>
              <a:tr h="374875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00"/>
                          </a:solidFill>
                        </a:rPr>
                        <a:t>Importance</a:t>
                      </a:r>
                      <a:r>
                        <a:rPr lang="en-US" b="1" baseline="0" dirty="0" smtClean="0">
                          <a:solidFill>
                            <a:srgbClr val="FFFF00"/>
                          </a:solidFill>
                        </a:rPr>
                        <a:t> of HCI (area)</a:t>
                      </a:r>
                      <a:endParaRPr lang="en-US" b="1" dirty="0">
                        <a:solidFill>
                          <a:srgbClr val="FFFF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Why It Matters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0351365"/>
                  </a:ext>
                </a:extLst>
              </a:tr>
              <a:tr h="656030">
                <a:tc>
                  <a:txBody>
                    <a:bodyPr/>
                    <a:lstStyle/>
                    <a:p>
                      <a:r>
                        <a:rPr lang="en-US"/>
                        <a:t>Usability &amp; Safety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Reduces errors and prevents failures in critical systems.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013087"/>
                  </a:ext>
                </a:extLst>
              </a:tr>
              <a:tr h="442418">
                <a:tc>
                  <a:txBody>
                    <a:bodyPr/>
                    <a:lstStyle/>
                    <a:p>
                      <a:r>
                        <a:rPr lang="en-US"/>
                        <a:t>Productivity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Increases speed and efficiency of tasks.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470618"/>
                  </a:ext>
                </a:extLst>
              </a:tr>
              <a:tr h="769134">
                <a:tc>
                  <a:txBody>
                    <a:bodyPr/>
                    <a:lstStyle/>
                    <a:p>
                      <a:r>
                        <a:rPr lang="en-US" dirty="0"/>
                        <a:t>Market Success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Improves user satisfaction and product competitiveness</a:t>
                      </a:r>
                      <a:r>
                        <a:rPr lang="en-US" dirty="0" smtClean="0"/>
                        <a:t>.</a:t>
                      </a:r>
                    </a:p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80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6291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Real-Life Example: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84068" y="1505357"/>
            <a:ext cx="852569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ATM machine interface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Mobile apps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University LMS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E-commerce websites</a:t>
            </a:r>
          </a:p>
        </p:txBody>
      </p:sp>
    </p:spTree>
    <p:extLst>
      <p:ext uri="{BB962C8B-B14F-4D97-AF65-F5344CB8AC3E}">
        <p14:creationId xmlns:p14="http://schemas.microsoft.com/office/powerpoint/2010/main" val="3499290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Evolution of HCI</a:t>
            </a:r>
            <a:br>
              <a:rPr lang="en-US" dirty="0" smtClean="0"/>
            </a:b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1983274"/>
              </p:ext>
            </p:extLst>
          </p:nvPr>
        </p:nvGraphicFramePr>
        <p:xfrm>
          <a:off x="333376" y="1217999"/>
          <a:ext cx="10525124" cy="525636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531917">
                  <a:extLst>
                    <a:ext uri="{9D8B030D-6E8A-4147-A177-3AD203B41FA5}">
                      <a16:colId xmlns:a16="http://schemas.microsoft.com/office/drawing/2014/main" val="913952439"/>
                    </a:ext>
                  </a:extLst>
                </a:gridCol>
                <a:gridCol w="2954879">
                  <a:extLst>
                    <a:ext uri="{9D8B030D-6E8A-4147-A177-3AD203B41FA5}">
                      <a16:colId xmlns:a16="http://schemas.microsoft.com/office/drawing/2014/main" val="4249615457"/>
                    </a:ext>
                  </a:extLst>
                </a:gridCol>
                <a:gridCol w="6038328">
                  <a:extLst>
                    <a:ext uri="{9D8B030D-6E8A-4147-A177-3AD203B41FA5}">
                      <a16:colId xmlns:a16="http://schemas.microsoft.com/office/drawing/2014/main" val="4182065095"/>
                    </a:ext>
                  </a:extLst>
                </a:gridCol>
              </a:tblGrid>
              <a:tr h="554176">
                <a:tc>
                  <a:txBody>
                    <a:bodyPr/>
                    <a:lstStyle/>
                    <a:p>
                      <a:r>
                        <a:rPr lang="en-US" sz="2400"/>
                        <a:t>Era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Technology /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Key Characteristics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271410"/>
                  </a:ext>
                </a:extLst>
              </a:tr>
              <a:tr h="730341">
                <a:tc>
                  <a:txBody>
                    <a:bodyPr/>
                    <a:lstStyle/>
                    <a:p>
                      <a:r>
                        <a:rPr lang="en-US" sz="2400"/>
                        <a:t>1960s–70s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Batch Processing &amp; CLI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Users typed rigid text commands; expert-driven interaction.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801023"/>
                  </a:ext>
                </a:extLst>
              </a:tr>
              <a:tr h="969808">
                <a:tc>
                  <a:txBody>
                    <a:bodyPr/>
                    <a:lstStyle/>
                    <a:p>
                      <a:r>
                        <a:rPr lang="en-US" sz="2400"/>
                        <a:t>1980s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GUI (Graphical User Interface)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Introduced icons, windows, menus, mouse; more user-friendly.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9070219"/>
                  </a:ext>
                </a:extLst>
              </a:tr>
              <a:tr h="969808">
                <a:tc>
                  <a:txBody>
                    <a:bodyPr/>
                    <a:lstStyle/>
                    <a:p>
                      <a:r>
                        <a:rPr lang="en-US" sz="2400"/>
                        <a:t>1990s–2000s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Web &amp; Mobile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Internet browsers and touchscreens; intuitive navigation; widespread computing.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060696"/>
                  </a:ext>
                </a:extLst>
              </a:tr>
              <a:tr h="969808">
                <a:tc>
                  <a:txBody>
                    <a:bodyPr/>
                    <a:lstStyle/>
                    <a:p>
                      <a:r>
                        <a:rPr lang="en-US" sz="2400"/>
                        <a:t>2010s–Present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NUI &amp; Immersive Tech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Natural interaction through touch, voice, gestures. Includes AR &amp; VR.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8930044"/>
                  </a:ext>
                </a:extLst>
              </a:tr>
              <a:tr h="969808">
                <a:tc>
                  <a:txBody>
                    <a:bodyPr/>
                    <a:lstStyle/>
                    <a:p>
                      <a:r>
                        <a:rPr lang="en-US" sz="2400"/>
                        <a:t>Future Trend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Voice, Gesture &amp; BCI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Moving toward voice assistants, gesture control, and Brain-Computer Interfaces.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018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361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Command Line Interface (CLI)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Users typed commands, No graphics, Required technical knowledge</a:t>
            </a:r>
          </a:p>
          <a:p>
            <a:r>
              <a:rPr lang="en-US" dirty="0" smtClean="0"/>
              <a:t>Example: </a:t>
            </a:r>
            <a:r>
              <a:rPr lang="en-US" dirty="0" err="1" smtClean="0"/>
              <a:t>dir</a:t>
            </a:r>
            <a:r>
              <a:rPr lang="en-US" dirty="0" smtClean="0"/>
              <a:t>, cd, copy</a:t>
            </a:r>
          </a:p>
          <a:p>
            <a:r>
              <a:rPr lang="en-US" dirty="0" smtClean="0"/>
              <a:t> Only experts could use computers.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950" y="3310890"/>
            <a:ext cx="91821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24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Graphical User Interface (GUI)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9166"/>
            <a:ext cx="10515600" cy="4687797"/>
          </a:xfrm>
        </p:spPr>
        <p:txBody>
          <a:bodyPr/>
          <a:lstStyle/>
          <a:p>
            <a:r>
              <a:rPr lang="en-US" dirty="0" smtClean="0"/>
              <a:t>Introduced windows, icons, menus, mouse</a:t>
            </a:r>
          </a:p>
          <a:p>
            <a:r>
              <a:rPr lang="en-US" dirty="0" smtClean="0"/>
              <a:t>Easier for normal users</a:t>
            </a:r>
          </a:p>
          <a:p>
            <a:r>
              <a:rPr lang="en-US" dirty="0" smtClean="0"/>
              <a:t>Examples:</a:t>
            </a:r>
          </a:p>
          <a:p>
            <a:pPr lvl="1"/>
            <a:r>
              <a:rPr lang="en-US" dirty="0" smtClean="0"/>
              <a:t>Microsoft Windows</a:t>
            </a:r>
          </a:p>
          <a:p>
            <a:pPr lvl="1"/>
            <a:r>
              <a:rPr lang="en-US" dirty="0" err="1" smtClean="0"/>
              <a:t>macOS</a:t>
            </a:r>
            <a:endParaRPr lang="en-US" dirty="0" smtClean="0"/>
          </a:p>
          <a:p>
            <a:pPr lvl="1"/>
            <a:r>
              <a:rPr lang="en-US" dirty="0" smtClean="0"/>
              <a:t>Computers became accessible to everyone.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4156832"/>
            <a:ext cx="9537645" cy="257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257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Touch &amp; Mobile Interfaces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Touch gestures (tap, swipe, pinch)</a:t>
            </a:r>
          </a:p>
          <a:p>
            <a:r>
              <a:rPr lang="en-US" dirty="0" smtClean="0"/>
              <a:t>Mobile-first design</a:t>
            </a:r>
          </a:p>
          <a:p>
            <a:r>
              <a:rPr lang="en-US" dirty="0" smtClean="0"/>
              <a:t>Examples:</a:t>
            </a:r>
          </a:p>
          <a:p>
            <a:r>
              <a:rPr lang="en-US" dirty="0" smtClean="0"/>
              <a:t>Android</a:t>
            </a:r>
          </a:p>
          <a:p>
            <a:r>
              <a:rPr lang="en-US" dirty="0" smtClean="0"/>
              <a:t>iOS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590" t="17611" r="-1" b="19827"/>
          <a:stretch/>
        </p:blipFill>
        <p:spPr>
          <a:xfrm>
            <a:off x="2771775" y="3886200"/>
            <a:ext cx="8026854" cy="24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960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4. Voice Interfaces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Examples:</a:t>
            </a:r>
          </a:p>
          <a:p>
            <a:r>
              <a:rPr lang="en-US" dirty="0" smtClean="0"/>
              <a:t>Siri</a:t>
            </a:r>
          </a:p>
          <a:p>
            <a:r>
              <a:rPr lang="en-US" dirty="0" smtClean="0"/>
              <a:t>Google Assistant</a:t>
            </a:r>
          </a:p>
          <a:p>
            <a:r>
              <a:rPr lang="en-US" dirty="0" smtClean="0"/>
              <a:t>Users interact using voice commands.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977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AR/VR Interfaces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527" y="2891017"/>
            <a:ext cx="11742160" cy="35408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54629" y="1690688"/>
            <a:ext cx="81599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Immersive interaction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3D environments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Used in gaming, education, healthcare</a:t>
            </a:r>
          </a:p>
        </p:txBody>
      </p:sp>
    </p:spTree>
    <p:extLst>
      <p:ext uri="{BB962C8B-B14F-4D97-AF65-F5344CB8AC3E}">
        <p14:creationId xmlns:p14="http://schemas.microsoft.com/office/powerpoint/2010/main" val="3227194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User-Centered Design (UCD) &amp;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User-Centered Design (UCD) is a design approach that focuses on users’ </a:t>
            </a:r>
          </a:p>
          <a:p>
            <a:r>
              <a:rPr lang="en-US" dirty="0" smtClean="0"/>
              <a:t>Needs</a:t>
            </a:r>
          </a:p>
          <a:p>
            <a:r>
              <a:rPr lang="en-US" dirty="0" smtClean="0"/>
              <a:t>Goals</a:t>
            </a:r>
          </a:p>
          <a:p>
            <a:r>
              <a:rPr lang="en-US" dirty="0" smtClean="0"/>
              <a:t>limitations at every stage of development.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Instead of asking: “What technology can do?”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70C0"/>
                </a:solidFill>
              </a:rPr>
              <a:t>We ask: “What does the user need?”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28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UCD Principles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smtClean="0">
                <a:solidFill>
                  <a:srgbClr val="FF0000"/>
                </a:solidFill>
              </a:rPr>
              <a:t>In order to evaluate a particular system with respect to HCI we use these points known as UCD </a:t>
            </a:r>
            <a:r>
              <a:rPr lang="en-US" dirty="0">
                <a:solidFill>
                  <a:srgbClr val="FF0000"/>
                </a:solidFill>
              </a:rPr>
              <a:t>Principles are identified as </a:t>
            </a:r>
            <a:endParaRPr lang="en-US" dirty="0" smtClean="0">
              <a:solidFill>
                <a:srgbClr val="FF0000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 smtClean="0">
                <a:solidFill>
                  <a:srgbClr val="FF0000"/>
                </a:solidFill>
              </a:rPr>
              <a:t>Simplicity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 smtClean="0">
                <a:solidFill>
                  <a:srgbClr val="FF0000"/>
                </a:solidFill>
              </a:rPr>
              <a:t>Visibility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 smtClean="0">
                <a:solidFill>
                  <a:srgbClr val="FF0000"/>
                </a:solidFill>
              </a:rPr>
              <a:t>Feedback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 smtClean="0">
                <a:solidFill>
                  <a:srgbClr val="FF0000"/>
                </a:solidFill>
              </a:rPr>
              <a:t>Accessibility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b="1" dirty="0" smtClean="0">
                <a:solidFill>
                  <a:srgbClr val="FF0000"/>
                </a:solidFill>
              </a:rPr>
              <a:t>onsistency</a:t>
            </a:r>
            <a:r>
              <a:rPr lang="en-US" b="1" dirty="0">
                <a:solidFill>
                  <a:srgbClr val="FF0000"/>
                </a:solidFill>
              </a:rPr>
              <a:t>.</a:t>
            </a:r>
          </a:p>
          <a:p>
            <a:pPr algn="just"/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772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4️. HCI in Modern Software Development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0150"/>
            <a:ext cx="10515600" cy="497681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Today, HCI is part of:</a:t>
            </a:r>
          </a:p>
          <a:p>
            <a:pPr marL="0" indent="0">
              <a:buNone/>
            </a:pPr>
            <a:r>
              <a:rPr lang="en-US" b="1" dirty="0" smtClean="0"/>
              <a:t>1.  UI/UX Design</a:t>
            </a:r>
          </a:p>
          <a:p>
            <a:pPr marL="0" indent="0">
              <a:buNone/>
            </a:pPr>
            <a:r>
              <a:rPr lang="en-US" dirty="0" smtClean="0"/>
              <a:t>User Interface (UI) → Visual layout</a:t>
            </a:r>
          </a:p>
          <a:p>
            <a:pPr marL="0" indent="0">
              <a:buNone/>
            </a:pPr>
            <a:r>
              <a:rPr lang="en-US" dirty="0" smtClean="0"/>
              <a:t>User Experience (UX) → Overall experience</a:t>
            </a:r>
          </a:p>
          <a:p>
            <a:pPr marL="0" indent="0">
              <a:buNone/>
            </a:pPr>
            <a:r>
              <a:rPr lang="en-US" b="1" dirty="0" smtClean="0"/>
              <a:t>2. Agile Development</a:t>
            </a:r>
          </a:p>
          <a:p>
            <a:pPr marL="0" indent="0">
              <a:buNone/>
            </a:pPr>
            <a:r>
              <a:rPr lang="en-US" dirty="0" smtClean="0"/>
              <a:t>Continuous user feedback</a:t>
            </a:r>
          </a:p>
          <a:p>
            <a:pPr marL="0" indent="0">
              <a:buNone/>
            </a:pPr>
            <a:r>
              <a:rPr lang="en-US" dirty="0" smtClean="0"/>
              <a:t>Iterative improvements </a:t>
            </a:r>
          </a:p>
          <a:p>
            <a:pPr marL="0" indent="0">
              <a:buNone/>
            </a:pPr>
            <a:r>
              <a:rPr lang="en-US" b="1" dirty="0" smtClean="0"/>
              <a:t>3. Mobile &amp; Web Apps</a:t>
            </a:r>
          </a:p>
          <a:p>
            <a:pPr marL="0" indent="0">
              <a:buNone/>
            </a:pPr>
            <a:r>
              <a:rPr lang="en-US" dirty="0" smtClean="0"/>
              <a:t>Companies focus heavily on UX.</a:t>
            </a:r>
          </a:p>
          <a:p>
            <a:pPr marL="0" indent="0">
              <a:buNone/>
            </a:pPr>
            <a:r>
              <a:rPr lang="en-US" dirty="0" smtClean="0"/>
              <a:t>Example:</a:t>
            </a:r>
          </a:p>
          <a:p>
            <a:pPr marL="457200" lvl="1" indent="0">
              <a:buNone/>
            </a:pPr>
            <a:r>
              <a:rPr lang="en-US" dirty="0" smtClean="0"/>
              <a:t>Google</a:t>
            </a:r>
          </a:p>
          <a:p>
            <a:pPr marL="457200" lvl="1" indent="0">
              <a:buNone/>
            </a:pPr>
            <a:r>
              <a:rPr lang="en-US" dirty="0" smtClean="0"/>
              <a:t>Apple Inc.</a:t>
            </a:r>
          </a:p>
          <a:p>
            <a:pPr marL="0" indent="0">
              <a:buNone/>
            </a:pPr>
            <a:r>
              <a:rPr lang="en-US" dirty="0" smtClean="0"/>
              <a:t>These companies invest heavily in usability testing.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284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Accessibility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Designing for:</a:t>
            </a:r>
          </a:p>
          <a:p>
            <a:pPr lvl="1"/>
            <a:r>
              <a:rPr lang="en-US" dirty="0" smtClean="0"/>
              <a:t>Elderly users</a:t>
            </a:r>
          </a:p>
          <a:p>
            <a:pPr lvl="1"/>
            <a:r>
              <a:rPr lang="en-US" dirty="0" smtClean="0"/>
              <a:t>Disabled users</a:t>
            </a:r>
          </a:p>
          <a:p>
            <a:pPr lvl="1"/>
            <a:r>
              <a:rPr lang="en-US" dirty="0" smtClean="0"/>
              <a:t>Non-technical users</a:t>
            </a:r>
          </a:p>
          <a:p>
            <a:r>
              <a:rPr lang="en-US" dirty="0" smtClean="0"/>
              <a:t>Example:</a:t>
            </a:r>
          </a:p>
          <a:p>
            <a:pPr lvl="1"/>
            <a:r>
              <a:rPr lang="en-US" dirty="0" smtClean="0"/>
              <a:t>Screen readers</a:t>
            </a:r>
          </a:p>
          <a:p>
            <a:pPr lvl="1"/>
            <a:r>
              <a:rPr lang="en-US" dirty="0" smtClean="0"/>
              <a:t>Voice commands</a:t>
            </a:r>
          </a:p>
          <a:p>
            <a:pPr lvl="1"/>
            <a:r>
              <a:rPr lang="en-US" dirty="0" smtClean="0"/>
              <a:t>Large text options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</TotalTime>
  <Words>544</Words>
  <Application>Microsoft Office PowerPoint</Application>
  <PresentationFormat>Widescreen</PresentationFormat>
  <Paragraphs>111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Introduction to HCI and User-Centered Design</vt:lpstr>
      <vt:lpstr>What is HCI?</vt:lpstr>
      <vt:lpstr>1. Introduction to HCI</vt:lpstr>
      <vt:lpstr>Real-Life Example: </vt:lpstr>
      <vt:lpstr>2. Evolution of HCI </vt:lpstr>
      <vt:lpstr>1. Command Line Interface (CLI)</vt:lpstr>
      <vt:lpstr>2. Graphical User Interface (GUI)</vt:lpstr>
      <vt:lpstr>3. Touch &amp; Mobile Interfaces</vt:lpstr>
      <vt:lpstr>4. Voice Interfaces </vt:lpstr>
      <vt:lpstr>5. AR/VR Interfaces</vt:lpstr>
      <vt:lpstr>3. User-Centered Design (UCD) &amp; Principles</vt:lpstr>
      <vt:lpstr>UCD Principles</vt:lpstr>
      <vt:lpstr>4️. HCI in Modern Software Development </vt:lpstr>
      <vt:lpstr>Accessibility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Sabina</dc:creator>
  <cp:lastModifiedBy>Sabina</cp:lastModifiedBy>
  <cp:revision>128</cp:revision>
  <dcterms:created xsi:type="dcterms:W3CDTF">2026-03-03T08:04:19Z</dcterms:created>
  <dcterms:modified xsi:type="dcterms:W3CDTF">2026-03-05T06:37:54Z</dcterms:modified>
</cp:coreProperties>
</file>