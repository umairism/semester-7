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328" r:id="rId2"/>
    <p:sldId id="309" r:id="rId3"/>
    <p:sldId id="329" r:id="rId4"/>
    <p:sldId id="305" r:id="rId5"/>
    <p:sldId id="303" r:id="rId6"/>
    <p:sldId id="310" r:id="rId7"/>
    <p:sldId id="311" r:id="rId8"/>
    <p:sldId id="312" r:id="rId9"/>
    <p:sldId id="313" r:id="rId10"/>
    <p:sldId id="314" r:id="rId11"/>
    <p:sldId id="317" r:id="rId12"/>
    <p:sldId id="319" r:id="rId13"/>
    <p:sldId id="320" r:id="rId14"/>
    <p:sldId id="321" r:id="rId15"/>
    <p:sldId id="323" r:id="rId16"/>
    <p:sldId id="322" r:id="rId17"/>
    <p:sldId id="324" r:id="rId18"/>
    <p:sldId id="325" r:id="rId19"/>
    <p:sldId id="326" r:id="rId20"/>
    <p:sldId id="327" r:id="rId21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>
        <p:scale>
          <a:sx n="60" d="100"/>
          <a:sy n="60" d="100"/>
        </p:scale>
        <p:origin x="-1656" y="-270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3F443B-5C80-4BE6-AB7F-03162B9AF537}" type="datetimeFigureOut">
              <a:rPr lang="en-US" smtClean="0"/>
              <a:t>3/4/2024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BDF836-CD06-46AA-A440-C20D84A07E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514728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3F443B-5C80-4BE6-AB7F-03162B9AF537}" type="datetimeFigureOut">
              <a:rPr lang="en-US" smtClean="0"/>
              <a:t>3/4/2024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BDF836-CD06-46AA-A440-C20D84A07E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625433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3F443B-5C80-4BE6-AB7F-03162B9AF537}" type="datetimeFigureOut">
              <a:rPr lang="en-US" smtClean="0"/>
              <a:t>3/4/2024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BDF836-CD06-46AA-A440-C20D84A07E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60618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3F443B-5C80-4BE6-AB7F-03162B9AF537}" type="datetimeFigureOut">
              <a:rPr lang="en-US" smtClean="0"/>
              <a:t>3/4/2024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BDF836-CD06-46AA-A440-C20D84A07E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186407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3F443B-5C80-4BE6-AB7F-03162B9AF537}" type="datetimeFigureOut">
              <a:rPr lang="en-US" smtClean="0"/>
              <a:t>3/4/2024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BDF836-CD06-46AA-A440-C20D84A07E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483346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3F443B-5C80-4BE6-AB7F-03162B9AF537}" type="datetimeFigureOut">
              <a:rPr lang="en-US" smtClean="0"/>
              <a:t>3/4/2024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BDF836-CD06-46AA-A440-C20D84A07E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157332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3F443B-5C80-4BE6-AB7F-03162B9AF537}" type="datetimeFigureOut">
              <a:rPr lang="en-US" smtClean="0"/>
              <a:t>3/4/2024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BDF836-CD06-46AA-A440-C20D84A07E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003049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3F443B-5C80-4BE6-AB7F-03162B9AF537}" type="datetimeFigureOut">
              <a:rPr lang="en-US" smtClean="0"/>
              <a:t>3/4/2024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BDF836-CD06-46AA-A440-C20D84A07E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90577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3F443B-5C80-4BE6-AB7F-03162B9AF537}" type="datetimeFigureOut">
              <a:rPr lang="en-US" smtClean="0"/>
              <a:t>3/4/2024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BDF836-CD06-46AA-A440-C20D84A07E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580889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3F443B-5C80-4BE6-AB7F-03162B9AF537}" type="datetimeFigureOut">
              <a:rPr lang="en-US" smtClean="0"/>
              <a:t>3/4/2024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BDF836-CD06-46AA-A440-C20D84A07E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277890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3F443B-5C80-4BE6-AB7F-03162B9AF537}" type="datetimeFigureOut">
              <a:rPr lang="en-US" smtClean="0"/>
              <a:t>3/4/2024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BDF836-CD06-46AA-A440-C20D84A07E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320119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B3F443B-5C80-4BE6-AB7F-03162B9AF537}" type="datetimeFigureOut">
              <a:rPr lang="en-US" smtClean="0"/>
              <a:t>3/4/2024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ABDF836-CD06-46AA-A440-C20D84A07E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49155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/>
              <a:t>Lab  5 , 6</a:t>
            </a:r>
            <a:br>
              <a:rPr lang="en-US" dirty="0" smtClean="0"/>
            </a:b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794548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084" t="43750" r="23421" b="22629"/>
          <a:stretch/>
        </p:blipFill>
        <p:spPr bwMode="auto">
          <a:xfrm>
            <a:off x="323528" y="1484784"/>
            <a:ext cx="8456323" cy="446449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2274664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Lets summarize the previous lab tasks about transformation.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5583504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781" t="30388" r="26087" b="9698"/>
          <a:stretch/>
        </p:blipFill>
        <p:spPr bwMode="auto">
          <a:xfrm>
            <a:off x="755576" y="1484784"/>
            <a:ext cx="7173311" cy="438281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3974282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054" t="29526" r="15908" b="10130"/>
          <a:stretch/>
        </p:blipFill>
        <p:spPr bwMode="auto">
          <a:xfrm>
            <a:off x="27278" y="1484784"/>
            <a:ext cx="8970139" cy="46085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1615590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085" t="28017" r="18211" b="13793"/>
          <a:stretch/>
        </p:blipFill>
        <p:spPr bwMode="auto">
          <a:xfrm>
            <a:off x="179512" y="1556792"/>
            <a:ext cx="8418786" cy="425669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4548915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357" t="35991" r="18816" b="30388"/>
          <a:stretch/>
        </p:blipFill>
        <p:spPr bwMode="auto">
          <a:xfrm>
            <a:off x="395536" y="1628800"/>
            <a:ext cx="8208912" cy="255097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5917322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6146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660" t="27586" r="17968" b="6251"/>
          <a:stretch/>
        </p:blipFill>
        <p:spPr bwMode="auto">
          <a:xfrm>
            <a:off x="179512" y="1196752"/>
            <a:ext cx="8709683" cy="511256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605030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Order of Transformation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7170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055" t="23707" r="26693" b="11207"/>
          <a:stretch/>
        </p:blipFill>
        <p:spPr bwMode="auto">
          <a:xfrm>
            <a:off x="539552" y="1714810"/>
            <a:ext cx="8208912" cy="50073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2408362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8194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812" t="25000" r="19059" b="12500"/>
          <a:stretch/>
        </p:blipFill>
        <p:spPr bwMode="auto">
          <a:xfrm>
            <a:off x="395536" y="1484784"/>
            <a:ext cx="8352928" cy="46494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8441343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marL="0" indent="0"/>
            <a:r>
              <a:rPr lang="en-US" dirty="0">
                <a:latin typeface="Times New Roman" pitchFamily="18" charset="0"/>
                <a:cs typeface="Times New Roman" pitchFamily="18" charset="0"/>
              </a:rPr>
              <a:t/>
            </a:r>
            <a:br>
              <a:rPr lang="en-US" dirty="0">
                <a:latin typeface="Times New Roman" pitchFamily="18" charset="0"/>
                <a:cs typeface="Times New Roman" pitchFamily="18" charset="0"/>
              </a:rPr>
            </a:br>
            <a:r>
              <a:rPr lang="en-US" dirty="0">
                <a:latin typeface="Times New Roman" pitchFamily="18" charset="0"/>
                <a:cs typeface="Times New Roman" pitchFamily="18" charset="0"/>
              </a:rPr>
              <a:t>LAB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TASK 3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5536" y="1600200"/>
            <a:ext cx="8280920" cy="4525963"/>
          </a:xfrm>
        </p:spPr>
        <p:txBody>
          <a:bodyPr/>
          <a:lstStyle/>
          <a:p>
            <a:pPr algn="just"/>
            <a:r>
              <a:rPr lang="en-US" dirty="0" smtClean="0"/>
              <a:t>Create the following drawings:</a:t>
            </a:r>
          </a:p>
          <a:p>
            <a:pPr lvl="1" algn="just"/>
            <a:r>
              <a:rPr lang="en-US" dirty="0" smtClean="0"/>
              <a:t>The objects must be created based on the following conditions.</a:t>
            </a:r>
          </a:p>
          <a:p>
            <a:pPr lvl="2" algn="just"/>
            <a:r>
              <a:rPr lang="en-US" dirty="0" smtClean="0"/>
              <a:t>Use Transformations( create a single basic objects )</a:t>
            </a:r>
          </a:p>
          <a:p>
            <a:pPr lvl="2" algn="just"/>
            <a:r>
              <a:rPr lang="en-US" dirty="0" smtClean="0"/>
              <a:t>Rotate</a:t>
            </a:r>
          </a:p>
          <a:p>
            <a:pPr lvl="2" algn="just"/>
            <a:r>
              <a:rPr lang="en-US" dirty="0" smtClean="0"/>
              <a:t>Translate</a:t>
            </a:r>
          </a:p>
          <a:p>
            <a:pPr lvl="2"/>
            <a:r>
              <a:rPr lang="en-US" dirty="0" smtClean="0"/>
              <a:t>Scale </a:t>
            </a:r>
          </a:p>
          <a:p>
            <a:pPr marL="457200" lvl="1" indent="0">
              <a:buNone/>
            </a:pPr>
            <a:endParaRPr lang="en-US" dirty="0" smtClean="0"/>
          </a:p>
          <a:p>
            <a:pPr lvl="2"/>
            <a:endParaRPr lang="en-US" dirty="0" smtClean="0"/>
          </a:p>
          <a:p>
            <a:pPr lvl="2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211932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Do This Task: RING TOWER</a:t>
            </a:r>
            <a:endParaRPr lang="en-US" dirty="0"/>
          </a:p>
        </p:txBody>
      </p:sp>
      <p:pic>
        <p:nvPicPr>
          <p:cNvPr id="4" name="Picture 3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03648" y="2132856"/>
            <a:ext cx="6048672" cy="4608512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extBox 1"/>
          <p:cNvSpPr txBox="1"/>
          <p:nvPr/>
        </p:nvSpPr>
        <p:spPr>
          <a:xfrm>
            <a:off x="1115616" y="1484784"/>
            <a:ext cx="594278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800" dirty="0" smtClean="0"/>
              <a:t>NOTE: The Edges of sides can be square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17983440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ctr">
              <a:buNone/>
            </a:pPr>
            <a:endParaRPr lang="en-US" sz="5400" dirty="0">
              <a:latin typeface="Times New Roman" pitchFamily="18" charset="0"/>
              <a:cs typeface="Times New Roman" pitchFamily="18" charset="0"/>
            </a:endParaRPr>
          </a:p>
          <a:p>
            <a:pPr marL="0" indent="0" algn="ctr">
              <a:buNone/>
            </a:pPr>
            <a:r>
              <a:rPr lang="en-US" sz="5400" dirty="0">
                <a:latin typeface="Times New Roman" pitchFamily="18" charset="0"/>
                <a:cs typeface="Times New Roman" pitchFamily="18" charset="0"/>
              </a:rPr>
              <a:t>LAB 4</a:t>
            </a:r>
            <a:endParaRPr lang="en-US" sz="5400" dirty="0"/>
          </a:p>
        </p:txBody>
      </p:sp>
    </p:spTree>
    <p:extLst>
      <p:ext uri="{BB962C8B-B14F-4D97-AF65-F5344CB8AC3E}">
        <p14:creationId xmlns:p14="http://schemas.microsoft.com/office/powerpoint/2010/main" val="36212122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EVENT HANGLING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547996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>
          <a:xfrm>
            <a:off x="0" y="21522"/>
            <a:ext cx="9313609" cy="6669360"/>
          </a:xfrm>
          <a:prstGeom prst="rect">
            <a:avLst/>
          </a:prstGeom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00"/>
                </a:solidFill>
                <a:latin typeface="Times New Roman" pitchFamily="18" charset="0"/>
                <a:cs typeface="Times New Roman" pitchFamily="18" charset="0"/>
              </a:rPr>
              <a:t>void display()</a:t>
            </a:r>
          </a:p>
          <a:p>
            <a:pPr marL="0" indent="0">
              <a:buNone/>
            </a:pPr>
            <a:r>
              <a:rPr lang="en-US" sz="2400" b="1" dirty="0" smtClean="0">
                <a:solidFill>
                  <a:srgbClr val="FFFF00"/>
                </a:solidFill>
                <a:latin typeface="Times New Roman" pitchFamily="18" charset="0"/>
                <a:cs typeface="Times New Roman" pitchFamily="18" charset="0"/>
              </a:rPr>
              <a:t>{ </a:t>
            </a:r>
            <a:r>
              <a:rPr lang="en-US" sz="2400" b="1" dirty="0" err="1" smtClean="0">
                <a:solidFill>
                  <a:srgbClr val="FFFF00"/>
                </a:solidFill>
                <a:latin typeface="Times New Roman" pitchFamily="18" charset="0"/>
                <a:cs typeface="Times New Roman" pitchFamily="18" charset="0"/>
              </a:rPr>
              <a:t>glClear</a:t>
            </a:r>
            <a:r>
              <a:rPr lang="en-US" sz="2400" b="1" dirty="0" smtClean="0">
                <a:solidFill>
                  <a:srgbClr val="FFFF00"/>
                </a:solidFill>
                <a:latin typeface="Times New Roman" pitchFamily="18" charset="0"/>
                <a:cs typeface="Times New Roman" pitchFamily="18" charset="0"/>
              </a:rPr>
              <a:t>(GL_COLOR_BUFFER_BIT</a:t>
            </a:r>
            <a:r>
              <a:rPr lang="en-US" sz="2400" b="1" dirty="0">
                <a:solidFill>
                  <a:srgbClr val="FFFF00"/>
                </a:solidFill>
                <a:latin typeface="Times New Roman" pitchFamily="18" charset="0"/>
                <a:cs typeface="Times New Roman" pitchFamily="18" charset="0"/>
              </a:rPr>
              <a:t>);</a:t>
            </a:r>
          </a:p>
          <a:p>
            <a:pPr marL="0" indent="0">
              <a:buNone/>
            </a:pPr>
            <a:r>
              <a:rPr lang="en-US" sz="2400" b="1" dirty="0" err="1" smtClean="0">
                <a:solidFill>
                  <a:srgbClr val="FFFF00"/>
                </a:solidFill>
                <a:latin typeface="Times New Roman" pitchFamily="18" charset="0"/>
                <a:cs typeface="Times New Roman" pitchFamily="18" charset="0"/>
              </a:rPr>
              <a:t>glFlush</a:t>
            </a:r>
            <a:r>
              <a:rPr lang="en-US" sz="2400" b="1" dirty="0" smtClean="0">
                <a:solidFill>
                  <a:srgbClr val="FFFF00"/>
                </a:solidFill>
                <a:latin typeface="Times New Roman" pitchFamily="18" charset="0"/>
                <a:cs typeface="Times New Roman" pitchFamily="18" charset="0"/>
              </a:rPr>
              <a:t>(); }</a:t>
            </a:r>
            <a:endParaRPr lang="en-US" sz="2400" b="1" dirty="0">
              <a:solidFill>
                <a:srgbClr val="FFFF00"/>
              </a:solidFill>
              <a:latin typeface="Times New Roman" pitchFamily="18" charset="0"/>
              <a:cs typeface="Times New Roman" pitchFamily="18" charset="0"/>
            </a:endParaRPr>
          </a:p>
          <a:p>
            <a:pPr marL="0" indent="0">
              <a:buNone/>
            </a:pPr>
            <a:r>
              <a:rPr lang="en-US" sz="2400" b="1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void </a:t>
            </a:r>
            <a:r>
              <a:rPr lang="en-US" sz="2400" b="1" dirty="0" err="1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mymousefunc</a:t>
            </a:r>
            <a:r>
              <a:rPr lang="en-US" sz="2400" b="1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(int button, int state, </a:t>
            </a:r>
            <a:r>
              <a:rPr lang="en-US" sz="2400" b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intx</a:t>
            </a:r>
            <a:r>
              <a:rPr lang="en-US" sz="2400" b="1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, int </a:t>
            </a:r>
            <a:r>
              <a:rPr lang="en-US" sz="2400" b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y</a:t>
            </a:r>
            <a:r>
              <a:rPr lang="en-US" sz="2400" b="1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)</a:t>
            </a:r>
          </a:p>
          <a:p>
            <a:pPr marL="0" indent="0">
              <a:buNone/>
            </a:pPr>
            <a:r>
              <a:rPr lang="en-US" sz="2400" b="1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{</a:t>
            </a:r>
          </a:p>
          <a:p>
            <a:pPr marL="0" indent="0">
              <a:buNone/>
            </a:pPr>
            <a:r>
              <a:rPr lang="en-US" sz="2400" b="1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if (button == GLUT_LEFT_BUTTON &amp;&amp; state == GLUT_DOWN)</a:t>
            </a:r>
          </a:p>
          <a:p>
            <a:pPr marL="0" indent="0">
              <a:buNone/>
            </a:pPr>
            <a:r>
              <a:rPr lang="en-US" sz="2400" b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{ </a:t>
            </a:r>
            <a:r>
              <a:rPr lang="en-US" sz="2400" b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drawdot</a:t>
            </a:r>
            <a:r>
              <a:rPr lang="en-US" sz="2400" b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(x</a:t>
            </a:r>
            <a:r>
              <a:rPr lang="en-US" sz="2400" b="1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sz="2400" b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480-y</a:t>
            </a:r>
            <a:r>
              <a:rPr lang="en-US" sz="2400" b="1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);</a:t>
            </a:r>
          </a:p>
          <a:p>
            <a:pPr marL="0" indent="0">
              <a:buNone/>
            </a:pPr>
            <a:r>
              <a:rPr lang="en-US" sz="2400" b="1" dirty="0" err="1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glFlush</a:t>
            </a:r>
            <a:r>
              <a:rPr lang="en-US" sz="2400" b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(); }</a:t>
            </a:r>
            <a:endParaRPr lang="en-US" sz="2400" b="1" dirty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  <a:p>
            <a:pPr marL="0" indent="0">
              <a:buNone/>
            </a:pPr>
            <a:r>
              <a:rPr lang="en-US" sz="2400" b="1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else if (button == GLUT_RIGHT_BUTTON &amp;&amp; state == GLUT_DOWN)</a:t>
            </a:r>
          </a:p>
          <a:p>
            <a:pPr marL="0" indent="0">
              <a:buNone/>
            </a:pPr>
            <a:r>
              <a:rPr lang="en-US" sz="2400" b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{ exit</a:t>
            </a:r>
            <a:r>
              <a:rPr lang="en-US" sz="2400" b="1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(-1</a:t>
            </a:r>
            <a:r>
              <a:rPr lang="en-US" sz="2400" b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); }</a:t>
            </a:r>
            <a:endParaRPr lang="en-US" sz="2400" b="1" dirty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  <a:p>
            <a:pPr marL="0" indent="0">
              <a:buNone/>
            </a:pPr>
            <a:r>
              <a:rPr lang="en-US" sz="2400" b="1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3618122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/>
        </p:nvSpPr>
        <p:spPr>
          <a:xfrm>
            <a:off x="179512" y="188640"/>
            <a:ext cx="3312368" cy="295232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400" b="1" dirty="0">
                <a:solidFill>
                  <a:schemeClr val="tx1"/>
                </a:solidFill>
              </a:rPr>
              <a:t>void </a:t>
            </a:r>
            <a:r>
              <a:rPr lang="en-US" sz="2400" b="1" dirty="0" err="1">
                <a:solidFill>
                  <a:schemeClr val="tx1"/>
                </a:solidFill>
              </a:rPr>
              <a:t>drawdot</a:t>
            </a:r>
            <a:r>
              <a:rPr lang="en-US" sz="2400" b="1" dirty="0">
                <a:solidFill>
                  <a:schemeClr val="tx1"/>
                </a:solidFill>
              </a:rPr>
              <a:t>(int x, int y)</a:t>
            </a:r>
          </a:p>
          <a:p>
            <a:r>
              <a:rPr lang="en-US" sz="2400" b="1" dirty="0">
                <a:solidFill>
                  <a:schemeClr val="tx1"/>
                </a:solidFill>
              </a:rPr>
              <a:t>{</a:t>
            </a:r>
          </a:p>
          <a:p>
            <a:r>
              <a:rPr lang="en-US" sz="2400" b="1" dirty="0" err="1">
                <a:solidFill>
                  <a:schemeClr val="tx1"/>
                </a:solidFill>
              </a:rPr>
              <a:t>glBegin</a:t>
            </a:r>
            <a:r>
              <a:rPr lang="en-US" sz="2400" b="1" dirty="0">
                <a:solidFill>
                  <a:schemeClr val="tx1"/>
                </a:solidFill>
              </a:rPr>
              <a:t>(GL_POINTS);</a:t>
            </a:r>
          </a:p>
          <a:p>
            <a:r>
              <a:rPr lang="en-US" sz="2400" b="1" dirty="0">
                <a:solidFill>
                  <a:schemeClr val="tx1"/>
                </a:solidFill>
              </a:rPr>
              <a:t>glVertex2i(x, y);</a:t>
            </a:r>
          </a:p>
          <a:p>
            <a:r>
              <a:rPr lang="en-US" sz="2400" b="1" dirty="0" err="1">
                <a:solidFill>
                  <a:schemeClr val="tx1"/>
                </a:solidFill>
              </a:rPr>
              <a:t>glEnd</a:t>
            </a:r>
            <a:r>
              <a:rPr lang="en-US" sz="2400" b="1" dirty="0">
                <a:solidFill>
                  <a:schemeClr val="tx1"/>
                </a:solidFill>
              </a:rPr>
              <a:t>();</a:t>
            </a:r>
          </a:p>
          <a:p>
            <a:r>
              <a:rPr lang="en-US" sz="2400" b="1" dirty="0" err="1">
                <a:solidFill>
                  <a:schemeClr val="tx1"/>
                </a:solidFill>
              </a:rPr>
              <a:t>glFlush</a:t>
            </a:r>
            <a:r>
              <a:rPr lang="en-US" sz="2400" b="1" dirty="0">
                <a:solidFill>
                  <a:schemeClr val="tx1"/>
                </a:solidFill>
              </a:rPr>
              <a:t>;</a:t>
            </a:r>
          </a:p>
          <a:p>
            <a:r>
              <a:rPr lang="en-US" sz="2400" b="1" dirty="0">
                <a:solidFill>
                  <a:schemeClr val="tx1"/>
                </a:solidFill>
              </a:rPr>
              <a:t>}</a:t>
            </a:r>
          </a:p>
        </p:txBody>
      </p:sp>
      <p:sp>
        <p:nvSpPr>
          <p:cNvPr id="8" name="Rectangle 7"/>
          <p:cNvSpPr/>
          <p:nvPr/>
        </p:nvSpPr>
        <p:spPr>
          <a:xfrm>
            <a:off x="179512" y="3350628"/>
            <a:ext cx="3960440" cy="2958692"/>
          </a:xfrm>
          <a:prstGeom prst="rect">
            <a:avLst/>
          </a:prstGeom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400" dirty="0">
                <a:solidFill>
                  <a:schemeClr val="tx1"/>
                </a:solidFill>
              </a:rPr>
              <a:t>int main(int </a:t>
            </a:r>
            <a:r>
              <a:rPr lang="en-US" sz="2400" dirty="0" err="1">
                <a:solidFill>
                  <a:schemeClr val="tx1"/>
                </a:solidFill>
              </a:rPr>
              <a:t>argc</a:t>
            </a:r>
            <a:r>
              <a:rPr lang="en-US" sz="2400" dirty="0">
                <a:solidFill>
                  <a:schemeClr val="tx1"/>
                </a:solidFill>
              </a:rPr>
              <a:t>, char** </a:t>
            </a:r>
            <a:r>
              <a:rPr lang="en-US" sz="2400" dirty="0" err="1">
                <a:solidFill>
                  <a:schemeClr val="tx1"/>
                </a:solidFill>
              </a:rPr>
              <a:t>argv</a:t>
            </a:r>
            <a:r>
              <a:rPr lang="en-US" sz="2400" dirty="0">
                <a:solidFill>
                  <a:schemeClr val="tx1"/>
                </a:solidFill>
              </a:rPr>
              <a:t>)</a:t>
            </a:r>
          </a:p>
          <a:p>
            <a:r>
              <a:rPr lang="en-US" sz="2400" dirty="0">
                <a:solidFill>
                  <a:schemeClr val="tx1"/>
                </a:solidFill>
              </a:rPr>
              <a:t>{</a:t>
            </a:r>
          </a:p>
          <a:p>
            <a:r>
              <a:rPr lang="en-US" sz="2400" dirty="0" err="1">
                <a:solidFill>
                  <a:schemeClr val="tx1"/>
                </a:solidFill>
              </a:rPr>
              <a:t>glutDisplayFunc</a:t>
            </a:r>
            <a:r>
              <a:rPr lang="en-US" sz="2400" dirty="0">
                <a:solidFill>
                  <a:schemeClr val="tx1"/>
                </a:solidFill>
              </a:rPr>
              <a:t>(display);</a:t>
            </a:r>
          </a:p>
          <a:p>
            <a:r>
              <a:rPr lang="en-US" sz="2400" dirty="0" err="1">
                <a:solidFill>
                  <a:schemeClr val="tx1"/>
                </a:solidFill>
              </a:rPr>
              <a:t>glutMouseFunc</a:t>
            </a:r>
            <a:r>
              <a:rPr lang="en-US" sz="2400" dirty="0">
                <a:solidFill>
                  <a:schemeClr val="tx1"/>
                </a:solidFill>
              </a:rPr>
              <a:t>(</a:t>
            </a:r>
            <a:r>
              <a:rPr lang="en-US" sz="2400" dirty="0" err="1">
                <a:solidFill>
                  <a:schemeClr val="tx1"/>
                </a:solidFill>
              </a:rPr>
              <a:t>mymousefunc</a:t>
            </a:r>
            <a:r>
              <a:rPr lang="en-US" sz="2400" dirty="0">
                <a:solidFill>
                  <a:schemeClr val="tx1"/>
                </a:solidFill>
              </a:rPr>
              <a:t>);</a:t>
            </a:r>
          </a:p>
          <a:p>
            <a:r>
              <a:rPr lang="en-US" sz="2400" dirty="0">
                <a:solidFill>
                  <a:schemeClr val="tx1"/>
                </a:solidFill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4761664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 </a:t>
            </a:r>
            <a:r>
              <a:rPr lang="en-US" dirty="0"/>
              <a:t>int </a:t>
            </a:r>
            <a:r>
              <a:rPr lang="en-US" dirty="0" err="1" smtClean="0"/>
              <a:t>screenwidth</a:t>
            </a:r>
            <a:r>
              <a:rPr lang="en-US" dirty="0" smtClean="0"/>
              <a:t> </a:t>
            </a:r>
            <a:r>
              <a:rPr lang="en-US" dirty="0"/>
              <a:t>= 640; </a:t>
            </a:r>
            <a:r>
              <a:rPr lang="en-US" dirty="0" smtClean="0"/>
              <a:t/>
            </a:r>
            <a:br>
              <a:rPr lang="en-US" dirty="0" smtClean="0"/>
            </a:br>
            <a:r>
              <a:rPr lang="en-US" dirty="0" smtClean="0"/>
              <a:t>int </a:t>
            </a:r>
            <a:r>
              <a:rPr lang="en-US" dirty="0" err="1" smtClean="0"/>
              <a:t>screenheight</a:t>
            </a:r>
            <a:r>
              <a:rPr lang="en-US" dirty="0" smtClean="0"/>
              <a:t> </a:t>
            </a:r>
            <a:r>
              <a:rPr lang="en-US" dirty="0"/>
              <a:t>= 480;</a:t>
            </a:r>
          </a:p>
        </p:txBody>
      </p:sp>
      <p:sp>
        <p:nvSpPr>
          <p:cNvPr id="4" name="Rectangle 3"/>
          <p:cNvSpPr/>
          <p:nvPr/>
        </p:nvSpPr>
        <p:spPr>
          <a:xfrm>
            <a:off x="1331640" y="1844824"/>
            <a:ext cx="6552728" cy="388843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868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marL="0" indent="0"/>
            <a:r>
              <a:rPr lang="en-US" dirty="0">
                <a:latin typeface="Times New Roman" pitchFamily="18" charset="0"/>
                <a:cs typeface="Times New Roman" pitchFamily="18" charset="0"/>
              </a:rPr>
              <a:t/>
            </a:r>
            <a:br>
              <a:rPr lang="en-US" dirty="0">
                <a:latin typeface="Times New Roman" pitchFamily="18" charset="0"/>
                <a:cs typeface="Times New Roman" pitchFamily="18" charset="0"/>
              </a:rPr>
            </a:br>
            <a:r>
              <a:rPr lang="en-US" dirty="0">
                <a:latin typeface="Times New Roman" pitchFamily="18" charset="0"/>
                <a:cs typeface="Times New Roman" pitchFamily="18" charset="0"/>
              </a:rPr>
              <a:t>LAB 5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Viewport Capturing and creation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Double Viewport Creation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Window to Viewport mapping Algorithm creation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87381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3600" dirty="0" smtClean="0"/>
              <a:t>Program </a:t>
            </a:r>
            <a:r>
              <a:rPr lang="en-US" sz="3600" dirty="0"/>
              <a:t>to capture the create a viewport in the output window</a:t>
            </a:r>
            <a:r>
              <a:rPr lang="en-US" sz="3600" dirty="0" smtClean="0"/>
              <a:t>.</a:t>
            </a:r>
            <a:r>
              <a:rPr lang="en-US" sz="3600" dirty="0"/>
              <a:t/>
            </a:r>
            <a:br>
              <a:rPr lang="en-US" sz="3600" dirty="0"/>
            </a:br>
            <a:endParaRPr lang="en-US" sz="3600" dirty="0"/>
          </a:p>
        </p:txBody>
      </p:sp>
      <p:graphicFrame>
        <p:nvGraphicFramePr>
          <p:cNvPr id="11" name="Content Placeholder 10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080588198"/>
              </p:ext>
            </p:extLst>
          </p:nvPr>
        </p:nvGraphicFramePr>
        <p:xfrm>
          <a:off x="0" y="1268760"/>
          <a:ext cx="4499992" cy="5184576"/>
        </p:xfrm>
        <a:graphic>
          <a:graphicData uri="http://schemas.openxmlformats.org/drawingml/2006/table">
            <a:tbl>
              <a:tblPr/>
              <a:tblGrid>
                <a:gridCol w="4499992"/>
              </a:tblGrid>
              <a:tr h="5184576">
                <a:tc>
                  <a:txBody>
                    <a:bodyPr/>
                    <a:lstStyle/>
                    <a:p>
                      <a:r>
                        <a:rPr lang="en-US" sz="1800" b="0" i="0" dirty="0">
                          <a:solidFill>
                            <a:srgbClr val="0000FF"/>
                          </a:solidFill>
                          <a:effectLst/>
                          <a:latin typeface="Consolas"/>
                        </a:rPr>
                        <a:t>#include </a:t>
                      </a:r>
                      <a:r>
                        <a:rPr lang="en-US" sz="1800" b="0" i="0" dirty="0">
                          <a:solidFill>
                            <a:srgbClr val="A31515"/>
                          </a:solidFill>
                          <a:effectLst/>
                          <a:latin typeface="Consolas"/>
                        </a:rPr>
                        <a:t>&lt;GL/</a:t>
                      </a:r>
                      <a:r>
                        <a:rPr lang="en-US" sz="1800" b="0" i="0" dirty="0" err="1">
                          <a:solidFill>
                            <a:srgbClr val="A31515"/>
                          </a:solidFill>
                          <a:effectLst/>
                          <a:latin typeface="Consolas"/>
                        </a:rPr>
                        <a:t>glut.h</a:t>
                      </a:r>
                      <a:r>
                        <a:rPr lang="en-US" sz="1800" b="0" i="0" dirty="0" smtClean="0">
                          <a:solidFill>
                            <a:srgbClr val="A31515"/>
                          </a:solidFill>
                          <a:effectLst/>
                          <a:latin typeface="Consolas"/>
                        </a:rPr>
                        <a:t>&gt;</a:t>
                      </a:r>
                      <a:r>
                        <a:rPr lang="en-US" sz="1800" b="0" i="0" dirty="0">
                          <a:solidFill>
                            <a:srgbClr val="008000"/>
                          </a:solidFill>
                          <a:effectLst/>
                          <a:latin typeface="Consolas"/>
                        </a:rPr>
                        <a:t/>
                      </a:r>
                      <a:br>
                        <a:rPr lang="en-US" sz="1800" b="0" i="0" dirty="0">
                          <a:solidFill>
                            <a:srgbClr val="008000"/>
                          </a:solidFill>
                          <a:effectLst/>
                          <a:latin typeface="Consolas"/>
                        </a:rPr>
                      </a:br>
                      <a:r>
                        <a:rPr lang="en-US" sz="1800" b="0" i="0" dirty="0">
                          <a:solidFill>
                            <a:srgbClr val="0000FF"/>
                          </a:solidFill>
                          <a:effectLst/>
                          <a:latin typeface="Consolas"/>
                        </a:rPr>
                        <a:t>void </a:t>
                      </a:r>
                      <a:r>
                        <a:rPr lang="en-US" sz="1800" b="0" i="0" dirty="0" err="1" smtClean="0">
                          <a:solidFill>
                            <a:srgbClr val="000000"/>
                          </a:solidFill>
                          <a:effectLst/>
                          <a:latin typeface="Consolas"/>
                        </a:rPr>
                        <a:t>mydisplay</a:t>
                      </a:r>
                      <a:r>
                        <a:rPr lang="en-US" sz="1800" b="0" i="0" dirty="0" smtClean="0">
                          <a:solidFill>
                            <a:srgbClr val="000000"/>
                          </a:solidFill>
                          <a:effectLst/>
                          <a:latin typeface="Consolas"/>
                        </a:rPr>
                        <a:t> () </a:t>
                      </a:r>
                    </a:p>
                    <a:p>
                      <a:r>
                        <a:rPr lang="en-US" sz="1800" b="0" i="0" dirty="0" smtClean="0">
                          <a:solidFill>
                            <a:srgbClr val="000000"/>
                          </a:solidFill>
                          <a:effectLst/>
                          <a:latin typeface="Consolas"/>
                        </a:rPr>
                        <a:t>{</a:t>
                      </a:r>
                      <a:r>
                        <a:rPr lang="en-US" sz="1800" b="0" i="0" dirty="0">
                          <a:solidFill>
                            <a:srgbClr val="000000"/>
                          </a:solidFill>
                          <a:effectLst/>
                          <a:latin typeface="Consolas"/>
                        </a:rPr>
                        <a:t/>
                      </a:r>
                      <a:br>
                        <a:rPr lang="en-US" sz="1800" b="0" i="0" dirty="0">
                          <a:solidFill>
                            <a:srgbClr val="000000"/>
                          </a:solidFill>
                          <a:effectLst/>
                          <a:latin typeface="Consolas"/>
                        </a:rPr>
                      </a:br>
                      <a:r>
                        <a:rPr lang="en-US" sz="1800" b="0" i="0" dirty="0" err="1" smtClean="0">
                          <a:solidFill>
                            <a:srgbClr val="000000"/>
                          </a:solidFill>
                          <a:effectLst/>
                          <a:latin typeface="Consolas"/>
                        </a:rPr>
                        <a:t>glClearColor</a:t>
                      </a:r>
                      <a:r>
                        <a:rPr lang="en-US" sz="1800" b="0" i="0" dirty="0" smtClean="0">
                          <a:solidFill>
                            <a:srgbClr val="000000"/>
                          </a:solidFill>
                          <a:effectLst/>
                          <a:latin typeface="Consolas"/>
                        </a:rPr>
                        <a:t>(100</a:t>
                      </a:r>
                      <a:r>
                        <a:rPr lang="en-US" sz="1800" b="0" i="0" dirty="0">
                          <a:solidFill>
                            <a:srgbClr val="000000"/>
                          </a:solidFill>
                          <a:effectLst/>
                          <a:latin typeface="Consolas"/>
                        </a:rPr>
                        <a:t>, 100, 0, 0);</a:t>
                      </a:r>
                      <a:br>
                        <a:rPr lang="en-US" sz="1800" b="0" i="0" dirty="0">
                          <a:solidFill>
                            <a:srgbClr val="000000"/>
                          </a:solidFill>
                          <a:effectLst/>
                          <a:latin typeface="Consolas"/>
                        </a:rPr>
                      </a:br>
                      <a:r>
                        <a:rPr lang="en-US" sz="1800" b="0" i="0" dirty="0" err="1">
                          <a:solidFill>
                            <a:srgbClr val="000000"/>
                          </a:solidFill>
                          <a:effectLst/>
                          <a:latin typeface="Consolas"/>
                        </a:rPr>
                        <a:t>glClear</a:t>
                      </a:r>
                      <a:r>
                        <a:rPr lang="en-US" sz="1800" b="0" i="0" dirty="0">
                          <a:solidFill>
                            <a:srgbClr val="000000"/>
                          </a:solidFill>
                          <a:effectLst/>
                          <a:latin typeface="Consolas"/>
                        </a:rPr>
                        <a:t>(</a:t>
                      </a:r>
                      <a:r>
                        <a:rPr lang="en-US" sz="1800" b="0" i="0" dirty="0">
                          <a:solidFill>
                            <a:srgbClr val="6F008A"/>
                          </a:solidFill>
                          <a:effectLst/>
                          <a:latin typeface="Consolas"/>
                        </a:rPr>
                        <a:t>GL_COLOR_BUFFER_BIT</a:t>
                      </a:r>
                      <a:r>
                        <a:rPr lang="en-US" sz="1800" b="0" i="0" dirty="0">
                          <a:solidFill>
                            <a:srgbClr val="000000"/>
                          </a:solidFill>
                          <a:effectLst/>
                          <a:latin typeface="Consolas"/>
                        </a:rPr>
                        <a:t>);</a:t>
                      </a:r>
                      <a:br>
                        <a:rPr lang="en-US" sz="1800" b="0" i="0" dirty="0">
                          <a:solidFill>
                            <a:srgbClr val="000000"/>
                          </a:solidFill>
                          <a:effectLst/>
                          <a:latin typeface="Consolas"/>
                        </a:rPr>
                      </a:br>
                      <a:r>
                        <a:rPr lang="en-US" sz="1800" b="0" i="0" dirty="0" err="1" smtClean="0">
                          <a:solidFill>
                            <a:srgbClr val="000000"/>
                          </a:solidFill>
                          <a:effectLst/>
                          <a:latin typeface="Consolas"/>
                        </a:rPr>
                        <a:t>glViewport</a:t>
                      </a:r>
                      <a:r>
                        <a:rPr lang="en-US" sz="1800" b="0" i="0" dirty="0" smtClean="0">
                          <a:solidFill>
                            <a:srgbClr val="000000"/>
                          </a:solidFill>
                          <a:effectLst/>
                          <a:latin typeface="Consolas"/>
                        </a:rPr>
                        <a:t>(0</a:t>
                      </a:r>
                      <a:r>
                        <a:rPr lang="en-US" sz="1800" b="0" i="0" dirty="0">
                          <a:solidFill>
                            <a:srgbClr val="000000"/>
                          </a:solidFill>
                          <a:effectLst/>
                          <a:latin typeface="Consolas"/>
                        </a:rPr>
                        <a:t>, 0, 500, 500);</a:t>
                      </a:r>
                      <a:br>
                        <a:rPr lang="en-US" sz="1800" b="0" i="0" dirty="0">
                          <a:solidFill>
                            <a:srgbClr val="000000"/>
                          </a:solidFill>
                          <a:effectLst/>
                          <a:latin typeface="Consolas"/>
                        </a:rPr>
                      </a:br>
                      <a:r>
                        <a:rPr lang="en-US" sz="1800" b="0" i="0" dirty="0" err="1" smtClean="0">
                          <a:solidFill>
                            <a:srgbClr val="000000"/>
                          </a:solidFill>
                          <a:effectLst/>
                          <a:latin typeface="Consolas"/>
                        </a:rPr>
                        <a:t>glMatrixMode</a:t>
                      </a:r>
                      <a:r>
                        <a:rPr lang="en-US" sz="1800" b="0" i="0" dirty="0" smtClean="0">
                          <a:solidFill>
                            <a:srgbClr val="000000"/>
                          </a:solidFill>
                          <a:effectLst/>
                          <a:latin typeface="Consolas"/>
                        </a:rPr>
                        <a:t>(</a:t>
                      </a:r>
                      <a:r>
                        <a:rPr lang="en-US" sz="1800" b="0" i="0" dirty="0" smtClean="0">
                          <a:solidFill>
                            <a:srgbClr val="6F008A"/>
                          </a:solidFill>
                          <a:effectLst/>
                          <a:latin typeface="Consolas"/>
                        </a:rPr>
                        <a:t>GL_PROJECTION</a:t>
                      </a:r>
                      <a:r>
                        <a:rPr lang="en-US" sz="1800" b="0" i="0" dirty="0">
                          <a:solidFill>
                            <a:srgbClr val="000000"/>
                          </a:solidFill>
                          <a:effectLst/>
                          <a:latin typeface="Consolas"/>
                        </a:rPr>
                        <a:t>);</a:t>
                      </a:r>
                      <a:br>
                        <a:rPr lang="en-US" sz="1800" b="0" i="0" dirty="0">
                          <a:solidFill>
                            <a:srgbClr val="000000"/>
                          </a:solidFill>
                          <a:effectLst/>
                          <a:latin typeface="Consolas"/>
                        </a:rPr>
                      </a:br>
                      <a:r>
                        <a:rPr lang="en-US" sz="1800" b="0" i="0" dirty="0" err="1">
                          <a:solidFill>
                            <a:srgbClr val="000000"/>
                          </a:solidFill>
                          <a:effectLst/>
                          <a:latin typeface="Consolas"/>
                        </a:rPr>
                        <a:t>glLoadIdentity</a:t>
                      </a:r>
                      <a:r>
                        <a:rPr lang="en-US" sz="1800" b="0" i="0" dirty="0">
                          <a:solidFill>
                            <a:srgbClr val="000000"/>
                          </a:solidFill>
                          <a:effectLst/>
                          <a:latin typeface="Consolas"/>
                        </a:rPr>
                        <a:t>();</a:t>
                      </a:r>
                      <a:br>
                        <a:rPr lang="en-US" sz="1800" b="0" i="0" dirty="0">
                          <a:solidFill>
                            <a:srgbClr val="000000"/>
                          </a:solidFill>
                          <a:effectLst/>
                          <a:latin typeface="Consolas"/>
                        </a:rPr>
                      </a:br>
                      <a:r>
                        <a:rPr lang="en-US" sz="1800" b="0" i="0" dirty="0">
                          <a:solidFill>
                            <a:srgbClr val="000000"/>
                          </a:solidFill>
                          <a:effectLst/>
                          <a:latin typeface="Consolas"/>
                        </a:rPr>
                        <a:t>gluOrtho2D(-500.0, 500.0, -500.0, 500.0); </a:t>
                      </a:r>
                      <a:endParaRPr lang="en-US" sz="1800" b="0" i="0" dirty="0" smtClean="0">
                        <a:solidFill>
                          <a:srgbClr val="000000"/>
                        </a:solidFill>
                        <a:effectLst/>
                        <a:latin typeface="Consolas"/>
                      </a:endParaRPr>
                    </a:p>
                    <a:p>
                      <a:r>
                        <a:rPr lang="en-US" sz="1800" b="0" i="0" dirty="0" smtClean="0">
                          <a:solidFill>
                            <a:srgbClr val="000000"/>
                          </a:solidFill>
                          <a:effectLst/>
                          <a:latin typeface="Consolas"/>
                        </a:rPr>
                        <a:t>glColor3f(0</a:t>
                      </a:r>
                      <a:r>
                        <a:rPr lang="en-US" sz="1800" b="0" i="0" dirty="0">
                          <a:solidFill>
                            <a:srgbClr val="000000"/>
                          </a:solidFill>
                          <a:effectLst/>
                          <a:latin typeface="Consolas"/>
                        </a:rPr>
                        <a:t>, 0, 1);</a:t>
                      </a:r>
                      <a:br>
                        <a:rPr lang="en-US" sz="1800" b="0" i="0" dirty="0">
                          <a:solidFill>
                            <a:srgbClr val="000000"/>
                          </a:solidFill>
                          <a:effectLst/>
                          <a:latin typeface="Consolas"/>
                        </a:rPr>
                      </a:br>
                      <a:r>
                        <a:rPr lang="en-US" sz="1800" b="0" i="0" dirty="0" err="1">
                          <a:solidFill>
                            <a:srgbClr val="000000"/>
                          </a:solidFill>
                          <a:effectLst/>
                          <a:latin typeface="Consolas"/>
                        </a:rPr>
                        <a:t>glRectf</a:t>
                      </a:r>
                      <a:r>
                        <a:rPr lang="en-US" sz="1800" b="0" i="0" dirty="0">
                          <a:solidFill>
                            <a:srgbClr val="000000"/>
                          </a:solidFill>
                          <a:effectLst/>
                          <a:latin typeface="Consolas"/>
                        </a:rPr>
                        <a:t>(0.0, 0.0, 500.0, 500.0);</a:t>
                      </a:r>
                      <a:br>
                        <a:rPr lang="en-US" sz="1800" b="0" i="0" dirty="0">
                          <a:solidFill>
                            <a:srgbClr val="000000"/>
                          </a:solidFill>
                          <a:effectLst/>
                          <a:latin typeface="Consolas"/>
                        </a:rPr>
                      </a:br>
                      <a:r>
                        <a:rPr lang="en-US" sz="1800" b="0" i="0" dirty="0" err="1" smtClean="0">
                          <a:solidFill>
                            <a:srgbClr val="000000"/>
                          </a:solidFill>
                          <a:effectLst/>
                          <a:latin typeface="Consolas"/>
                        </a:rPr>
                        <a:t>glutSwapBuffers</a:t>
                      </a:r>
                      <a:r>
                        <a:rPr lang="en-US" sz="1800" b="0" i="0" dirty="0">
                          <a:solidFill>
                            <a:srgbClr val="000000"/>
                          </a:solidFill>
                          <a:effectLst/>
                          <a:latin typeface="Consolas"/>
                        </a:rPr>
                        <a:t>();</a:t>
                      </a:r>
                      <a:br>
                        <a:rPr lang="en-US" sz="1800" b="0" i="0" dirty="0">
                          <a:solidFill>
                            <a:srgbClr val="000000"/>
                          </a:solidFill>
                          <a:effectLst/>
                          <a:latin typeface="Consolas"/>
                        </a:rPr>
                      </a:br>
                      <a:r>
                        <a:rPr lang="en-US" sz="1800" b="0" i="0" dirty="0">
                          <a:solidFill>
                            <a:srgbClr val="000000"/>
                          </a:solidFill>
                          <a:effectLst/>
                          <a:latin typeface="Consolas"/>
                        </a:rPr>
                        <a:t>} </a:t>
                      </a:r>
                      <a:endParaRPr lang="en-US" sz="4000" dirty="0">
                        <a:effectLst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9" name="Table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07902466"/>
              </p:ext>
            </p:extLst>
          </p:nvPr>
        </p:nvGraphicFramePr>
        <p:xfrm>
          <a:off x="4572000" y="1268760"/>
          <a:ext cx="5238750" cy="5256584"/>
        </p:xfrm>
        <a:graphic>
          <a:graphicData uri="http://schemas.openxmlformats.org/drawingml/2006/table">
            <a:tbl>
              <a:tblPr/>
              <a:tblGrid>
                <a:gridCol w="5238750"/>
              </a:tblGrid>
              <a:tr h="5256584">
                <a:tc>
                  <a:txBody>
                    <a:bodyPr/>
                    <a:lstStyle/>
                    <a:p>
                      <a:r>
                        <a:rPr lang="en-US" sz="2000" b="0" i="0" dirty="0">
                          <a:solidFill>
                            <a:srgbClr val="0000FF"/>
                          </a:solidFill>
                          <a:effectLst/>
                          <a:latin typeface="Consolas"/>
                        </a:rPr>
                        <a:t>int </a:t>
                      </a:r>
                      <a:r>
                        <a:rPr lang="en-US" sz="2000" b="0" i="0" dirty="0">
                          <a:solidFill>
                            <a:srgbClr val="000000"/>
                          </a:solidFill>
                          <a:effectLst/>
                          <a:latin typeface="Consolas"/>
                        </a:rPr>
                        <a:t>main(</a:t>
                      </a:r>
                      <a:r>
                        <a:rPr lang="en-US" sz="2000" b="0" i="0" dirty="0">
                          <a:solidFill>
                            <a:srgbClr val="0000FF"/>
                          </a:solidFill>
                          <a:effectLst/>
                          <a:latin typeface="Consolas"/>
                        </a:rPr>
                        <a:t>int </a:t>
                      </a:r>
                      <a:r>
                        <a:rPr lang="en-US" sz="2000" b="0" i="0" dirty="0" err="1">
                          <a:solidFill>
                            <a:srgbClr val="808080"/>
                          </a:solidFill>
                          <a:effectLst/>
                          <a:latin typeface="Consolas"/>
                        </a:rPr>
                        <a:t>argc</a:t>
                      </a:r>
                      <a:r>
                        <a:rPr lang="en-US" sz="2000" b="0" i="0" dirty="0">
                          <a:solidFill>
                            <a:srgbClr val="000000"/>
                          </a:solidFill>
                          <a:effectLst/>
                          <a:latin typeface="Consolas"/>
                        </a:rPr>
                        <a:t>, </a:t>
                      </a:r>
                      <a:r>
                        <a:rPr lang="en-US" sz="2000" b="0" i="0" dirty="0">
                          <a:solidFill>
                            <a:srgbClr val="0000FF"/>
                          </a:solidFill>
                          <a:effectLst/>
                          <a:latin typeface="Consolas"/>
                        </a:rPr>
                        <a:t>char </a:t>
                      </a:r>
                      <a:r>
                        <a:rPr lang="en-US" sz="2000" b="0" i="0" dirty="0">
                          <a:solidFill>
                            <a:srgbClr val="000000"/>
                          </a:solidFill>
                          <a:effectLst/>
                          <a:latin typeface="Consolas"/>
                        </a:rPr>
                        <a:t>** </a:t>
                      </a:r>
                      <a:r>
                        <a:rPr lang="en-US" sz="2000" b="0" i="0" dirty="0" err="1">
                          <a:solidFill>
                            <a:srgbClr val="808080"/>
                          </a:solidFill>
                          <a:effectLst/>
                          <a:latin typeface="Consolas"/>
                        </a:rPr>
                        <a:t>argv</a:t>
                      </a:r>
                      <a:r>
                        <a:rPr lang="en-US" sz="2000" b="0" i="0" dirty="0">
                          <a:solidFill>
                            <a:srgbClr val="000000"/>
                          </a:solidFill>
                          <a:effectLst/>
                          <a:latin typeface="Consolas"/>
                        </a:rPr>
                        <a:t>)</a:t>
                      </a:r>
                      <a:br>
                        <a:rPr lang="en-US" sz="2000" b="0" i="0" dirty="0">
                          <a:solidFill>
                            <a:srgbClr val="000000"/>
                          </a:solidFill>
                          <a:effectLst/>
                          <a:latin typeface="Consolas"/>
                        </a:rPr>
                      </a:br>
                      <a:r>
                        <a:rPr lang="en-US" sz="2000" b="0" i="0" dirty="0">
                          <a:solidFill>
                            <a:srgbClr val="000000"/>
                          </a:solidFill>
                          <a:effectLst/>
                          <a:latin typeface="Consolas"/>
                        </a:rPr>
                        <a:t>{</a:t>
                      </a:r>
                      <a:br>
                        <a:rPr lang="en-US" sz="2000" b="0" i="0" dirty="0">
                          <a:solidFill>
                            <a:srgbClr val="000000"/>
                          </a:solidFill>
                          <a:effectLst/>
                          <a:latin typeface="Consolas"/>
                        </a:rPr>
                      </a:br>
                      <a:r>
                        <a:rPr lang="en-US" sz="2000" b="0" i="0" dirty="0" err="1">
                          <a:solidFill>
                            <a:srgbClr val="6F008A"/>
                          </a:solidFill>
                          <a:effectLst/>
                          <a:latin typeface="Consolas"/>
                        </a:rPr>
                        <a:t>glutInit</a:t>
                      </a:r>
                      <a:r>
                        <a:rPr lang="en-US" sz="2000" b="0" i="0" dirty="0">
                          <a:solidFill>
                            <a:srgbClr val="000000"/>
                          </a:solidFill>
                          <a:effectLst/>
                          <a:latin typeface="Consolas"/>
                        </a:rPr>
                        <a:t>(&amp;</a:t>
                      </a:r>
                      <a:r>
                        <a:rPr lang="en-US" sz="2000" b="0" i="0" dirty="0" err="1">
                          <a:solidFill>
                            <a:srgbClr val="808080"/>
                          </a:solidFill>
                          <a:effectLst/>
                          <a:latin typeface="Consolas"/>
                        </a:rPr>
                        <a:t>argc</a:t>
                      </a:r>
                      <a:r>
                        <a:rPr lang="en-US" sz="2000" b="0" i="0" dirty="0">
                          <a:solidFill>
                            <a:srgbClr val="000000"/>
                          </a:solidFill>
                          <a:effectLst/>
                          <a:latin typeface="Consolas"/>
                        </a:rPr>
                        <a:t>, </a:t>
                      </a:r>
                      <a:r>
                        <a:rPr lang="en-US" sz="2000" b="0" i="0" dirty="0" err="1">
                          <a:solidFill>
                            <a:srgbClr val="808080"/>
                          </a:solidFill>
                          <a:effectLst/>
                          <a:latin typeface="Consolas"/>
                        </a:rPr>
                        <a:t>argv</a:t>
                      </a:r>
                      <a:r>
                        <a:rPr lang="en-US" sz="2000" b="0" i="0" dirty="0">
                          <a:solidFill>
                            <a:srgbClr val="000000"/>
                          </a:solidFill>
                          <a:effectLst/>
                          <a:latin typeface="Consolas"/>
                        </a:rPr>
                        <a:t>);</a:t>
                      </a:r>
                      <a:br>
                        <a:rPr lang="en-US" sz="2000" b="0" i="0" dirty="0">
                          <a:solidFill>
                            <a:srgbClr val="000000"/>
                          </a:solidFill>
                          <a:effectLst/>
                          <a:latin typeface="Consolas"/>
                        </a:rPr>
                      </a:br>
                      <a:r>
                        <a:rPr lang="en-US" sz="2000" b="0" i="0" dirty="0" err="1" smtClean="0">
                          <a:solidFill>
                            <a:srgbClr val="000000"/>
                          </a:solidFill>
                          <a:effectLst/>
                          <a:latin typeface="Consolas"/>
                        </a:rPr>
                        <a:t>glutInitDisplayMode</a:t>
                      </a:r>
                      <a:r>
                        <a:rPr lang="en-US" sz="2000" b="0" i="0" dirty="0" smtClean="0">
                          <a:solidFill>
                            <a:srgbClr val="000000"/>
                          </a:solidFill>
                          <a:effectLst/>
                          <a:latin typeface="Consolas"/>
                        </a:rPr>
                        <a:t>(</a:t>
                      </a:r>
                      <a:r>
                        <a:rPr lang="en-US" sz="2000" b="0" i="0" dirty="0" smtClean="0">
                          <a:solidFill>
                            <a:srgbClr val="6F008A"/>
                          </a:solidFill>
                          <a:effectLst/>
                          <a:latin typeface="Consolas"/>
                        </a:rPr>
                        <a:t>GLUT_RGB </a:t>
                      </a:r>
                      <a:r>
                        <a:rPr lang="en-US" sz="2000" b="0" i="0" dirty="0">
                          <a:solidFill>
                            <a:srgbClr val="000000"/>
                          </a:solidFill>
                          <a:effectLst/>
                          <a:latin typeface="Consolas"/>
                        </a:rPr>
                        <a:t>| </a:t>
                      </a:r>
                      <a:r>
                        <a:rPr lang="en-US" sz="2000" b="0" i="0" dirty="0">
                          <a:solidFill>
                            <a:srgbClr val="6F008A"/>
                          </a:solidFill>
                          <a:effectLst/>
                          <a:latin typeface="Consolas"/>
                        </a:rPr>
                        <a:t>GLUT_DOUBLE</a:t>
                      </a:r>
                      <a:r>
                        <a:rPr lang="en-US" sz="2000" b="0" i="0" dirty="0">
                          <a:solidFill>
                            <a:srgbClr val="000000"/>
                          </a:solidFill>
                          <a:effectLst/>
                          <a:latin typeface="Consolas"/>
                        </a:rPr>
                        <a:t>);</a:t>
                      </a:r>
                      <a:br>
                        <a:rPr lang="en-US" sz="2000" b="0" i="0" dirty="0">
                          <a:solidFill>
                            <a:srgbClr val="000000"/>
                          </a:solidFill>
                          <a:effectLst/>
                          <a:latin typeface="Consolas"/>
                        </a:rPr>
                      </a:br>
                      <a:r>
                        <a:rPr lang="en-US" sz="2000" b="0" i="0" dirty="0" err="1" smtClean="0">
                          <a:solidFill>
                            <a:srgbClr val="000000"/>
                          </a:solidFill>
                          <a:effectLst/>
                          <a:latin typeface="Consolas"/>
                        </a:rPr>
                        <a:t>glutInitWindowSize</a:t>
                      </a:r>
                      <a:r>
                        <a:rPr lang="en-US" sz="2000" b="0" i="0" dirty="0" smtClean="0">
                          <a:solidFill>
                            <a:srgbClr val="000000"/>
                          </a:solidFill>
                          <a:effectLst/>
                          <a:latin typeface="Consolas"/>
                        </a:rPr>
                        <a:t>(500</a:t>
                      </a:r>
                      <a:r>
                        <a:rPr lang="en-US" sz="2000" b="0" i="0" dirty="0">
                          <a:solidFill>
                            <a:srgbClr val="000000"/>
                          </a:solidFill>
                          <a:effectLst/>
                          <a:latin typeface="Consolas"/>
                        </a:rPr>
                        <a:t>, 500);</a:t>
                      </a:r>
                      <a:br>
                        <a:rPr lang="en-US" sz="2000" b="0" i="0" dirty="0">
                          <a:solidFill>
                            <a:srgbClr val="000000"/>
                          </a:solidFill>
                          <a:effectLst/>
                          <a:latin typeface="Consolas"/>
                        </a:rPr>
                      </a:br>
                      <a:r>
                        <a:rPr lang="en-US" sz="2000" b="0" i="0" dirty="0" err="1">
                          <a:solidFill>
                            <a:srgbClr val="6F008A"/>
                          </a:solidFill>
                          <a:effectLst/>
                          <a:latin typeface="Consolas"/>
                        </a:rPr>
                        <a:t>glutCreateWindow</a:t>
                      </a:r>
                      <a:r>
                        <a:rPr lang="en-US" sz="2000" b="0" i="0" dirty="0" smtClean="0">
                          <a:solidFill>
                            <a:srgbClr val="000000"/>
                          </a:solidFill>
                          <a:effectLst/>
                          <a:latin typeface="Consolas"/>
                        </a:rPr>
                        <a:t>(</a:t>
                      </a:r>
                      <a:r>
                        <a:rPr lang="en-US" sz="2000" b="0" i="0" dirty="0" smtClean="0">
                          <a:solidFill>
                            <a:srgbClr val="A31515"/>
                          </a:solidFill>
                          <a:effectLst/>
                          <a:latin typeface="Consolas"/>
                        </a:rPr>
                        <a:t>“VP”</a:t>
                      </a:r>
                      <a:r>
                        <a:rPr lang="en-US" sz="2000" b="0" i="0" dirty="0" smtClean="0">
                          <a:solidFill>
                            <a:srgbClr val="000000"/>
                          </a:solidFill>
                          <a:effectLst/>
                          <a:latin typeface="Consolas"/>
                        </a:rPr>
                        <a:t>);</a:t>
                      </a:r>
                      <a:r>
                        <a:rPr lang="en-US" sz="2000" b="0" i="0" dirty="0">
                          <a:solidFill>
                            <a:srgbClr val="000000"/>
                          </a:solidFill>
                          <a:effectLst/>
                          <a:latin typeface="Consolas"/>
                        </a:rPr>
                        <a:t/>
                      </a:r>
                      <a:br>
                        <a:rPr lang="en-US" sz="2000" b="0" i="0" dirty="0">
                          <a:solidFill>
                            <a:srgbClr val="000000"/>
                          </a:solidFill>
                          <a:effectLst/>
                          <a:latin typeface="Consolas"/>
                        </a:rPr>
                      </a:br>
                      <a:r>
                        <a:rPr lang="en-US" sz="2000" b="0" i="0" dirty="0" err="1" smtClean="0">
                          <a:solidFill>
                            <a:srgbClr val="000000"/>
                          </a:solidFill>
                          <a:effectLst/>
                          <a:latin typeface="Consolas"/>
                        </a:rPr>
                        <a:t>glutDisplayFunc</a:t>
                      </a:r>
                      <a:r>
                        <a:rPr lang="en-US" sz="2000" b="0" i="0" dirty="0" smtClean="0">
                          <a:solidFill>
                            <a:srgbClr val="000000"/>
                          </a:solidFill>
                          <a:effectLst/>
                          <a:latin typeface="Consolas"/>
                        </a:rPr>
                        <a:t>(</a:t>
                      </a:r>
                      <a:r>
                        <a:rPr lang="en-US" sz="2000" b="0" i="0" dirty="0" err="1" smtClean="0">
                          <a:solidFill>
                            <a:srgbClr val="000000"/>
                          </a:solidFill>
                          <a:effectLst/>
                          <a:latin typeface="Consolas"/>
                        </a:rPr>
                        <a:t>mydisplay</a:t>
                      </a:r>
                      <a:r>
                        <a:rPr lang="en-US" sz="2000" b="0" i="0" dirty="0" smtClean="0">
                          <a:solidFill>
                            <a:srgbClr val="000000"/>
                          </a:solidFill>
                          <a:effectLst/>
                          <a:latin typeface="Consolas"/>
                        </a:rPr>
                        <a:t>);</a:t>
                      </a:r>
                      <a:r>
                        <a:rPr lang="en-US" sz="2000" b="0" i="0" dirty="0">
                          <a:solidFill>
                            <a:srgbClr val="000000"/>
                          </a:solidFill>
                          <a:effectLst/>
                          <a:latin typeface="Consolas"/>
                        </a:rPr>
                        <a:t/>
                      </a:r>
                      <a:br>
                        <a:rPr lang="en-US" sz="2000" b="0" i="0" dirty="0">
                          <a:solidFill>
                            <a:srgbClr val="000000"/>
                          </a:solidFill>
                          <a:effectLst/>
                          <a:latin typeface="Consolas"/>
                        </a:rPr>
                      </a:br>
                      <a:r>
                        <a:rPr lang="en-US" sz="2000" b="0" i="0" dirty="0" err="1">
                          <a:solidFill>
                            <a:srgbClr val="000000"/>
                          </a:solidFill>
                          <a:effectLst/>
                          <a:latin typeface="Consolas"/>
                        </a:rPr>
                        <a:t>glutKeyboardFunc</a:t>
                      </a:r>
                      <a:r>
                        <a:rPr lang="en-US" sz="2000" b="0" i="0" dirty="0">
                          <a:solidFill>
                            <a:srgbClr val="000000"/>
                          </a:solidFill>
                          <a:effectLst/>
                          <a:latin typeface="Consolas"/>
                        </a:rPr>
                        <a:t>(keyboard);</a:t>
                      </a:r>
                      <a:br>
                        <a:rPr lang="en-US" sz="2000" b="0" i="0" dirty="0">
                          <a:solidFill>
                            <a:srgbClr val="000000"/>
                          </a:solidFill>
                          <a:effectLst/>
                          <a:latin typeface="Consolas"/>
                        </a:rPr>
                      </a:br>
                      <a:r>
                        <a:rPr lang="en-US" sz="2000" b="0" i="0" dirty="0" err="1" smtClean="0">
                          <a:solidFill>
                            <a:srgbClr val="000000"/>
                          </a:solidFill>
                          <a:effectLst/>
                          <a:latin typeface="Consolas"/>
                        </a:rPr>
                        <a:t>glutMainLoop</a:t>
                      </a:r>
                      <a:r>
                        <a:rPr lang="en-US" sz="2000" b="0" i="0" dirty="0">
                          <a:solidFill>
                            <a:srgbClr val="000000"/>
                          </a:solidFill>
                          <a:effectLst/>
                          <a:latin typeface="Consolas"/>
                        </a:rPr>
                        <a:t>();</a:t>
                      </a:r>
                      <a:br>
                        <a:rPr lang="en-US" sz="2000" b="0" i="0" dirty="0">
                          <a:solidFill>
                            <a:srgbClr val="000000"/>
                          </a:solidFill>
                          <a:effectLst/>
                          <a:latin typeface="Consolas"/>
                        </a:rPr>
                      </a:br>
                      <a:r>
                        <a:rPr lang="en-US" sz="2000" b="0" i="0" dirty="0">
                          <a:solidFill>
                            <a:srgbClr val="0000FF"/>
                          </a:solidFill>
                          <a:effectLst/>
                          <a:latin typeface="Consolas"/>
                        </a:rPr>
                        <a:t>return </a:t>
                      </a:r>
                      <a:r>
                        <a:rPr lang="en-US" sz="2000" b="0" i="0" dirty="0">
                          <a:solidFill>
                            <a:srgbClr val="000000"/>
                          </a:solidFill>
                          <a:effectLst/>
                          <a:latin typeface="Consolas"/>
                        </a:rPr>
                        <a:t>0;</a:t>
                      </a:r>
                      <a:br>
                        <a:rPr lang="en-US" sz="2000" b="0" i="0" dirty="0">
                          <a:solidFill>
                            <a:srgbClr val="000000"/>
                          </a:solidFill>
                          <a:effectLst/>
                          <a:latin typeface="Consolas"/>
                        </a:rPr>
                      </a:br>
                      <a:r>
                        <a:rPr lang="en-US" sz="2000" b="0" i="0" dirty="0">
                          <a:solidFill>
                            <a:srgbClr val="000000"/>
                          </a:solidFill>
                          <a:effectLst/>
                          <a:latin typeface="Consolas"/>
                        </a:rPr>
                        <a:t>}</a:t>
                      </a:r>
                      <a:endParaRPr lang="en-US" sz="4400" dirty="0">
                        <a:effectLst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0" name="Rectangle 2"/>
          <p:cNvSpPr>
            <a:spLocks noChangeArrowheads="1"/>
          </p:cNvSpPr>
          <p:nvPr/>
        </p:nvSpPr>
        <p:spPr bwMode="auto">
          <a:xfrm>
            <a:off x="1952625" y="2522538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rPr>
              <a:t/>
            </a:r>
            <a:br>
              <a:rPr kumimoji="0" lang="en-US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rPr>
            </a:br>
            <a:endParaRPr kumimoji="0" 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sp>
        <p:nvSpPr>
          <p:cNvPr id="12" name="Rectangle 3"/>
          <p:cNvSpPr>
            <a:spLocks noChangeArrowheads="1"/>
          </p:cNvSpPr>
          <p:nvPr/>
        </p:nvSpPr>
        <p:spPr bwMode="auto">
          <a:xfrm>
            <a:off x="1952625" y="2293938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rPr>
              <a:t/>
            </a:r>
            <a:br>
              <a:rPr kumimoji="0" lang="en-US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rPr>
            </a:br>
            <a:endParaRPr kumimoji="0" 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850696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95536" y="0"/>
            <a:ext cx="8229600" cy="1143000"/>
          </a:xfrm>
        </p:spPr>
        <p:txBody>
          <a:bodyPr/>
          <a:lstStyle/>
          <a:p>
            <a:r>
              <a:rPr lang="en-US" dirty="0" smtClean="0"/>
              <a:t>Two Viewports</a:t>
            </a:r>
            <a:endParaRPr lang="en-US" dirty="0"/>
          </a:p>
        </p:txBody>
      </p:sp>
      <p:graphicFrame>
        <p:nvGraphicFramePr>
          <p:cNvPr id="5" name="Content Placeholder 10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611951250"/>
              </p:ext>
            </p:extLst>
          </p:nvPr>
        </p:nvGraphicFramePr>
        <p:xfrm>
          <a:off x="251520" y="1124744"/>
          <a:ext cx="8676456" cy="5650992"/>
        </p:xfrm>
        <a:graphic>
          <a:graphicData uri="http://schemas.openxmlformats.org/drawingml/2006/table">
            <a:tbl>
              <a:tblPr/>
              <a:tblGrid>
                <a:gridCol w="8676456"/>
              </a:tblGrid>
              <a:tr h="5400600">
                <a:tc>
                  <a:txBody>
                    <a:bodyPr/>
                    <a:lstStyle/>
                    <a:p>
                      <a:pPr>
                        <a:lnSpc>
                          <a:spcPct val="80000"/>
                        </a:lnSpc>
                        <a:buFont typeface="Wingdings" pitchFamily="2" charset="2"/>
                        <a:buNone/>
                      </a:pPr>
                      <a:r>
                        <a:rPr lang="en-US" sz="2400" dirty="0" smtClean="0">
                          <a:latin typeface="Times New Roman" pitchFamily="18" charset="0"/>
                        </a:rPr>
                        <a:t>void draw()</a:t>
                      </a:r>
                    </a:p>
                    <a:p>
                      <a:pPr>
                        <a:lnSpc>
                          <a:spcPct val="80000"/>
                        </a:lnSpc>
                        <a:buFont typeface="Wingdings" pitchFamily="2" charset="2"/>
                        <a:buNone/>
                      </a:pPr>
                      <a:r>
                        <a:rPr lang="en-US" sz="2400" dirty="0" smtClean="0">
                          <a:latin typeface="Times New Roman" pitchFamily="18" charset="0"/>
                        </a:rPr>
                        <a:t>{</a:t>
                      </a:r>
                    </a:p>
                    <a:p>
                      <a:pPr>
                        <a:lnSpc>
                          <a:spcPct val="80000"/>
                        </a:lnSpc>
                        <a:buFont typeface="Wingdings" pitchFamily="2" charset="2"/>
                        <a:buNone/>
                      </a:pPr>
                      <a:r>
                        <a:rPr lang="en-US" sz="2400" dirty="0" err="1" smtClean="0">
                          <a:solidFill>
                            <a:schemeClr val="tx2"/>
                          </a:solidFill>
                          <a:latin typeface="Times New Roman" pitchFamily="18" charset="0"/>
                        </a:rPr>
                        <a:t>glClearColor</a:t>
                      </a:r>
                      <a:r>
                        <a:rPr lang="en-US" sz="2400" dirty="0" smtClean="0">
                          <a:solidFill>
                            <a:schemeClr val="tx2"/>
                          </a:solidFill>
                          <a:latin typeface="Times New Roman" pitchFamily="18" charset="0"/>
                        </a:rPr>
                        <a:t>( 100, 100, 0, 0 );</a:t>
                      </a:r>
                    </a:p>
                    <a:p>
                      <a:pPr>
                        <a:lnSpc>
                          <a:spcPct val="80000"/>
                        </a:lnSpc>
                        <a:buFont typeface="Wingdings" pitchFamily="2" charset="2"/>
                        <a:buNone/>
                      </a:pPr>
                      <a:r>
                        <a:rPr lang="en-US" sz="2400" dirty="0" err="1" smtClean="0">
                          <a:solidFill>
                            <a:schemeClr val="tx2"/>
                          </a:solidFill>
                          <a:latin typeface="Times New Roman" pitchFamily="18" charset="0"/>
                        </a:rPr>
                        <a:t>glClear</a:t>
                      </a:r>
                      <a:r>
                        <a:rPr lang="en-US" sz="2400" dirty="0" smtClean="0">
                          <a:solidFill>
                            <a:schemeClr val="tx2"/>
                          </a:solidFill>
                          <a:latin typeface="Times New Roman" pitchFamily="18" charset="0"/>
                        </a:rPr>
                        <a:t> ( GL_COLOR_BUFFER_BIT );</a:t>
                      </a:r>
                    </a:p>
                    <a:p>
                      <a:pPr>
                        <a:lnSpc>
                          <a:spcPct val="80000"/>
                        </a:lnSpc>
                        <a:buFont typeface="Wingdings" pitchFamily="2" charset="2"/>
                        <a:buNone/>
                      </a:pPr>
                      <a:r>
                        <a:rPr lang="en-US" sz="2400" dirty="0" err="1" smtClean="0">
                          <a:solidFill>
                            <a:srgbClr val="FF0000"/>
                          </a:solidFill>
                          <a:latin typeface="Times New Roman" pitchFamily="18" charset="0"/>
                        </a:rPr>
                        <a:t>glViewport</a:t>
                      </a:r>
                      <a:r>
                        <a:rPr lang="en-US" sz="2400" dirty="0" smtClean="0">
                          <a:solidFill>
                            <a:srgbClr val="FF0000"/>
                          </a:solidFill>
                          <a:latin typeface="Times New Roman" pitchFamily="18" charset="0"/>
                        </a:rPr>
                        <a:t>(0,0,250,250);</a:t>
                      </a:r>
                    </a:p>
                    <a:p>
                      <a:pPr>
                        <a:lnSpc>
                          <a:spcPct val="80000"/>
                        </a:lnSpc>
                        <a:buFont typeface="Wingdings" pitchFamily="2" charset="2"/>
                        <a:buNone/>
                      </a:pPr>
                      <a:r>
                        <a:rPr lang="en-US" sz="2400" dirty="0" err="1" smtClean="0">
                          <a:solidFill>
                            <a:srgbClr val="FF0000"/>
                          </a:solidFill>
                          <a:latin typeface="Times New Roman" pitchFamily="18" charset="0"/>
                        </a:rPr>
                        <a:t>glMatrixMode</a:t>
                      </a:r>
                      <a:r>
                        <a:rPr lang="en-US" sz="2400" dirty="0" smtClean="0">
                          <a:solidFill>
                            <a:srgbClr val="FF0000"/>
                          </a:solidFill>
                          <a:latin typeface="Times New Roman" pitchFamily="18" charset="0"/>
                        </a:rPr>
                        <a:t>(GL_PROJECTION);</a:t>
                      </a:r>
                    </a:p>
                    <a:p>
                      <a:pPr>
                        <a:lnSpc>
                          <a:spcPct val="80000"/>
                        </a:lnSpc>
                        <a:buFont typeface="Wingdings" pitchFamily="2" charset="2"/>
                        <a:buNone/>
                      </a:pPr>
                      <a:r>
                        <a:rPr lang="en-US" sz="2400" dirty="0" err="1" smtClean="0">
                          <a:solidFill>
                            <a:srgbClr val="FF0000"/>
                          </a:solidFill>
                          <a:latin typeface="Times New Roman" pitchFamily="18" charset="0"/>
                        </a:rPr>
                        <a:t>glLoadIdentity</a:t>
                      </a:r>
                      <a:r>
                        <a:rPr lang="en-US" sz="2400" dirty="0" smtClean="0">
                          <a:solidFill>
                            <a:srgbClr val="FF0000"/>
                          </a:solidFill>
                          <a:latin typeface="Times New Roman" pitchFamily="18" charset="0"/>
                        </a:rPr>
                        <a:t>();</a:t>
                      </a:r>
                    </a:p>
                    <a:p>
                      <a:pPr>
                        <a:lnSpc>
                          <a:spcPct val="80000"/>
                        </a:lnSpc>
                        <a:buFont typeface="Wingdings" pitchFamily="2" charset="2"/>
                        <a:buNone/>
                      </a:pPr>
                      <a:r>
                        <a:rPr lang="en-US" sz="2400" dirty="0" smtClean="0">
                          <a:solidFill>
                            <a:srgbClr val="FF0000"/>
                          </a:solidFill>
                          <a:latin typeface="Times New Roman" pitchFamily="18" charset="0"/>
                        </a:rPr>
                        <a:t>gluOrtho2D(0.0,50.0,-10.0,40.0); </a:t>
                      </a:r>
                    </a:p>
                    <a:p>
                      <a:pPr>
                        <a:lnSpc>
                          <a:spcPct val="80000"/>
                        </a:lnSpc>
                        <a:buFont typeface="Wingdings" pitchFamily="2" charset="2"/>
                        <a:buNone/>
                      </a:pPr>
                      <a:r>
                        <a:rPr lang="en-US" sz="2400" dirty="0" err="1" smtClean="0">
                          <a:solidFill>
                            <a:srgbClr val="FF0000"/>
                          </a:solidFill>
                          <a:latin typeface="Times New Roman" pitchFamily="18" charset="0"/>
                        </a:rPr>
                        <a:t>glRectf</a:t>
                      </a:r>
                      <a:r>
                        <a:rPr lang="en-US" sz="2400" dirty="0" smtClean="0">
                          <a:solidFill>
                            <a:srgbClr val="FF0000"/>
                          </a:solidFill>
                          <a:latin typeface="Times New Roman" pitchFamily="18" charset="0"/>
                        </a:rPr>
                        <a:t>(0.0,0.0,10.0,30.0);</a:t>
                      </a:r>
                    </a:p>
                    <a:p>
                      <a:pPr>
                        <a:lnSpc>
                          <a:spcPct val="80000"/>
                        </a:lnSpc>
                        <a:buFont typeface="Wingdings" pitchFamily="2" charset="2"/>
                        <a:buNone/>
                      </a:pPr>
                      <a:endParaRPr lang="en-US" sz="2400" dirty="0" smtClean="0">
                        <a:solidFill>
                          <a:srgbClr val="FF0000"/>
                        </a:solidFill>
                        <a:latin typeface="Times New Roman" pitchFamily="18" charset="0"/>
                      </a:endParaRPr>
                    </a:p>
                    <a:p>
                      <a:pPr>
                        <a:lnSpc>
                          <a:spcPct val="90000"/>
                        </a:lnSpc>
                        <a:buFont typeface="Wingdings" pitchFamily="2" charset="2"/>
                        <a:buNone/>
                      </a:pPr>
                      <a:r>
                        <a:rPr lang="en-US" sz="2400" dirty="0" err="1" smtClean="0">
                          <a:solidFill>
                            <a:srgbClr val="00B050"/>
                          </a:solidFill>
                          <a:latin typeface="Times New Roman" pitchFamily="18" charset="0"/>
                        </a:rPr>
                        <a:t>glViewport</a:t>
                      </a:r>
                      <a:r>
                        <a:rPr lang="en-US" sz="2400" dirty="0" smtClean="0">
                          <a:solidFill>
                            <a:srgbClr val="00B050"/>
                          </a:solidFill>
                          <a:latin typeface="Times New Roman" pitchFamily="18" charset="0"/>
                        </a:rPr>
                        <a:t>(250,250,250,250);</a:t>
                      </a:r>
                    </a:p>
                    <a:p>
                      <a:pPr>
                        <a:lnSpc>
                          <a:spcPct val="90000"/>
                        </a:lnSpc>
                        <a:buFont typeface="Wingdings" pitchFamily="2" charset="2"/>
                        <a:buNone/>
                      </a:pPr>
                      <a:r>
                        <a:rPr lang="en-US" sz="2400" dirty="0" err="1" smtClean="0">
                          <a:solidFill>
                            <a:srgbClr val="00B050"/>
                          </a:solidFill>
                          <a:latin typeface="Times New Roman" pitchFamily="18" charset="0"/>
                        </a:rPr>
                        <a:t>glMatrixMode</a:t>
                      </a:r>
                      <a:r>
                        <a:rPr lang="en-US" sz="2400" dirty="0" smtClean="0">
                          <a:solidFill>
                            <a:srgbClr val="00B050"/>
                          </a:solidFill>
                          <a:latin typeface="Times New Roman" pitchFamily="18" charset="0"/>
                        </a:rPr>
                        <a:t>(GL_PROJECTION);</a:t>
                      </a:r>
                    </a:p>
                    <a:p>
                      <a:pPr>
                        <a:lnSpc>
                          <a:spcPct val="90000"/>
                        </a:lnSpc>
                        <a:buFont typeface="Wingdings" pitchFamily="2" charset="2"/>
                        <a:buNone/>
                      </a:pPr>
                      <a:r>
                        <a:rPr lang="en-US" sz="2400" dirty="0" err="1" smtClean="0">
                          <a:solidFill>
                            <a:srgbClr val="00B050"/>
                          </a:solidFill>
                          <a:latin typeface="Times New Roman" pitchFamily="18" charset="0"/>
                        </a:rPr>
                        <a:t>glLoadIdentity</a:t>
                      </a:r>
                      <a:r>
                        <a:rPr lang="en-US" sz="2400" dirty="0" smtClean="0">
                          <a:solidFill>
                            <a:srgbClr val="00B050"/>
                          </a:solidFill>
                          <a:latin typeface="Times New Roman" pitchFamily="18" charset="0"/>
                        </a:rPr>
                        <a:t>();</a:t>
                      </a:r>
                    </a:p>
                    <a:p>
                      <a:pPr>
                        <a:lnSpc>
                          <a:spcPct val="90000"/>
                        </a:lnSpc>
                        <a:buFont typeface="Wingdings" pitchFamily="2" charset="2"/>
                        <a:buNone/>
                      </a:pPr>
                      <a:r>
                        <a:rPr lang="en-US" sz="2400" dirty="0" smtClean="0">
                          <a:solidFill>
                            <a:srgbClr val="00B050"/>
                          </a:solidFill>
                          <a:latin typeface="Times New Roman" pitchFamily="18" charset="0"/>
                        </a:rPr>
                        <a:t>gluOrtho2D(0.0,50.0,-10.0,40.0); </a:t>
                      </a:r>
                    </a:p>
                    <a:p>
                      <a:pPr>
                        <a:lnSpc>
                          <a:spcPct val="90000"/>
                        </a:lnSpc>
                        <a:buFont typeface="Wingdings" pitchFamily="2" charset="2"/>
                        <a:buNone/>
                      </a:pPr>
                      <a:r>
                        <a:rPr lang="en-US" sz="2400" dirty="0" smtClean="0">
                          <a:solidFill>
                            <a:srgbClr val="00B050"/>
                          </a:solidFill>
                          <a:latin typeface="Times New Roman" pitchFamily="18" charset="0"/>
                        </a:rPr>
                        <a:t>glColor3f( 1, 0, 0 );</a:t>
                      </a:r>
                    </a:p>
                    <a:p>
                      <a:pPr>
                        <a:lnSpc>
                          <a:spcPct val="90000"/>
                        </a:lnSpc>
                        <a:buFont typeface="Wingdings" pitchFamily="2" charset="2"/>
                        <a:buNone/>
                      </a:pPr>
                      <a:r>
                        <a:rPr lang="en-US" sz="2400" dirty="0" err="1" smtClean="0">
                          <a:solidFill>
                            <a:srgbClr val="00B050"/>
                          </a:solidFill>
                          <a:latin typeface="Times New Roman" pitchFamily="18" charset="0"/>
                        </a:rPr>
                        <a:t>glRectf</a:t>
                      </a:r>
                      <a:r>
                        <a:rPr lang="en-US" sz="2400" dirty="0" smtClean="0">
                          <a:solidFill>
                            <a:srgbClr val="00B050"/>
                          </a:solidFill>
                          <a:latin typeface="Times New Roman" pitchFamily="18" charset="0"/>
                        </a:rPr>
                        <a:t>(0.0,0.0,10.0,30.0);</a:t>
                      </a:r>
                    </a:p>
                    <a:p>
                      <a:pPr>
                        <a:lnSpc>
                          <a:spcPct val="90000"/>
                        </a:lnSpc>
                        <a:buFont typeface="Wingdings" pitchFamily="2" charset="2"/>
                        <a:buNone/>
                      </a:pPr>
                      <a:r>
                        <a:rPr lang="en-US" sz="2400" dirty="0" err="1" smtClean="0">
                          <a:solidFill>
                            <a:schemeClr val="tx2"/>
                          </a:solidFill>
                          <a:latin typeface="Times New Roman" pitchFamily="18" charset="0"/>
                        </a:rPr>
                        <a:t>glutSwapBuffers</a:t>
                      </a:r>
                      <a:r>
                        <a:rPr lang="en-US" sz="2400" dirty="0" smtClean="0">
                          <a:solidFill>
                            <a:schemeClr val="tx2"/>
                          </a:solidFill>
                          <a:latin typeface="Times New Roman" pitchFamily="18" charset="0"/>
                        </a:rPr>
                        <a:t>();</a:t>
                      </a:r>
                    </a:p>
                    <a:p>
                      <a:pPr>
                        <a:lnSpc>
                          <a:spcPct val="90000"/>
                        </a:lnSpc>
                        <a:buFont typeface="Wingdings" pitchFamily="2" charset="2"/>
                        <a:buNone/>
                      </a:pPr>
                      <a:r>
                        <a:rPr lang="en-US" sz="2400" dirty="0" smtClean="0">
                          <a:latin typeface="Times New Roman" pitchFamily="18" charset="0"/>
                        </a:rPr>
                        <a:t>} </a:t>
                      </a:r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491465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3203</TotalTime>
  <Words>253</Words>
  <Application>Microsoft Office PowerPoint</Application>
  <PresentationFormat>On-screen Show (4:3)</PresentationFormat>
  <Paragraphs>70</Paragraphs>
  <Slides>20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1" baseType="lpstr">
      <vt:lpstr>Office Theme</vt:lpstr>
      <vt:lpstr>Lab  5 , 6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Order of Transformation</vt:lpstr>
      <vt:lpstr>PowerPoint Presentation</vt:lpstr>
      <vt:lpstr> LAB TASK 3</vt:lpstr>
      <vt:lpstr>Do This Task: RING TOWER</vt:lpstr>
      <vt:lpstr>PowerPoint Presentation</vt:lpstr>
      <vt:lpstr>PowerPoint Presentation</vt:lpstr>
      <vt:lpstr>PowerPoint Presentation</vt:lpstr>
      <vt:lpstr>PowerPoint Presentation</vt:lpstr>
      <vt:lpstr> int screenwidth = 640;  int screenheight = 480;</vt:lpstr>
      <vt:lpstr> LAB 5</vt:lpstr>
      <vt:lpstr>Program to capture the create a viewport in the output window. </vt:lpstr>
      <vt:lpstr>Two Viewports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Sabina</dc:creator>
  <cp:lastModifiedBy>Sabina</cp:lastModifiedBy>
  <cp:revision>127</cp:revision>
  <dcterms:created xsi:type="dcterms:W3CDTF">2022-09-20T05:13:51Z</dcterms:created>
  <dcterms:modified xsi:type="dcterms:W3CDTF">2024-03-04T03:10:48Z</dcterms:modified>
</cp:coreProperties>
</file>