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285B022-59D3-4FC0-B927-9B33C5A68959}"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5A5DE7-E80C-428E-B91D-DDD0B2D8A99B}" type="slidenum">
              <a:rPr lang="en-US" smtClean="0"/>
              <a:t>‹#›</a:t>
            </a:fld>
            <a:endParaRPr lang="en-US"/>
          </a:p>
        </p:txBody>
      </p:sp>
    </p:spTree>
    <p:extLst>
      <p:ext uri="{BB962C8B-B14F-4D97-AF65-F5344CB8AC3E}">
        <p14:creationId xmlns:p14="http://schemas.microsoft.com/office/powerpoint/2010/main" val="3333206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85B022-59D3-4FC0-B927-9B33C5A68959}"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5A5DE7-E80C-428E-B91D-DDD0B2D8A99B}" type="slidenum">
              <a:rPr lang="en-US" smtClean="0"/>
              <a:t>‹#›</a:t>
            </a:fld>
            <a:endParaRPr lang="en-US"/>
          </a:p>
        </p:txBody>
      </p:sp>
    </p:spTree>
    <p:extLst>
      <p:ext uri="{BB962C8B-B14F-4D97-AF65-F5344CB8AC3E}">
        <p14:creationId xmlns:p14="http://schemas.microsoft.com/office/powerpoint/2010/main" val="919229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285B022-59D3-4FC0-B927-9B33C5A68959}"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5A5DE7-E80C-428E-B91D-DDD0B2D8A99B}" type="slidenum">
              <a:rPr lang="en-US" smtClean="0"/>
              <a:t>‹#›</a:t>
            </a:fld>
            <a:endParaRPr lang="en-US"/>
          </a:p>
        </p:txBody>
      </p:sp>
    </p:spTree>
    <p:extLst>
      <p:ext uri="{BB962C8B-B14F-4D97-AF65-F5344CB8AC3E}">
        <p14:creationId xmlns:p14="http://schemas.microsoft.com/office/powerpoint/2010/main" val="2845366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285B022-59D3-4FC0-B927-9B33C5A68959}"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5A5DE7-E80C-428E-B91D-DDD0B2D8A99B}" type="slidenum">
              <a:rPr lang="en-US" smtClean="0"/>
              <a:t>‹#›</a:t>
            </a:fld>
            <a:endParaRPr lang="en-US"/>
          </a:p>
        </p:txBody>
      </p:sp>
    </p:spTree>
    <p:extLst>
      <p:ext uri="{BB962C8B-B14F-4D97-AF65-F5344CB8AC3E}">
        <p14:creationId xmlns:p14="http://schemas.microsoft.com/office/powerpoint/2010/main" val="2803998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285B022-59D3-4FC0-B927-9B33C5A68959}" type="datetimeFigureOut">
              <a:rPr lang="en-US" smtClean="0"/>
              <a:t>3/10/2026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5A5DE7-E80C-428E-B91D-DDD0B2D8A99B}" type="slidenum">
              <a:rPr lang="en-US" smtClean="0"/>
              <a:t>‹#›</a:t>
            </a:fld>
            <a:endParaRPr lang="en-US"/>
          </a:p>
        </p:txBody>
      </p:sp>
    </p:spTree>
    <p:extLst>
      <p:ext uri="{BB962C8B-B14F-4D97-AF65-F5344CB8AC3E}">
        <p14:creationId xmlns:p14="http://schemas.microsoft.com/office/powerpoint/2010/main" val="3676059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285B022-59D3-4FC0-B927-9B33C5A68959}" type="datetimeFigureOut">
              <a:rPr lang="en-US" smtClean="0"/>
              <a:t>3/10/2026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5A5DE7-E80C-428E-B91D-DDD0B2D8A99B}" type="slidenum">
              <a:rPr lang="en-US" smtClean="0"/>
              <a:t>‹#›</a:t>
            </a:fld>
            <a:endParaRPr lang="en-US"/>
          </a:p>
        </p:txBody>
      </p:sp>
    </p:spTree>
    <p:extLst>
      <p:ext uri="{BB962C8B-B14F-4D97-AF65-F5344CB8AC3E}">
        <p14:creationId xmlns:p14="http://schemas.microsoft.com/office/powerpoint/2010/main" val="3207490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85B022-59D3-4FC0-B927-9B33C5A68959}" type="datetimeFigureOut">
              <a:rPr lang="en-US" smtClean="0"/>
              <a:t>3/10/2026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5A5DE7-E80C-428E-B91D-DDD0B2D8A99B}" type="slidenum">
              <a:rPr lang="en-US" smtClean="0"/>
              <a:t>‹#›</a:t>
            </a:fld>
            <a:endParaRPr lang="en-US"/>
          </a:p>
        </p:txBody>
      </p:sp>
    </p:spTree>
    <p:extLst>
      <p:ext uri="{BB962C8B-B14F-4D97-AF65-F5344CB8AC3E}">
        <p14:creationId xmlns:p14="http://schemas.microsoft.com/office/powerpoint/2010/main" val="1767066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285B022-59D3-4FC0-B927-9B33C5A68959}"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5A5DE7-E80C-428E-B91D-DDD0B2D8A99B}" type="slidenum">
              <a:rPr lang="en-US" smtClean="0"/>
              <a:t>‹#›</a:t>
            </a:fld>
            <a:endParaRPr lang="en-US"/>
          </a:p>
        </p:txBody>
      </p:sp>
    </p:spTree>
    <p:extLst>
      <p:ext uri="{BB962C8B-B14F-4D97-AF65-F5344CB8AC3E}">
        <p14:creationId xmlns:p14="http://schemas.microsoft.com/office/powerpoint/2010/main" val="31733106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285B022-59D3-4FC0-B927-9B33C5A68959}"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5A5DE7-E80C-428E-B91D-DDD0B2D8A99B}" type="slidenum">
              <a:rPr lang="en-US" smtClean="0"/>
              <a:t>‹#›</a:t>
            </a:fld>
            <a:endParaRPr lang="en-US"/>
          </a:p>
        </p:txBody>
      </p:sp>
    </p:spTree>
    <p:extLst>
      <p:ext uri="{BB962C8B-B14F-4D97-AF65-F5344CB8AC3E}">
        <p14:creationId xmlns:p14="http://schemas.microsoft.com/office/powerpoint/2010/main" val="3555108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85B022-59D3-4FC0-B927-9B33C5A68959}"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5A5DE7-E80C-428E-B91D-DDD0B2D8A99B}" type="slidenum">
              <a:rPr lang="en-US" smtClean="0"/>
              <a:t>‹#›</a:t>
            </a:fld>
            <a:endParaRPr lang="en-US"/>
          </a:p>
        </p:txBody>
      </p:sp>
    </p:spTree>
    <p:extLst>
      <p:ext uri="{BB962C8B-B14F-4D97-AF65-F5344CB8AC3E}">
        <p14:creationId xmlns:p14="http://schemas.microsoft.com/office/powerpoint/2010/main" val="2112502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85B022-59D3-4FC0-B927-9B33C5A68959}"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5A5DE7-E80C-428E-B91D-DDD0B2D8A99B}" type="slidenum">
              <a:rPr lang="en-US" smtClean="0"/>
              <a:t>‹#›</a:t>
            </a:fld>
            <a:endParaRPr lang="en-US"/>
          </a:p>
        </p:txBody>
      </p:sp>
    </p:spTree>
    <p:extLst>
      <p:ext uri="{BB962C8B-B14F-4D97-AF65-F5344CB8AC3E}">
        <p14:creationId xmlns:p14="http://schemas.microsoft.com/office/powerpoint/2010/main" val="341293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85B022-59D3-4FC0-B927-9B33C5A68959}" type="datetimeFigureOut">
              <a:rPr lang="en-US" smtClean="0"/>
              <a:t>3/10/2026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5A5DE7-E80C-428E-B91D-DDD0B2D8A99B}" type="slidenum">
              <a:rPr lang="en-US" smtClean="0"/>
              <a:t>‹#›</a:t>
            </a:fld>
            <a:endParaRPr lang="en-US"/>
          </a:p>
        </p:txBody>
      </p:sp>
    </p:spTree>
    <p:extLst>
      <p:ext uri="{BB962C8B-B14F-4D97-AF65-F5344CB8AC3E}">
        <p14:creationId xmlns:p14="http://schemas.microsoft.com/office/powerpoint/2010/main" val="39273094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SPM</a:t>
            </a:r>
            <a:endParaRPr lang="en-US" dirty="0"/>
          </a:p>
        </p:txBody>
      </p:sp>
    </p:spTree>
    <p:extLst>
      <p:ext uri="{BB962C8B-B14F-4D97-AF65-F5344CB8AC3E}">
        <p14:creationId xmlns:p14="http://schemas.microsoft.com/office/powerpoint/2010/main" val="1517003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840717" y="0"/>
            <a:ext cx="4351283" cy="2490005"/>
          </a:xfrm>
          <a:prstGeom prst="rect">
            <a:avLst/>
          </a:prstGeom>
        </p:spPr>
      </p:pic>
      <p:sp>
        <p:nvSpPr>
          <p:cNvPr id="2" name="Title 1"/>
          <p:cNvSpPr>
            <a:spLocks noGrp="1"/>
          </p:cNvSpPr>
          <p:nvPr>
            <p:ph type="title"/>
          </p:nvPr>
        </p:nvSpPr>
        <p:spPr/>
        <p:txBody>
          <a:bodyPr/>
          <a:lstStyle/>
          <a:p>
            <a:r>
              <a:rPr lang="en-US" dirty="0" smtClean="0"/>
              <a:t>PMI Framework</a:t>
            </a:r>
            <a:endParaRPr lang="en-US" dirty="0"/>
          </a:p>
        </p:txBody>
      </p:sp>
      <p:sp>
        <p:nvSpPr>
          <p:cNvPr id="3" name="Content Placeholder 2"/>
          <p:cNvSpPr>
            <a:spLocks noGrp="1"/>
          </p:cNvSpPr>
          <p:nvPr>
            <p:ph idx="1"/>
          </p:nvPr>
        </p:nvSpPr>
        <p:spPr>
          <a:xfrm>
            <a:off x="838200" y="2055813"/>
            <a:ext cx="10515600" cy="4351338"/>
          </a:xfrm>
        </p:spPr>
        <p:txBody>
          <a:bodyPr>
            <a:normAutofit/>
          </a:bodyPr>
          <a:lstStyle/>
          <a:p>
            <a:r>
              <a:rPr lang="en-US" dirty="0"/>
              <a:t>The PMI (Project Management Institute) framework is a comprehensive approach to project management. It provides a structured and standardized method for managing projects across various industries and domains. PMI is a globally recognized organization that offers project management certifications, including the Project Management Professional (PMP) and Certified Associate in Project Management (CAPM) certifications. Here are some key aspects of the PMI framework</a:t>
            </a:r>
            <a:r>
              <a:rPr lang="en-US" dirty="0" smtClean="0"/>
              <a:t>:</a:t>
            </a:r>
            <a:endParaRPr lang="en-US" dirty="0"/>
          </a:p>
        </p:txBody>
      </p:sp>
    </p:spTree>
    <p:extLst>
      <p:ext uri="{BB962C8B-B14F-4D97-AF65-F5344CB8AC3E}">
        <p14:creationId xmlns:p14="http://schemas.microsoft.com/office/powerpoint/2010/main" val="644216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b="1" dirty="0" smtClean="0"/>
              <a:t>Project Management Knowledge Areas:</a:t>
            </a:r>
            <a:r>
              <a:rPr lang="en-US" dirty="0" smtClean="0"/>
              <a:t> PMI defines ten knowledge areas that encompass various aspects of project management. These areas include integration, scope, time, cost, quality, human resources, communications, risk, </a:t>
            </a:r>
            <a:r>
              <a:rPr lang="en-US" dirty="0" smtClean="0"/>
              <a:t>and </a:t>
            </a:r>
            <a:r>
              <a:rPr lang="en-US" dirty="0" smtClean="0"/>
              <a:t>stakeholder management. Each knowledge area addresses specific project management functions and processes.</a:t>
            </a:r>
          </a:p>
          <a:p>
            <a:r>
              <a:rPr lang="en-US" b="1" dirty="0" smtClean="0"/>
              <a:t>Project Management Processes:</a:t>
            </a:r>
            <a:r>
              <a:rPr lang="en-US" dirty="0" smtClean="0"/>
              <a:t> Within each knowledge area, PMI outlines a set of processes that help manage different aspects of a project. These processes are organized into </a:t>
            </a:r>
            <a:r>
              <a:rPr lang="en-US" b="1" dirty="0" smtClean="0"/>
              <a:t>five groups: </a:t>
            </a:r>
            <a:r>
              <a:rPr lang="en-US" dirty="0" smtClean="0"/>
              <a:t>initiating, planning, executing, monitoring and controlling, and closing. These groups provide a structured approach to managing projects from start to finish.</a:t>
            </a:r>
          </a:p>
        </p:txBody>
      </p:sp>
    </p:spTree>
    <p:extLst>
      <p:ext uri="{BB962C8B-B14F-4D97-AF65-F5344CB8AC3E}">
        <p14:creationId xmlns:p14="http://schemas.microsoft.com/office/powerpoint/2010/main" val="1934213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smtClean="0"/>
              <a:t>PMBOK Guide:</a:t>
            </a:r>
            <a:r>
              <a:rPr lang="en-US" dirty="0" smtClean="0"/>
              <a:t> The Project Management Body of Knowledge (PMBOK) is a guide developed by PMI that serves as a foundational reference for project management professionals. It provides detailed information on the ten knowledge areas, project management processes, and best practices for managing projects.</a:t>
            </a:r>
          </a:p>
          <a:p>
            <a:r>
              <a:rPr lang="en-US" b="1" dirty="0" smtClean="0"/>
              <a:t>Certifications:</a:t>
            </a:r>
            <a:r>
              <a:rPr lang="en-US" dirty="0" smtClean="0"/>
              <a:t> PMI offers various project management certifications, with the PMP certification being the most well-known and respected. These certifications validate a professional's knowledge and skills in project management, making them highly sought after in the industry.</a:t>
            </a:r>
          </a:p>
        </p:txBody>
      </p:sp>
    </p:spTree>
    <p:extLst>
      <p:ext uri="{BB962C8B-B14F-4D97-AF65-F5344CB8AC3E}">
        <p14:creationId xmlns:p14="http://schemas.microsoft.com/office/powerpoint/2010/main" val="3778052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smtClean="0"/>
              <a:t>Code of Ethics:</a:t>
            </a:r>
            <a:r>
              <a:rPr lang="en-US" dirty="0" smtClean="0"/>
              <a:t> PMI emphasizes the importance of ethical behavior and professionalism in project management. The organization has a Code of Ethics and Professional Conduct that outlines the ethical responsibilities of project managers.</a:t>
            </a:r>
          </a:p>
          <a:p>
            <a:r>
              <a:rPr lang="en-US" b="1" dirty="0" smtClean="0"/>
              <a:t>Global Standards:</a:t>
            </a:r>
            <a:r>
              <a:rPr lang="en-US" dirty="0" smtClean="0"/>
              <a:t> PMI's framework is recognized and used worldwide, making it a global standard for project management. It provides a common language and set of best practices that can be applied to projects in diverse cultural and organizational contexts.</a:t>
            </a:r>
          </a:p>
        </p:txBody>
      </p:sp>
    </p:spTree>
    <p:extLst>
      <p:ext uri="{BB962C8B-B14F-4D97-AF65-F5344CB8AC3E}">
        <p14:creationId xmlns:p14="http://schemas.microsoft.com/office/powerpoint/2010/main" val="1100066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t>Community and Resources:</a:t>
            </a:r>
            <a:r>
              <a:rPr lang="en-US" dirty="0" smtClean="0"/>
              <a:t> PMI offers a supportive community of project management professionals and provides resources such as webinars, publications, and events to facilitate continuous learning and professional development.</a:t>
            </a:r>
          </a:p>
          <a:p>
            <a:r>
              <a:rPr lang="en-US" dirty="0" smtClean="0"/>
              <a:t>The PMI framework is designed to help organizations and professionals achieve successful project outcomes by providing a structured and standardized approach to project management. It promotes best practices, knowledge sharing, and ethical behavior within the field of project management, contributing to the growth and success of the profession.</a:t>
            </a:r>
            <a:endParaRPr lang="en-US" dirty="0"/>
          </a:p>
        </p:txBody>
      </p:sp>
    </p:spTree>
    <p:extLst>
      <p:ext uri="{BB962C8B-B14F-4D97-AF65-F5344CB8AC3E}">
        <p14:creationId xmlns:p14="http://schemas.microsoft.com/office/powerpoint/2010/main" val="26815104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443</Words>
  <Application>Microsoft Office PowerPoint</Application>
  <PresentationFormat>Widescreen</PresentationFormat>
  <Paragraphs>11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SPM</vt:lpstr>
      <vt:lpstr>PMI Framework</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SPM</dc:title>
  <dc:creator>Sarah</dc:creator>
  <cp:lastModifiedBy>Admin</cp:lastModifiedBy>
  <cp:revision>4</cp:revision>
  <dcterms:created xsi:type="dcterms:W3CDTF">2023-10-17T06:02:25Z</dcterms:created>
  <dcterms:modified xsi:type="dcterms:W3CDTF">2026-03-10T09:37:37Z</dcterms:modified>
</cp:coreProperties>
</file>