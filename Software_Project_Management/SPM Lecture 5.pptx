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73" r:id="rId3"/>
    <p:sldId id="271" r:id="rId4"/>
    <p:sldId id="272" r:id="rId5"/>
    <p:sldId id="270" r:id="rId6"/>
    <p:sldId id="257" r:id="rId7"/>
    <p:sldId id="259" r:id="rId8"/>
    <p:sldId id="260" r:id="rId9"/>
    <p:sldId id="261" r:id="rId10"/>
    <p:sldId id="262" r:id="rId11"/>
    <p:sldId id="263" r:id="rId12"/>
    <p:sldId id="258"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4AA075-0AEC-4C8A-AC0A-51A4593A9AC3}"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F38DF-EA3C-4862-82EE-31BE6599D6F2}" type="slidenum">
              <a:rPr lang="en-US" smtClean="0"/>
              <a:t>‹#›</a:t>
            </a:fld>
            <a:endParaRPr lang="en-US"/>
          </a:p>
        </p:txBody>
      </p:sp>
    </p:spTree>
    <p:extLst>
      <p:ext uri="{BB962C8B-B14F-4D97-AF65-F5344CB8AC3E}">
        <p14:creationId xmlns:p14="http://schemas.microsoft.com/office/powerpoint/2010/main" val="2295513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C32177-23E0-496A-AC86-A8EE23D4E1A6}" type="slidenum">
              <a:rPr lang="en-US" smtClean="0"/>
              <a:t>16</a:t>
            </a:fld>
            <a:endParaRPr lang="en-US"/>
          </a:p>
        </p:txBody>
      </p:sp>
    </p:spTree>
    <p:extLst>
      <p:ext uri="{BB962C8B-B14F-4D97-AF65-F5344CB8AC3E}">
        <p14:creationId xmlns:p14="http://schemas.microsoft.com/office/powerpoint/2010/main" val="1387652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9B781A-9FDE-493F-AE1F-904BE2A37A0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136353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9B781A-9FDE-493F-AE1F-904BE2A37A0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741760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E9B781A-9FDE-493F-AE1F-904BE2A37A0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103254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9B781A-9FDE-493F-AE1F-904BE2A37A0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3784005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9B781A-9FDE-493F-AE1F-904BE2A37A08}"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3353911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9B781A-9FDE-493F-AE1F-904BE2A37A08}"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57295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9B781A-9FDE-493F-AE1F-904BE2A37A08}"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168877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9B781A-9FDE-493F-AE1F-904BE2A37A0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3695291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9B781A-9FDE-493F-AE1F-904BE2A37A0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2259923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9B781A-9FDE-493F-AE1F-904BE2A37A0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195714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9B781A-9FDE-493F-AE1F-904BE2A37A0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AF716E-76A9-4CAB-A186-BA0BF1BA7BE9}" type="slidenum">
              <a:rPr lang="en-US" smtClean="0"/>
              <a:t>‹#›</a:t>
            </a:fld>
            <a:endParaRPr lang="en-US"/>
          </a:p>
        </p:txBody>
      </p:sp>
    </p:spTree>
    <p:extLst>
      <p:ext uri="{BB962C8B-B14F-4D97-AF65-F5344CB8AC3E}">
        <p14:creationId xmlns:p14="http://schemas.microsoft.com/office/powerpoint/2010/main" val="2234942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9B781A-9FDE-493F-AE1F-904BE2A37A08}" type="datetimeFigureOut">
              <a:rPr lang="en-US" smtClean="0"/>
              <a:t>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F716E-76A9-4CAB-A186-BA0BF1BA7BE9}" type="slidenum">
              <a:rPr lang="en-US" smtClean="0"/>
              <a:t>‹#›</a:t>
            </a:fld>
            <a:endParaRPr lang="en-US"/>
          </a:p>
        </p:txBody>
      </p:sp>
    </p:spTree>
    <p:extLst>
      <p:ext uri="{BB962C8B-B14F-4D97-AF65-F5344CB8AC3E}">
        <p14:creationId xmlns:p14="http://schemas.microsoft.com/office/powerpoint/2010/main" val="262191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6429" y="1122363"/>
            <a:ext cx="10580913" cy="2387600"/>
          </a:xfrm>
        </p:spPr>
        <p:txBody>
          <a:bodyPr/>
          <a:lstStyle/>
          <a:p>
            <a:r>
              <a:rPr lang="en-US" dirty="0" smtClean="0"/>
              <a:t>Software Project Management</a:t>
            </a:r>
            <a:endParaRPr lang="en-US" dirty="0"/>
          </a:p>
        </p:txBody>
      </p:sp>
    </p:spTree>
    <p:extLst>
      <p:ext uri="{BB962C8B-B14F-4D97-AF65-F5344CB8AC3E}">
        <p14:creationId xmlns:p14="http://schemas.microsoft.com/office/powerpoint/2010/main" val="40582338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98A86-9F60-44AF-991C-0CDCFD229ACE}"/>
              </a:ext>
            </a:extLst>
          </p:cNvPr>
          <p:cNvPicPr>
            <a:picLocks noChangeAspect="1"/>
          </p:cNvPicPr>
          <p:nvPr/>
        </p:nvPicPr>
        <p:blipFill>
          <a:blip r:embed="rId2"/>
          <a:stretch>
            <a:fillRect/>
          </a:stretch>
        </p:blipFill>
        <p:spPr>
          <a:xfrm>
            <a:off x="3289459" y="1702980"/>
            <a:ext cx="5613083" cy="3804286"/>
          </a:xfrm>
          <a:prstGeom prst="rect">
            <a:avLst/>
          </a:prstGeom>
        </p:spPr>
      </p:pic>
      <p:sp>
        <p:nvSpPr>
          <p:cNvPr id="3" name="TextBox 2">
            <a:extLst>
              <a:ext uri="{FF2B5EF4-FFF2-40B4-BE49-F238E27FC236}">
                <a16:creationId xmlns:a16="http://schemas.microsoft.com/office/drawing/2014/main" id="{0DC8F85B-50D0-4750-80C6-6396BD089FEC}"/>
              </a:ext>
            </a:extLst>
          </p:cNvPr>
          <p:cNvSpPr txBox="1"/>
          <p:nvPr/>
        </p:nvSpPr>
        <p:spPr>
          <a:xfrm>
            <a:off x="3101339" y="2743200"/>
            <a:ext cx="5989320" cy="1754326"/>
          </a:xfrm>
          <a:prstGeom prst="rect">
            <a:avLst/>
          </a:prstGeom>
          <a:noFill/>
        </p:spPr>
        <p:txBody>
          <a:bodyPr wrap="square" rtlCol="0">
            <a:spAutoFit/>
          </a:bodyPr>
          <a:lstStyle/>
          <a:p>
            <a:pPr algn="ctr"/>
            <a:r>
              <a:rPr lang="en-US" sz="5400" b="1" dirty="0"/>
              <a:t>Software Project Acquisition</a:t>
            </a:r>
          </a:p>
        </p:txBody>
      </p:sp>
    </p:spTree>
    <p:extLst>
      <p:ext uri="{BB962C8B-B14F-4D97-AF65-F5344CB8AC3E}">
        <p14:creationId xmlns:p14="http://schemas.microsoft.com/office/powerpoint/2010/main" val="39617007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software-project-acquisitionpptx-2-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36667140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4-software-project-acquisitionpptx-3-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42300652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smtClean="0"/>
              <a:t>Process </a:t>
            </a:r>
            <a:r>
              <a:rPr lang="en-US" dirty="0"/>
              <a:t>of obtaining or acquiring a project for your organization. It is the process of identifying, evaluating, and acquiring software projects that align with an organization's strategic goals. It involves identifying potential projects, evaluating their feasibility, and taking the necessary steps to secure the project for execution</a:t>
            </a:r>
            <a:r>
              <a:rPr lang="en-US" dirty="0" smtClean="0"/>
              <a:t>.</a:t>
            </a:r>
          </a:p>
          <a:p>
            <a:pPr lvl="0"/>
            <a:r>
              <a:rPr lang="en-US" b="1" dirty="0"/>
              <a:t>Project Identification</a:t>
            </a:r>
            <a:r>
              <a:rPr lang="en-US" dirty="0"/>
              <a:t>, </a:t>
            </a:r>
            <a:r>
              <a:rPr lang="en-US" b="1" dirty="0"/>
              <a:t>Feasibility </a:t>
            </a:r>
            <a:r>
              <a:rPr lang="en-US" b="1" dirty="0" smtClean="0"/>
              <a:t>Analysis,</a:t>
            </a:r>
            <a:r>
              <a:rPr lang="en-US" dirty="0" smtClean="0"/>
              <a:t> </a:t>
            </a:r>
            <a:r>
              <a:rPr lang="en-US" b="1" dirty="0" smtClean="0"/>
              <a:t>Proposal </a:t>
            </a:r>
            <a:r>
              <a:rPr lang="en-US" b="1" dirty="0"/>
              <a:t>Development</a:t>
            </a:r>
            <a:r>
              <a:rPr lang="en-US" dirty="0"/>
              <a:t> </a:t>
            </a:r>
            <a:r>
              <a:rPr lang="en-US" sz="1800" dirty="0" smtClean="0"/>
              <a:t>including </a:t>
            </a:r>
            <a:r>
              <a:rPr lang="en-US" sz="1800" dirty="0"/>
              <a:t>project's details, objectives, scope, estimated costs, benefits, and risks often used to seek approval and funding from senior management or external </a:t>
            </a:r>
            <a:r>
              <a:rPr lang="en-US" sz="1800" dirty="0" smtClean="0"/>
              <a:t>stakeholders, </a:t>
            </a:r>
            <a:r>
              <a:rPr lang="en-US" b="1" dirty="0"/>
              <a:t>Project Selection</a:t>
            </a:r>
            <a:r>
              <a:rPr lang="en-US" dirty="0"/>
              <a:t>, </a:t>
            </a:r>
            <a:r>
              <a:rPr lang="en-US" b="1" dirty="0"/>
              <a:t>Contract Negotiation, Funding and Resourcing</a:t>
            </a:r>
            <a:r>
              <a:rPr lang="en-US" dirty="0"/>
              <a:t>, </a:t>
            </a:r>
            <a:r>
              <a:rPr lang="en-US" b="1" dirty="0"/>
              <a:t>Project </a:t>
            </a:r>
            <a:r>
              <a:rPr lang="en-US" b="1" dirty="0" smtClean="0"/>
              <a:t>Kickoff</a:t>
            </a:r>
            <a:r>
              <a:rPr lang="en-US" dirty="0" smtClean="0"/>
              <a:t> </a:t>
            </a:r>
            <a:r>
              <a:rPr lang="en-US" sz="1800" dirty="0"/>
              <a:t>(official initiation</a:t>
            </a:r>
            <a:r>
              <a:rPr lang="en-US" sz="1800" dirty="0" smtClean="0"/>
              <a:t>)</a:t>
            </a:r>
            <a:endParaRPr lang="en-US" dirty="0"/>
          </a:p>
        </p:txBody>
      </p:sp>
      <p:sp>
        <p:nvSpPr>
          <p:cNvPr id="2" name="Title 1"/>
          <p:cNvSpPr>
            <a:spLocks noGrp="1"/>
          </p:cNvSpPr>
          <p:nvPr>
            <p:ph type="title"/>
          </p:nvPr>
        </p:nvSpPr>
        <p:spPr/>
        <p:txBody>
          <a:bodyPr/>
          <a:lstStyle/>
          <a:p>
            <a:r>
              <a:rPr lang="en-US" b="1" dirty="0" smtClean="0"/>
              <a:t>Project acquisition</a:t>
            </a:r>
            <a:endParaRPr lang="en-US" b="1" dirty="0"/>
          </a:p>
        </p:txBody>
      </p:sp>
    </p:spTree>
    <p:extLst>
      <p:ext uri="{BB962C8B-B14F-4D97-AF65-F5344CB8AC3E}">
        <p14:creationId xmlns:p14="http://schemas.microsoft.com/office/powerpoint/2010/main" val="8602710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Project Acquisition</a:t>
            </a:r>
            <a:endParaRPr lang="en-US" b="1" dirty="0"/>
          </a:p>
        </p:txBody>
      </p:sp>
      <p:sp>
        <p:nvSpPr>
          <p:cNvPr id="3" name="Content Placeholder 2"/>
          <p:cNvSpPr>
            <a:spLocks noGrp="1"/>
          </p:cNvSpPr>
          <p:nvPr>
            <p:ph idx="1"/>
          </p:nvPr>
        </p:nvSpPr>
        <p:spPr/>
        <p:txBody>
          <a:bodyPr>
            <a:normAutofit/>
          </a:bodyPr>
          <a:lstStyle/>
          <a:p>
            <a:r>
              <a:rPr lang="en-US" dirty="0" smtClean="0"/>
              <a:t>It </a:t>
            </a:r>
            <a:r>
              <a:rPr lang="en-US" dirty="0"/>
              <a:t>is a complex process that involves a variety of steps, including:</a:t>
            </a:r>
          </a:p>
          <a:p>
            <a:r>
              <a:rPr lang="en-US" b="1" dirty="0"/>
              <a:t>Identifying potential projects</a:t>
            </a:r>
            <a:r>
              <a:rPr lang="en-US" dirty="0"/>
              <a:t>. This can be done through a variety of methods, such as networking with other organizations, attending industry events, and searching for online listings.</a:t>
            </a:r>
          </a:p>
          <a:p>
            <a:r>
              <a:rPr lang="en-US" b="1" dirty="0"/>
              <a:t>Evaluating potential projects.</a:t>
            </a:r>
            <a:r>
              <a:rPr lang="en-US" dirty="0"/>
              <a:t> Once a list of potential projects has been identified, it is important to evaluate them carefully to determine which ones are the best fit for the organization. This evaluation should take into account factors such as the project's strategic alignment, profitability potential, technical complexity, and risk profile.</a:t>
            </a:r>
          </a:p>
        </p:txBody>
      </p:sp>
    </p:spTree>
    <p:extLst>
      <p:ext uri="{BB962C8B-B14F-4D97-AF65-F5344CB8AC3E}">
        <p14:creationId xmlns:p14="http://schemas.microsoft.com/office/powerpoint/2010/main" val="28585624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Negotiating and acquiring projects</a:t>
            </a:r>
            <a:r>
              <a:rPr lang="en-US" dirty="0"/>
              <a:t>. Once a project has been selected, the organization will need to negotiate and acquire it. This may involve developing a purchase </a:t>
            </a:r>
            <a:r>
              <a:rPr lang="en-US" dirty="0" smtClean="0"/>
              <a:t>agreement, </a:t>
            </a:r>
            <a:r>
              <a:rPr lang="en-US" dirty="0"/>
              <a:t>and obtaining financing.</a:t>
            </a:r>
          </a:p>
          <a:p>
            <a:r>
              <a:rPr lang="en-US" b="1" dirty="0"/>
              <a:t>Integrating the acquired project</a:t>
            </a:r>
            <a:r>
              <a:rPr lang="en-US" dirty="0"/>
              <a:t>. Once the project has been acquired, it is important to integrate it into the organization's existing operations. This may involve restructuring the organization, transferring knowledge and skills, and aligning the project's culture with the organization's culture.</a:t>
            </a:r>
          </a:p>
          <a:p>
            <a:endParaRPr lang="en-US" dirty="0"/>
          </a:p>
        </p:txBody>
      </p:sp>
    </p:spTree>
    <p:extLst>
      <p:ext uri="{BB962C8B-B14F-4D97-AF65-F5344CB8AC3E}">
        <p14:creationId xmlns:p14="http://schemas.microsoft.com/office/powerpoint/2010/main" val="29235620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Importance</a:t>
            </a:r>
            <a:endParaRPr lang="en-US" b="1" dirty="0"/>
          </a:p>
        </p:txBody>
      </p:sp>
      <p:sp>
        <p:nvSpPr>
          <p:cNvPr id="3" name="Content Placeholder 2"/>
          <p:cNvSpPr>
            <a:spLocks noGrp="1"/>
          </p:cNvSpPr>
          <p:nvPr>
            <p:ph idx="1"/>
          </p:nvPr>
        </p:nvSpPr>
        <p:spPr/>
        <p:txBody>
          <a:bodyPr>
            <a:normAutofit/>
          </a:bodyPr>
          <a:lstStyle/>
          <a:p>
            <a:r>
              <a:rPr lang="en-US" dirty="0"/>
              <a:t>Software project acquisition can be a valuable strategy for organizations that are looking to grow quickly, expand their capabilities, and increase their profits. </a:t>
            </a:r>
            <a:endParaRPr lang="en-US" dirty="0" smtClean="0"/>
          </a:p>
          <a:p>
            <a:r>
              <a:rPr lang="en-US" dirty="0" smtClean="0"/>
              <a:t>However</a:t>
            </a:r>
            <a:r>
              <a:rPr lang="en-US" dirty="0"/>
              <a:t>, it is important to carefully evaluate projects before acquiring them and to have a plan for integrating them into the organization's existing operations</a:t>
            </a:r>
            <a:r>
              <a:rPr lang="en-US" dirty="0" smtClean="0"/>
              <a:t>.</a:t>
            </a:r>
            <a:endParaRPr lang="en-US" dirty="0"/>
          </a:p>
        </p:txBody>
      </p:sp>
    </p:spTree>
    <p:extLst>
      <p:ext uri="{BB962C8B-B14F-4D97-AF65-F5344CB8AC3E}">
        <p14:creationId xmlns:p14="http://schemas.microsoft.com/office/powerpoint/2010/main" val="38139600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Here are some of the key benefits of software project acquisition:</a:t>
            </a:r>
          </a:p>
          <a:p>
            <a:r>
              <a:rPr lang="en-US" b="1" dirty="0" smtClean="0"/>
              <a:t>Accelerated growth</a:t>
            </a:r>
            <a:r>
              <a:rPr lang="en-US" dirty="0" smtClean="0"/>
              <a:t>. Software project acquisition can help organizations to grow more quickly than they could through internal development alone.</a:t>
            </a:r>
          </a:p>
          <a:p>
            <a:r>
              <a:rPr lang="en-US" b="1" dirty="0" smtClean="0"/>
              <a:t>Expanded capabilities.</a:t>
            </a:r>
            <a:r>
              <a:rPr lang="en-US" dirty="0" smtClean="0"/>
              <a:t> Software project acquisition can help organizations to expand their capabilities and enter new markets.</a:t>
            </a:r>
          </a:p>
          <a:p>
            <a:r>
              <a:rPr lang="en-US" b="1" dirty="0"/>
              <a:t>Increased profitability</a:t>
            </a:r>
            <a:r>
              <a:rPr lang="en-US" dirty="0"/>
              <a:t>. Software project acquisition can help organizations to increase their profits by acquiring projects that are already profitable or that have the potential to become profitable.</a:t>
            </a:r>
          </a:p>
          <a:p>
            <a:r>
              <a:rPr lang="en-US" b="1" dirty="0"/>
              <a:t>Access to new talent and expertise</a:t>
            </a:r>
            <a:r>
              <a:rPr lang="en-US" dirty="0"/>
              <a:t>. Software project acquisition can give organizations access to new talent and expertise that they may not have in-house.</a:t>
            </a:r>
          </a:p>
          <a:p>
            <a:endParaRPr lang="en-US" dirty="0"/>
          </a:p>
        </p:txBody>
      </p:sp>
    </p:spTree>
    <p:extLst>
      <p:ext uri="{BB962C8B-B14F-4D97-AF65-F5344CB8AC3E}">
        <p14:creationId xmlns:p14="http://schemas.microsoft.com/office/powerpoint/2010/main" val="17490126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Acquisition </a:t>
            </a:r>
            <a:r>
              <a:rPr lang="en-US" dirty="0"/>
              <a:t>risks</a:t>
            </a:r>
          </a:p>
        </p:txBody>
      </p:sp>
      <p:sp>
        <p:nvSpPr>
          <p:cNvPr id="3" name="Content Placeholder 2"/>
          <p:cNvSpPr>
            <a:spLocks noGrp="1"/>
          </p:cNvSpPr>
          <p:nvPr>
            <p:ph idx="1"/>
          </p:nvPr>
        </p:nvSpPr>
        <p:spPr/>
        <p:txBody>
          <a:bodyPr/>
          <a:lstStyle/>
          <a:p>
            <a:r>
              <a:rPr lang="en-US" dirty="0"/>
              <a:t>However, there are also some risks associated with software project acquisition, such as:</a:t>
            </a:r>
          </a:p>
          <a:p>
            <a:r>
              <a:rPr lang="en-US" b="1" dirty="0"/>
              <a:t>Overpaying for projects</a:t>
            </a:r>
            <a:r>
              <a:rPr lang="en-US" dirty="0"/>
              <a:t>. It is important to carefully evaluate projects before acquiring them to ensure that the organization is not overpaying.</a:t>
            </a:r>
          </a:p>
          <a:p>
            <a:r>
              <a:rPr lang="en-US" b="1" dirty="0"/>
              <a:t>Integration challenges. </a:t>
            </a:r>
            <a:r>
              <a:rPr lang="en-US" dirty="0"/>
              <a:t>Integrating an acquired software project into the organization's existing operations can be challenging.</a:t>
            </a:r>
          </a:p>
          <a:p>
            <a:r>
              <a:rPr lang="en-US" b="1" dirty="0"/>
              <a:t>Cultural clashes.</a:t>
            </a:r>
            <a:r>
              <a:rPr lang="en-US" dirty="0"/>
              <a:t> There may be cultural clashes between the acquired software project team and the organization's existing team.</a:t>
            </a:r>
          </a:p>
          <a:p>
            <a:endParaRPr lang="en-US" dirty="0"/>
          </a:p>
        </p:txBody>
      </p:sp>
    </p:spTree>
    <p:extLst>
      <p:ext uri="{BB962C8B-B14F-4D97-AF65-F5344CB8AC3E}">
        <p14:creationId xmlns:p14="http://schemas.microsoft.com/office/powerpoint/2010/main" val="37211532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A financial services company is looking to develop a new mobile app for its customers. The company identifies a mobile app development company that has a successful track record of developing mobile apps for financial services companies. The company evaluates the mobile app development company and determines that it is profitable, has a team of experienced developers, and has a good understanding of the financial services industry. The company then negotiates and acquires the mobile app development company. After the acquisition, the company integrates the mobile app development company into its existing operations. The company now has the ability to develop mobile apps, which allows it to enter a new market and expand its capabilities.</a:t>
            </a:r>
          </a:p>
          <a:p>
            <a:r>
              <a:rPr lang="en-US" dirty="0"/>
              <a:t>Overall, software project acquisition can be a complex but rewarding process for organizations that are looking to grow quickly, expand their capabilities, and increase their profits.</a:t>
            </a:r>
          </a:p>
          <a:p>
            <a:endParaRPr lang="en-US" dirty="0"/>
          </a:p>
        </p:txBody>
      </p:sp>
    </p:spTree>
    <p:extLst>
      <p:ext uri="{BB962C8B-B14F-4D97-AF65-F5344CB8AC3E}">
        <p14:creationId xmlns:p14="http://schemas.microsoft.com/office/powerpoint/2010/main" val="30727497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382485" y="1721909"/>
            <a:ext cx="9226248" cy="2779712"/>
          </a:xfrm>
        </p:spPr>
        <p:txBody>
          <a:bodyPr>
            <a:normAutofit/>
          </a:bodyPr>
          <a:lstStyle/>
          <a:p>
            <a:pPr marL="0" indent="0">
              <a:buNone/>
            </a:pPr>
            <a:r>
              <a:rPr lang="en-US" sz="3600" dirty="0" smtClean="0">
                <a:effectLst/>
              </a:rPr>
              <a:t>Acquiring a software project from an external client involves a series of steps and considerations to ensure a successful collaboration. </a:t>
            </a:r>
            <a:endParaRPr lang="en-US" sz="3600" dirty="0"/>
          </a:p>
        </p:txBody>
      </p:sp>
      <p:sp>
        <p:nvSpPr>
          <p:cNvPr id="2" name="Title 1"/>
          <p:cNvSpPr>
            <a:spLocks noGrp="1"/>
          </p:cNvSpPr>
          <p:nvPr>
            <p:ph type="title"/>
          </p:nvPr>
        </p:nvSpPr>
        <p:spPr>
          <a:xfrm>
            <a:off x="239485" y="365125"/>
            <a:ext cx="11854543" cy="1325563"/>
          </a:xfrm>
        </p:spPr>
        <p:txBody>
          <a:bodyPr>
            <a:noAutofit/>
          </a:bodyPr>
          <a:lstStyle/>
          <a:p>
            <a:r>
              <a:rPr lang="en-US" sz="4800" b="1" dirty="0" smtClean="0">
                <a:effectLst/>
              </a:rPr>
              <a:t>Acquiring a software project from an external client</a:t>
            </a:r>
            <a:endParaRPr lang="en-US" sz="4800" b="1" dirty="0"/>
          </a:p>
        </p:txBody>
      </p:sp>
    </p:spTree>
    <p:extLst>
      <p:ext uri="{BB962C8B-B14F-4D97-AF65-F5344CB8AC3E}">
        <p14:creationId xmlns:p14="http://schemas.microsoft.com/office/powerpoint/2010/main" val="37702411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descr="06-14-software-project-acquisitionpptx-6-638.jpg"/>
          <p:cNvPicPr>
            <a:picLocks noChangeAspect="1"/>
          </p:cNvPicPr>
          <p:nvPr/>
        </p:nvPicPr>
        <p:blipFill>
          <a:blip r:embed="rId2"/>
          <a:stretch>
            <a:fillRect/>
          </a:stretch>
        </p:blipFill>
        <p:spPr>
          <a:xfrm>
            <a:off x="585216" y="0"/>
            <a:ext cx="10768584" cy="6858000"/>
          </a:xfrm>
          <a:prstGeom prst="rect">
            <a:avLst/>
          </a:prstGeom>
        </p:spPr>
      </p:pic>
    </p:spTree>
    <p:extLst>
      <p:ext uri="{BB962C8B-B14F-4D97-AF65-F5344CB8AC3E}">
        <p14:creationId xmlns:p14="http://schemas.microsoft.com/office/powerpoint/2010/main" val="33015433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14-software-project-acquisitionpptx-7-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7050562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14-software-project-acquisitionpptx-8-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8740985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14-software-project-acquisitionpptx-9-638.jpg"/>
          <p:cNvPicPr>
            <a:picLocks noChangeAspect="1"/>
          </p:cNvPicPr>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28527811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14-software-project-acquisitionpptx-10-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703791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14-software-project-acquisitionpptx-11-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6942650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14-software-project-acquisitionpptx-12-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0012832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14-software-project-acquisitionpptx-13-638.jpg"/>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38983379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Project Acquisition from internal clients </a:t>
            </a:r>
          </a:p>
        </p:txBody>
      </p:sp>
      <p:sp>
        <p:nvSpPr>
          <p:cNvPr id="3" name="Content Placeholder 2"/>
          <p:cNvSpPr>
            <a:spLocks noGrp="1"/>
          </p:cNvSpPr>
          <p:nvPr>
            <p:ph idx="1"/>
          </p:nvPr>
        </p:nvSpPr>
        <p:spPr/>
        <p:txBody>
          <a:bodyPr>
            <a:normAutofit fontScale="77500" lnSpcReduction="20000"/>
          </a:bodyPr>
          <a:lstStyle/>
          <a:p>
            <a:pPr algn="just"/>
            <a:r>
              <a:rPr lang="en-US" sz="3800" dirty="0"/>
              <a:t>It refers to the process of identifying, securing, and managing projects or work assignments within an organization, where the clients or project sponsors are individuals or teams from within the same organization. </a:t>
            </a:r>
          </a:p>
          <a:p>
            <a:pPr algn="just"/>
            <a:r>
              <a:rPr lang="en-US" sz="3800" dirty="0"/>
              <a:t>This approach is common in larger organizations where different departments or teams may request or initiate projects to meet specific goals, solve problems, or improve internal processes. Here are key aspects of project acquisition from internal clients:</a:t>
            </a:r>
          </a:p>
          <a:p>
            <a:pPr algn="just"/>
            <a:r>
              <a:rPr lang="en-US" sz="3800" b="1" dirty="0"/>
              <a:t>Client Identification:</a:t>
            </a:r>
            <a:r>
              <a:rPr lang="en-US" sz="3800" dirty="0"/>
              <a:t> Internal clients can be various departments, teams, or individuals within the organization. These clients may include marketing, research and development, operations, human resources, or any other functional area within the company.</a:t>
            </a:r>
          </a:p>
          <a:p>
            <a:endParaRPr lang="en-US" dirty="0"/>
          </a:p>
        </p:txBody>
      </p:sp>
    </p:spTree>
    <p:extLst>
      <p:ext uri="{BB962C8B-B14F-4D97-AF65-F5344CB8AC3E}">
        <p14:creationId xmlns:p14="http://schemas.microsoft.com/office/powerpoint/2010/main" val="42293618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346" y="441960"/>
            <a:ext cx="7765322" cy="970450"/>
          </a:xfrm>
        </p:spPr>
        <p:txBody>
          <a:bodyPr>
            <a:normAutofit fontScale="90000"/>
          </a:bodyPr>
          <a:lstStyle/>
          <a:p>
            <a:r>
              <a:rPr lang="en-US" b="1" dirty="0"/>
              <a:t>Project Acquisition from internal clients </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Client Needs Assessment:</a:t>
            </a:r>
            <a:r>
              <a:rPr lang="en-US" dirty="0"/>
              <a:t> To acquire projects from internal clients, it's essential to engage in a comprehensive needs assessment. This involves understanding the objectives, challenges, and requirements of the internal client.</a:t>
            </a:r>
          </a:p>
          <a:p>
            <a:r>
              <a:rPr lang="en-US" b="1" dirty="0"/>
              <a:t>Alignment with Organizational Goals:</a:t>
            </a:r>
            <a:r>
              <a:rPr lang="en-US" dirty="0"/>
              <a:t> Projects from internal clients are expected to align with the broader strategic goals and mission of the organization. The projects should contribute to the success of the company as a whole.</a:t>
            </a:r>
          </a:p>
          <a:p>
            <a:r>
              <a:rPr lang="en-US" b="1" dirty="0"/>
              <a:t>Resource Allocation:</a:t>
            </a:r>
            <a:r>
              <a:rPr lang="en-US" dirty="0"/>
              <a:t> Acquiring internal client projects often involves securing resources, both human and financial, to execute the project successfully. These resources may be shared or allocated specifically for the project.</a:t>
            </a:r>
          </a:p>
          <a:p>
            <a:r>
              <a:rPr lang="en-US" b="1" dirty="0"/>
              <a:t>Project Proposal:</a:t>
            </a:r>
            <a:r>
              <a:rPr lang="en-US" dirty="0"/>
              <a:t> Internal clients typically present project proposals, outlining the project's scope, objectives, expected outcomes, and resource requirements. These proposals are evaluated for feasibility and alignment with organizational objectives.</a:t>
            </a:r>
          </a:p>
          <a:p>
            <a:endParaRPr lang="en-US" dirty="0"/>
          </a:p>
          <a:p>
            <a:endParaRPr lang="en-US" dirty="0"/>
          </a:p>
        </p:txBody>
      </p:sp>
    </p:spTree>
    <p:extLst>
      <p:ext uri="{BB962C8B-B14F-4D97-AF65-F5344CB8AC3E}">
        <p14:creationId xmlns:p14="http://schemas.microsoft.com/office/powerpoint/2010/main" val="39171558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118" y="330200"/>
            <a:ext cx="9014548" cy="970450"/>
          </a:xfrm>
        </p:spPr>
        <p:txBody>
          <a:bodyPr>
            <a:normAutofit/>
          </a:bodyPr>
          <a:lstStyle/>
          <a:p>
            <a:r>
              <a:rPr lang="en-US" b="1" dirty="0"/>
              <a:t>Project Acquisition from internal clients </a:t>
            </a:r>
            <a:endParaRPr lang="en-US" dirty="0"/>
          </a:p>
        </p:txBody>
      </p:sp>
      <p:sp>
        <p:nvSpPr>
          <p:cNvPr id="3" name="Content Placeholder 2"/>
          <p:cNvSpPr>
            <a:spLocks noGrp="1"/>
          </p:cNvSpPr>
          <p:nvPr>
            <p:ph idx="1"/>
          </p:nvPr>
        </p:nvSpPr>
        <p:spPr>
          <a:xfrm>
            <a:off x="1097659" y="1523409"/>
            <a:ext cx="10126134" cy="4058751"/>
          </a:xfrm>
        </p:spPr>
        <p:txBody>
          <a:bodyPr>
            <a:normAutofit fontScale="25000" lnSpcReduction="20000"/>
          </a:bodyPr>
          <a:lstStyle/>
          <a:p>
            <a:pPr>
              <a:lnSpc>
                <a:spcPct val="120000"/>
              </a:lnSpc>
            </a:pPr>
            <a:r>
              <a:rPr lang="en-US" sz="9600" b="1" dirty="0">
                <a:latin typeface="Arial" panose="020B0604020202020204" pitchFamily="34" charset="0"/>
                <a:cs typeface="Arial" panose="020B0604020202020204" pitchFamily="34" charset="0"/>
              </a:rPr>
              <a:t>Budget and Cost Estimates:</a:t>
            </a:r>
            <a:r>
              <a:rPr lang="en-US" sz="9600" dirty="0">
                <a:latin typeface="Arial" panose="020B0604020202020204" pitchFamily="34" charset="0"/>
                <a:cs typeface="Arial" panose="020B0604020202020204" pitchFamily="34" charset="0"/>
              </a:rPr>
              <a:t> Project acquisition may also involve the estimation of project costs and the development of budgets. This is important for securing financial resources and tracking expenses.</a:t>
            </a:r>
          </a:p>
          <a:p>
            <a:pPr>
              <a:lnSpc>
                <a:spcPct val="120000"/>
              </a:lnSpc>
            </a:pPr>
            <a:r>
              <a:rPr lang="en-US" sz="9600" b="1" dirty="0">
                <a:latin typeface="Arial" panose="020B0604020202020204" pitchFamily="34" charset="0"/>
                <a:cs typeface="Arial" panose="020B0604020202020204" pitchFamily="34" charset="0"/>
              </a:rPr>
              <a:t>Project Prioritization:</a:t>
            </a:r>
            <a:r>
              <a:rPr lang="en-US" sz="9600" dirty="0">
                <a:latin typeface="Arial" panose="020B0604020202020204" pitchFamily="34" charset="0"/>
                <a:cs typeface="Arial" panose="020B0604020202020204" pitchFamily="34" charset="0"/>
              </a:rPr>
              <a:t> Organizations may have limited resources, so project acquisition from internal clients often requires prioritization based on factors such as strategic importance, resource availability, and expected impact.</a:t>
            </a:r>
          </a:p>
          <a:p>
            <a:pPr>
              <a:lnSpc>
                <a:spcPct val="120000"/>
              </a:lnSpc>
            </a:pPr>
            <a:r>
              <a:rPr lang="en-US" sz="9600" b="1" dirty="0">
                <a:latin typeface="Arial" panose="020B0604020202020204" pitchFamily="34" charset="0"/>
                <a:cs typeface="Arial" panose="020B0604020202020204" pitchFamily="34" charset="0"/>
              </a:rPr>
              <a:t>Project Management:</a:t>
            </a:r>
            <a:r>
              <a:rPr lang="en-US" sz="9600" dirty="0">
                <a:latin typeface="Arial" panose="020B0604020202020204" pitchFamily="34" charset="0"/>
                <a:cs typeface="Arial" panose="020B0604020202020204" pitchFamily="34" charset="0"/>
              </a:rPr>
              <a:t> Once a project is acquired, it is managed according to established project management methodologies, involving planning, execution, monitoring, and control.</a:t>
            </a:r>
          </a:p>
          <a:p>
            <a:endParaRPr lang="en-US" dirty="0"/>
          </a:p>
        </p:txBody>
      </p:sp>
    </p:spTree>
    <p:extLst>
      <p:ext uri="{BB962C8B-B14F-4D97-AF65-F5344CB8AC3E}">
        <p14:creationId xmlns:p14="http://schemas.microsoft.com/office/powerpoint/2010/main" val="29993828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186" y="491067"/>
            <a:ext cx="9014548" cy="970450"/>
          </a:xfrm>
        </p:spPr>
        <p:txBody>
          <a:bodyPr>
            <a:normAutofit/>
          </a:bodyPr>
          <a:lstStyle/>
          <a:p>
            <a:r>
              <a:rPr lang="en-US" b="1" dirty="0"/>
              <a:t>Project Acquisition from internal clients </a:t>
            </a:r>
            <a:endParaRPr lang="en-US" dirty="0"/>
          </a:p>
        </p:txBody>
      </p:sp>
      <p:sp>
        <p:nvSpPr>
          <p:cNvPr id="3" name="Content Placeholder 2"/>
          <p:cNvSpPr>
            <a:spLocks noGrp="1"/>
          </p:cNvSpPr>
          <p:nvPr>
            <p:ph idx="1"/>
          </p:nvPr>
        </p:nvSpPr>
        <p:spPr>
          <a:xfrm>
            <a:off x="1109133" y="1723984"/>
            <a:ext cx="9321800" cy="4651416"/>
          </a:xfrm>
        </p:spPr>
        <p:txBody>
          <a:bodyPr>
            <a:normAutofit fontScale="25000" lnSpcReduction="20000"/>
          </a:bodyPr>
          <a:lstStyle/>
          <a:p>
            <a:pPr algn="just">
              <a:lnSpc>
                <a:spcPct val="120000"/>
              </a:lnSpc>
            </a:pPr>
            <a:r>
              <a:rPr lang="en-US" sz="9600" b="1" dirty="0">
                <a:latin typeface="Arial" panose="020B0604020202020204" pitchFamily="34" charset="0"/>
                <a:cs typeface="Arial" panose="020B0604020202020204" pitchFamily="34" charset="0"/>
              </a:rPr>
              <a:t>Communication and Collaboration:</a:t>
            </a:r>
            <a:r>
              <a:rPr lang="en-US" sz="9600" dirty="0">
                <a:latin typeface="Arial" panose="020B0604020202020204" pitchFamily="34" charset="0"/>
                <a:cs typeface="Arial" panose="020B0604020202020204" pitchFamily="34" charset="0"/>
              </a:rPr>
              <a:t> Effective communication and collaboration are crucial when acquiring projects from internal clients. Close coordination with the client, stakeholders, and relevant departments is essential for project success.</a:t>
            </a:r>
          </a:p>
          <a:p>
            <a:pPr algn="just">
              <a:lnSpc>
                <a:spcPct val="120000"/>
              </a:lnSpc>
            </a:pPr>
            <a:r>
              <a:rPr lang="en-US" sz="9600" b="1" dirty="0">
                <a:latin typeface="Arial" panose="020B0604020202020204" pitchFamily="34" charset="0"/>
                <a:cs typeface="Arial" panose="020B0604020202020204" pitchFamily="34" charset="0"/>
              </a:rPr>
              <a:t>Evaluation and Feedback:</a:t>
            </a:r>
            <a:r>
              <a:rPr lang="en-US" sz="9600" dirty="0">
                <a:latin typeface="Arial" panose="020B0604020202020204" pitchFamily="34" charset="0"/>
                <a:cs typeface="Arial" panose="020B0604020202020204" pitchFamily="34" charset="0"/>
              </a:rPr>
              <a:t> After project completion, evaluation and feedback from the internal client are important for assessing project success and identifying areas for improvement.</a:t>
            </a:r>
          </a:p>
          <a:p>
            <a:endParaRPr lang="en-US" dirty="0"/>
          </a:p>
        </p:txBody>
      </p:sp>
    </p:spTree>
    <p:extLst>
      <p:ext uri="{BB962C8B-B14F-4D97-AF65-F5344CB8AC3E}">
        <p14:creationId xmlns:p14="http://schemas.microsoft.com/office/powerpoint/2010/main" val="36582596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599269"/>
            <a:ext cx="10854267" cy="970450"/>
          </a:xfrm>
        </p:spPr>
        <p:txBody>
          <a:bodyPr>
            <a:noAutofit/>
          </a:bodyPr>
          <a:lstStyle/>
          <a:p>
            <a:r>
              <a:rPr lang="en-US" b="1" dirty="0"/>
              <a:t>Key Differentiation Aspects w.r.t. Internal Clients</a:t>
            </a:r>
          </a:p>
        </p:txBody>
      </p:sp>
      <p:sp>
        <p:nvSpPr>
          <p:cNvPr id="3" name="Content Placeholder 2"/>
          <p:cNvSpPr>
            <a:spLocks noGrp="1"/>
          </p:cNvSpPr>
          <p:nvPr>
            <p:ph idx="1"/>
          </p:nvPr>
        </p:nvSpPr>
        <p:spPr>
          <a:xfrm>
            <a:off x="1117599" y="1679786"/>
            <a:ext cx="9474199" cy="4058751"/>
          </a:xfrm>
        </p:spPr>
        <p:txBody>
          <a:bodyPr>
            <a:noAutofit/>
          </a:bodyPr>
          <a:lstStyle/>
          <a:p>
            <a:pPr algn="just"/>
            <a:r>
              <a:rPr lang="en-US" b="1" dirty="0"/>
              <a:t>Project Acquisition from Internal Clients:</a:t>
            </a:r>
            <a:endParaRPr lang="en-US" dirty="0"/>
          </a:p>
          <a:p>
            <a:pPr algn="just"/>
            <a:r>
              <a:rPr lang="en-US" b="1" dirty="0"/>
              <a:t>Relationship:</a:t>
            </a:r>
            <a:r>
              <a:rPr lang="en-US" dirty="0"/>
              <a:t> Internal clients are typically individuals or teams within the same organization. The relationship is built on familiarity and ongoing collaboration.</a:t>
            </a:r>
          </a:p>
          <a:p>
            <a:pPr algn="just"/>
            <a:r>
              <a:rPr lang="en-US" b="1" dirty="0"/>
              <a:t>Alignment with Organizational Goals:</a:t>
            </a:r>
            <a:r>
              <a:rPr lang="en-US" dirty="0"/>
              <a:t> Projects from internal clients are generally closely aligned with the organization's strategic objectives and mission. They are often aimed at improving processes, products, or services within the company.</a:t>
            </a:r>
          </a:p>
        </p:txBody>
      </p:sp>
    </p:spTree>
    <p:extLst>
      <p:ext uri="{BB962C8B-B14F-4D97-AF65-F5344CB8AC3E}">
        <p14:creationId xmlns:p14="http://schemas.microsoft.com/office/powerpoint/2010/main" val="6093297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4346" y="1576493"/>
            <a:ext cx="7765322" cy="4058751"/>
          </a:xfrm>
        </p:spPr>
        <p:txBody>
          <a:bodyPr>
            <a:noAutofit/>
          </a:bodyPr>
          <a:lstStyle/>
          <a:p>
            <a:pPr algn="just"/>
            <a:r>
              <a:rPr lang="en-US" b="1" dirty="0"/>
              <a:t>Access to Resources:</a:t>
            </a:r>
            <a:r>
              <a:rPr lang="en-US" dirty="0"/>
              <a:t> Internal clients have access to internal resources, such as existing data, infrastructure, and subject matter experts. This can streamline project execution.</a:t>
            </a:r>
          </a:p>
          <a:p>
            <a:pPr algn="just"/>
            <a:r>
              <a:rPr lang="en-US" b="1" dirty="0"/>
              <a:t>Interdepartmental Coordination:</a:t>
            </a:r>
            <a:r>
              <a:rPr lang="en-US" dirty="0"/>
              <a:t> Projects from internal clients may require coordination with various departments, making communication and collaboration crucial.</a:t>
            </a:r>
          </a:p>
        </p:txBody>
      </p:sp>
      <p:sp>
        <p:nvSpPr>
          <p:cNvPr id="4" name="Title 1"/>
          <p:cNvSpPr txBox="1">
            <a:spLocks/>
          </p:cNvSpPr>
          <p:nvPr/>
        </p:nvSpPr>
        <p:spPr>
          <a:xfrm>
            <a:off x="863600" y="599269"/>
            <a:ext cx="10854267" cy="9704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t>Key Differentiation Aspects w.r.t. Internal Clients</a:t>
            </a:r>
            <a:endParaRPr lang="en-US" b="1" dirty="0"/>
          </a:p>
        </p:txBody>
      </p:sp>
    </p:spTree>
    <p:extLst>
      <p:ext uri="{BB962C8B-B14F-4D97-AF65-F5344CB8AC3E}">
        <p14:creationId xmlns:p14="http://schemas.microsoft.com/office/powerpoint/2010/main" val="37600431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263" y="267205"/>
            <a:ext cx="8332287" cy="970450"/>
          </a:xfrm>
        </p:spPr>
        <p:txBody>
          <a:bodyPr>
            <a:noAutofit/>
          </a:bodyPr>
          <a:lstStyle/>
          <a:p>
            <a:r>
              <a:rPr lang="en-US" sz="3200" b="1" dirty="0">
                <a:solidFill>
                  <a:srgbClr val="FFC000"/>
                </a:solidFill>
              </a:rPr>
              <a:t>Key Differentiation Aspects w.r.t. Internal Clients</a:t>
            </a:r>
          </a:p>
        </p:txBody>
      </p:sp>
      <p:sp>
        <p:nvSpPr>
          <p:cNvPr id="3" name="Content Placeholder 2"/>
          <p:cNvSpPr>
            <a:spLocks noGrp="1"/>
          </p:cNvSpPr>
          <p:nvPr>
            <p:ph idx="1"/>
          </p:nvPr>
        </p:nvSpPr>
        <p:spPr>
          <a:xfrm>
            <a:off x="1726746" y="1382691"/>
            <a:ext cx="7765322" cy="4058751"/>
          </a:xfrm>
        </p:spPr>
        <p:txBody>
          <a:bodyPr>
            <a:noAutofit/>
          </a:bodyPr>
          <a:lstStyle/>
          <a:p>
            <a:pPr algn="just"/>
            <a:r>
              <a:rPr lang="en-US" b="1" dirty="0"/>
              <a:t>Priority:</a:t>
            </a:r>
            <a:r>
              <a:rPr lang="en-US" dirty="0"/>
              <a:t> Priority is usually determined by the organization's overall strategic goals and resource availability. Projects from internal clients may need to compete for resources with other internal initiatives.</a:t>
            </a:r>
          </a:p>
          <a:p>
            <a:pPr algn="just"/>
            <a:r>
              <a:rPr lang="en-US" b="1" dirty="0"/>
              <a:t>Knowledge and Culture:</a:t>
            </a:r>
            <a:r>
              <a:rPr lang="en-US" dirty="0"/>
              <a:t> Understanding the organization's culture, internal processes, and politics is essential when acquiring projects from internal clients.</a:t>
            </a:r>
          </a:p>
        </p:txBody>
      </p:sp>
    </p:spTree>
    <p:extLst>
      <p:ext uri="{BB962C8B-B14F-4D97-AF65-F5344CB8AC3E}">
        <p14:creationId xmlns:p14="http://schemas.microsoft.com/office/powerpoint/2010/main" val="3529358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C000"/>
                </a:solidFill>
              </a:rPr>
              <a:t>Key Differentiation Aspects w.r.t. </a:t>
            </a:r>
            <a:r>
              <a:rPr lang="en-US" b="1" dirty="0">
                <a:solidFill>
                  <a:srgbClr val="FFC000"/>
                </a:solidFill>
              </a:rPr>
              <a:t>External Clients</a:t>
            </a:r>
            <a:r>
              <a:rPr lang="en-US" dirty="0"/>
              <a:t/>
            </a:r>
            <a:br>
              <a:rPr lang="en-US" dirty="0"/>
            </a:br>
            <a:endParaRPr lang="en-US" dirty="0"/>
          </a:p>
        </p:txBody>
      </p:sp>
      <p:sp>
        <p:nvSpPr>
          <p:cNvPr id="3" name="Content Placeholder 2"/>
          <p:cNvSpPr>
            <a:spLocks noGrp="1"/>
          </p:cNvSpPr>
          <p:nvPr>
            <p:ph idx="1"/>
          </p:nvPr>
        </p:nvSpPr>
        <p:spPr/>
        <p:txBody>
          <a:bodyPr>
            <a:normAutofit fontScale="32500" lnSpcReduction="20000"/>
          </a:bodyPr>
          <a:lstStyle/>
          <a:p>
            <a:pPr algn="just"/>
            <a:r>
              <a:rPr lang="en-US" sz="11200" b="1" dirty="0"/>
              <a:t>Relationship:</a:t>
            </a:r>
            <a:r>
              <a:rPr lang="en-US" sz="11200" dirty="0"/>
              <a:t> External clients are individuals or organizations outside the company. The relationship is often transactional, with a focus on meeting specific client needs.</a:t>
            </a:r>
          </a:p>
          <a:p>
            <a:pPr algn="just"/>
            <a:r>
              <a:rPr lang="en-US" sz="11200" b="1" dirty="0"/>
              <a:t>Contractual Agreements:</a:t>
            </a:r>
            <a:r>
              <a:rPr lang="en-US" sz="11200" dirty="0"/>
              <a:t> Projects from external clients are typically governed by contractual agreements, which define the scope, terms, and expectations. These agreements can be legally binding.</a:t>
            </a:r>
          </a:p>
          <a:p>
            <a:endParaRPr lang="en-US" dirty="0"/>
          </a:p>
        </p:txBody>
      </p:sp>
    </p:spTree>
    <p:extLst>
      <p:ext uri="{BB962C8B-B14F-4D97-AF65-F5344CB8AC3E}">
        <p14:creationId xmlns:p14="http://schemas.microsoft.com/office/powerpoint/2010/main" val="4142299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C000"/>
                </a:solidFill>
              </a:rPr>
              <a:t>Key Differentiation Aspects w.r.t. </a:t>
            </a:r>
            <a:r>
              <a:rPr lang="en-US" b="1" dirty="0">
                <a:solidFill>
                  <a:srgbClr val="FFC000"/>
                </a:solidFill>
              </a:rPr>
              <a:t>External Clients</a:t>
            </a:r>
            <a:r>
              <a:rPr lang="en-US" dirty="0"/>
              <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pPr algn="just"/>
            <a:r>
              <a:rPr lang="en-US" sz="11200" b="1" dirty="0"/>
              <a:t>Market Competition:</a:t>
            </a:r>
            <a:r>
              <a:rPr lang="en-US" sz="11200" dirty="0"/>
              <a:t> Organizations may compete to win projects from external clients, often through competitive bidding, proposals, or sales efforts.</a:t>
            </a:r>
          </a:p>
          <a:p>
            <a:pPr algn="just"/>
            <a:r>
              <a:rPr lang="en-US" sz="11200" b="1" dirty="0"/>
              <a:t>Client-Centric Approach:</a:t>
            </a:r>
            <a:r>
              <a:rPr lang="en-US" sz="11200" dirty="0"/>
              <a:t> Projects from external clients require a client-centric approach, understanding the client's needs, preferences, and expectations.</a:t>
            </a:r>
          </a:p>
          <a:p>
            <a:pPr algn="just"/>
            <a:r>
              <a:rPr lang="en-US" sz="11200" b="1" dirty="0"/>
              <a:t>Resource Availability:</a:t>
            </a:r>
            <a:r>
              <a:rPr lang="en-US" sz="11200" dirty="0"/>
              <a:t> Organizations may need to allocate resources specifically for external client projects. These resources may not be shared with internal projects.</a:t>
            </a:r>
          </a:p>
          <a:p>
            <a:endParaRPr lang="en-US" dirty="0"/>
          </a:p>
        </p:txBody>
      </p:sp>
    </p:spTree>
    <p:extLst>
      <p:ext uri="{BB962C8B-B14F-4D97-AF65-F5344CB8AC3E}">
        <p14:creationId xmlns:p14="http://schemas.microsoft.com/office/powerpoint/2010/main" val="39188342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C000"/>
                </a:solidFill>
              </a:rPr>
              <a:t>Key Differentiation Aspects w.r.t. </a:t>
            </a:r>
            <a:r>
              <a:rPr lang="en-US" b="1" dirty="0">
                <a:solidFill>
                  <a:srgbClr val="FFC000"/>
                </a:solidFill>
              </a:rPr>
              <a:t>External Clients</a:t>
            </a:r>
            <a:r>
              <a:rPr lang="en-US" dirty="0"/>
              <a:t/>
            </a:r>
            <a:br>
              <a:rPr lang="en-US" dirty="0"/>
            </a:br>
            <a:endParaRPr lang="en-US" dirty="0"/>
          </a:p>
        </p:txBody>
      </p:sp>
      <p:sp>
        <p:nvSpPr>
          <p:cNvPr id="3" name="Content Placeholder 2"/>
          <p:cNvSpPr>
            <a:spLocks noGrp="1"/>
          </p:cNvSpPr>
          <p:nvPr>
            <p:ph idx="1"/>
          </p:nvPr>
        </p:nvSpPr>
        <p:spPr/>
        <p:txBody>
          <a:bodyPr>
            <a:normAutofit fontScale="32500" lnSpcReduction="20000"/>
          </a:bodyPr>
          <a:lstStyle/>
          <a:p>
            <a:pPr algn="just"/>
            <a:r>
              <a:rPr lang="en-US" sz="11200" b="1" dirty="0"/>
              <a:t>Project Control:</a:t>
            </a:r>
            <a:r>
              <a:rPr lang="en-US" sz="11200" dirty="0"/>
              <a:t> External client projects may provide greater control over project management, as the organization has more flexibility to define the project's scope and objectives based on the client's requirements.</a:t>
            </a:r>
          </a:p>
          <a:p>
            <a:pPr algn="just"/>
            <a:r>
              <a:rPr lang="en-US" sz="11200" b="1" dirty="0"/>
              <a:t>Profit and Revenue:</a:t>
            </a:r>
            <a:r>
              <a:rPr lang="en-US" sz="11200" dirty="0"/>
              <a:t> Projects from external clients are typically driven by the potential for profit and revenue generation. Client satisfaction is crucial for building long-term relationships and securing future projects.</a:t>
            </a:r>
          </a:p>
          <a:p>
            <a:endParaRPr lang="en-US" dirty="0"/>
          </a:p>
        </p:txBody>
      </p:sp>
    </p:spTree>
    <p:extLst>
      <p:ext uri="{BB962C8B-B14F-4D97-AF65-F5344CB8AC3E}">
        <p14:creationId xmlns:p14="http://schemas.microsoft.com/office/powerpoint/2010/main" val="250106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rPr>
              <a:t>Summary</a:t>
            </a:r>
          </a:p>
        </p:txBody>
      </p:sp>
      <p:sp>
        <p:nvSpPr>
          <p:cNvPr id="3" name="Content Placeholder 2"/>
          <p:cNvSpPr>
            <a:spLocks noGrp="1"/>
          </p:cNvSpPr>
          <p:nvPr>
            <p:ph idx="1"/>
          </p:nvPr>
        </p:nvSpPr>
        <p:spPr/>
        <p:txBody>
          <a:bodyPr>
            <a:normAutofit/>
          </a:bodyPr>
          <a:lstStyle/>
          <a:p>
            <a:r>
              <a:rPr lang="en-US" sz="3200" dirty="0"/>
              <a:t>In summary, project acquisition from internal clients often involves addressing internal organizational needs and aligning with the company's broader strategic goals. </a:t>
            </a:r>
          </a:p>
          <a:p>
            <a:r>
              <a:rPr lang="en-US" sz="3200" dirty="0"/>
              <a:t>On the other hand, project acquisition from external clients is characterized by a client-centric approach, contractual agreements, and a focus on profit and revenue generation.</a:t>
            </a:r>
          </a:p>
          <a:p>
            <a:r>
              <a:rPr lang="en-US" sz="3200" dirty="0"/>
              <a:t> Both approaches require different strategies and considerations to be successful.</a:t>
            </a:r>
          </a:p>
          <a:p>
            <a:endParaRPr lang="en-US" dirty="0"/>
          </a:p>
          <a:p>
            <a:endParaRPr lang="en-US" dirty="0"/>
          </a:p>
        </p:txBody>
      </p:sp>
    </p:spTree>
    <p:extLst>
      <p:ext uri="{BB962C8B-B14F-4D97-AF65-F5344CB8AC3E}">
        <p14:creationId xmlns:p14="http://schemas.microsoft.com/office/powerpoint/2010/main" val="2332876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Remember that acquiring a software project from an external client requires effective communication, professionalism, and the ability to deliver high-quality solutions that meet or exceed client expectations. </a:t>
            </a:r>
            <a:endParaRPr lang="en-US" dirty="0" smtClean="0"/>
          </a:p>
          <a:p>
            <a:pPr marL="0" indent="0">
              <a:buNone/>
            </a:pPr>
            <a:r>
              <a:rPr lang="en-US" dirty="0" smtClean="0"/>
              <a:t>Building </a:t>
            </a:r>
            <a:r>
              <a:rPr lang="en-US" dirty="0"/>
              <a:t>trust and fostering a positive client relationship is essential for long-term success.</a:t>
            </a:r>
          </a:p>
        </p:txBody>
      </p:sp>
    </p:spTree>
    <p:extLst>
      <p:ext uri="{BB962C8B-B14F-4D97-AF65-F5344CB8AC3E}">
        <p14:creationId xmlns:p14="http://schemas.microsoft.com/office/powerpoint/2010/main" val="1686301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897</TotalTime>
  <Words>1374</Words>
  <Application>Microsoft Office PowerPoint</Application>
  <PresentationFormat>Widescreen</PresentationFormat>
  <Paragraphs>73</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Software Project Management</vt:lpstr>
      <vt:lpstr>PowerPoint Presentation</vt:lpstr>
      <vt:lpstr>PowerPoint Presentation</vt:lpstr>
      <vt:lpstr>PowerPoint Presentation</vt:lpstr>
      <vt:lpstr>Project acquisition</vt:lpstr>
      <vt:lpstr>Software Project Acquisition</vt:lpstr>
      <vt:lpstr>PowerPoint Presentation</vt:lpstr>
      <vt:lpstr>Importance</vt:lpstr>
      <vt:lpstr>Benefits</vt:lpstr>
      <vt:lpstr>Acquisition risks</vt:lpstr>
      <vt:lpstr>Example</vt:lpstr>
      <vt:lpstr>Acquiring a software project from an external client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Acquisition from internal clients </vt:lpstr>
      <vt:lpstr>Project Acquisition from internal clients </vt:lpstr>
      <vt:lpstr>Project Acquisition from internal clients </vt:lpstr>
      <vt:lpstr>Project Acquisition from internal clients </vt:lpstr>
      <vt:lpstr>Key Differentiation Aspects w.r.t. Internal Clients</vt:lpstr>
      <vt:lpstr>PowerPoint Presentation</vt:lpstr>
      <vt:lpstr>Key Differentiation Aspects w.r.t. Internal Clients</vt:lpstr>
      <vt:lpstr>Key Differentiation Aspects w.r.t. External Clients </vt:lpstr>
      <vt:lpstr>Key Differentiation Aspects w.r.t. External Clients </vt:lpstr>
      <vt:lpstr>Key Differentiation Aspects w.r.t. External Clients </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Sarah</dc:creator>
  <cp:lastModifiedBy>Admin</cp:lastModifiedBy>
  <cp:revision>24</cp:revision>
  <dcterms:created xsi:type="dcterms:W3CDTF">2023-09-19T19:39:33Z</dcterms:created>
  <dcterms:modified xsi:type="dcterms:W3CDTF">2026-03-10T10:48:42Z</dcterms:modified>
</cp:coreProperties>
</file>