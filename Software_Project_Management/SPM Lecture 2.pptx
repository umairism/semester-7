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9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5010" y="2439731"/>
            <a:ext cx="5784215" cy="452119"/>
          </a:xfrm>
          <a:prstGeom prst="rect">
            <a:avLst/>
          </a:prstGeom>
        </p:spPr>
        <p:txBody>
          <a:bodyPr wrap="square" lIns="0" tIns="0" rIns="0" bIns="0">
            <a:spAutoFit/>
          </a:bodyPr>
          <a:lstStyle>
            <a:lvl1pPr>
              <a:defRPr sz="2400" b="0"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15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350" b="0" i="0">
                <a:solidFill>
                  <a:srgbClr val="666666"/>
                </a:solidFill>
                <a:latin typeface="Arial"/>
                <a:cs typeface="Arial"/>
              </a:defRPr>
            </a:lvl1pPr>
          </a:lstStyle>
          <a:p>
            <a:pPr marL="12700">
              <a:lnSpc>
                <a:spcPts val="1515"/>
              </a:lnSpc>
            </a:pPr>
            <a:r>
              <a:rPr dirty="0"/>
              <a:t>Abdur</a:t>
            </a:r>
            <a:r>
              <a:rPr spc="-55" dirty="0"/>
              <a:t> </a:t>
            </a:r>
            <a:r>
              <a:rPr spc="-40" dirty="0"/>
              <a:t>Rehman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p:txBody>
          <a:bodyPr lIns="0" tIns="0" rIns="0" bIns="0"/>
          <a:lstStyle>
            <a:lvl1pPr>
              <a:defRPr sz="1800" b="0" i="0">
                <a:solidFill>
                  <a:srgbClr val="777777"/>
                </a:solidFill>
                <a:latin typeface="Arial"/>
                <a:cs typeface="Arial"/>
              </a:defRPr>
            </a:lvl1pPr>
          </a:lstStyle>
          <a:p>
            <a:pPr marL="38100">
              <a:lnSpc>
                <a:spcPts val="198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15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350" b="0" i="0">
                <a:solidFill>
                  <a:srgbClr val="666666"/>
                </a:solidFill>
                <a:latin typeface="Arial"/>
                <a:cs typeface="Arial"/>
              </a:defRPr>
            </a:lvl1pPr>
          </a:lstStyle>
          <a:p>
            <a:pPr marL="12700">
              <a:lnSpc>
                <a:spcPts val="1515"/>
              </a:lnSpc>
            </a:pPr>
            <a:r>
              <a:rPr dirty="0"/>
              <a:t>Abdur</a:t>
            </a:r>
            <a:r>
              <a:rPr spc="-55" dirty="0"/>
              <a:t> </a:t>
            </a:r>
            <a:r>
              <a:rPr spc="-40" dirty="0"/>
              <a:t>Rehman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p:txBody>
          <a:bodyPr lIns="0" tIns="0" rIns="0" bIns="0"/>
          <a:lstStyle>
            <a:lvl1pPr>
              <a:defRPr sz="1800" b="0" i="0">
                <a:solidFill>
                  <a:srgbClr val="777777"/>
                </a:solidFill>
                <a:latin typeface="Arial"/>
                <a:cs typeface="Arial"/>
              </a:defRPr>
            </a:lvl1pPr>
          </a:lstStyle>
          <a:p>
            <a:pPr marL="38100">
              <a:lnSpc>
                <a:spcPts val="198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350" b="0" i="0">
                <a:solidFill>
                  <a:srgbClr val="666666"/>
                </a:solidFill>
                <a:latin typeface="Arial"/>
                <a:cs typeface="Arial"/>
              </a:defRPr>
            </a:lvl1pPr>
          </a:lstStyle>
          <a:p>
            <a:pPr marL="12700">
              <a:lnSpc>
                <a:spcPts val="1515"/>
              </a:lnSpc>
            </a:pPr>
            <a:r>
              <a:rPr dirty="0"/>
              <a:t>Abdur</a:t>
            </a:r>
            <a:r>
              <a:rPr spc="-55" dirty="0"/>
              <a:t> </a:t>
            </a:r>
            <a:r>
              <a:rPr spc="-40" dirty="0"/>
              <a:t>Rehman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7" name="Holder 7"/>
          <p:cNvSpPr>
            <a:spLocks noGrp="1"/>
          </p:cNvSpPr>
          <p:nvPr>
            <p:ph type="sldNum" sz="quarter" idx="7"/>
          </p:nvPr>
        </p:nvSpPr>
        <p:spPr/>
        <p:txBody>
          <a:bodyPr lIns="0" tIns="0" rIns="0" bIns="0"/>
          <a:lstStyle>
            <a:lvl1pPr>
              <a:defRPr sz="1800" b="0" i="0">
                <a:solidFill>
                  <a:srgbClr val="777777"/>
                </a:solidFill>
                <a:latin typeface="Arial"/>
                <a:cs typeface="Arial"/>
              </a:defRPr>
            </a:lvl1pPr>
          </a:lstStyle>
          <a:p>
            <a:pPr marL="38100">
              <a:lnSpc>
                <a:spcPts val="198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350" b="0" i="0">
                <a:solidFill>
                  <a:srgbClr val="666666"/>
                </a:solidFill>
                <a:latin typeface="Arial"/>
                <a:cs typeface="Arial"/>
              </a:defRPr>
            </a:lvl1pPr>
          </a:lstStyle>
          <a:p>
            <a:pPr marL="12700">
              <a:lnSpc>
                <a:spcPts val="1515"/>
              </a:lnSpc>
            </a:pPr>
            <a:r>
              <a:rPr dirty="0"/>
              <a:t>Abdur</a:t>
            </a:r>
            <a:r>
              <a:rPr spc="-55" dirty="0"/>
              <a:t> </a:t>
            </a:r>
            <a:r>
              <a:rPr spc="-40" dirty="0"/>
              <a:t>Rehman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5" name="Holder 5"/>
          <p:cNvSpPr>
            <a:spLocks noGrp="1"/>
          </p:cNvSpPr>
          <p:nvPr>
            <p:ph type="sldNum" sz="quarter" idx="7"/>
          </p:nvPr>
        </p:nvSpPr>
        <p:spPr/>
        <p:txBody>
          <a:bodyPr lIns="0" tIns="0" rIns="0" bIns="0"/>
          <a:lstStyle>
            <a:lvl1pPr>
              <a:defRPr sz="1800" b="0" i="0">
                <a:solidFill>
                  <a:srgbClr val="777777"/>
                </a:solidFill>
                <a:latin typeface="Arial"/>
                <a:cs typeface="Arial"/>
              </a:defRPr>
            </a:lvl1pPr>
          </a:lstStyle>
          <a:p>
            <a:pPr marL="38100">
              <a:lnSpc>
                <a:spcPts val="198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350" b="0" i="0">
                <a:solidFill>
                  <a:srgbClr val="666666"/>
                </a:solidFill>
                <a:latin typeface="Arial"/>
                <a:cs typeface="Arial"/>
              </a:defRPr>
            </a:lvl1pPr>
          </a:lstStyle>
          <a:p>
            <a:pPr marL="12700">
              <a:lnSpc>
                <a:spcPts val="1515"/>
              </a:lnSpc>
            </a:pPr>
            <a:r>
              <a:rPr dirty="0"/>
              <a:t>Abdur</a:t>
            </a:r>
            <a:r>
              <a:rPr spc="-55" dirty="0"/>
              <a:t> </a:t>
            </a:r>
            <a:r>
              <a:rPr spc="-40" dirty="0"/>
              <a:t>Rehman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4" name="Holder 4"/>
          <p:cNvSpPr>
            <a:spLocks noGrp="1"/>
          </p:cNvSpPr>
          <p:nvPr>
            <p:ph type="sldNum" sz="quarter" idx="7"/>
          </p:nvPr>
        </p:nvSpPr>
        <p:spPr/>
        <p:txBody>
          <a:bodyPr lIns="0" tIns="0" rIns="0" bIns="0"/>
          <a:lstStyle>
            <a:lvl1pPr>
              <a:defRPr sz="1800" b="0" i="0">
                <a:solidFill>
                  <a:srgbClr val="777777"/>
                </a:solidFill>
                <a:latin typeface="Arial"/>
                <a:cs typeface="Arial"/>
              </a:defRPr>
            </a:lvl1pPr>
          </a:lstStyle>
          <a:p>
            <a:pPr marL="38100">
              <a:lnSpc>
                <a:spcPts val="198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35010" y="2194469"/>
            <a:ext cx="10213340" cy="2188210"/>
          </a:xfrm>
          <a:prstGeom prst="rect">
            <a:avLst/>
          </a:prstGeom>
        </p:spPr>
        <p:txBody>
          <a:bodyPr wrap="square" lIns="0" tIns="0" rIns="0" bIns="0">
            <a:spAutoFit/>
          </a:bodyPr>
          <a:lstStyle>
            <a:lvl1pPr>
              <a:defRPr sz="2400" b="0" i="0">
                <a:solidFill>
                  <a:schemeClr val="tx1"/>
                </a:solidFill>
                <a:latin typeface="Arial"/>
                <a:cs typeface="Arial"/>
              </a:defRPr>
            </a:lvl1pPr>
          </a:lstStyle>
          <a:p>
            <a:endParaRPr/>
          </a:p>
        </p:txBody>
      </p:sp>
      <p:sp>
        <p:nvSpPr>
          <p:cNvPr id="3" name="Holder 3"/>
          <p:cNvSpPr>
            <a:spLocks noGrp="1"/>
          </p:cNvSpPr>
          <p:nvPr>
            <p:ph type="body" idx="1"/>
          </p:nvPr>
        </p:nvSpPr>
        <p:spPr>
          <a:xfrm>
            <a:off x="927431" y="2299232"/>
            <a:ext cx="10071100" cy="2663825"/>
          </a:xfrm>
          <a:prstGeom prst="rect">
            <a:avLst/>
          </a:prstGeom>
        </p:spPr>
        <p:txBody>
          <a:bodyPr wrap="square" lIns="0" tIns="0" rIns="0" bIns="0">
            <a:spAutoFit/>
          </a:bodyPr>
          <a:lstStyle>
            <a:lvl1pPr>
              <a:defRPr sz="21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273049" y="6428654"/>
            <a:ext cx="1139825" cy="215900"/>
          </a:xfrm>
          <a:prstGeom prst="rect">
            <a:avLst/>
          </a:prstGeom>
        </p:spPr>
        <p:txBody>
          <a:bodyPr wrap="square" lIns="0" tIns="0" rIns="0" bIns="0">
            <a:spAutoFit/>
          </a:bodyPr>
          <a:lstStyle>
            <a:lvl1pPr>
              <a:defRPr sz="1350" b="0" i="0">
                <a:solidFill>
                  <a:srgbClr val="666666"/>
                </a:solidFill>
                <a:latin typeface="Arial"/>
                <a:cs typeface="Arial"/>
              </a:defRPr>
            </a:lvl1pPr>
          </a:lstStyle>
          <a:p>
            <a:pPr marL="12700">
              <a:lnSpc>
                <a:spcPts val="1515"/>
              </a:lnSpc>
            </a:pPr>
            <a:r>
              <a:rPr dirty="0"/>
              <a:t>Abdur</a:t>
            </a:r>
            <a:r>
              <a:rPr spc="-55" dirty="0"/>
              <a:t> </a:t>
            </a:r>
            <a:r>
              <a:rPr spc="-40" dirty="0"/>
              <a:t>Rehman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a:xfrm>
            <a:off x="11620508" y="6363855"/>
            <a:ext cx="309879" cy="278765"/>
          </a:xfrm>
          <a:prstGeom prst="rect">
            <a:avLst/>
          </a:prstGeom>
        </p:spPr>
        <p:txBody>
          <a:bodyPr wrap="square" lIns="0" tIns="0" rIns="0" bIns="0">
            <a:spAutoFit/>
          </a:bodyPr>
          <a:lstStyle>
            <a:lvl1pPr>
              <a:defRPr sz="1800" b="0" i="0">
                <a:solidFill>
                  <a:srgbClr val="777777"/>
                </a:solidFill>
                <a:latin typeface="Arial"/>
                <a:cs typeface="Arial"/>
              </a:defRPr>
            </a:lvl1pPr>
          </a:lstStyle>
          <a:p>
            <a:pPr marL="38100">
              <a:lnSpc>
                <a:spcPts val="198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2194469"/>
            <a:ext cx="10213340" cy="1805711"/>
          </a:xfrm>
          <a:prstGeom prst="rect">
            <a:avLst/>
          </a:prstGeom>
        </p:spPr>
        <p:txBody>
          <a:bodyPr vert="horz" wrap="square" lIns="0" tIns="463257" rIns="0" bIns="0" rtlCol="0">
            <a:spAutoFit/>
          </a:bodyPr>
          <a:lstStyle/>
          <a:p>
            <a:pPr marL="12700" marR="5080">
              <a:lnSpc>
                <a:spcPct val="126099"/>
              </a:lnSpc>
              <a:spcBef>
                <a:spcPts val="100"/>
              </a:spcBef>
            </a:pPr>
            <a:r>
              <a:rPr sz="3450" spc="-40" dirty="0"/>
              <a:t>Lecture</a:t>
            </a:r>
            <a:r>
              <a:rPr sz="3450" spc="-80" dirty="0"/>
              <a:t> </a:t>
            </a:r>
            <a:r>
              <a:rPr lang="en-US" sz="3450" spc="-150" dirty="0"/>
              <a:t>1</a:t>
            </a:r>
            <a:r>
              <a:rPr sz="3450" spc="-150" dirty="0" smtClean="0"/>
              <a:t>:</a:t>
            </a:r>
            <a:r>
              <a:rPr sz="3450" spc="-80" dirty="0" smtClean="0"/>
              <a:t> </a:t>
            </a:r>
            <a:r>
              <a:rPr sz="3450" dirty="0"/>
              <a:t>Overview</a:t>
            </a:r>
            <a:r>
              <a:rPr sz="3450" spc="-80" dirty="0"/>
              <a:t> </a:t>
            </a:r>
            <a:r>
              <a:rPr sz="3450" dirty="0"/>
              <a:t>of</a:t>
            </a:r>
            <a:r>
              <a:rPr sz="3450" spc="-80" dirty="0"/>
              <a:t> </a:t>
            </a:r>
            <a:r>
              <a:rPr sz="3450" spc="-60" dirty="0"/>
              <a:t>Project</a:t>
            </a:r>
            <a:r>
              <a:rPr sz="3450" spc="-80" dirty="0"/>
              <a:t> </a:t>
            </a:r>
            <a:r>
              <a:rPr sz="3450" spc="-85" dirty="0"/>
              <a:t>Management</a:t>
            </a:r>
            <a:r>
              <a:rPr sz="3450" spc="-80" dirty="0"/>
              <a:t> </a:t>
            </a:r>
            <a:r>
              <a:rPr sz="3450" spc="-25" dirty="0"/>
              <a:t>in </a:t>
            </a:r>
            <a:r>
              <a:rPr sz="3450" spc="-10" dirty="0"/>
              <a:t>Software</a:t>
            </a:r>
            <a:r>
              <a:rPr sz="3450" spc="-175" dirty="0"/>
              <a:t> </a:t>
            </a:r>
            <a:r>
              <a:rPr sz="3450" spc="-10" dirty="0"/>
              <a:t>Development</a:t>
            </a:r>
            <a:endParaRPr sz="3450" dirty="0"/>
          </a:p>
        </p:txBody>
      </p:sp>
      <p:sp>
        <p:nvSpPr>
          <p:cNvPr id="3" name="object 3"/>
          <p:cNvSpPr txBox="1"/>
          <p:nvPr/>
        </p:nvSpPr>
        <p:spPr>
          <a:xfrm>
            <a:off x="273049" y="205866"/>
            <a:ext cx="5252085" cy="220573"/>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lang="en-US" sz="1350" spc="-50" dirty="0">
                <a:solidFill>
                  <a:srgbClr val="666666"/>
                </a:solidFill>
                <a:latin typeface="Arial"/>
                <a:cs typeface="Arial"/>
              </a:rPr>
              <a:t>1</a:t>
            </a:r>
            <a:endParaRPr sz="135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2</a:t>
            </a:fld>
            <a:endParaRPr spc="-25" dirty="0"/>
          </a:p>
        </p:txBody>
      </p:sp>
      <p:sp>
        <p:nvSpPr>
          <p:cNvPr id="2" name="object 2"/>
          <p:cNvSpPr txBox="1">
            <a:spLocks noGrp="1"/>
          </p:cNvSpPr>
          <p:nvPr>
            <p:ph type="title"/>
          </p:nvPr>
        </p:nvSpPr>
        <p:spPr>
          <a:xfrm>
            <a:off x="735010" y="1849183"/>
            <a:ext cx="9859645" cy="452120"/>
          </a:xfrm>
          <a:prstGeom prst="rect">
            <a:avLst/>
          </a:prstGeom>
        </p:spPr>
        <p:txBody>
          <a:bodyPr vert="horz" wrap="square" lIns="0" tIns="12700" rIns="0" bIns="0" rtlCol="0">
            <a:spAutoFit/>
          </a:bodyPr>
          <a:lstStyle/>
          <a:p>
            <a:pPr marL="12700">
              <a:lnSpc>
                <a:spcPct val="100000"/>
              </a:lnSpc>
              <a:spcBef>
                <a:spcPts val="100"/>
              </a:spcBef>
            </a:pPr>
            <a:r>
              <a:rPr sz="2800" spc="-400" dirty="0"/>
              <a:t>1.</a:t>
            </a:r>
            <a:r>
              <a:rPr sz="2800" spc="-80" dirty="0"/>
              <a:t> </a:t>
            </a:r>
            <a:r>
              <a:rPr sz="2800" dirty="0"/>
              <a:t>Introduction</a:t>
            </a:r>
            <a:r>
              <a:rPr sz="2800" spc="-75" dirty="0"/>
              <a:t> </a:t>
            </a:r>
            <a:r>
              <a:rPr sz="2800" dirty="0"/>
              <a:t>to</a:t>
            </a:r>
            <a:r>
              <a:rPr sz="2800" spc="-75" dirty="0"/>
              <a:t> </a:t>
            </a:r>
            <a:r>
              <a:rPr sz="2800" spc="-45" dirty="0"/>
              <a:t>Project</a:t>
            </a:r>
            <a:r>
              <a:rPr sz="2800" spc="-75" dirty="0"/>
              <a:t> </a:t>
            </a:r>
            <a:r>
              <a:rPr sz="2800" spc="-65" dirty="0"/>
              <a:t>Management</a:t>
            </a:r>
            <a:r>
              <a:rPr sz="2800" spc="-80" dirty="0"/>
              <a:t> </a:t>
            </a:r>
            <a:r>
              <a:rPr sz="2800" dirty="0"/>
              <a:t>in</a:t>
            </a:r>
            <a:r>
              <a:rPr sz="2800" spc="-75" dirty="0"/>
              <a:t> </a:t>
            </a:r>
            <a:r>
              <a:rPr sz="2800" spc="-10" dirty="0"/>
              <a:t>Software</a:t>
            </a:r>
            <a:r>
              <a:rPr sz="2800" spc="-75" dirty="0"/>
              <a:t> </a:t>
            </a:r>
            <a:r>
              <a:rPr sz="2800" spc="-10" dirty="0"/>
              <a:t>Development</a:t>
            </a:r>
            <a:endParaRPr sz="2800"/>
          </a:p>
        </p:txBody>
      </p:sp>
      <p:sp>
        <p:nvSpPr>
          <p:cNvPr id="3" name="object 3"/>
          <p:cNvSpPr txBox="1"/>
          <p:nvPr/>
        </p:nvSpPr>
        <p:spPr>
          <a:xfrm>
            <a:off x="735010" y="2657294"/>
            <a:ext cx="10479405" cy="2204085"/>
          </a:xfrm>
          <a:prstGeom prst="rect">
            <a:avLst/>
          </a:prstGeom>
        </p:spPr>
        <p:txBody>
          <a:bodyPr vert="horz" wrap="square" lIns="0" tIns="137795" rIns="0" bIns="0" rtlCol="0">
            <a:spAutoFit/>
          </a:bodyPr>
          <a:lstStyle/>
          <a:p>
            <a:pPr marL="12700">
              <a:lnSpc>
                <a:spcPct val="100000"/>
              </a:lnSpc>
              <a:spcBef>
                <a:spcPts val="1085"/>
              </a:spcBef>
            </a:pPr>
            <a:r>
              <a:rPr sz="2400" spc="-425" dirty="0">
                <a:latin typeface="Arial"/>
                <a:cs typeface="Arial"/>
              </a:rPr>
              <a:t>1.1</a:t>
            </a:r>
            <a:r>
              <a:rPr sz="2400" spc="-80" dirty="0">
                <a:latin typeface="Arial"/>
                <a:cs typeface="Arial"/>
              </a:rPr>
              <a:t> </a:t>
            </a:r>
            <a:r>
              <a:rPr sz="2400" spc="55" dirty="0">
                <a:latin typeface="Arial"/>
                <a:cs typeface="Arial"/>
              </a:rPr>
              <a:t>What</a:t>
            </a:r>
            <a:r>
              <a:rPr sz="2400" spc="-100" dirty="0">
                <a:latin typeface="Arial"/>
                <a:cs typeface="Arial"/>
              </a:rPr>
              <a:t> </a:t>
            </a:r>
            <a:r>
              <a:rPr sz="2400" spc="-55" dirty="0">
                <a:latin typeface="Arial"/>
                <a:cs typeface="Arial"/>
              </a:rPr>
              <a:t>is</a:t>
            </a:r>
            <a:r>
              <a:rPr sz="2400" spc="-90" dirty="0">
                <a:latin typeface="Arial"/>
                <a:cs typeface="Arial"/>
              </a:rPr>
              <a:t> </a:t>
            </a:r>
            <a:r>
              <a:rPr sz="2400" spc="-40" dirty="0">
                <a:latin typeface="Arial"/>
                <a:cs typeface="Arial"/>
              </a:rPr>
              <a:t>Project</a:t>
            </a:r>
            <a:r>
              <a:rPr sz="2400" spc="-90" dirty="0">
                <a:latin typeface="Arial"/>
                <a:cs typeface="Arial"/>
              </a:rPr>
              <a:t> </a:t>
            </a:r>
            <a:r>
              <a:rPr sz="2400" spc="-10" dirty="0">
                <a:latin typeface="Arial"/>
                <a:cs typeface="Arial"/>
              </a:rPr>
              <a:t>Management?</a:t>
            </a:r>
            <a:endParaRPr sz="2400">
              <a:latin typeface="Arial"/>
              <a:cs typeface="Arial"/>
            </a:endParaRPr>
          </a:p>
          <a:p>
            <a:pPr marL="12700" marR="5080">
              <a:lnSpc>
                <a:spcPct val="126899"/>
              </a:lnSpc>
              <a:spcBef>
                <a:spcPts val="190"/>
              </a:spcBef>
            </a:pPr>
            <a:r>
              <a:rPr sz="2150" spc="-35" dirty="0">
                <a:latin typeface="Arial"/>
                <a:cs typeface="Arial"/>
              </a:rPr>
              <a:t>Project</a:t>
            </a:r>
            <a:r>
              <a:rPr sz="2150" spc="-70" dirty="0">
                <a:latin typeface="Arial"/>
                <a:cs typeface="Arial"/>
              </a:rPr>
              <a:t> </a:t>
            </a:r>
            <a:r>
              <a:rPr sz="2150" spc="-50" dirty="0">
                <a:latin typeface="Arial"/>
                <a:cs typeface="Arial"/>
              </a:rPr>
              <a:t>Management</a:t>
            </a:r>
            <a:r>
              <a:rPr sz="2150" spc="-70" dirty="0">
                <a:latin typeface="Arial"/>
                <a:cs typeface="Arial"/>
              </a:rPr>
              <a:t> </a:t>
            </a:r>
            <a:r>
              <a:rPr sz="2150" spc="-50" dirty="0">
                <a:latin typeface="Arial"/>
                <a:cs typeface="Arial"/>
              </a:rPr>
              <a:t>is</a:t>
            </a:r>
            <a:r>
              <a:rPr sz="2150" spc="-65" dirty="0">
                <a:latin typeface="Arial"/>
                <a:cs typeface="Arial"/>
              </a:rPr>
              <a:t> </a:t>
            </a:r>
            <a:r>
              <a:rPr sz="2150" dirty="0">
                <a:latin typeface="Arial"/>
                <a:cs typeface="Arial"/>
              </a:rPr>
              <a:t>the</a:t>
            </a:r>
            <a:r>
              <a:rPr sz="2150" spc="-70" dirty="0">
                <a:latin typeface="Arial"/>
                <a:cs typeface="Arial"/>
              </a:rPr>
              <a:t> </a:t>
            </a:r>
            <a:r>
              <a:rPr sz="2150" spc="-20" dirty="0">
                <a:latin typeface="Arial"/>
                <a:cs typeface="Arial"/>
              </a:rPr>
              <a:t>discipline</a:t>
            </a:r>
            <a:r>
              <a:rPr sz="2150" spc="-65" dirty="0">
                <a:latin typeface="Arial"/>
                <a:cs typeface="Arial"/>
              </a:rPr>
              <a:t> </a:t>
            </a:r>
            <a:r>
              <a:rPr sz="2150" dirty="0">
                <a:latin typeface="Arial"/>
                <a:cs typeface="Arial"/>
              </a:rPr>
              <a:t>of</a:t>
            </a:r>
            <a:r>
              <a:rPr sz="2150" spc="-70" dirty="0">
                <a:latin typeface="Arial"/>
                <a:cs typeface="Arial"/>
              </a:rPr>
              <a:t> </a:t>
            </a:r>
            <a:r>
              <a:rPr sz="2150" spc="-40" dirty="0">
                <a:latin typeface="Arial"/>
                <a:cs typeface="Arial"/>
              </a:rPr>
              <a:t>planning,</a:t>
            </a:r>
            <a:r>
              <a:rPr sz="2150" spc="-70" dirty="0">
                <a:latin typeface="Arial"/>
                <a:cs typeface="Arial"/>
              </a:rPr>
              <a:t> </a:t>
            </a:r>
            <a:r>
              <a:rPr sz="2150" spc="-60" dirty="0">
                <a:latin typeface="Arial"/>
                <a:cs typeface="Arial"/>
              </a:rPr>
              <a:t>organizing,</a:t>
            </a:r>
            <a:r>
              <a:rPr sz="2150" spc="-65" dirty="0">
                <a:latin typeface="Arial"/>
                <a:cs typeface="Arial"/>
              </a:rPr>
              <a:t> </a:t>
            </a:r>
            <a:r>
              <a:rPr sz="2150" spc="-50" dirty="0">
                <a:latin typeface="Arial"/>
                <a:cs typeface="Arial"/>
              </a:rPr>
              <a:t>securing,</a:t>
            </a:r>
            <a:r>
              <a:rPr sz="2150" spc="-70" dirty="0">
                <a:latin typeface="Arial"/>
                <a:cs typeface="Arial"/>
              </a:rPr>
              <a:t> </a:t>
            </a:r>
            <a:r>
              <a:rPr sz="2150" spc="-75" dirty="0">
                <a:latin typeface="Arial"/>
                <a:cs typeface="Arial"/>
              </a:rPr>
              <a:t>managing,</a:t>
            </a:r>
            <a:r>
              <a:rPr sz="2150" spc="-65" dirty="0">
                <a:latin typeface="Arial"/>
                <a:cs typeface="Arial"/>
              </a:rPr>
              <a:t> </a:t>
            </a:r>
            <a:r>
              <a:rPr sz="2150" spc="-10" dirty="0">
                <a:latin typeface="Arial"/>
                <a:cs typeface="Arial"/>
              </a:rPr>
              <a:t>leading, </a:t>
            </a:r>
            <a:r>
              <a:rPr sz="2150" spc="-40" dirty="0">
                <a:latin typeface="Arial"/>
                <a:cs typeface="Arial"/>
              </a:rPr>
              <a:t>and</a:t>
            </a:r>
            <a:r>
              <a:rPr sz="2150" spc="-60" dirty="0">
                <a:latin typeface="Arial"/>
                <a:cs typeface="Arial"/>
              </a:rPr>
              <a:t> </a:t>
            </a:r>
            <a:r>
              <a:rPr sz="2150" dirty="0">
                <a:latin typeface="Arial"/>
                <a:cs typeface="Arial"/>
              </a:rPr>
              <a:t>controlling</a:t>
            </a:r>
            <a:r>
              <a:rPr sz="2150" spc="-55" dirty="0">
                <a:latin typeface="Arial"/>
                <a:cs typeface="Arial"/>
              </a:rPr>
              <a:t> </a:t>
            </a:r>
            <a:r>
              <a:rPr sz="2150" spc="-40" dirty="0">
                <a:latin typeface="Arial"/>
                <a:cs typeface="Arial"/>
              </a:rPr>
              <a:t>resources</a:t>
            </a:r>
            <a:r>
              <a:rPr sz="2150" spc="-60" dirty="0">
                <a:latin typeface="Arial"/>
                <a:cs typeface="Arial"/>
              </a:rPr>
              <a:t> </a:t>
            </a:r>
            <a:r>
              <a:rPr sz="2150" dirty="0">
                <a:latin typeface="Arial"/>
                <a:cs typeface="Arial"/>
              </a:rPr>
              <a:t>to</a:t>
            </a:r>
            <a:r>
              <a:rPr sz="2150" spc="-55" dirty="0">
                <a:latin typeface="Arial"/>
                <a:cs typeface="Arial"/>
              </a:rPr>
              <a:t> </a:t>
            </a:r>
            <a:r>
              <a:rPr sz="2150" spc="-40" dirty="0">
                <a:latin typeface="Arial"/>
                <a:cs typeface="Arial"/>
              </a:rPr>
              <a:t>achieve</a:t>
            </a:r>
            <a:r>
              <a:rPr sz="2150" spc="-55" dirty="0">
                <a:latin typeface="Arial"/>
                <a:cs typeface="Arial"/>
              </a:rPr>
              <a:t> </a:t>
            </a:r>
            <a:r>
              <a:rPr sz="2150" spc="-10" dirty="0">
                <a:latin typeface="Arial"/>
                <a:cs typeface="Arial"/>
              </a:rPr>
              <a:t>specific</a:t>
            </a:r>
            <a:r>
              <a:rPr sz="2150" spc="-60" dirty="0">
                <a:latin typeface="Arial"/>
                <a:cs typeface="Arial"/>
              </a:rPr>
              <a:t> </a:t>
            </a:r>
            <a:r>
              <a:rPr sz="2150" spc="-75" dirty="0">
                <a:latin typeface="Arial"/>
                <a:cs typeface="Arial"/>
              </a:rPr>
              <a:t>goals</a:t>
            </a:r>
            <a:r>
              <a:rPr sz="2150" spc="-55" dirty="0">
                <a:latin typeface="Arial"/>
                <a:cs typeface="Arial"/>
              </a:rPr>
              <a:t> </a:t>
            </a:r>
            <a:r>
              <a:rPr sz="2150" dirty="0">
                <a:latin typeface="Arial"/>
                <a:cs typeface="Arial"/>
              </a:rPr>
              <a:t>within</a:t>
            </a:r>
            <a:r>
              <a:rPr sz="2150" spc="-60" dirty="0">
                <a:latin typeface="Arial"/>
                <a:cs typeface="Arial"/>
              </a:rPr>
              <a:t> </a:t>
            </a:r>
            <a:r>
              <a:rPr sz="2150" spc="-140" dirty="0">
                <a:latin typeface="Arial"/>
                <a:cs typeface="Arial"/>
              </a:rPr>
              <a:t>a</a:t>
            </a:r>
            <a:r>
              <a:rPr sz="2150" spc="-55" dirty="0">
                <a:latin typeface="Arial"/>
                <a:cs typeface="Arial"/>
              </a:rPr>
              <a:t> </a:t>
            </a:r>
            <a:r>
              <a:rPr sz="2150" spc="-20" dirty="0">
                <a:latin typeface="Arial"/>
                <a:cs typeface="Arial"/>
              </a:rPr>
              <a:t>specified</a:t>
            </a:r>
            <a:r>
              <a:rPr sz="2150" spc="-55" dirty="0">
                <a:latin typeface="Arial"/>
                <a:cs typeface="Arial"/>
              </a:rPr>
              <a:t> </a:t>
            </a:r>
            <a:r>
              <a:rPr sz="2150" spc="-20" dirty="0">
                <a:latin typeface="Arial"/>
                <a:cs typeface="Arial"/>
              </a:rPr>
              <a:t>timeframe.</a:t>
            </a:r>
            <a:r>
              <a:rPr sz="2150" spc="-60" dirty="0">
                <a:latin typeface="Arial"/>
                <a:cs typeface="Arial"/>
              </a:rPr>
              <a:t> </a:t>
            </a:r>
            <a:r>
              <a:rPr sz="2150" spc="-25" dirty="0">
                <a:latin typeface="Arial"/>
                <a:cs typeface="Arial"/>
              </a:rPr>
              <a:t>It </a:t>
            </a:r>
            <a:r>
              <a:rPr sz="2150" spc="-60" dirty="0">
                <a:latin typeface="Arial"/>
                <a:cs typeface="Arial"/>
              </a:rPr>
              <a:t>encompasses</a:t>
            </a:r>
            <a:r>
              <a:rPr sz="2150" spc="-75" dirty="0">
                <a:latin typeface="Arial"/>
                <a:cs typeface="Arial"/>
              </a:rPr>
              <a:t> </a:t>
            </a:r>
            <a:r>
              <a:rPr sz="2150" spc="-25" dirty="0">
                <a:latin typeface="Arial"/>
                <a:cs typeface="Arial"/>
              </a:rPr>
              <a:t>various</a:t>
            </a:r>
            <a:r>
              <a:rPr sz="2150" spc="-75" dirty="0">
                <a:latin typeface="Arial"/>
                <a:cs typeface="Arial"/>
              </a:rPr>
              <a:t> </a:t>
            </a:r>
            <a:r>
              <a:rPr sz="2150" spc="-25" dirty="0">
                <a:latin typeface="Arial"/>
                <a:cs typeface="Arial"/>
              </a:rPr>
              <a:t>methodologies,</a:t>
            </a:r>
            <a:r>
              <a:rPr sz="2150" spc="-75" dirty="0">
                <a:latin typeface="Arial"/>
                <a:cs typeface="Arial"/>
              </a:rPr>
              <a:t> </a:t>
            </a:r>
            <a:r>
              <a:rPr sz="2150" spc="-10" dirty="0">
                <a:latin typeface="Arial"/>
                <a:cs typeface="Arial"/>
              </a:rPr>
              <a:t>tools,</a:t>
            </a:r>
            <a:r>
              <a:rPr sz="2150" spc="-75" dirty="0">
                <a:latin typeface="Arial"/>
                <a:cs typeface="Arial"/>
              </a:rPr>
              <a:t> </a:t>
            </a:r>
            <a:r>
              <a:rPr sz="2150" spc="-40" dirty="0">
                <a:latin typeface="Arial"/>
                <a:cs typeface="Arial"/>
              </a:rPr>
              <a:t>and</a:t>
            </a:r>
            <a:r>
              <a:rPr sz="2150" spc="-70" dirty="0">
                <a:latin typeface="Arial"/>
                <a:cs typeface="Arial"/>
              </a:rPr>
              <a:t> </a:t>
            </a:r>
            <a:r>
              <a:rPr sz="2150" spc="-30" dirty="0">
                <a:latin typeface="Arial"/>
                <a:cs typeface="Arial"/>
              </a:rPr>
              <a:t>techniques</a:t>
            </a:r>
            <a:r>
              <a:rPr sz="2150" spc="-75" dirty="0">
                <a:latin typeface="Arial"/>
                <a:cs typeface="Arial"/>
              </a:rPr>
              <a:t> </a:t>
            </a:r>
            <a:r>
              <a:rPr sz="2150" dirty="0">
                <a:latin typeface="Arial"/>
                <a:cs typeface="Arial"/>
              </a:rPr>
              <a:t>to</a:t>
            </a:r>
            <a:r>
              <a:rPr sz="2150" spc="-75" dirty="0">
                <a:latin typeface="Arial"/>
                <a:cs typeface="Arial"/>
              </a:rPr>
              <a:t> </a:t>
            </a:r>
            <a:r>
              <a:rPr sz="2150" spc="-60" dirty="0">
                <a:latin typeface="Arial"/>
                <a:cs typeface="Arial"/>
              </a:rPr>
              <a:t>ensure</a:t>
            </a:r>
            <a:r>
              <a:rPr sz="2150" spc="-75" dirty="0">
                <a:latin typeface="Arial"/>
                <a:cs typeface="Arial"/>
              </a:rPr>
              <a:t> </a:t>
            </a:r>
            <a:r>
              <a:rPr sz="2150" dirty="0">
                <a:latin typeface="Arial"/>
                <a:cs typeface="Arial"/>
              </a:rPr>
              <a:t>that</a:t>
            </a:r>
            <a:r>
              <a:rPr sz="2150" spc="-70" dirty="0">
                <a:latin typeface="Arial"/>
                <a:cs typeface="Arial"/>
              </a:rPr>
              <a:t> </a:t>
            </a:r>
            <a:r>
              <a:rPr sz="2150" spc="-10" dirty="0">
                <a:latin typeface="Arial"/>
                <a:cs typeface="Arial"/>
              </a:rPr>
              <a:t>projects</a:t>
            </a:r>
            <a:r>
              <a:rPr sz="2150" spc="-75" dirty="0">
                <a:latin typeface="Arial"/>
                <a:cs typeface="Arial"/>
              </a:rPr>
              <a:t> </a:t>
            </a:r>
            <a:r>
              <a:rPr sz="2150" spc="-25" dirty="0">
                <a:latin typeface="Arial"/>
                <a:cs typeface="Arial"/>
              </a:rPr>
              <a:t>are </a:t>
            </a:r>
            <a:r>
              <a:rPr sz="2150" dirty="0">
                <a:latin typeface="Arial"/>
                <a:cs typeface="Arial"/>
              </a:rPr>
              <a:t>completed</a:t>
            </a:r>
            <a:r>
              <a:rPr sz="2150" spc="-85" dirty="0">
                <a:latin typeface="Arial"/>
                <a:cs typeface="Arial"/>
              </a:rPr>
              <a:t> </a:t>
            </a:r>
            <a:r>
              <a:rPr sz="2150" dirty="0">
                <a:latin typeface="Arial"/>
                <a:cs typeface="Arial"/>
              </a:rPr>
              <a:t>efficiently</a:t>
            </a:r>
            <a:r>
              <a:rPr sz="2150" spc="-85" dirty="0">
                <a:latin typeface="Arial"/>
                <a:cs typeface="Arial"/>
              </a:rPr>
              <a:t> </a:t>
            </a:r>
            <a:r>
              <a:rPr sz="2150" spc="-40" dirty="0">
                <a:latin typeface="Arial"/>
                <a:cs typeface="Arial"/>
              </a:rPr>
              <a:t>and</a:t>
            </a:r>
            <a:r>
              <a:rPr sz="2150" spc="-80" dirty="0">
                <a:latin typeface="Arial"/>
                <a:cs typeface="Arial"/>
              </a:rPr>
              <a:t> </a:t>
            </a:r>
            <a:r>
              <a:rPr sz="2150" spc="-10" dirty="0">
                <a:latin typeface="Arial"/>
                <a:cs typeface="Arial"/>
              </a:rPr>
              <a:t>effectively.</a:t>
            </a:r>
            <a:endParaRPr sz="2150">
              <a:latin typeface="Arial"/>
              <a:cs typeface="Arial"/>
            </a:endParaRPr>
          </a:p>
        </p:txBody>
      </p:sp>
      <p:sp>
        <p:nvSpPr>
          <p:cNvPr id="4" name="object 4"/>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2077909"/>
            <a:ext cx="5388610" cy="391160"/>
          </a:xfrm>
          <a:prstGeom prst="rect">
            <a:avLst/>
          </a:prstGeom>
        </p:spPr>
        <p:txBody>
          <a:bodyPr vert="horz" wrap="square" lIns="0" tIns="12700" rIns="0" bIns="0" rtlCol="0">
            <a:spAutoFit/>
          </a:bodyPr>
          <a:lstStyle/>
          <a:p>
            <a:pPr marL="12700">
              <a:lnSpc>
                <a:spcPct val="100000"/>
              </a:lnSpc>
              <a:spcBef>
                <a:spcPts val="100"/>
              </a:spcBef>
            </a:pPr>
            <a:r>
              <a:rPr spc="-270" dirty="0"/>
              <a:t>1.2</a:t>
            </a:r>
            <a:r>
              <a:rPr spc="-80" dirty="0"/>
              <a:t> </a:t>
            </a:r>
            <a:r>
              <a:rPr spc="-10" dirty="0"/>
              <a:t>Importance</a:t>
            </a:r>
            <a:r>
              <a:rPr spc="-114" dirty="0"/>
              <a:t> </a:t>
            </a:r>
            <a:r>
              <a:rPr dirty="0"/>
              <a:t>in</a:t>
            </a:r>
            <a:r>
              <a:rPr spc="-95" dirty="0"/>
              <a:t> </a:t>
            </a:r>
            <a:r>
              <a:rPr spc="-10" dirty="0"/>
              <a:t>Software</a:t>
            </a:r>
            <a:r>
              <a:rPr spc="-95" dirty="0"/>
              <a:t> </a:t>
            </a:r>
            <a:r>
              <a:rPr spc="-10" dirty="0"/>
              <a:t>Development</a:t>
            </a:r>
          </a:p>
        </p:txBody>
      </p:sp>
      <p:pic>
        <p:nvPicPr>
          <p:cNvPr id="3" name="object 3"/>
          <p:cNvPicPr/>
          <p:nvPr/>
        </p:nvPicPr>
        <p:blipFill>
          <a:blip r:embed="rId2" cstate="print"/>
          <a:stretch>
            <a:fillRect/>
          </a:stretch>
        </p:blipFill>
        <p:spPr>
          <a:xfrm>
            <a:off x="1038222" y="2790820"/>
            <a:ext cx="104773" cy="104773"/>
          </a:xfrm>
          <a:prstGeom prst="rect">
            <a:avLst/>
          </a:prstGeom>
        </p:spPr>
      </p:pic>
      <p:sp>
        <p:nvSpPr>
          <p:cNvPr id="4" name="object 4"/>
          <p:cNvSpPr txBox="1"/>
          <p:nvPr/>
        </p:nvSpPr>
        <p:spPr>
          <a:xfrm>
            <a:off x="1287463" y="2465744"/>
            <a:ext cx="9449435" cy="2159635"/>
          </a:xfrm>
          <a:prstGeom prst="rect">
            <a:avLst/>
          </a:prstGeom>
        </p:spPr>
        <p:txBody>
          <a:bodyPr vert="horz" wrap="square" lIns="0" tIns="12700" rIns="0" bIns="0" rtlCol="0">
            <a:spAutoFit/>
          </a:bodyPr>
          <a:lstStyle/>
          <a:p>
            <a:pPr marL="12700" marR="5080">
              <a:lnSpc>
                <a:spcPct val="126499"/>
              </a:lnSpc>
              <a:spcBef>
                <a:spcPts val="100"/>
              </a:spcBef>
            </a:pPr>
            <a:r>
              <a:rPr sz="2150" dirty="0">
                <a:latin typeface="Arial"/>
                <a:cs typeface="Arial"/>
              </a:rPr>
              <a:t>Complexity</a:t>
            </a:r>
            <a:r>
              <a:rPr sz="2150" spc="-70" dirty="0">
                <a:latin typeface="Arial"/>
                <a:cs typeface="Arial"/>
              </a:rPr>
              <a:t> </a:t>
            </a:r>
            <a:r>
              <a:rPr sz="2150" spc="-50" dirty="0">
                <a:latin typeface="Arial"/>
                <a:cs typeface="Arial"/>
              </a:rPr>
              <a:t>Management:</a:t>
            </a:r>
            <a:r>
              <a:rPr sz="2150" spc="-65" dirty="0">
                <a:latin typeface="Arial"/>
                <a:cs typeface="Arial"/>
              </a:rPr>
              <a:t> </a:t>
            </a:r>
            <a:r>
              <a:rPr sz="2150" spc="-10" dirty="0">
                <a:latin typeface="Arial"/>
                <a:cs typeface="Arial"/>
              </a:rPr>
              <a:t>Software</a:t>
            </a:r>
            <a:r>
              <a:rPr sz="2150" spc="-65" dirty="0">
                <a:latin typeface="Arial"/>
                <a:cs typeface="Arial"/>
              </a:rPr>
              <a:t> </a:t>
            </a:r>
            <a:r>
              <a:rPr sz="2150" spc="-10" dirty="0">
                <a:latin typeface="Arial"/>
                <a:cs typeface="Arial"/>
              </a:rPr>
              <a:t>projects</a:t>
            </a:r>
            <a:r>
              <a:rPr sz="2150" spc="-65" dirty="0">
                <a:latin typeface="Arial"/>
                <a:cs typeface="Arial"/>
              </a:rPr>
              <a:t> </a:t>
            </a:r>
            <a:r>
              <a:rPr sz="2150" dirty="0">
                <a:latin typeface="Arial"/>
                <a:cs typeface="Arial"/>
              </a:rPr>
              <a:t>often</a:t>
            </a:r>
            <a:r>
              <a:rPr sz="2150" spc="-70" dirty="0">
                <a:latin typeface="Arial"/>
                <a:cs typeface="Arial"/>
              </a:rPr>
              <a:t> </a:t>
            </a:r>
            <a:r>
              <a:rPr sz="2150" dirty="0">
                <a:latin typeface="Arial"/>
                <a:cs typeface="Arial"/>
              </a:rPr>
              <a:t>involve</a:t>
            </a:r>
            <a:r>
              <a:rPr sz="2150" spc="-65" dirty="0">
                <a:latin typeface="Arial"/>
                <a:cs typeface="Arial"/>
              </a:rPr>
              <a:t> </a:t>
            </a:r>
            <a:r>
              <a:rPr sz="2150" spc="-10" dirty="0">
                <a:latin typeface="Arial"/>
                <a:cs typeface="Arial"/>
              </a:rPr>
              <a:t>intricate</a:t>
            </a:r>
            <a:r>
              <a:rPr sz="2150" spc="-65" dirty="0">
                <a:latin typeface="Arial"/>
                <a:cs typeface="Arial"/>
              </a:rPr>
              <a:t> </a:t>
            </a:r>
            <a:r>
              <a:rPr sz="2150" spc="-50" dirty="0">
                <a:latin typeface="Arial"/>
                <a:cs typeface="Arial"/>
              </a:rPr>
              <a:t>systems</a:t>
            </a:r>
            <a:r>
              <a:rPr sz="2150" spc="-65" dirty="0">
                <a:latin typeface="Arial"/>
                <a:cs typeface="Arial"/>
              </a:rPr>
              <a:t> </a:t>
            </a:r>
            <a:r>
              <a:rPr sz="2150" spc="45" dirty="0">
                <a:latin typeface="Arial"/>
                <a:cs typeface="Arial"/>
              </a:rPr>
              <a:t>with </a:t>
            </a:r>
            <a:r>
              <a:rPr sz="2150" spc="-20" dirty="0">
                <a:latin typeface="Arial"/>
                <a:cs typeface="Arial"/>
              </a:rPr>
              <a:t>numerous</a:t>
            </a:r>
            <a:r>
              <a:rPr sz="2150" spc="-85" dirty="0">
                <a:latin typeface="Arial"/>
                <a:cs typeface="Arial"/>
              </a:rPr>
              <a:t> </a:t>
            </a:r>
            <a:r>
              <a:rPr sz="2150" spc="-35" dirty="0">
                <a:latin typeface="Arial"/>
                <a:cs typeface="Arial"/>
              </a:rPr>
              <a:t>interdependencies.</a:t>
            </a:r>
            <a:r>
              <a:rPr sz="2150" spc="-80" dirty="0">
                <a:latin typeface="Arial"/>
                <a:cs typeface="Arial"/>
              </a:rPr>
              <a:t> </a:t>
            </a:r>
            <a:r>
              <a:rPr sz="2150" spc="-35" dirty="0">
                <a:latin typeface="Arial"/>
                <a:cs typeface="Arial"/>
              </a:rPr>
              <a:t>Project</a:t>
            </a:r>
            <a:r>
              <a:rPr sz="2150" spc="-85" dirty="0">
                <a:latin typeface="Arial"/>
                <a:cs typeface="Arial"/>
              </a:rPr>
              <a:t> </a:t>
            </a:r>
            <a:r>
              <a:rPr sz="2150" spc="-50" dirty="0">
                <a:latin typeface="Arial"/>
                <a:cs typeface="Arial"/>
              </a:rPr>
              <a:t>management</a:t>
            </a:r>
            <a:r>
              <a:rPr sz="2150" spc="-80" dirty="0">
                <a:latin typeface="Arial"/>
                <a:cs typeface="Arial"/>
              </a:rPr>
              <a:t> </a:t>
            </a:r>
            <a:r>
              <a:rPr sz="2150" spc="-35" dirty="0">
                <a:latin typeface="Arial"/>
                <a:cs typeface="Arial"/>
              </a:rPr>
              <a:t>helps</a:t>
            </a:r>
            <a:r>
              <a:rPr sz="2150" spc="-80" dirty="0">
                <a:latin typeface="Arial"/>
                <a:cs typeface="Arial"/>
              </a:rPr>
              <a:t> </a:t>
            </a:r>
            <a:r>
              <a:rPr sz="2150" dirty="0">
                <a:latin typeface="Arial"/>
                <a:cs typeface="Arial"/>
              </a:rPr>
              <a:t>in</a:t>
            </a:r>
            <a:r>
              <a:rPr sz="2150" spc="-85" dirty="0">
                <a:latin typeface="Arial"/>
                <a:cs typeface="Arial"/>
              </a:rPr>
              <a:t> </a:t>
            </a:r>
            <a:r>
              <a:rPr sz="2150" spc="-40" dirty="0">
                <a:latin typeface="Arial"/>
                <a:cs typeface="Arial"/>
              </a:rPr>
              <a:t>breaking</a:t>
            </a:r>
            <a:r>
              <a:rPr sz="2150" spc="-80" dirty="0">
                <a:latin typeface="Arial"/>
                <a:cs typeface="Arial"/>
              </a:rPr>
              <a:t> </a:t>
            </a:r>
            <a:r>
              <a:rPr sz="2150" spc="30" dirty="0">
                <a:latin typeface="Arial"/>
                <a:cs typeface="Arial"/>
              </a:rPr>
              <a:t>down </a:t>
            </a:r>
            <a:r>
              <a:rPr sz="2150" dirty="0">
                <a:latin typeface="Arial"/>
                <a:cs typeface="Arial"/>
              </a:rPr>
              <a:t>complexity</a:t>
            </a:r>
            <a:r>
              <a:rPr sz="2150" spc="-5" dirty="0">
                <a:latin typeface="Arial"/>
                <a:cs typeface="Arial"/>
              </a:rPr>
              <a:t> </a:t>
            </a:r>
            <a:r>
              <a:rPr sz="2150" dirty="0">
                <a:latin typeface="Arial"/>
                <a:cs typeface="Arial"/>
              </a:rPr>
              <a:t>into</a:t>
            </a:r>
            <a:r>
              <a:rPr sz="2150" spc="10" dirty="0">
                <a:latin typeface="Arial"/>
                <a:cs typeface="Arial"/>
              </a:rPr>
              <a:t> </a:t>
            </a:r>
            <a:r>
              <a:rPr sz="2150" spc="-60" dirty="0">
                <a:latin typeface="Arial"/>
                <a:cs typeface="Arial"/>
              </a:rPr>
              <a:t>manageable</a:t>
            </a:r>
            <a:r>
              <a:rPr sz="2150" spc="5" dirty="0">
                <a:latin typeface="Arial"/>
                <a:cs typeface="Arial"/>
              </a:rPr>
              <a:t> </a:t>
            </a:r>
            <a:r>
              <a:rPr sz="2150" spc="-10" dirty="0">
                <a:latin typeface="Arial"/>
                <a:cs typeface="Arial"/>
              </a:rPr>
              <a:t>tasks.</a:t>
            </a:r>
            <a:endParaRPr sz="2150">
              <a:latin typeface="Arial"/>
              <a:cs typeface="Arial"/>
            </a:endParaRPr>
          </a:p>
          <a:p>
            <a:pPr marL="12700" marR="385445">
              <a:lnSpc>
                <a:spcPct val="127899"/>
              </a:lnSpc>
              <a:spcBef>
                <a:spcPts val="409"/>
              </a:spcBef>
            </a:pPr>
            <a:r>
              <a:rPr sz="2150" spc="-75" dirty="0">
                <a:latin typeface="Arial"/>
                <a:cs typeface="Arial"/>
              </a:rPr>
              <a:t>Resource</a:t>
            </a:r>
            <a:r>
              <a:rPr sz="2150" spc="-60" dirty="0">
                <a:latin typeface="Arial"/>
                <a:cs typeface="Arial"/>
              </a:rPr>
              <a:t> </a:t>
            </a:r>
            <a:r>
              <a:rPr sz="2150" spc="-20" dirty="0">
                <a:latin typeface="Arial"/>
                <a:cs typeface="Arial"/>
              </a:rPr>
              <a:t>Allocation:</a:t>
            </a:r>
            <a:r>
              <a:rPr sz="2150" spc="-60" dirty="0">
                <a:latin typeface="Arial"/>
                <a:cs typeface="Arial"/>
              </a:rPr>
              <a:t> </a:t>
            </a:r>
            <a:r>
              <a:rPr sz="2150" spc="-20" dirty="0">
                <a:latin typeface="Arial"/>
                <a:cs typeface="Arial"/>
              </a:rPr>
              <a:t>Efficiently</a:t>
            </a:r>
            <a:r>
              <a:rPr sz="2150" spc="-55" dirty="0">
                <a:latin typeface="Arial"/>
                <a:cs typeface="Arial"/>
              </a:rPr>
              <a:t> </a:t>
            </a:r>
            <a:r>
              <a:rPr sz="2150" spc="-65" dirty="0">
                <a:latin typeface="Arial"/>
                <a:cs typeface="Arial"/>
              </a:rPr>
              <a:t>managing</a:t>
            </a:r>
            <a:r>
              <a:rPr sz="2150" spc="-60" dirty="0">
                <a:latin typeface="Arial"/>
                <a:cs typeface="Arial"/>
              </a:rPr>
              <a:t> </a:t>
            </a:r>
            <a:r>
              <a:rPr sz="2150" spc="-45" dirty="0">
                <a:latin typeface="Arial"/>
                <a:cs typeface="Arial"/>
              </a:rPr>
              <a:t>human,</a:t>
            </a:r>
            <a:r>
              <a:rPr sz="2150" spc="-55" dirty="0">
                <a:latin typeface="Arial"/>
                <a:cs typeface="Arial"/>
              </a:rPr>
              <a:t> </a:t>
            </a:r>
            <a:r>
              <a:rPr sz="2150" spc="-35" dirty="0">
                <a:latin typeface="Arial"/>
                <a:cs typeface="Arial"/>
              </a:rPr>
              <a:t>financial,</a:t>
            </a:r>
            <a:r>
              <a:rPr sz="2150" spc="-60" dirty="0">
                <a:latin typeface="Arial"/>
                <a:cs typeface="Arial"/>
              </a:rPr>
              <a:t> </a:t>
            </a:r>
            <a:r>
              <a:rPr sz="2150" spc="-40" dirty="0">
                <a:latin typeface="Arial"/>
                <a:cs typeface="Arial"/>
              </a:rPr>
              <a:t>and</a:t>
            </a:r>
            <a:r>
              <a:rPr sz="2150" spc="-60" dirty="0">
                <a:latin typeface="Arial"/>
                <a:cs typeface="Arial"/>
              </a:rPr>
              <a:t> </a:t>
            </a:r>
            <a:r>
              <a:rPr sz="2150" spc="-10" dirty="0">
                <a:latin typeface="Arial"/>
                <a:cs typeface="Arial"/>
              </a:rPr>
              <a:t>technological </a:t>
            </a:r>
            <a:r>
              <a:rPr sz="2150" spc="-40" dirty="0">
                <a:latin typeface="Arial"/>
                <a:cs typeface="Arial"/>
              </a:rPr>
              <a:t>resources</a:t>
            </a:r>
            <a:r>
              <a:rPr sz="2150" spc="-25" dirty="0">
                <a:latin typeface="Arial"/>
                <a:cs typeface="Arial"/>
              </a:rPr>
              <a:t> </a:t>
            </a:r>
            <a:r>
              <a:rPr sz="2150" dirty="0">
                <a:latin typeface="Arial"/>
                <a:cs typeface="Arial"/>
              </a:rPr>
              <a:t>to</a:t>
            </a:r>
            <a:r>
              <a:rPr sz="2150" spc="-20" dirty="0">
                <a:latin typeface="Arial"/>
                <a:cs typeface="Arial"/>
              </a:rPr>
              <a:t> </a:t>
            </a:r>
            <a:r>
              <a:rPr sz="2150" spc="-30" dirty="0">
                <a:latin typeface="Arial"/>
                <a:cs typeface="Arial"/>
              </a:rPr>
              <a:t>maximize</a:t>
            </a:r>
            <a:r>
              <a:rPr sz="2150" spc="-25" dirty="0">
                <a:latin typeface="Arial"/>
                <a:cs typeface="Arial"/>
              </a:rPr>
              <a:t> </a:t>
            </a:r>
            <a:r>
              <a:rPr sz="2150" dirty="0">
                <a:latin typeface="Arial"/>
                <a:cs typeface="Arial"/>
              </a:rPr>
              <a:t>productivity</a:t>
            </a:r>
            <a:r>
              <a:rPr sz="2150" spc="-25" dirty="0">
                <a:latin typeface="Arial"/>
                <a:cs typeface="Arial"/>
              </a:rPr>
              <a:t> </a:t>
            </a:r>
            <a:r>
              <a:rPr sz="2150" spc="-40" dirty="0">
                <a:latin typeface="Arial"/>
                <a:cs typeface="Arial"/>
              </a:rPr>
              <a:t>and</a:t>
            </a:r>
            <a:r>
              <a:rPr sz="2150" spc="-20" dirty="0">
                <a:latin typeface="Arial"/>
                <a:cs typeface="Arial"/>
              </a:rPr>
              <a:t> minimize</a:t>
            </a:r>
            <a:r>
              <a:rPr sz="2150" spc="-25" dirty="0">
                <a:latin typeface="Arial"/>
                <a:cs typeface="Arial"/>
              </a:rPr>
              <a:t> </a:t>
            </a:r>
            <a:r>
              <a:rPr sz="2150" spc="-10" dirty="0">
                <a:latin typeface="Arial"/>
                <a:cs typeface="Arial"/>
              </a:rPr>
              <a:t>waste.</a:t>
            </a:r>
            <a:endParaRPr sz="2150">
              <a:latin typeface="Arial"/>
              <a:cs typeface="Arial"/>
            </a:endParaRPr>
          </a:p>
        </p:txBody>
      </p:sp>
      <p:pic>
        <p:nvPicPr>
          <p:cNvPr id="5" name="object 5"/>
          <p:cNvPicPr/>
          <p:nvPr/>
        </p:nvPicPr>
        <p:blipFill>
          <a:blip r:embed="rId2" cstate="print"/>
          <a:stretch>
            <a:fillRect/>
          </a:stretch>
        </p:blipFill>
        <p:spPr>
          <a:xfrm>
            <a:off x="1038222" y="4095742"/>
            <a:ext cx="104773" cy="104773"/>
          </a:xfrm>
          <a:prstGeom prst="rect">
            <a:avLst/>
          </a:prstGeom>
        </p:spPr>
      </p:pic>
      <p:sp>
        <p:nvSpPr>
          <p:cNvPr id="6" name="object 6"/>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827402"/>
            <a:ext cx="5388610" cy="391160"/>
          </a:xfrm>
          <a:prstGeom prst="rect">
            <a:avLst/>
          </a:prstGeom>
        </p:spPr>
        <p:txBody>
          <a:bodyPr vert="horz" wrap="square" lIns="0" tIns="12700" rIns="0" bIns="0" rtlCol="0">
            <a:spAutoFit/>
          </a:bodyPr>
          <a:lstStyle/>
          <a:p>
            <a:pPr marL="12700">
              <a:lnSpc>
                <a:spcPct val="100000"/>
              </a:lnSpc>
              <a:spcBef>
                <a:spcPts val="100"/>
              </a:spcBef>
            </a:pPr>
            <a:r>
              <a:rPr spc="-270" dirty="0"/>
              <a:t>1.2</a:t>
            </a:r>
            <a:r>
              <a:rPr spc="-80" dirty="0"/>
              <a:t> </a:t>
            </a:r>
            <a:r>
              <a:rPr spc="-10" dirty="0"/>
              <a:t>Importance</a:t>
            </a:r>
            <a:r>
              <a:rPr spc="-114" dirty="0"/>
              <a:t> </a:t>
            </a:r>
            <a:r>
              <a:rPr dirty="0"/>
              <a:t>in</a:t>
            </a:r>
            <a:r>
              <a:rPr spc="-95" dirty="0"/>
              <a:t> </a:t>
            </a:r>
            <a:r>
              <a:rPr spc="-10" dirty="0"/>
              <a:t>Software</a:t>
            </a:r>
            <a:r>
              <a:rPr spc="-95" dirty="0"/>
              <a:t> </a:t>
            </a:r>
            <a:r>
              <a:rPr spc="-10" dirty="0"/>
              <a:t>Development</a:t>
            </a:r>
          </a:p>
        </p:txBody>
      </p:sp>
      <p:pic>
        <p:nvPicPr>
          <p:cNvPr id="3" name="object 3"/>
          <p:cNvPicPr/>
          <p:nvPr/>
        </p:nvPicPr>
        <p:blipFill>
          <a:blip r:embed="rId2" cstate="print"/>
          <a:stretch>
            <a:fillRect/>
          </a:stretch>
        </p:blipFill>
        <p:spPr>
          <a:xfrm>
            <a:off x="1038222" y="2543170"/>
            <a:ext cx="104773" cy="104773"/>
          </a:xfrm>
          <a:prstGeom prst="rect">
            <a:avLst/>
          </a:prstGeom>
        </p:spPr>
      </p:pic>
      <p:sp>
        <p:nvSpPr>
          <p:cNvPr id="4" name="object 4"/>
          <p:cNvSpPr txBox="1"/>
          <p:nvPr/>
        </p:nvSpPr>
        <p:spPr>
          <a:xfrm>
            <a:off x="1287463" y="2213507"/>
            <a:ext cx="9738360" cy="2663825"/>
          </a:xfrm>
          <a:prstGeom prst="rect">
            <a:avLst/>
          </a:prstGeom>
        </p:spPr>
        <p:txBody>
          <a:bodyPr vert="horz" wrap="square" lIns="0" tIns="12700" rIns="0" bIns="0" rtlCol="0">
            <a:spAutoFit/>
          </a:bodyPr>
          <a:lstStyle/>
          <a:p>
            <a:pPr marL="12700" marR="912494">
              <a:lnSpc>
                <a:spcPct val="127899"/>
              </a:lnSpc>
              <a:spcBef>
                <a:spcPts val="100"/>
              </a:spcBef>
            </a:pPr>
            <a:r>
              <a:rPr sz="2150" spc="-120" dirty="0">
                <a:latin typeface="Arial"/>
                <a:cs typeface="Arial"/>
              </a:rPr>
              <a:t>Risk</a:t>
            </a:r>
            <a:r>
              <a:rPr sz="2150" spc="-75" dirty="0">
                <a:latin typeface="Arial"/>
                <a:cs typeface="Arial"/>
              </a:rPr>
              <a:t> </a:t>
            </a:r>
            <a:r>
              <a:rPr sz="2150" spc="-20" dirty="0">
                <a:latin typeface="Arial"/>
                <a:cs typeface="Arial"/>
              </a:rPr>
              <a:t>Mitigation:</a:t>
            </a:r>
            <a:r>
              <a:rPr sz="2150" spc="-80" dirty="0">
                <a:latin typeface="Arial"/>
                <a:cs typeface="Arial"/>
              </a:rPr>
              <a:t> </a:t>
            </a:r>
            <a:r>
              <a:rPr sz="2150" spc="-10" dirty="0">
                <a:latin typeface="Arial"/>
                <a:cs typeface="Arial"/>
              </a:rPr>
              <a:t>Identifying</a:t>
            </a:r>
            <a:r>
              <a:rPr sz="2150" spc="-80" dirty="0">
                <a:latin typeface="Arial"/>
                <a:cs typeface="Arial"/>
              </a:rPr>
              <a:t> </a:t>
            </a:r>
            <a:r>
              <a:rPr sz="2150" spc="-10" dirty="0">
                <a:latin typeface="Arial"/>
                <a:cs typeface="Arial"/>
              </a:rPr>
              <a:t>potential</a:t>
            </a:r>
            <a:r>
              <a:rPr sz="2150" spc="-75" dirty="0">
                <a:latin typeface="Arial"/>
                <a:cs typeface="Arial"/>
              </a:rPr>
              <a:t> </a:t>
            </a:r>
            <a:r>
              <a:rPr sz="2150" spc="-55" dirty="0">
                <a:latin typeface="Arial"/>
                <a:cs typeface="Arial"/>
              </a:rPr>
              <a:t>risks</a:t>
            </a:r>
            <a:r>
              <a:rPr sz="2150" spc="-75" dirty="0">
                <a:latin typeface="Arial"/>
                <a:cs typeface="Arial"/>
              </a:rPr>
              <a:t> </a:t>
            </a:r>
            <a:r>
              <a:rPr sz="2150" spc="-10" dirty="0">
                <a:latin typeface="Arial"/>
                <a:cs typeface="Arial"/>
              </a:rPr>
              <a:t>early</a:t>
            </a:r>
            <a:r>
              <a:rPr sz="2150" spc="-80" dirty="0">
                <a:latin typeface="Arial"/>
                <a:cs typeface="Arial"/>
              </a:rPr>
              <a:t> </a:t>
            </a:r>
            <a:r>
              <a:rPr sz="2150" spc="-40" dirty="0">
                <a:latin typeface="Arial"/>
                <a:cs typeface="Arial"/>
              </a:rPr>
              <a:t>and</a:t>
            </a:r>
            <a:r>
              <a:rPr sz="2150" spc="-75" dirty="0">
                <a:latin typeface="Arial"/>
                <a:cs typeface="Arial"/>
              </a:rPr>
              <a:t> </a:t>
            </a:r>
            <a:r>
              <a:rPr sz="2150" spc="-20" dirty="0">
                <a:latin typeface="Arial"/>
                <a:cs typeface="Arial"/>
              </a:rPr>
              <a:t>developing</a:t>
            </a:r>
            <a:r>
              <a:rPr sz="2150" spc="-80" dirty="0">
                <a:latin typeface="Arial"/>
                <a:cs typeface="Arial"/>
              </a:rPr>
              <a:t> </a:t>
            </a:r>
            <a:r>
              <a:rPr sz="2150" spc="-45" dirty="0">
                <a:latin typeface="Arial"/>
                <a:cs typeface="Arial"/>
              </a:rPr>
              <a:t>strategies</a:t>
            </a:r>
            <a:r>
              <a:rPr sz="2150" spc="-75" dirty="0">
                <a:latin typeface="Arial"/>
                <a:cs typeface="Arial"/>
              </a:rPr>
              <a:t> </a:t>
            </a:r>
            <a:r>
              <a:rPr sz="2150" spc="-25" dirty="0">
                <a:latin typeface="Arial"/>
                <a:cs typeface="Arial"/>
              </a:rPr>
              <a:t>to </a:t>
            </a:r>
            <a:r>
              <a:rPr sz="2150" spc="-60" dirty="0">
                <a:latin typeface="Arial"/>
                <a:cs typeface="Arial"/>
              </a:rPr>
              <a:t>address</a:t>
            </a:r>
            <a:r>
              <a:rPr sz="2150" spc="-40" dirty="0">
                <a:latin typeface="Arial"/>
                <a:cs typeface="Arial"/>
              </a:rPr>
              <a:t> </a:t>
            </a:r>
            <a:r>
              <a:rPr sz="2150" spc="-10" dirty="0">
                <a:latin typeface="Arial"/>
                <a:cs typeface="Arial"/>
              </a:rPr>
              <a:t>them.</a:t>
            </a:r>
            <a:endParaRPr sz="2150">
              <a:latin typeface="Arial"/>
              <a:cs typeface="Arial"/>
            </a:endParaRPr>
          </a:p>
          <a:p>
            <a:pPr marL="12700" marR="5080">
              <a:lnSpc>
                <a:spcPct val="127899"/>
              </a:lnSpc>
              <a:spcBef>
                <a:spcPts val="450"/>
              </a:spcBef>
            </a:pPr>
            <a:r>
              <a:rPr sz="2150" dirty="0">
                <a:latin typeface="Arial"/>
                <a:cs typeface="Arial"/>
              </a:rPr>
              <a:t>Quality</a:t>
            </a:r>
            <a:r>
              <a:rPr sz="2150" spc="-114" dirty="0">
                <a:latin typeface="Arial"/>
                <a:cs typeface="Arial"/>
              </a:rPr>
              <a:t> </a:t>
            </a:r>
            <a:r>
              <a:rPr sz="2150" spc="-65" dirty="0">
                <a:latin typeface="Arial"/>
                <a:cs typeface="Arial"/>
              </a:rPr>
              <a:t>Assurance:</a:t>
            </a:r>
            <a:r>
              <a:rPr sz="2150" spc="-85" dirty="0">
                <a:latin typeface="Arial"/>
                <a:cs typeface="Arial"/>
              </a:rPr>
              <a:t> </a:t>
            </a:r>
            <a:r>
              <a:rPr sz="2150" spc="-75" dirty="0">
                <a:latin typeface="Arial"/>
                <a:cs typeface="Arial"/>
              </a:rPr>
              <a:t>Ensuring </a:t>
            </a:r>
            <a:r>
              <a:rPr sz="2150" dirty="0">
                <a:latin typeface="Arial"/>
                <a:cs typeface="Arial"/>
              </a:rPr>
              <a:t>that</a:t>
            </a:r>
            <a:r>
              <a:rPr sz="2150" spc="-95" dirty="0">
                <a:latin typeface="Arial"/>
                <a:cs typeface="Arial"/>
              </a:rPr>
              <a:t> </a:t>
            </a:r>
            <a:r>
              <a:rPr sz="2150" dirty="0">
                <a:latin typeface="Arial"/>
                <a:cs typeface="Arial"/>
              </a:rPr>
              <a:t>the</a:t>
            </a:r>
            <a:r>
              <a:rPr sz="2150" spc="-90" dirty="0">
                <a:latin typeface="Arial"/>
                <a:cs typeface="Arial"/>
              </a:rPr>
              <a:t> </a:t>
            </a:r>
            <a:r>
              <a:rPr sz="2150" spc="-10" dirty="0">
                <a:latin typeface="Arial"/>
                <a:cs typeface="Arial"/>
              </a:rPr>
              <a:t>final</a:t>
            </a:r>
            <a:r>
              <a:rPr sz="2150" spc="-90" dirty="0">
                <a:latin typeface="Arial"/>
                <a:cs typeface="Arial"/>
              </a:rPr>
              <a:t> </a:t>
            </a:r>
            <a:r>
              <a:rPr sz="2150" dirty="0">
                <a:latin typeface="Arial"/>
                <a:cs typeface="Arial"/>
              </a:rPr>
              <a:t>product</a:t>
            </a:r>
            <a:r>
              <a:rPr sz="2150" spc="-95" dirty="0">
                <a:latin typeface="Arial"/>
                <a:cs typeface="Arial"/>
              </a:rPr>
              <a:t> </a:t>
            </a:r>
            <a:r>
              <a:rPr sz="2150" spc="-30" dirty="0">
                <a:latin typeface="Arial"/>
                <a:cs typeface="Arial"/>
              </a:rPr>
              <a:t>meets</a:t>
            </a:r>
            <a:r>
              <a:rPr sz="2150" spc="-90" dirty="0">
                <a:latin typeface="Arial"/>
                <a:cs typeface="Arial"/>
              </a:rPr>
              <a:t> </a:t>
            </a:r>
            <a:r>
              <a:rPr sz="2150" dirty="0">
                <a:latin typeface="Arial"/>
                <a:cs typeface="Arial"/>
              </a:rPr>
              <a:t>the</a:t>
            </a:r>
            <a:r>
              <a:rPr sz="2150" spc="-90" dirty="0">
                <a:latin typeface="Arial"/>
                <a:cs typeface="Arial"/>
              </a:rPr>
              <a:t> </a:t>
            </a:r>
            <a:r>
              <a:rPr sz="2150" spc="-25" dirty="0">
                <a:latin typeface="Arial"/>
                <a:cs typeface="Arial"/>
              </a:rPr>
              <a:t>desired</a:t>
            </a:r>
            <a:r>
              <a:rPr sz="2150" spc="-90" dirty="0">
                <a:latin typeface="Arial"/>
                <a:cs typeface="Arial"/>
              </a:rPr>
              <a:t> </a:t>
            </a:r>
            <a:r>
              <a:rPr sz="2150" spc="-40" dirty="0">
                <a:latin typeface="Arial"/>
                <a:cs typeface="Arial"/>
              </a:rPr>
              <a:t>standards</a:t>
            </a:r>
            <a:r>
              <a:rPr sz="2150" spc="-95" dirty="0">
                <a:latin typeface="Arial"/>
                <a:cs typeface="Arial"/>
              </a:rPr>
              <a:t> </a:t>
            </a:r>
            <a:r>
              <a:rPr sz="2150" spc="-25" dirty="0">
                <a:latin typeface="Arial"/>
                <a:cs typeface="Arial"/>
              </a:rPr>
              <a:t>and </a:t>
            </a:r>
            <a:r>
              <a:rPr sz="2150" dirty="0">
                <a:latin typeface="Arial"/>
                <a:cs typeface="Arial"/>
              </a:rPr>
              <a:t>fulfills</a:t>
            </a:r>
            <a:r>
              <a:rPr sz="2150" spc="-80" dirty="0">
                <a:latin typeface="Arial"/>
                <a:cs typeface="Arial"/>
              </a:rPr>
              <a:t> </a:t>
            </a:r>
            <a:r>
              <a:rPr sz="2150" spc="-50" dirty="0">
                <a:latin typeface="Arial"/>
                <a:cs typeface="Arial"/>
              </a:rPr>
              <a:t>user</a:t>
            </a:r>
            <a:r>
              <a:rPr sz="2150" spc="-80" dirty="0">
                <a:latin typeface="Arial"/>
                <a:cs typeface="Arial"/>
              </a:rPr>
              <a:t> </a:t>
            </a:r>
            <a:r>
              <a:rPr sz="2150" spc="-10" dirty="0">
                <a:latin typeface="Arial"/>
                <a:cs typeface="Arial"/>
              </a:rPr>
              <a:t>requirements.</a:t>
            </a:r>
            <a:endParaRPr sz="2150">
              <a:latin typeface="Arial"/>
              <a:cs typeface="Arial"/>
            </a:endParaRPr>
          </a:p>
          <a:p>
            <a:pPr marL="12700" marR="73025">
              <a:lnSpc>
                <a:spcPct val="125000"/>
              </a:lnSpc>
              <a:spcBef>
                <a:spcPts val="675"/>
              </a:spcBef>
            </a:pPr>
            <a:r>
              <a:rPr sz="2150" spc="-45" dirty="0">
                <a:latin typeface="Arial"/>
                <a:cs typeface="Arial"/>
              </a:rPr>
              <a:t>Stakeholder</a:t>
            </a:r>
            <a:r>
              <a:rPr sz="2150" spc="-70" dirty="0">
                <a:latin typeface="Arial"/>
                <a:cs typeface="Arial"/>
              </a:rPr>
              <a:t> </a:t>
            </a:r>
            <a:r>
              <a:rPr sz="2150" spc="-45" dirty="0">
                <a:latin typeface="Arial"/>
                <a:cs typeface="Arial"/>
              </a:rPr>
              <a:t>Satisfaction:</a:t>
            </a:r>
            <a:r>
              <a:rPr sz="2150" spc="-70" dirty="0">
                <a:latin typeface="Arial"/>
                <a:cs typeface="Arial"/>
              </a:rPr>
              <a:t> </a:t>
            </a:r>
            <a:r>
              <a:rPr sz="2150" spc="-35" dirty="0">
                <a:latin typeface="Arial"/>
                <a:cs typeface="Arial"/>
              </a:rPr>
              <a:t>Aligning</a:t>
            </a:r>
            <a:r>
              <a:rPr sz="2150" spc="-65" dirty="0">
                <a:latin typeface="Arial"/>
                <a:cs typeface="Arial"/>
              </a:rPr>
              <a:t> </a:t>
            </a:r>
            <a:r>
              <a:rPr sz="2150" dirty="0">
                <a:latin typeface="Arial"/>
                <a:cs typeface="Arial"/>
              </a:rPr>
              <a:t>project</a:t>
            </a:r>
            <a:r>
              <a:rPr sz="2150" spc="-70" dirty="0">
                <a:latin typeface="Arial"/>
                <a:cs typeface="Arial"/>
              </a:rPr>
              <a:t> </a:t>
            </a:r>
            <a:r>
              <a:rPr sz="2150" spc="-20" dirty="0">
                <a:latin typeface="Arial"/>
                <a:cs typeface="Arial"/>
              </a:rPr>
              <a:t>outcomes</a:t>
            </a:r>
            <a:r>
              <a:rPr sz="2150" spc="-70" dirty="0">
                <a:latin typeface="Arial"/>
                <a:cs typeface="Arial"/>
              </a:rPr>
              <a:t> </a:t>
            </a:r>
            <a:r>
              <a:rPr sz="2150" spc="65" dirty="0">
                <a:latin typeface="Arial"/>
                <a:cs typeface="Arial"/>
              </a:rPr>
              <a:t>with</a:t>
            </a:r>
            <a:r>
              <a:rPr sz="2150" spc="-65" dirty="0">
                <a:latin typeface="Arial"/>
                <a:cs typeface="Arial"/>
              </a:rPr>
              <a:t> </a:t>
            </a:r>
            <a:r>
              <a:rPr sz="2150" spc="-30" dirty="0">
                <a:latin typeface="Arial"/>
                <a:cs typeface="Arial"/>
              </a:rPr>
              <a:t>stakeholder</a:t>
            </a:r>
            <a:r>
              <a:rPr sz="2150" spc="-70" dirty="0">
                <a:latin typeface="Arial"/>
                <a:cs typeface="Arial"/>
              </a:rPr>
              <a:t> </a:t>
            </a:r>
            <a:r>
              <a:rPr sz="2150" spc="-10" dirty="0">
                <a:latin typeface="Arial"/>
                <a:cs typeface="Arial"/>
              </a:rPr>
              <a:t>expectations </a:t>
            </a:r>
            <a:r>
              <a:rPr sz="2150" dirty="0">
                <a:latin typeface="Arial"/>
                <a:cs typeface="Arial"/>
              </a:rPr>
              <a:t>through</a:t>
            </a:r>
            <a:r>
              <a:rPr sz="2150" spc="-110" dirty="0">
                <a:latin typeface="Arial"/>
                <a:cs typeface="Arial"/>
              </a:rPr>
              <a:t> </a:t>
            </a:r>
            <a:r>
              <a:rPr sz="2150" spc="-20" dirty="0">
                <a:latin typeface="Arial"/>
                <a:cs typeface="Arial"/>
              </a:rPr>
              <a:t>clear</a:t>
            </a:r>
            <a:r>
              <a:rPr sz="2150" spc="-105" dirty="0">
                <a:latin typeface="Arial"/>
                <a:cs typeface="Arial"/>
              </a:rPr>
              <a:t> </a:t>
            </a:r>
            <a:r>
              <a:rPr sz="2150" dirty="0">
                <a:latin typeface="Arial"/>
                <a:cs typeface="Arial"/>
              </a:rPr>
              <a:t>communication</a:t>
            </a:r>
            <a:r>
              <a:rPr sz="2150" spc="-110" dirty="0">
                <a:latin typeface="Arial"/>
                <a:cs typeface="Arial"/>
              </a:rPr>
              <a:t> </a:t>
            </a:r>
            <a:r>
              <a:rPr sz="2150" spc="-40" dirty="0">
                <a:latin typeface="Arial"/>
                <a:cs typeface="Arial"/>
              </a:rPr>
              <a:t>and</a:t>
            </a:r>
            <a:r>
              <a:rPr sz="2150" spc="-105" dirty="0">
                <a:latin typeface="Arial"/>
                <a:cs typeface="Arial"/>
              </a:rPr>
              <a:t> </a:t>
            </a:r>
            <a:r>
              <a:rPr sz="2150" spc="-35" dirty="0">
                <a:latin typeface="Arial"/>
                <a:cs typeface="Arial"/>
              </a:rPr>
              <a:t>regular</a:t>
            </a:r>
            <a:r>
              <a:rPr sz="2150" spc="-105" dirty="0">
                <a:latin typeface="Arial"/>
                <a:cs typeface="Arial"/>
              </a:rPr>
              <a:t> </a:t>
            </a:r>
            <a:r>
              <a:rPr sz="2150" spc="-10" dirty="0">
                <a:latin typeface="Arial"/>
                <a:cs typeface="Arial"/>
              </a:rPr>
              <a:t>updates.</a:t>
            </a:r>
            <a:endParaRPr sz="2150">
              <a:latin typeface="Arial"/>
              <a:cs typeface="Arial"/>
            </a:endParaRPr>
          </a:p>
        </p:txBody>
      </p:sp>
      <p:pic>
        <p:nvPicPr>
          <p:cNvPr id="5" name="object 5"/>
          <p:cNvPicPr/>
          <p:nvPr/>
        </p:nvPicPr>
        <p:blipFill>
          <a:blip r:embed="rId2" cstate="print"/>
          <a:stretch>
            <a:fillRect/>
          </a:stretch>
        </p:blipFill>
        <p:spPr>
          <a:xfrm>
            <a:off x="1038222" y="3438519"/>
            <a:ext cx="104773" cy="104773"/>
          </a:xfrm>
          <a:prstGeom prst="rect">
            <a:avLst/>
          </a:prstGeom>
        </p:spPr>
      </p:pic>
      <p:pic>
        <p:nvPicPr>
          <p:cNvPr id="6" name="object 6"/>
          <p:cNvPicPr/>
          <p:nvPr/>
        </p:nvPicPr>
        <p:blipFill>
          <a:blip r:embed="rId2" cstate="print"/>
          <a:stretch>
            <a:fillRect/>
          </a:stretch>
        </p:blipFill>
        <p:spPr>
          <a:xfrm>
            <a:off x="1038222" y="4343392"/>
            <a:ext cx="104773" cy="104773"/>
          </a:xfrm>
          <a:prstGeom prst="rect">
            <a:avLst/>
          </a:prstGeom>
        </p:spPr>
      </p:pic>
      <p:sp>
        <p:nvSpPr>
          <p:cNvPr id="7" name="object 7"/>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5</a:t>
            </a:fld>
            <a:endParaRPr spc="-25" dirty="0"/>
          </a:p>
        </p:txBody>
      </p:sp>
      <p:sp>
        <p:nvSpPr>
          <p:cNvPr id="2" name="object 2"/>
          <p:cNvSpPr txBox="1">
            <a:spLocks noGrp="1"/>
          </p:cNvSpPr>
          <p:nvPr>
            <p:ph type="title"/>
          </p:nvPr>
        </p:nvSpPr>
        <p:spPr>
          <a:prstGeom prst="rect">
            <a:avLst/>
          </a:prstGeom>
        </p:spPr>
        <p:txBody>
          <a:bodyPr vert="horz" wrap="square" lIns="0" tIns="552921" rIns="0" bIns="0" rtlCol="0">
            <a:spAutoFit/>
          </a:bodyPr>
          <a:lstStyle/>
          <a:p>
            <a:pPr marL="12700">
              <a:lnSpc>
                <a:spcPct val="100000"/>
              </a:lnSpc>
              <a:spcBef>
                <a:spcPts val="969"/>
              </a:spcBef>
            </a:pPr>
            <a:r>
              <a:rPr spc="-250" dirty="0"/>
              <a:t>1.3</a:t>
            </a:r>
            <a:r>
              <a:rPr spc="45" dirty="0"/>
              <a:t> </a:t>
            </a:r>
            <a:r>
              <a:rPr dirty="0"/>
              <a:t>Real-World</a:t>
            </a:r>
            <a:r>
              <a:rPr spc="50" dirty="0"/>
              <a:t> </a:t>
            </a:r>
            <a:r>
              <a:rPr spc="-10" dirty="0"/>
              <a:t>Example</a:t>
            </a:r>
          </a:p>
          <a:p>
            <a:pPr marL="12700" marR="5080">
              <a:lnSpc>
                <a:spcPct val="127899"/>
              </a:lnSpc>
              <a:spcBef>
                <a:spcPts val="65"/>
              </a:spcBef>
            </a:pPr>
            <a:r>
              <a:rPr sz="2150" spc="-40" dirty="0"/>
              <a:t>Consider</a:t>
            </a:r>
            <a:r>
              <a:rPr sz="2150" spc="-85" dirty="0"/>
              <a:t> </a:t>
            </a:r>
            <a:r>
              <a:rPr sz="2150" spc="-140" dirty="0"/>
              <a:t>a</a:t>
            </a:r>
            <a:r>
              <a:rPr sz="2150" spc="-75" dirty="0"/>
              <a:t> </a:t>
            </a:r>
            <a:r>
              <a:rPr sz="2150" dirty="0"/>
              <a:t>software</a:t>
            </a:r>
            <a:r>
              <a:rPr sz="2150" spc="-75" dirty="0"/>
              <a:t> </a:t>
            </a:r>
            <a:r>
              <a:rPr sz="2150" dirty="0"/>
              <a:t>development</a:t>
            </a:r>
            <a:r>
              <a:rPr sz="2150" spc="-75" dirty="0"/>
              <a:t> </a:t>
            </a:r>
            <a:r>
              <a:rPr sz="2150" dirty="0"/>
              <a:t>project</a:t>
            </a:r>
            <a:r>
              <a:rPr sz="2150" spc="-80" dirty="0"/>
              <a:t> </a:t>
            </a:r>
            <a:r>
              <a:rPr sz="2150" spc="-20" dirty="0"/>
              <a:t>aimed</a:t>
            </a:r>
            <a:r>
              <a:rPr sz="2150" spc="-75" dirty="0"/>
              <a:t> </a:t>
            </a:r>
            <a:r>
              <a:rPr sz="2150" dirty="0"/>
              <a:t>at</a:t>
            </a:r>
            <a:r>
              <a:rPr sz="2150" spc="-75" dirty="0"/>
              <a:t> </a:t>
            </a:r>
            <a:r>
              <a:rPr sz="2150" spc="-25" dirty="0"/>
              <a:t>creating</a:t>
            </a:r>
            <a:r>
              <a:rPr sz="2150" spc="-80" dirty="0"/>
              <a:t> </a:t>
            </a:r>
            <a:r>
              <a:rPr sz="2150" spc="-140" dirty="0"/>
              <a:t>a</a:t>
            </a:r>
            <a:r>
              <a:rPr sz="2150" spc="-75" dirty="0"/>
              <a:t> </a:t>
            </a:r>
            <a:r>
              <a:rPr sz="2150" dirty="0"/>
              <a:t>mobile</a:t>
            </a:r>
            <a:r>
              <a:rPr sz="2150" spc="-75" dirty="0"/>
              <a:t> </a:t>
            </a:r>
            <a:r>
              <a:rPr sz="2150" spc="-60" dirty="0"/>
              <a:t>banking</a:t>
            </a:r>
            <a:r>
              <a:rPr sz="2150" spc="-80" dirty="0"/>
              <a:t> </a:t>
            </a:r>
            <a:r>
              <a:rPr sz="2150" spc="-20" dirty="0"/>
              <a:t>app. </a:t>
            </a:r>
            <a:r>
              <a:rPr sz="2150" spc="-35" dirty="0"/>
              <a:t>Project</a:t>
            </a:r>
            <a:r>
              <a:rPr sz="2150" spc="-90" dirty="0"/>
              <a:t> </a:t>
            </a:r>
            <a:r>
              <a:rPr sz="2150" spc="-50" dirty="0"/>
              <a:t>management</a:t>
            </a:r>
            <a:r>
              <a:rPr sz="2150" spc="-85" dirty="0"/>
              <a:t> </a:t>
            </a:r>
            <a:r>
              <a:rPr sz="2150" spc="-65" dirty="0"/>
              <a:t>ensures</a:t>
            </a:r>
            <a:r>
              <a:rPr sz="2150" spc="-85" dirty="0"/>
              <a:t> </a:t>
            </a:r>
            <a:r>
              <a:rPr sz="2150" spc="-10" dirty="0"/>
              <a:t>that:</a:t>
            </a:r>
            <a:endParaRPr sz="2150"/>
          </a:p>
        </p:txBody>
      </p:sp>
      <p:sp>
        <p:nvSpPr>
          <p:cNvPr id="3" name="object 3"/>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2" y="1590671"/>
            <a:ext cx="104773" cy="104772"/>
          </a:xfrm>
          <a:prstGeom prst="rect">
            <a:avLst/>
          </a:prstGeom>
        </p:spPr>
      </p:pic>
      <p:sp>
        <p:nvSpPr>
          <p:cNvPr id="3" name="object 3"/>
          <p:cNvSpPr txBox="1">
            <a:spLocks noGrp="1"/>
          </p:cNvSpPr>
          <p:nvPr>
            <p:ph type="title"/>
          </p:nvPr>
        </p:nvSpPr>
        <p:spPr>
          <a:xfrm>
            <a:off x="1286824" y="1280033"/>
            <a:ext cx="9111615" cy="1739900"/>
          </a:xfrm>
          <a:prstGeom prst="rect">
            <a:avLst/>
          </a:prstGeom>
        </p:spPr>
        <p:txBody>
          <a:bodyPr vert="horz" wrap="square" lIns="0" tIns="12700" rIns="0" bIns="0" rtlCol="0">
            <a:spAutoFit/>
          </a:bodyPr>
          <a:lstStyle/>
          <a:p>
            <a:pPr marL="12700" marR="51435">
              <a:lnSpc>
                <a:spcPct val="125000"/>
              </a:lnSpc>
              <a:spcBef>
                <a:spcPts val="100"/>
              </a:spcBef>
            </a:pPr>
            <a:r>
              <a:rPr sz="2150" spc="-10" dirty="0" smtClean="0"/>
              <a:t>Initia</a:t>
            </a:r>
            <a:r>
              <a:rPr lang="en-US" sz="2150" spc="-10" dirty="0" smtClean="0"/>
              <a:t>l</a:t>
            </a:r>
            <a:r>
              <a:rPr sz="2150" spc="-10" dirty="0" smtClean="0"/>
              <a:t>:</a:t>
            </a:r>
            <a:r>
              <a:rPr sz="2150" spc="-85" dirty="0" smtClean="0"/>
              <a:t> </a:t>
            </a:r>
            <a:r>
              <a:rPr sz="2150" spc="-20" dirty="0"/>
              <a:t>Objectives</a:t>
            </a:r>
            <a:r>
              <a:rPr sz="2150" spc="-85" dirty="0"/>
              <a:t> </a:t>
            </a:r>
            <a:r>
              <a:rPr sz="2150" spc="-65" dirty="0"/>
              <a:t>are</a:t>
            </a:r>
            <a:r>
              <a:rPr sz="2150" spc="-80" dirty="0"/>
              <a:t> </a:t>
            </a:r>
            <a:r>
              <a:rPr sz="2150" spc="-25" dirty="0"/>
              <a:t>defined,</a:t>
            </a:r>
            <a:r>
              <a:rPr sz="2150" spc="-85" dirty="0"/>
              <a:t> </a:t>
            </a:r>
            <a:r>
              <a:rPr sz="2150" spc="-40" dirty="0"/>
              <a:t>stakeholders</a:t>
            </a:r>
            <a:r>
              <a:rPr sz="2150" spc="-80" dirty="0"/>
              <a:t> </a:t>
            </a:r>
            <a:r>
              <a:rPr sz="2150" spc="-65" dirty="0"/>
              <a:t>are</a:t>
            </a:r>
            <a:r>
              <a:rPr sz="2150" spc="-85" dirty="0"/>
              <a:t> </a:t>
            </a:r>
            <a:r>
              <a:rPr sz="2150" spc="-10" dirty="0"/>
              <a:t>identified,</a:t>
            </a:r>
            <a:r>
              <a:rPr sz="2150" spc="-80" dirty="0"/>
              <a:t> </a:t>
            </a:r>
            <a:r>
              <a:rPr sz="2150" spc="-40" dirty="0"/>
              <a:t>and</a:t>
            </a:r>
            <a:r>
              <a:rPr sz="2150" spc="-85" dirty="0"/>
              <a:t> </a:t>
            </a:r>
            <a:r>
              <a:rPr sz="2150" spc="-10" dirty="0"/>
              <a:t>feasibility</a:t>
            </a:r>
            <a:r>
              <a:rPr sz="2150" spc="-85" dirty="0"/>
              <a:t> </a:t>
            </a:r>
            <a:r>
              <a:rPr sz="2150" spc="-25" dirty="0"/>
              <a:t>is </a:t>
            </a:r>
            <a:r>
              <a:rPr sz="2150" spc="-10" dirty="0"/>
              <a:t>assessed.</a:t>
            </a:r>
            <a:endParaRPr sz="2150" dirty="0"/>
          </a:p>
          <a:p>
            <a:pPr marL="13335" marR="5080">
              <a:lnSpc>
                <a:spcPct val="127899"/>
              </a:lnSpc>
              <a:spcBef>
                <a:spcPts val="450"/>
              </a:spcBef>
            </a:pPr>
            <a:r>
              <a:rPr sz="2150" spc="-80" dirty="0"/>
              <a:t>Planning:</a:t>
            </a:r>
            <a:r>
              <a:rPr sz="2150" spc="-75" dirty="0"/>
              <a:t> </a:t>
            </a:r>
            <a:r>
              <a:rPr sz="2150" spc="-30" dirty="0"/>
              <a:t>Detailed</a:t>
            </a:r>
            <a:r>
              <a:rPr sz="2150" spc="-70" dirty="0"/>
              <a:t> </a:t>
            </a:r>
            <a:r>
              <a:rPr sz="2150" dirty="0"/>
              <a:t>project</a:t>
            </a:r>
            <a:r>
              <a:rPr sz="2150" spc="-70" dirty="0"/>
              <a:t> </a:t>
            </a:r>
            <a:r>
              <a:rPr sz="2150" spc="-55" dirty="0"/>
              <a:t>plans</a:t>
            </a:r>
            <a:r>
              <a:rPr sz="2150" spc="-70" dirty="0"/>
              <a:t> </a:t>
            </a:r>
            <a:r>
              <a:rPr sz="2150" spc="-65" dirty="0"/>
              <a:t>are</a:t>
            </a:r>
            <a:r>
              <a:rPr sz="2150" spc="-70" dirty="0"/>
              <a:t> </a:t>
            </a:r>
            <a:r>
              <a:rPr sz="2150" spc="-25" dirty="0"/>
              <a:t>created,</a:t>
            </a:r>
            <a:r>
              <a:rPr sz="2150" spc="-75" dirty="0"/>
              <a:t> </a:t>
            </a:r>
            <a:r>
              <a:rPr sz="2150" spc="-20" dirty="0"/>
              <a:t>including</a:t>
            </a:r>
            <a:r>
              <a:rPr sz="2150" spc="-70" dirty="0"/>
              <a:t> </a:t>
            </a:r>
            <a:r>
              <a:rPr sz="2150" spc="-25" dirty="0"/>
              <a:t>timelines,</a:t>
            </a:r>
            <a:r>
              <a:rPr sz="2150" spc="-70" dirty="0"/>
              <a:t> </a:t>
            </a:r>
            <a:r>
              <a:rPr sz="2150" spc="-40" dirty="0"/>
              <a:t>budgets,</a:t>
            </a:r>
            <a:r>
              <a:rPr sz="2150" spc="-70" dirty="0"/>
              <a:t> </a:t>
            </a:r>
            <a:r>
              <a:rPr sz="2150" spc="-25" dirty="0"/>
              <a:t>and </a:t>
            </a:r>
            <a:r>
              <a:rPr sz="2150" spc="-30" dirty="0"/>
              <a:t>resource</a:t>
            </a:r>
            <a:r>
              <a:rPr sz="2150" spc="-90" dirty="0"/>
              <a:t> </a:t>
            </a:r>
            <a:r>
              <a:rPr sz="2150" spc="-10" dirty="0"/>
              <a:t>allocation.</a:t>
            </a:r>
            <a:endParaRPr sz="2150" dirty="0"/>
          </a:p>
        </p:txBody>
      </p:sp>
      <p:pic>
        <p:nvPicPr>
          <p:cNvPr id="4" name="object 4"/>
          <p:cNvPicPr/>
          <p:nvPr/>
        </p:nvPicPr>
        <p:blipFill>
          <a:blip r:embed="rId2" cstate="print"/>
          <a:stretch>
            <a:fillRect/>
          </a:stretch>
        </p:blipFill>
        <p:spPr>
          <a:xfrm>
            <a:off x="1038222" y="2486021"/>
            <a:ext cx="104773" cy="104773"/>
          </a:xfrm>
          <a:prstGeom prst="rect">
            <a:avLst/>
          </a:prstGeom>
        </p:spPr>
      </p:pic>
      <p:sp>
        <p:nvSpPr>
          <p:cNvPr id="5" name="object 5"/>
          <p:cNvSpPr txBox="1"/>
          <p:nvPr/>
        </p:nvSpPr>
        <p:spPr>
          <a:xfrm>
            <a:off x="1287463" y="3167817"/>
            <a:ext cx="9073515" cy="2128520"/>
          </a:xfrm>
          <a:prstGeom prst="rect">
            <a:avLst/>
          </a:prstGeom>
        </p:spPr>
        <p:txBody>
          <a:bodyPr vert="horz" wrap="square" lIns="0" tIns="0" rIns="0" bIns="0" rtlCol="0">
            <a:spAutoFit/>
          </a:bodyPr>
          <a:lstStyle/>
          <a:p>
            <a:pPr marL="12700" marR="410209">
              <a:lnSpc>
                <a:spcPct val="124100"/>
              </a:lnSpc>
            </a:pPr>
            <a:r>
              <a:rPr sz="2150" spc="-50" dirty="0">
                <a:latin typeface="Arial"/>
                <a:cs typeface="Arial"/>
              </a:rPr>
              <a:t>Execution:</a:t>
            </a:r>
            <a:r>
              <a:rPr sz="2150" spc="-65" dirty="0">
                <a:latin typeface="Arial"/>
                <a:cs typeface="Arial"/>
              </a:rPr>
              <a:t> </a:t>
            </a:r>
            <a:r>
              <a:rPr sz="2150" spc="-10" dirty="0">
                <a:latin typeface="Arial"/>
                <a:cs typeface="Arial"/>
              </a:rPr>
              <a:t>Development</a:t>
            </a:r>
            <a:r>
              <a:rPr sz="2150" spc="-65" dirty="0">
                <a:latin typeface="Arial"/>
                <a:cs typeface="Arial"/>
              </a:rPr>
              <a:t> </a:t>
            </a:r>
            <a:r>
              <a:rPr sz="2150" spc="-40" dirty="0">
                <a:latin typeface="Arial"/>
                <a:cs typeface="Arial"/>
              </a:rPr>
              <a:t>teams</a:t>
            </a:r>
            <a:r>
              <a:rPr sz="2150" spc="-65" dirty="0">
                <a:latin typeface="Arial"/>
                <a:cs typeface="Arial"/>
              </a:rPr>
              <a:t> </a:t>
            </a:r>
            <a:r>
              <a:rPr sz="2150" dirty="0">
                <a:latin typeface="Arial"/>
                <a:cs typeface="Arial"/>
              </a:rPr>
              <a:t>build</a:t>
            </a:r>
            <a:r>
              <a:rPr sz="2150" spc="-65" dirty="0">
                <a:latin typeface="Arial"/>
                <a:cs typeface="Arial"/>
              </a:rPr>
              <a:t> </a:t>
            </a:r>
            <a:r>
              <a:rPr sz="2150" dirty="0">
                <a:latin typeface="Arial"/>
                <a:cs typeface="Arial"/>
              </a:rPr>
              <a:t>the</a:t>
            </a:r>
            <a:r>
              <a:rPr sz="2150" spc="-65" dirty="0">
                <a:latin typeface="Arial"/>
                <a:cs typeface="Arial"/>
              </a:rPr>
              <a:t> </a:t>
            </a:r>
            <a:r>
              <a:rPr sz="2150" spc="-40" dirty="0">
                <a:latin typeface="Arial"/>
                <a:cs typeface="Arial"/>
              </a:rPr>
              <a:t>app,</a:t>
            </a:r>
            <a:r>
              <a:rPr sz="2150" spc="-65" dirty="0">
                <a:latin typeface="Arial"/>
                <a:cs typeface="Arial"/>
              </a:rPr>
              <a:t> </a:t>
            </a:r>
            <a:r>
              <a:rPr sz="2150" dirty="0">
                <a:latin typeface="Arial"/>
                <a:cs typeface="Arial"/>
              </a:rPr>
              <a:t>following</a:t>
            </a:r>
            <a:r>
              <a:rPr sz="2150" spc="-65" dirty="0">
                <a:latin typeface="Arial"/>
                <a:cs typeface="Arial"/>
              </a:rPr>
              <a:t> </a:t>
            </a:r>
            <a:r>
              <a:rPr sz="2150" dirty="0">
                <a:latin typeface="Arial"/>
                <a:cs typeface="Arial"/>
              </a:rPr>
              <a:t>the</a:t>
            </a:r>
            <a:r>
              <a:rPr sz="2150" spc="-65" dirty="0">
                <a:latin typeface="Arial"/>
                <a:cs typeface="Arial"/>
              </a:rPr>
              <a:t> </a:t>
            </a:r>
            <a:r>
              <a:rPr sz="2150" dirty="0">
                <a:latin typeface="Arial"/>
                <a:cs typeface="Arial"/>
              </a:rPr>
              <a:t>project</a:t>
            </a:r>
            <a:r>
              <a:rPr sz="2150" spc="-60" dirty="0">
                <a:latin typeface="Arial"/>
                <a:cs typeface="Arial"/>
              </a:rPr>
              <a:t> </a:t>
            </a:r>
            <a:r>
              <a:rPr sz="2150" spc="-10" dirty="0">
                <a:latin typeface="Arial"/>
                <a:cs typeface="Arial"/>
              </a:rPr>
              <a:t>plan. Monitoring:</a:t>
            </a:r>
            <a:r>
              <a:rPr sz="2150" spc="-70" dirty="0">
                <a:latin typeface="Arial"/>
                <a:cs typeface="Arial"/>
              </a:rPr>
              <a:t> </a:t>
            </a:r>
            <a:r>
              <a:rPr sz="2150" spc="-95" dirty="0">
                <a:latin typeface="Arial"/>
                <a:cs typeface="Arial"/>
              </a:rPr>
              <a:t>Progress</a:t>
            </a:r>
            <a:r>
              <a:rPr sz="2150" spc="-70" dirty="0">
                <a:latin typeface="Arial"/>
                <a:cs typeface="Arial"/>
              </a:rPr>
              <a:t> </a:t>
            </a:r>
            <a:r>
              <a:rPr sz="2150" spc="-50" dirty="0">
                <a:latin typeface="Arial"/>
                <a:cs typeface="Arial"/>
              </a:rPr>
              <a:t>is</a:t>
            </a:r>
            <a:r>
              <a:rPr sz="2150" spc="-70" dirty="0">
                <a:latin typeface="Arial"/>
                <a:cs typeface="Arial"/>
              </a:rPr>
              <a:t> </a:t>
            </a:r>
            <a:r>
              <a:rPr sz="2150" spc="-20" dirty="0">
                <a:latin typeface="Arial"/>
                <a:cs typeface="Arial"/>
              </a:rPr>
              <a:t>tracked</a:t>
            </a:r>
            <a:r>
              <a:rPr sz="2150" spc="-70" dirty="0">
                <a:latin typeface="Arial"/>
                <a:cs typeface="Arial"/>
              </a:rPr>
              <a:t> </a:t>
            </a:r>
            <a:r>
              <a:rPr sz="2150" spc="-75" dirty="0">
                <a:latin typeface="Arial"/>
                <a:cs typeface="Arial"/>
              </a:rPr>
              <a:t>against</a:t>
            </a:r>
            <a:r>
              <a:rPr sz="2150" spc="-65" dirty="0">
                <a:latin typeface="Arial"/>
                <a:cs typeface="Arial"/>
              </a:rPr>
              <a:t> </a:t>
            </a:r>
            <a:r>
              <a:rPr sz="2150" spc="-40" dirty="0">
                <a:latin typeface="Arial"/>
                <a:cs typeface="Arial"/>
              </a:rPr>
              <a:t>milestones,</a:t>
            </a:r>
            <a:r>
              <a:rPr sz="2150" spc="-70" dirty="0">
                <a:latin typeface="Arial"/>
                <a:cs typeface="Arial"/>
              </a:rPr>
              <a:t> </a:t>
            </a:r>
            <a:r>
              <a:rPr sz="2150" spc="-40" dirty="0">
                <a:latin typeface="Arial"/>
                <a:cs typeface="Arial"/>
              </a:rPr>
              <a:t>and</a:t>
            </a:r>
            <a:r>
              <a:rPr sz="2150" spc="-70" dirty="0">
                <a:latin typeface="Arial"/>
                <a:cs typeface="Arial"/>
              </a:rPr>
              <a:t> </a:t>
            </a:r>
            <a:r>
              <a:rPr sz="2150" spc="-40" dirty="0">
                <a:latin typeface="Arial"/>
                <a:cs typeface="Arial"/>
              </a:rPr>
              <a:t>any</a:t>
            </a:r>
            <a:r>
              <a:rPr sz="2150" spc="-70" dirty="0">
                <a:latin typeface="Arial"/>
                <a:cs typeface="Arial"/>
              </a:rPr>
              <a:t> </a:t>
            </a:r>
            <a:r>
              <a:rPr sz="2150" spc="-20" dirty="0">
                <a:latin typeface="Arial"/>
                <a:cs typeface="Arial"/>
              </a:rPr>
              <a:t>deviations</a:t>
            </a:r>
            <a:r>
              <a:rPr sz="2150" spc="-65" dirty="0">
                <a:latin typeface="Arial"/>
                <a:cs typeface="Arial"/>
              </a:rPr>
              <a:t> </a:t>
            </a:r>
            <a:r>
              <a:rPr sz="2150" spc="-25" dirty="0">
                <a:latin typeface="Arial"/>
                <a:cs typeface="Arial"/>
              </a:rPr>
              <a:t>are </a:t>
            </a:r>
            <a:r>
              <a:rPr sz="2150" spc="-10" dirty="0">
                <a:latin typeface="Arial"/>
                <a:cs typeface="Arial"/>
              </a:rPr>
              <a:t>addressed.</a:t>
            </a:r>
            <a:endParaRPr sz="2150">
              <a:latin typeface="Arial"/>
              <a:cs typeface="Arial"/>
            </a:endParaRPr>
          </a:p>
          <a:p>
            <a:pPr marL="12700" marR="5080">
              <a:lnSpc>
                <a:spcPct val="127899"/>
              </a:lnSpc>
              <a:spcBef>
                <a:spcPts val="450"/>
              </a:spcBef>
            </a:pPr>
            <a:r>
              <a:rPr sz="2150" spc="-65" dirty="0">
                <a:latin typeface="Arial"/>
                <a:cs typeface="Arial"/>
              </a:rPr>
              <a:t>Closing:</a:t>
            </a:r>
            <a:r>
              <a:rPr sz="2150" spc="-85" dirty="0">
                <a:latin typeface="Arial"/>
                <a:cs typeface="Arial"/>
              </a:rPr>
              <a:t> </a:t>
            </a:r>
            <a:r>
              <a:rPr sz="2150" spc="-105" dirty="0">
                <a:latin typeface="Arial"/>
                <a:cs typeface="Arial"/>
              </a:rPr>
              <a:t>The</a:t>
            </a:r>
            <a:r>
              <a:rPr sz="2150" spc="-75" dirty="0">
                <a:latin typeface="Arial"/>
                <a:cs typeface="Arial"/>
              </a:rPr>
              <a:t> </a:t>
            </a:r>
            <a:r>
              <a:rPr sz="2150" dirty="0">
                <a:latin typeface="Arial"/>
                <a:cs typeface="Arial"/>
              </a:rPr>
              <a:t>app</a:t>
            </a:r>
            <a:r>
              <a:rPr sz="2150" spc="-80" dirty="0">
                <a:latin typeface="Arial"/>
                <a:cs typeface="Arial"/>
              </a:rPr>
              <a:t> </a:t>
            </a:r>
            <a:r>
              <a:rPr sz="2150" spc="-50" dirty="0">
                <a:latin typeface="Arial"/>
                <a:cs typeface="Arial"/>
              </a:rPr>
              <a:t>is</a:t>
            </a:r>
            <a:r>
              <a:rPr sz="2150" spc="-80" dirty="0">
                <a:latin typeface="Arial"/>
                <a:cs typeface="Arial"/>
              </a:rPr>
              <a:t> </a:t>
            </a:r>
            <a:r>
              <a:rPr sz="2150" spc="-35" dirty="0">
                <a:latin typeface="Arial"/>
                <a:cs typeface="Arial"/>
              </a:rPr>
              <a:t>tested,</a:t>
            </a:r>
            <a:r>
              <a:rPr sz="2150" spc="-75" dirty="0">
                <a:latin typeface="Arial"/>
                <a:cs typeface="Arial"/>
              </a:rPr>
              <a:t> </a:t>
            </a:r>
            <a:r>
              <a:rPr sz="2150" spc="-40" dirty="0">
                <a:latin typeface="Arial"/>
                <a:cs typeface="Arial"/>
              </a:rPr>
              <a:t>launched,</a:t>
            </a:r>
            <a:r>
              <a:rPr sz="2150" spc="-80" dirty="0">
                <a:latin typeface="Arial"/>
                <a:cs typeface="Arial"/>
              </a:rPr>
              <a:t> </a:t>
            </a:r>
            <a:r>
              <a:rPr sz="2150" spc="-40" dirty="0">
                <a:latin typeface="Arial"/>
                <a:cs typeface="Arial"/>
              </a:rPr>
              <a:t>and</a:t>
            </a:r>
            <a:r>
              <a:rPr sz="2150" spc="-80" dirty="0">
                <a:latin typeface="Arial"/>
                <a:cs typeface="Arial"/>
              </a:rPr>
              <a:t> </a:t>
            </a:r>
            <a:r>
              <a:rPr sz="2150" dirty="0">
                <a:latin typeface="Arial"/>
                <a:cs typeface="Arial"/>
              </a:rPr>
              <a:t>the</a:t>
            </a:r>
            <a:r>
              <a:rPr sz="2150" spc="-80" dirty="0">
                <a:latin typeface="Arial"/>
                <a:cs typeface="Arial"/>
              </a:rPr>
              <a:t> </a:t>
            </a:r>
            <a:r>
              <a:rPr sz="2150" dirty="0">
                <a:latin typeface="Arial"/>
                <a:cs typeface="Arial"/>
              </a:rPr>
              <a:t>project</a:t>
            </a:r>
            <a:r>
              <a:rPr sz="2150" spc="-75" dirty="0">
                <a:latin typeface="Arial"/>
                <a:cs typeface="Arial"/>
              </a:rPr>
              <a:t> </a:t>
            </a:r>
            <a:r>
              <a:rPr sz="2150" spc="-50" dirty="0">
                <a:latin typeface="Arial"/>
                <a:cs typeface="Arial"/>
              </a:rPr>
              <a:t>is</a:t>
            </a:r>
            <a:r>
              <a:rPr sz="2150" spc="-80" dirty="0">
                <a:latin typeface="Arial"/>
                <a:cs typeface="Arial"/>
              </a:rPr>
              <a:t> </a:t>
            </a:r>
            <a:r>
              <a:rPr sz="2150" dirty="0">
                <a:latin typeface="Arial"/>
                <a:cs typeface="Arial"/>
              </a:rPr>
              <a:t>formally</a:t>
            </a:r>
            <a:r>
              <a:rPr sz="2150" spc="-80" dirty="0">
                <a:latin typeface="Arial"/>
                <a:cs typeface="Arial"/>
              </a:rPr>
              <a:t> </a:t>
            </a:r>
            <a:r>
              <a:rPr sz="2150" spc="-25" dirty="0">
                <a:latin typeface="Arial"/>
                <a:cs typeface="Arial"/>
              </a:rPr>
              <a:t>closed</a:t>
            </a:r>
            <a:r>
              <a:rPr sz="2150" spc="-80" dirty="0">
                <a:latin typeface="Arial"/>
                <a:cs typeface="Arial"/>
              </a:rPr>
              <a:t> </a:t>
            </a:r>
            <a:r>
              <a:rPr sz="2150" spc="65" dirty="0">
                <a:latin typeface="Arial"/>
                <a:cs typeface="Arial"/>
              </a:rPr>
              <a:t>with</a:t>
            </a:r>
            <a:r>
              <a:rPr sz="2150" spc="-75" dirty="0">
                <a:latin typeface="Arial"/>
                <a:cs typeface="Arial"/>
              </a:rPr>
              <a:t> </a:t>
            </a:r>
            <a:r>
              <a:rPr sz="2150" spc="-50" dirty="0">
                <a:latin typeface="Arial"/>
                <a:cs typeface="Arial"/>
              </a:rPr>
              <a:t>a </a:t>
            </a:r>
            <a:r>
              <a:rPr sz="2150" dirty="0">
                <a:latin typeface="Arial"/>
                <a:cs typeface="Arial"/>
              </a:rPr>
              <a:t>review</a:t>
            </a:r>
            <a:r>
              <a:rPr sz="2150" spc="-20" dirty="0">
                <a:latin typeface="Arial"/>
                <a:cs typeface="Arial"/>
              </a:rPr>
              <a:t> </a:t>
            </a:r>
            <a:r>
              <a:rPr sz="2150" dirty="0">
                <a:latin typeface="Arial"/>
                <a:cs typeface="Arial"/>
              </a:rPr>
              <a:t>of</a:t>
            </a:r>
            <a:r>
              <a:rPr sz="2150" spc="-5" dirty="0">
                <a:latin typeface="Arial"/>
                <a:cs typeface="Arial"/>
              </a:rPr>
              <a:t> </a:t>
            </a:r>
            <a:r>
              <a:rPr sz="2150" spc="-80" dirty="0">
                <a:latin typeface="Arial"/>
                <a:cs typeface="Arial"/>
              </a:rPr>
              <a:t>lessons</a:t>
            </a:r>
            <a:r>
              <a:rPr sz="2150" dirty="0">
                <a:latin typeface="Arial"/>
                <a:cs typeface="Arial"/>
              </a:rPr>
              <a:t> </a:t>
            </a:r>
            <a:r>
              <a:rPr sz="2150" spc="-10" dirty="0">
                <a:latin typeface="Arial"/>
                <a:cs typeface="Arial"/>
              </a:rPr>
              <a:t>learned.</a:t>
            </a:r>
            <a:endParaRPr sz="2150">
              <a:latin typeface="Arial"/>
              <a:cs typeface="Arial"/>
            </a:endParaRPr>
          </a:p>
        </p:txBody>
      </p:sp>
      <p:pic>
        <p:nvPicPr>
          <p:cNvPr id="6" name="object 6"/>
          <p:cNvPicPr/>
          <p:nvPr/>
        </p:nvPicPr>
        <p:blipFill>
          <a:blip r:embed="rId3" cstate="print"/>
          <a:stretch>
            <a:fillRect/>
          </a:stretch>
        </p:blipFill>
        <p:spPr>
          <a:xfrm>
            <a:off x="1038222" y="3381369"/>
            <a:ext cx="104773" cy="104773"/>
          </a:xfrm>
          <a:prstGeom prst="rect">
            <a:avLst/>
          </a:prstGeom>
        </p:spPr>
      </p:pic>
      <p:pic>
        <p:nvPicPr>
          <p:cNvPr id="7" name="object 7"/>
          <p:cNvPicPr/>
          <p:nvPr/>
        </p:nvPicPr>
        <p:blipFill>
          <a:blip r:embed="rId2" cstate="print"/>
          <a:stretch>
            <a:fillRect/>
          </a:stretch>
        </p:blipFill>
        <p:spPr>
          <a:xfrm>
            <a:off x="1038222" y="3867143"/>
            <a:ext cx="104773" cy="104773"/>
          </a:xfrm>
          <a:prstGeom prst="rect">
            <a:avLst/>
          </a:prstGeom>
        </p:spPr>
      </p:pic>
      <p:pic>
        <p:nvPicPr>
          <p:cNvPr id="8" name="object 8"/>
          <p:cNvPicPr/>
          <p:nvPr/>
        </p:nvPicPr>
        <p:blipFill>
          <a:blip r:embed="rId3" cstate="print"/>
          <a:stretch>
            <a:fillRect/>
          </a:stretch>
        </p:blipFill>
        <p:spPr>
          <a:xfrm>
            <a:off x="1038222" y="4762491"/>
            <a:ext cx="104773" cy="104773"/>
          </a:xfrm>
          <a:prstGeom prst="rect">
            <a:avLst/>
          </a:prstGeom>
        </p:spPr>
      </p:pic>
      <p:sp>
        <p:nvSpPr>
          <p:cNvPr id="9" name="object 9"/>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7</a:t>
            </a:fld>
            <a:endParaRPr spc="-25" dirty="0"/>
          </a:p>
        </p:txBody>
      </p:sp>
      <p:sp>
        <p:nvSpPr>
          <p:cNvPr id="2" name="object 2"/>
          <p:cNvSpPr txBox="1"/>
          <p:nvPr/>
        </p:nvSpPr>
        <p:spPr>
          <a:xfrm>
            <a:off x="735010" y="2639756"/>
            <a:ext cx="7056755" cy="452120"/>
          </a:xfrm>
          <a:prstGeom prst="rect">
            <a:avLst/>
          </a:prstGeom>
        </p:spPr>
        <p:txBody>
          <a:bodyPr vert="horz" wrap="square" lIns="0" tIns="12700" rIns="0" bIns="0" rtlCol="0">
            <a:spAutoFit/>
          </a:bodyPr>
          <a:lstStyle/>
          <a:p>
            <a:pPr marL="12700">
              <a:lnSpc>
                <a:spcPct val="100000"/>
              </a:lnSpc>
              <a:spcBef>
                <a:spcPts val="100"/>
              </a:spcBef>
            </a:pPr>
            <a:r>
              <a:rPr sz="2800" spc="-135" dirty="0">
                <a:latin typeface="Arial"/>
                <a:cs typeface="Arial"/>
              </a:rPr>
              <a:t>2.</a:t>
            </a:r>
            <a:r>
              <a:rPr sz="2800" spc="-55" dirty="0">
                <a:latin typeface="Arial"/>
                <a:cs typeface="Arial"/>
              </a:rPr>
              <a:t> </a:t>
            </a:r>
            <a:r>
              <a:rPr sz="2800" dirty="0">
                <a:latin typeface="Arial"/>
                <a:cs typeface="Arial"/>
              </a:rPr>
              <a:t>Introduction</a:t>
            </a:r>
            <a:r>
              <a:rPr sz="2800" spc="-50" dirty="0">
                <a:latin typeface="Arial"/>
                <a:cs typeface="Arial"/>
              </a:rPr>
              <a:t> </a:t>
            </a:r>
            <a:r>
              <a:rPr sz="2800" dirty="0">
                <a:latin typeface="Arial"/>
                <a:cs typeface="Arial"/>
              </a:rPr>
              <a:t>to</a:t>
            </a:r>
            <a:r>
              <a:rPr sz="2800" spc="-55" dirty="0">
                <a:latin typeface="Arial"/>
                <a:cs typeface="Arial"/>
              </a:rPr>
              <a:t> </a:t>
            </a:r>
            <a:r>
              <a:rPr sz="2800" spc="-45" dirty="0">
                <a:latin typeface="Arial"/>
                <a:cs typeface="Arial"/>
              </a:rPr>
              <a:t>Project</a:t>
            </a:r>
            <a:r>
              <a:rPr sz="2800" spc="-50" dirty="0">
                <a:latin typeface="Arial"/>
                <a:cs typeface="Arial"/>
              </a:rPr>
              <a:t> </a:t>
            </a:r>
            <a:r>
              <a:rPr sz="2800" spc="-65" dirty="0">
                <a:latin typeface="Arial"/>
                <a:cs typeface="Arial"/>
              </a:rPr>
              <a:t>Management</a:t>
            </a:r>
            <a:r>
              <a:rPr sz="2800" spc="-55" dirty="0">
                <a:latin typeface="Arial"/>
                <a:cs typeface="Arial"/>
              </a:rPr>
              <a:t> </a:t>
            </a:r>
            <a:r>
              <a:rPr sz="2800" spc="-135" dirty="0">
                <a:latin typeface="Arial"/>
                <a:cs typeface="Arial"/>
              </a:rPr>
              <a:t>Phases</a:t>
            </a:r>
            <a:endParaRPr sz="2800">
              <a:latin typeface="Arial"/>
              <a:cs typeface="Arial"/>
            </a:endParaRPr>
          </a:p>
        </p:txBody>
      </p:sp>
      <p:sp>
        <p:nvSpPr>
          <p:cNvPr id="3" name="object 3"/>
          <p:cNvSpPr txBox="1"/>
          <p:nvPr/>
        </p:nvSpPr>
        <p:spPr>
          <a:xfrm>
            <a:off x="735010" y="3223129"/>
            <a:ext cx="10335260" cy="844550"/>
          </a:xfrm>
          <a:prstGeom prst="rect">
            <a:avLst/>
          </a:prstGeom>
        </p:spPr>
        <p:txBody>
          <a:bodyPr vert="horz" wrap="square" lIns="0" tIns="12700" rIns="0" bIns="0" rtlCol="0">
            <a:spAutoFit/>
          </a:bodyPr>
          <a:lstStyle/>
          <a:p>
            <a:pPr marL="12700" marR="5080">
              <a:lnSpc>
                <a:spcPct val="125000"/>
              </a:lnSpc>
              <a:spcBef>
                <a:spcPts val="100"/>
              </a:spcBef>
            </a:pPr>
            <a:r>
              <a:rPr sz="2150" spc="-35" dirty="0">
                <a:latin typeface="Arial"/>
                <a:cs typeface="Arial"/>
              </a:rPr>
              <a:t>Project</a:t>
            </a:r>
            <a:r>
              <a:rPr sz="2150" spc="-65" dirty="0">
                <a:latin typeface="Arial"/>
                <a:cs typeface="Arial"/>
              </a:rPr>
              <a:t> </a:t>
            </a:r>
            <a:r>
              <a:rPr sz="2150" spc="-50" dirty="0">
                <a:latin typeface="Arial"/>
                <a:cs typeface="Arial"/>
              </a:rPr>
              <a:t>Management</a:t>
            </a:r>
            <a:r>
              <a:rPr sz="2150" spc="-60" dirty="0">
                <a:latin typeface="Arial"/>
                <a:cs typeface="Arial"/>
              </a:rPr>
              <a:t> </a:t>
            </a:r>
            <a:r>
              <a:rPr sz="2150" spc="-50" dirty="0">
                <a:latin typeface="Arial"/>
                <a:cs typeface="Arial"/>
              </a:rPr>
              <a:t>is</a:t>
            </a:r>
            <a:r>
              <a:rPr sz="2150" spc="-65" dirty="0">
                <a:latin typeface="Arial"/>
                <a:cs typeface="Arial"/>
              </a:rPr>
              <a:t> </a:t>
            </a:r>
            <a:r>
              <a:rPr sz="2150" dirty="0">
                <a:latin typeface="Arial"/>
                <a:cs typeface="Arial"/>
              </a:rPr>
              <a:t>typically</a:t>
            </a:r>
            <a:r>
              <a:rPr sz="2150" spc="-60" dirty="0">
                <a:latin typeface="Arial"/>
                <a:cs typeface="Arial"/>
              </a:rPr>
              <a:t> </a:t>
            </a:r>
            <a:r>
              <a:rPr sz="2150" dirty="0">
                <a:latin typeface="Arial"/>
                <a:cs typeface="Arial"/>
              </a:rPr>
              <a:t>divided</a:t>
            </a:r>
            <a:r>
              <a:rPr sz="2150" spc="-65" dirty="0">
                <a:latin typeface="Arial"/>
                <a:cs typeface="Arial"/>
              </a:rPr>
              <a:t> </a:t>
            </a:r>
            <a:r>
              <a:rPr sz="2150" dirty="0">
                <a:latin typeface="Arial"/>
                <a:cs typeface="Arial"/>
              </a:rPr>
              <a:t>into</a:t>
            </a:r>
            <a:r>
              <a:rPr sz="2150" spc="-60" dirty="0">
                <a:latin typeface="Arial"/>
                <a:cs typeface="Arial"/>
              </a:rPr>
              <a:t> </a:t>
            </a:r>
            <a:r>
              <a:rPr sz="2150" dirty="0">
                <a:latin typeface="Arial"/>
                <a:cs typeface="Arial"/>
              </a:rPr>
              <a:t>five</a:t>
            </a:r>
            <a:r>
              <a:rPr sz="2150" spc="-65" dirty="0">
                <a:latin typeface="Arial"/>
                <a:cs typeface="Arial"/>
              </a:rPr>
              <a:t> </a:t>
            </a:r>
            <a:r>
              <a:rPr sz="2150" dirty="0">
                <a:latin typeface="Arial"/>
                <a:cs typeface="Arial"/>
              </a:rPr>
              <a:t>distinct</a:t>
            </a:r>
            <a:r>
              <a:rPr sz="2150" spc="-60" dirty="0">
                <a:latin typeface="Arial"/>
                <a:cs typeface="Arial"/>
              </a:rPr>
              <a:t> </a:t>
            </a:r>
            <a:r>
              <a:rPr sz="2150" spc="-95" dirty="0">
                <a:latin typeface="Arial"/>
                <a:cs typeface="Arial"/>
              </a:rPr>
              <a:t>phases:</a:t>
            </a:r>
            <a:r>
              <a:rPr sz="2150" spc="-60" dirty="0">
                <a:latin typeface="Arial"/>
                <a:cs typeface="Arial"/>
              </a:rPr>
              <a:t> </a:t>
            </a:r>
            <a:r>
              <a:rPr sz="2150" spc="-10" dirty="0">
                <a:latin typeface="Arial"/>
                <a:cs typeface="Arial"/>
              </a:rPr>
              <a:t>Initiation,</a:t>
            </a:r>
            <a:r>
              <a:rPr sz="2150" spc="-65" dirty="0">
                <a:latin typeface="Arial"/>
                <a:cs typeface="Arial"/>
              </a:rPr>
              <a:t> </a:t>
            </a:r>
            <a:r>
              <a:rPr sz="2150" spc="-10" dirty="0">
                <a:latin typeface="Arial"/>
                <a:cs typeface="Arial"/>
              </a:rPr>
              <a:t>Planning, </a:t>
            </a:r>
            <a:r>
              <a:rPr sz="2150" spc="-50" dirty="0">
                <a:latin typeface="Arial"/>
                <a:cs typeface="Arial"/>
              </a:rPr>
              <a:t>Execution,</a:t>
            </a:r>
            <a:r>
              <a:rPr sz="2150" spc="-75" dirty="0">
                <a:latin typeface="Arial"/>
                <a:cs typeface="Arial"/>
              </a:rPr>
              <a:t> </a:t>
            </a:r>
            <a:r>
              <a:rPr sz="2150" spc="-10" dirty="0">
                <a:latin typeface="Arial"/>
                <a:cs typeface="Arial"/>
              </a:rPr>
              <a:t>Monitoring,</a:t>
            </a:r>
            <a:r>
              <a:rPr sz="2150" spc="-75" dirty="0">
                <a:latin typeface="Arial"/>
                <a:cs typeface="Arial"/>
              </a:rPr>
              <a:t> </a:t>
            </a:r>
            <a:r>
              <a:rPr sz="2150" spc="-40" dirty="0">
                <a:latin typeface="Arial"/>
                <a:cs typeface="Arial"/>
              </a:rPr>
              <a:t>and</a:t>
            </a:r>
            <a:r>
              <a:rPr sz="2150" spc="-70" dirty="0">
                <a:latin typeface="Arial"/>
                <a:cs typeface="Arial"/>
              </a:rPr>
              <a:t> </a:t>
            </a:r>
            <a:r>
              <a:rPr sz="2150" spc="-75" dirty="0">
                <a:latin typeface="Arial"/>
                <a:cs typeface="Arial"/>
              </a:rPr>
              <a:t>Closing.</a:t>
            </a:r>
            <a:r>
              <a:rPr sz="2150" spc="-70" dirty="0">
                <a:latin typeface="Arial"/>
                <a:cs typeface="Arial"/>
              </a:rPr>
              <a:t> </a:t>
            </a:r>
            <a:r>
              <a:rPr sz="2150" spc="-130" dirty="0">
                <a:latin typeface="Arial"/>
                <a:cs typeface="Arial"/>
              </a:rPr>
              <a:t>Each</a:t>
            </a:r>
            <a:r>
              <a:rPr sz="2150" spc="-75" dirty="0">
                <a:latin typeface="Arial"/>
                <a:cs typeface="Arial"/>
              </a:rPr>
              <a:t> phase</a:t>
            </a:r>
            <a:r>
              <a:rPr sz="2150" spc="-70" dirty="0">
                <a:latin typeface="Arial"/>
                <a:cs typeface="Arial"/>
              </a:rPr>
              <a:t> </a:t>
            </a:r>
            <a:r>
              <a:rPr sz="2150" spc="-110" dirty="0">
                <a:latin typeface="Arial"/>
                <a:cs typeface="Arial"/>
              </a:rPr>
              <a:t>has</a:t>
            </a:r>
            <a:r>
              <a:rPr sz="2150" spc="-75" dirty="0">
                <a:latin typeface="Arial"/>
                <a:cs typeface="Arial"/>
              </a:rPr>
              <a:t> </a:t>
            </a:r>
            <a:r>
              <a:rPr sz="2150" spc="-10" dirty="0">
                <a:latin typeface="Arial"/>
                <a:cs typeface="Arial"/>
              </a:rPr>
              <a:t>specific</a:t>
            </a:r>
            <a:r>
              <a:rPr sz="2150" spc="-75" dirty="0">
                <a:latin typeface="Arial"/>
                <a:cs typeface="Arial"/>
              </a:rPr>
              <a:t> </a:t>
            </a:r>
            <a:r>
              <a:rPr sz="2150" spc="-20" dirty="0">
                <a:latin typeface="Arial"/>
                <a:cs typeface="Arial"/>
              </a:rPr>
              <a:t>objectives</a:t>
            </a:r>
            <a:r>
              <a:rPr sz="2150" spc="-75" dirty="0">
                <a:latin typeface="Arial"/>
                <a:cs typeface="Arial"/>
              </a:rPr>
              <a:t> </a:t>
            </a:r>
            <a:r>
              <a:rPr sz="2150" spc="-40" dirty="0">
                <a:latin typeface="Arial"/>
                <a:cs typeface="Arial"/>
              </a:rPr>
              <a:t>and</a:t>
            </a:r>
            <a:r>
              <a:rPr sz="2150" spc="-70" dirty="0">
                <a:latin typeface="Arial"/>
                <a:cs typeface="Arial"/>
              </a:rPr>
              <a:t> </a:t>
            </a:r>
            <a:r>
              <a:rPr sz="2150" spc="-10" dirty="0">
                <a:latin typeface="Arial"/>
                <a:cs typeface="Arial"/>
              </a:rPr>
              <a:t>deliverables.</a:t>
            </a:r>
            <a:endParaRPr sz="2150">
              <a:latin typeface="Arial"/>
              <a:cs typeface="Arial"/>
            </a:endParaRPr>
          </a:p>
        </p:txBody>
      </p:sp>
      <p:sp>
        <p:nvSpPr>
          <p:cNvPr id="4" name="object 4"/>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144461"/>
            <a:ext cx="1559560" cy="391160"/>
          </a:xfrm>
          <a:prstGeom prst="rect">
            <a:avLst/>
          </a:prstGeom>
        </p:spPr>
        <p:txBody>
          <a:bodyPr vert="horz" wrap="square" lIns="0" tIns="12700" rIns="0" bIns="0" rtlCol="0">
            <a:spAutoFit/>
          </a:bodyPr>
          <a:lstStyle/>
          <a:p>
            <a:pPr marL="12700">
              <a:lnSpc>
                <a:spcPct val="100000"/>
              </a:lnSpc>
              <a:spcBef>
                <a:spcPts val="100"/>
              </a:spcBef>
            </a:pPr>
            <a:r>
              <a:rPr spc="-270" dirty="0"/>
              <a:t>2.1</a:t>
            </a:r>
            <a:r>
              <a:rPr spc="-75" dirty="0"/>
              <a:t> </a:t>
            </a:r>
            <a:r>
              <a:rPr spc="-10" dirty="0" smtClean="0"/>
              <a:t>Initia</a:t>
            </a:r>
            <a:r>
              <a:rPr lang="en-US" spc="-10" dirty="0" smtClean="0"/>
              <a:t>l</a:t>
            </a:r>
            <a:endParaRPr spc="-10" dirty="0"/>
          </a:p>
        </p:txBody>
      </p:sp>
      <p:pic>
        <p:nvPicPr>
          <p:cNvPr id="3" name="object 3"/>
          <p:cNvPicPr/>
          <p:nvPr/>
        </p:nvPicPr>
        <p:blipFill>
          <a:blip r:embed="rId2" cstate="print"/>
          <a:stretch>
            <a:fillRect/>
          </a:stretch>
        </p:blipFill>
        <p:spPr>
          <a:xfrm>
            <a:off x="1038222" y="1857371"/>
            <a:ext cx="104773" cy="104772"/>
          </a:xfrm>
          <a:prstGeom prst="rect">
            <a:avLst/>
          </a:prstGeom>
        </p:spPr>
      </p:pic>
      <p:pic>
        <p:nvPicPr>
          <p:cNvPr id="4" name="object 4"/>
          <p:cNvPicPr/>
          <p:nvPr/>
        </p:nvPicPr>
        <p:blipFill>
          <a:blip r:embed="rId2" cstate="print"/>
          <a:stretch>
            <a:fillRect/>
          </a:stretch>
        </p:blipFill>
        <p:spPr>
          <a:xfrm>
            <a:off x="1038222" y="2333621"/>
            <a:ext cx="104773" cy="104773"/>
          </a:xfrm>
          <a:prstGeom prst="rect">
            <a:avLst/>
          </a:prstGeom>
        </p:spPr>
      </p:pic>
      <p:pic>
        <p:nvPicPr>
          <p:cNvPr id="5" name="object 5"/>
          <p:cNvPicPr/>
          <p:nvPr/>
        </p:nvPicPr>
        <p:blipFill>
          <a:blip r:embed="rId3" cstate="print"/>
          <a:stretch>
            <a:fillRect/>
          </a:stretch>
        </p:blipFill>
        <p:spPr>
          <a:xfrm>
            <a:off x="1585909" y="2747945"/>
            <a:ext cx="114297" cy="114298"/>
          </a:xfrm>
          <a:prstGeom prst="rect">
            <a:avLst/>
          </a:prstGeom>
        </p:spPr>
      </p:pic>
      <p:pic>
        <p:nvPicPr>
          <p:cNvPr id="6" name="object 6"/>
          <p:cNvPicPr/>
          <p:nvPr/>
        </p:nvPicPr>
        <p:blipFill>
          <a:blip r:embed="rId4" cstate="print"/>
          <a:stretch>
            <a:fillRect/>
          </a:stretch>
        </p:blipFill>
        <p:spPr>
          <a:xfrm>
            <a:off x="1585909" y="3643293"/>
            <a:ext cx="114297" cy="114298"/>
          </a:xfrm>
          <a:prstGeom prst="rect">
            <a:avLst/>
          </a:prstGeom>
        </p:spPr>
      </p:pic>
      <p:pic>
        <p:nvPicPr>
          <p:cNvPr id="7" name="object 7"/>
          <p:cNvPicPr/>
          <p:nvPr/>
        </p:nvPicPr>
        <p:blipFill>
          <a:blip r:embed="rId2" cstate="print"/>
          <a:stretch>
            <a:fillRect/>
          </a:stretch>
        </p:blipFill>
        <p:spPr>
          <a:xfrm>
            <a:off x="1038222" y="4543416"/>
            <a:ext cx="104773" cy="104773"/>
          </a:xfrm>
          <a:prstGeom prst="rect">
            <a:avLst/>
          </a:prstGeom>
        </p:spPr>
      </p:pic>
      <p:pic>
        <p:nvPicPr>
          <p:cNvPr id="8" name="object 8"/>
          <p:cNvPicPr/>
          <p:nvPr/>
        </p:nvPicPr>
        <p:blipFill>
          <a:blip r:embed="rId5" cstate="print"/>
          <a:stretch>
            <a:fillRect/>
          </a:stretch>
        </p:blipFill>
        <p:spPr>
          <a:xfrm>
            <a:off x="1585909" y="4957741"/>
            <a:ext cx="114297" cy="114298"/>
          </a:xfrm>
          <a:prstGeom prst="rect">
            <a:avLst/>
          </a:prstGeom>
        </p:spPr>
      </p:pic>
      <p:pic>
        <p:nvPicPr>
          <p:cNvPr id="9" name="object 9"/>
          <p:cNvPicPr/>
          <p:nvPr/>
        </p:nvPicPr>
        <p:blipFill>
          <a:blip r:embed="rId6" cstate="print"/>
          <a:stretch>
            <a:fillRect/>
          </a:stretch>
        </p:blipFill>
        <p:spPr>
          <a:xfrm>
            <a:off x="1585909" y="5443515"/>
            <a:ext cx="114297" cy="114298"/>
          </a:xfrm>
          <a:prstGeom prst="rect">
            <a:avLst/>
          </a:prstGeom>
        </p:spPr>
      </p:pic>
      <p:sp>
        <p:nvSpPr>
          <p:cNvPr id="10" name="object 10"/>
          <p:cNvSpPr txBox="1"/>
          <p:nvPr/>
        </p:nvSpPr>
        <p:spPr>
          <a:xfrm>
            <a:off x="1287463" y="1556257"/>
            <a:ext cx="9724390" cy="4092575"/>
          </a:xfrm>
          <a:prstGeom prst="rect">
            <a:avLst/>
          </a:prstGeom>
        </p:spPr>
        <p:txBody>
          <a:bodyPr vert="horz" wrap="square" lIns="0" tIns="12700" rIns="0" bIns="0" rtlCol="0">
            <a:spAutoFit/>
          </a:bodyPr>
          <a:lstStyle/>
          <a:p>
            <a:pPr marL="12700" marR="273050">
              <a:lnSpc>
                <a:spcPct val="145300"/>
              </a:lnSpc>
              <a:spcBef>
                <a:spcPts val="100"/>
              </a:spcBef>
            </a:pPr>
            <a:r>
              <a:rPr sz="2150" spc="-20" dirty="0">
                <a:latin typeface="Arial"/>
                <a:cs typeface="Arial"/>
              </a:rPr>
              <a:t>Objective:</a:t>
            </a:r>
            <a:r>
              <a:rPr sz="2150" spc="-100" dirty="0">
                <a:latin typeface="Arial"/>
                <a:cs typeface="Arial"/>
              </a:rPr>
              <a:t> </a:t>
            </a:r>
            <a:r>
              <a:rPr sz="2150" spc="-35" dirty="0">
                <a:latin typeface="Arial"/>
                <a:cs typeface="Arial"/>
              </a:rPr>
              <a:t>Define</a:t>
            </a:r>
            <a:r>
              <a:rPr sz="2150" spc="-85" dirty="0">
                <a:latin typeface="Arial"/>
                <a:cs typeface="Arial"/>
              </a:rPr>
              <a:t> </a:t>
            </a:r>
            <a:r>
              <a:rPr sz="2150" dirty="0">
                <a:latin typeface="Arial"/>
                <a:cs typeface="Arial"/>
              </a:rPr>
              <a:t>the</a:t>
            </a:r>
            <a:r>
              <a:rPr sz="2150" spc="-85" dirty="0">
                <a:latin typeface="Arial"/>
                <a:cs typeface="Arial"/>
              </a:rPr>
              <a:t> </a:t>
            </a:r>
            <a:r>
              <a:rPr sz="2150" dirty="0">
                <a:latin typeface="Arial"/>
                <a:cs typeface="Arial"/>
              </a:rPr>
              <a:t>project</a:t>
            </a:r>
            <a:r>
              <a:rPr sz="2150" spc="-85" dirty="0">
                <a:latin typeface="Arial"/>
                <a:cs typeface="Arial"/>
              </a:rPr>
              <a:t> </a:t>
            </a:r>
            <a:r>
              <a:rPr sz="2150" dirty="0">
                <a:latin typeface="Arial"/>
                <a:cs typeface="Arial"/>
              </a:rPr>
              <a:t>at</a:t>
            </a:r>
            <a:r>
              <a:rPr sz="2150" spc="-85" dirty="0">
                <a:latin typeface="Arial"/>
                <a:cs typeface="Arial"/>
              </a:rPr>
              <a:t> </a:t>
            </a:r>
            <a:r>
              <a:rPr sz="2150" spc="-140" dirty="0">
                <a:latin typeface="Arial"/>
                <a:cs typeface="Arial"/>
              </a:rPr>
              <a:t>a</a:t>
            </a:r>
            <a:r>
              <a:rPr sz="2150" spc="-75" dirty="0">
                <a:latin typeface="Arial"/>
                <a:cs typeface="Arial"/>
              </a:rPr>
              <a:t> </a:t>
            </a:r>
            <a:r>
              <a:rPr sz="2150" spc="-30" dirty="0">
                <a:latin typeface="Arial"/>
                <a:cs typeface="Arial"/>
              </a:rPr>
              <a:t>high</a:t>
            </a:r>
            <a:r>
              <a:rPr sz="2150" spc="-85" dirty="0">
                <a:latin typeface="Arial"/>
                <a:cs typeface="Arial"/>
              </a:rPr>
              <a:t> </a:t>
            </a:r>
            <a:r>
              <a:rPr sz="2150" spc="-10" dirty="0">
                <a:latin typeface="Arial"/>
                <a:cs typeface="Arial"/>
              </a:rPr>
              <a:t>level</a:t>
            </a:r>
            <a:r>
              <a:rPr sz="2150" spc="-85" dirty="0">
                <a:latin typeface="Arial"/>
                <a:cs typeface="Arial"/>
              </a:rPr>
              <a:t> </a:t>
            </a:r>
            <a:r>
              <a:rPr sz="2150" spc="-40" dirty="0">
                <a:latin typeface="Arial"/>
                <a:cs typeface="Arial"/>
              </a:rPr>
              <a:t>and</a:t>
            </a:r>
            <a:r>
              <a:rPr sz="2150" spc="-85" dirty="0">
                <a:latin typeface="Arial"/>
                <a:cs typeface="Arial"/>
              </a:rPr>
              <a:t> </a:t>
            </a:r>
            <a:r>
              <a:rPr sz="2150" spc="-50" dirty="0">
                <a:latin typeface="Arial"/>
                <a:cs typeface="Arial"/>
              </a:rPr>
              <a:t>secure</a:t>
            </a:r>
            <a:r>
              <a:rPr sz="2150" spc="-90" dirty="0">
                <a:latin typeface="Arial"/>
                <a:cs typeface="Arial"/>
              </a:rPr>
              <a:t> </a:t>
            </a:r>
            <a:r>
              <a:rPr sz="2150" spc="-30" dirty="0">
                <a:latin typeface="Arial"/>
                <a:cs typeface="Arial"/>
              </a:rPr>
              <a:t>authorization</a:t>
            </a:r>
            <a:r>
              <a:rPr sz="2150" spc="-85" dirty="0">
                <a:latin typeface="Arial"/>
                <a:cs typeface="Arial"/>
              </a:rPr>
              <a:t> </a:t>
            </a:r>
            <a:r>
              <a:rPr sz="2150" dirty="0">
                <a:latin typeface="Arial"/>
                <a:cs typeface="Arial"/>
              </a:rPr>
              <a:t>to</a:t>
            </a:r>
            <a:r>
              <a:rPr sz="2150" spc="-85" dirty="0">
                <a:latin typeface="Arial"/>
                <a:cs typeface="Arial"/>
              </a:rPr>
              <a:t> </a:t>
            </a:r>
            <a:r>
              <a:rPr sz="2150" spc="-10" dirty="0">
                <a:latin typeface="Arial"/>
                <a:cs typeface="Arial"/>
              </a:rPr>
              <a:t>proceed. </a:t>
            </a:r>
            <a:r>
              <a:rPr sz="2150" spc="-80" dirty="0">
                <a:latin typeface="Arial"/>
                <a:cs typeface="Arial"/>
              </a:rPr>
              <a:t>Key</a:t>
            </a:r>
            <a:r>
              <a:rPr sz="2150" spc="-60" dirty="0">
                <a:latin typeface="Arial"/>
                <a:cs typeface="Arial"/>
              </a:rPr>
              <a:t> </a:t>
            </a:r>
            <a:r>
              <a:rPr sz="2150" spc="-10" dirty="0">
                <a:latin typeface="Arial"/>
                <a:cs typeface="Arial"/>
              </a:rPr>
              <a:t>Activities:</a:t>
            </a:r>
            <a:endParaRPr sz="2150">
              <a:latin typeface="Arial"/>
              <a:cs typeface="Arial"/>
            </a:endParaRPr>
          </a:p>
          <a:p>
            <a:pPr marL="563880">
              <a:lnSpc>
                <a:spcPct val="100000"/>
              </a:lnSpc>
              <a:spcBef>
                <a:spcPts val="75"/>
              </a:spcBef>
            </a:pPr>
            <a:r>
              <a:rPr sz="2150" spc="-20" dirty="0">
                <a:latin typeface="Arial"/>
                <a:cs typeface="Arial"/>
              </a:rPr>
              <a:t>Develop</a:t>
            </a:r>
            <a:r>
              <a:rPr sz="2150" spc="-80" dirty="0">
                <a:latin typeface="Arial"/>
                <a:cs typeface="Arial"/>
              </a:rPr>
              <a:t> </a:t>
            </a:r>
            <a:r>
              <a:rPr sz="2150" spc="-35" dirty="0">
                <a:latin typeface="Arial"/>
                <a:cs typeface="Arial"/>
              </a:rPr>
              <a:t>Project</a:t>
            </a:r>
            <a:r>
              <a:rPr sz="2150" spc="-80" dirty="0">
                <a:latin typeface="Arial"/>
                <a:cs typeface="Arial"/>
              </a:rPr>
              <a:t> </a:t>
            </a:r>
            <a:r>
              <a:rPr sz="2150" spc="-45" dirty="0">
                <a:latin typeface="Arial"/>
                <a:cs typeface="Arial"/>
              </a:rPr>
              <a:t>Charter:</a:t>
            </a:r>
            <a:r>
              <a:rPr sz="2150" spc="-80" dirty="0">
                <a:latin typeface="Arial"/>
                <a:cs typeface="Arial"/>
              </a:rPr>
              <a:t> </a:t>
            </a:r>
            <a:r>
              <a:rPr sz="2150" spc="-30" dirty="0">
                <a:latin typeface="Arial"/>
                <a:cs typeface="Arial"/>
              </a:rPr>
              <a:t>Outlines</a:t>
            </a:r>
            <a:r>
              <a:rPr sz="2150" spc="-75" dirty="0">
                <a:latin typeface="Arial"/>
                <a:cs typeface="Arial"/>
              </a:rPr>
              <a:t> </a:t>
            </a:r>
            <a:r>
              <a:rPr sz="2150" spc="-20" dirty="0">
                <a:latin typeface="Arial"/>
                <a:cs typeface="Arial"/>
              </a:rPr>
              <a:t>objectives,</a:t>
            </a:r>
            <a:r>
              <a:rPr sz="2150" spc="-80" dirty="0">
                <a:latin typeface="Arial"/>
                <a:cs typeface="Arial"/>
              </a:rPr>
              <a:t> </a:t>
            </a:r>
            <a:r>
              <a:rPr sz="2150" spc="-45" dirty="0">
                <a:latin typeface="Arial"/>
                <a:cs typeface="Arial"/>
              </a:rPr>
              <a:t>scope,</a:t>
            </a:r>
            <a:r>
              <a:rPr sz="2150" spc="-80" dirty="0">
                <a:latin typeface="Arial"/>
                <a:cs typeface="Arial"/>
              </a:rPr>
              <a:t> </a:t>
            </a:r>
            <a:r>
              <a:rPr sz="2150" spc="-50" dirty="0">
                <a:latin typeface="Arial"/>
                <a:cs typeface="Arial"/>
              </a:rPr>
              <a:t>stakeholders,</a:t>
            </a:r>
            <a:r>
              <a:rPr sz="2150" spc="-75" dirty="0">
                <a:latin typeface="Arial"/>
                <a:cs typeface="Arial"/>
              </a:rPr>
              <a:t> </a:t>
            </a:r>
            <a:r>
              <a:rPr sz="2150" spc="-25" dirty="0">
                <a:latin typeface="Arial"/>
                <a:cs typeface="Arial"/>
              </a:rPr>
              <a:t>and</a:t>
            </a:r>
            <a:endParaRPr sz="2150">
              <a:latin typeface="Arial"/>
              <a:cs typeface="Arial"/>
            </a:endParaRPr>
          </a:p>
          <a:p>
            <a:pPr marL="563880">
              <a:lnSpc>
                <a:spcPct val="100000"/>
              </a:lnSpc>
              <a:spcBef>
                <a:spcPts val="645"/>
              </a:spcBef>
            </a:pPr>
            <a:r>
              <a:rPr sz="2150" spc="-10" dirty="0">
                <a:latin typeface="Arial"/>
                <a:cs typeface="Arial"/>
              </a:rPr>
              <a:t>authority.</a:t>
            </a:r>
            <a:endParaRPr sz="2150">
              <a:latin typeface="Arial"/>
              <a:cs typeface="Arial"/>
            </a:endParaRPr>
          </a:p>
          <a:p>
            <a:pPr marL="563880" marR="5080">
              <a:lnSpc>
                <a:spcPct val="127899"/>
              </a:lnSpc>
              <a:spcBef>
                <a:spcPts val="450"/>
              </a:spcBef>
            </a:pPr>
            <a:r>
              <a:rPr sz="2150" dirty="0">
                <a:latin typeface="Arial"/>
                <a:cs typeface="Arial"/>
              </a:rPr>
              <a:t>Identify</a:t>
            </a:r>
            <a:r>
              <a:rPr sz="2150" spc="-75" dirty="0">
                <a:latin typeface="Arial"/>
                <a:cs typeface="Arial"/>
              </a:rPr>
              <a:t> </a:t>
            </a:r>
            <a:r>
              <a:rPr sz="2150" spc="-50" dirty="0">
                <a:latin typeface="Arial"/>
                <a:cs typeface="Arial"/>
              </a:rPr>
              <a:t>Stakeholders:</a:t>
            </a:r>
            <a:r>
              <a:rPr sz="2150" spc="-70" dirty="0">
                <a:latin typeface="Arial"/>
                <a:cs typeface="Arial"/>
              </a:rPr>
              <a:t> </a:t>
            </a:r>
            <a:r>
              <a:rPr sz="2150" spc="-20" dirty="0">
                <a:latin typeface="Arial"/>
                <a:cs typeface="Arial"/>
              </a:rPr>
              <a:t>Determine</a:t>
            </a:r>
            <a:r>
              <a:rPr sz="2150" spc="-70" dirty="0">
                <a:latin typeface="Arial"/>
                <a:cs typeface="Arial"/>
              </a:rPr>
              <a:t> </a:t>
            </a:r>
            <a:r>
              <a:rPr sz="2150" spc="50" dirty="0">
                <a:latin typeface="Arial"/>
                <a:cs typeface="Arial"/>
              </a:rPr>
              <a:t>who</a:t>
            </a:r>
            <a:r>
              <a:rPr sz="2150" spc="-70" dirty="0">
                <a:latin typeface="Arial"/>
                <a:cs typeface="Arial"/>
              </a:rPr>
              <a:t> </a:t>
            </a:r>
            <a:r>
              <a:rPr sz="2150" spc="70" dirty="0">
                <a:latin typeface="Arial"/>
                <a:cs typeface="Arial"/>
              </a:rPr>
              <a:t>will</a:t>
            </a:r>
            <a:r>
              <a:rPr sz="2150" spc="-70" dirty="0">
                <a:latin typeface="Arial"/>
                <a:cs typeface="Arial"/>
              </a:rPr>
              <a:t> </a:t>
            </a:r>
            <a:r>
              <a:rPr sz="2150" dirty="0">
                <a:latin typeface="Arial"/>
                <a:cs typeface="Arial"/>
              </a:rPr>
              <a:t>be</a:t>
            </a:r>
            <a:r>
              <a:rPr sz="2150" spc="-70" dirty="0">
                <a:latin typeface="Arial"/>
                <a:cs typeface="Arial"/>
              </a:rPr>
              <a:t> </a:t>
            </a:r>
            <a:r>
              <a:rPr sz="2150" spc="-20" dirty="0">
                <a:latin typeface="Arial"/>
                <a:cs typeface="Arial"/>
              </a:rPr>
              <a:t>affected</a:t>
            </a:r>
            <a:r>
              <a:rPr sz="2150" spc="-70" dirty="0">
                <a:latin typeface="Arial"/>
                <a:cs typeface="Arial"/>
              </a:rPr>
              <a:t> </a:t>
            </a:r>
            <a:r>
              <a:rPr sz="2150" dirty="0">
                <a:latin typeface="Arial"/>
                <a:cs typeface="Arial"/>
              </a:rPr>
              <a:t>by</a:t>
            </a:r>
            <a:r>
              <a:rPr sz="2150" spc="-70" dirty="0">
                <a:latin typeface="Arial"/>
                <a:cs typeface="Arial"/>
              </a:rPr>
              <a:t> </a:t>
            </a:r>
            <a:r>
              <a:rPr sz="2150" dirty="0">
                <a:latin typeface="Arial"/>
                <a:cs typeface="Arial"/>
              </a:rPr>
              <a:t>the</a:t>
            </a:r>
            <a:r>
              <a:rPr sz="2150" spc="-70" dirty="0">
                <a:latin typeface="Arial"/>
                <a:cs typeface="Arial"/>
              </a:rPr>
              <a:t> </a:t>
            </a:r>
            <a:r>
              <a:rPr sz="2150" dirty="0">
                <a:latin typeface="Arial"/>
                <a:cs typeface="Arial"/>
              </a:rPr>
              <a:t>project</a:t>
            </a:r>
            <a:r>
              <a:rPr sz="2150" spc="-70" dirty="0">
                <a:latin typeface="Arial"/>
                <a:cs typeface="Arial"/>
              </a:rPr>
              <a:t> </a:t>
            </a:r>
            <a:r>
              <a:rPr sz="2150" spc="-40" dirty="0">
                <a:latin typeface="Arial"/>
                <a:cs typeface="Arial"/>
              </a:rPr>
              <a:t>and</a:t>
            </a:r>
            <a:r>
              <a:rPr sz="2150" spc="-70" dirty="0">
                <a:latin typeface="Arial"/>
                <a:cs typeface="Arial"/>
              </a:rPr>
              <a:t> </a:t>
            </a:r>
            <a:r>
              <a:rPr sz="2150" spc="-10" dirty="0">
                <a:latin typeface="Arial"/>
                <a:cs typeface="Arial"/>
              </a:rPr>
              <a:t>their interests.</a:t>
            </a:r>
            <a:endParaRPr sz="2150">
              <a:latin typeface="Arial"/>
              <a:cs typeface="Arial"/>
            </a:endParaRPr>
          </a:p>
          <a:p>
            <a:pPr marL="12700">
              <a:lnSpc>
                <a:spcPct val="100000"/>
              </a:lnSpc>
              <a:spcBef>
                <a:spcPts val="1889"/>
              </a:spcBef>
            </a:pPr>
            <a:r>
              <a:rPr sz="2150" spc="-10" dirty="0">
                <a:latin typeface="Arial"/>
                <a:cs typeface="Arial"/>
              </a:rPr>
              <a:t>Deliverables:</a:t>
            </a:r>
            <a:endParaRPr sz="2150">
              <a:latin typeface="Arial"/>
              <a:cs typeface="Arial"/>
            </a:endParaRPr>
          </a:p>
          <a:p>
            <a:pPr marL="563880">
              <a:lnSpc>
                <a:spcPct val="100000"/>
              </a:lnSpc>
              <a:spcBef>
                <a:spcPts val="720"/>
              </a:spcBef>
            </a:pPr>
            <a:r>
              <a:rPr sz="2150" spc="-35" dirty="0">
                <a:latin typeface="Arial"/>
                <a:cs typeface="Arial"/>
              </a:rPr>
              <a:t>Project</a:t>
            </a:r>
            <a:r>
              <a:rPr sz="2150" spc="-100" dirty="0">
                <a:latin typeface="Arial"/>
                <a:cs typeface="Arial"/>
              </a:rPr>
              <a:t> </a:t>
            </a:r>
            <a:r>
              <a:rPr sz="2150" spc="-10" dirty="0">
                <a:latin typeface="Arial"/>
                <a:cs typeface="Arial"/>
              </a:rPr>
              <a:t>Charter</a:t>
            </a:r>
            <a:endParaRPr sz="2150">
              <a:latin typeface="Arial"/>
              <a:cs typeface="Arial"/>
            </a:endParaRPr>
          </a:p>
          <a:p>
            <a:pPr marL="563880">
              <a:lnSpc>
                <a:spcPct val="100000"/>
              </a:lnSpc>
              <a:spcBef>
                <a:spcPts val="1245"/>
              </a:spcBef>
            </a:pPr>
            <a:r>
              <a:rPr sz="2150" spc="-45" dirty="0">
                <a:latin typeface="Arial"/>
                <a:cs typeface="Arial"/>
              </a:rPr>
              <a:t>Stakeholder</a:t>
            </a:r>
            <a:r>
              <a:rPr sz="2150" spc="-40" dirty="0">
                <a:latin typeface="Arial"/>
                <a:cs typeface="Arial"/>
              </a:rPr>
              <a:t> </a:t>
            </a:r>
            <a:r>
              <a:rPr sz="2150" spc="-10" dirty="0">
                <a:latin typeface="Arial"/>
                <a:cs typeface="Arial"/>
              </a:rPr>
              <a:t>Register</a:t>
            </a:r>
            <a:endParaRPr sz="215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8</a:t>
            </a:fld>
            <a:endParaRPr spc="-25" dirty="0"/>
          </a:p>
        </p:txBody>
      </p:sp>
      <p:sp>
        <p:nvSpPr>
          <p:cNvPr id="11" name="object 11"/>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9</a:t>
            </a:fld>
            <a:endParaRPr spc="-25" dirty="0"/>
          </a:p>
        </p:txBody>
      </p:sp>
      <p:sp>
        <p:nvSpPr>
          <p:cNvPr id="2" name="object 2"/>
          <p:cNvSpPr txBox="1">
            <a:spLocks noGrp="1"/>
          </p:cNvSpPr>
          <p:nvPr>
            <p:ph type="title"/>
          </p:nvPr>
        </p:nvSpPr>
        <p:spPr>
          <a:prstGeom prst="rect">
            <a:avLst/>
          </a:prstGeom>
        </p:spPr>
        <p:txBody>
          <a:bodyPr vert="horz" wrap="square" lIns="0" tIns="346444" rIns="0" bIns="0" rtlCol="0">
            <a:spAutoFit/>
          </a:bodyPr>
          <a:lstStyle/>
          <a:p>
            <a:pPr marL="12700">
              <a:lnSpc>
                <a:spcPct val="100000"/>
              </a:lnSpc>
              <a:spcBef>
                <a:spcPts val="1085"/>
              </a:spcBef>
            </a:pPr>
            <a:r>
              <a:rPr sz="2250" spc="-10" dirty="0"/>
              <a:t>Example</a:t>
            </a:r>
            <a:endParaRPr sz="2250"/>
          </a:p>
          <a:p>
            <a:pPr marL="12700" marR="5080">
              <a:lnSpc>
                <a:spcPct val="126499"/>
              </a:lnSpc>
              <a:spcBef>
                <a:spcPts val="254"/>
              </a:spcBef>
            </a:pPr>
            <a:r>
              <a:rPr sz="2150" dirty="0"/>
              <a:t>A</a:t>
            </a:r>
            <a:r>
              <a:rPr sz="2150" spc="-50" dirty="0"/>
              <a:t> </a:t>
            </a:r>
            <a:r>
              <a:rPr sz="2150" spc="-10" dirty="0"/>
              <a:t>company</a:t>
            </a:r>
            <a:r>
              <a:rPr sz="2150" spc="-50" dirty="0"/>
              <a:t> </a:t>
            </a:r>
            <a:r>
              <a:rPr sz="2150" spc="-30" dirty="0"/>
              <a:t>decides</a:t>
            </a:r>
            <a:r>
              <a:rPr sz="2150" spc="-50" dirty="0"/>
              <a:t> </a:t>
            </a:r>
            <a:r>
              <a:rPr sz="2150" dirty="0"/>
              <a:t>to</a:t>
            </a:r>
            <a:r>
              <a:rPr sz="2150" spc="-45" dirty="0"/>
              <a:t> </a:t>
            </a:r>
            <a:r>
              <a:rPr sz="2150" spc="-10" dirty="0"/>
              <a:t>develop</a:t>
            </a:r>
            <a:r>
              <a:rPr sz="2150" spc="-50" dirty="0"/>
              <a:t> </a:t>
            </a:r>
            <a:r>
              <a:rPr sz="2150" spc="-140" dirty="0"/>
              <a:t>a</a:t>
            </a:r>
            <a:r>
              <a:rPr sz="2150" spc="-50" dirty="0"/>
              <a:t> </a:t>
            </a:r>
            <a:r>
              <a:rPr sz="2150" dirty="0"/>
              <a:t>new</a:t>
            </a:r>
            <a:r>
              <a:rPr sz="2150" spc="-50" dirty="0"/>
              <a:t> </a:t>
            </a:r>
            <a:r>
              <a:rPr sz="2150" dirty="0"/>
              <a:t>e-commerce</a:t>
            </a:r>
            <a:r>
              <a:rPr sz="2150" spc="-45" dirty="0"/>
              <a:t> </a:t>
            </a:r>
            <a:r>
              <a:rPr sz="2150" dirty="0"/>
              <a:t>platform.</a:t>
            </a:r>
            <a:r>
              <a:rPr sz="2150" spc="-50" dirty="0"/>
              <a:t> </a:t>
            </a:r>
            <a:r>
              <a:rPr sz="2150" spc="-25" dirty="0"/>
              <a:t>During</a:t>
            </a:r>
            <a:r>
              <a:rPr sz="2150" spc="-50" dirty="0"/>
              <a:t> </a:t>
            </a:r>
            <a:r>
              <a:rPr sz="2150" spc="-10" dirty="0"/>
              <a:t>initiation,</a:t>
            </a:r>
            <a:r>
              <a:rPr sz="2150" spc="-50" dirty="0"/>
              <a:t> </a:t>
            </a:r>
            <a:r>
              <a:rPr sz="2150" spc="-25" dirty="0"/>
              <a:t>the </a:t>
            </a:r>
            <a:r>
              <a:rPr sz="2150" dirty="0"/>
              <a:t>project</a:t>
            </a:r>
            <a:r>
              <a:rPr sz="2150" spc="-75" dirty="0"/>
              <a:t> </a:t>
            </a:r>
            <a:r>
              <a:rPr sz="2150" spc="-60" dirty="0"/>
              <a:t>manager</a:t>
            </a:r>
            <a:r>
              <a:rPr sz="2150" spc="-70" dirty="0"/>
              <a:t> </a:t>
            </a:r>
            <a:r>
              <a:rPr sz="2150" spc="-55" dirty="0"/>
              <a:t>creates</a:t>
            </a:r>
            <a:r>
              <a:rPr sz="2150" spc="-75" dirty="0"/>
              <a:t> </a:t>
            </a:r>
            <a:r>
              <a:rPr sz="2150" spc="-140" dirty="0"/>
              <a:t>a</a:t>
            </a:r>
            <a:r>
              <a:rPr sz="2150" spc="-70" dirty="0"/>
              <a:t> </a:t>
            </a:r>
            <a:r>
              <a:rPr sz="2150" spc="-35" dirty="0"/>
              <a:t>Project</a:t>
            </a:r>
            <a:r>
              <a:rPr sz="2150" spc="-70" dirty="0"/>
              <a:t> </a:t>
            </a:r>
            <a:r>
              <a:rPr sz="2150" spc="-40" dirty="0"/>
              <a:t>Charter</a:t>
            </a:r>
            <a:r>
              <a:rPr sz="2150" spc="-75" dirty="0"/>
              <a:t> </a:t>
            </a:r>
            <a:r>
              <a:rPr sz="2150" spc="-10" dirty="0"/>
              <a:t>outlining</a:t>
            </a:r>
            <a:r>
              <a:rPr sz="2150" spc="-70" dirty="0"/>
              <a:t> </a:t>
            </a:r>
            <a:r>
              <a:rPr sz="2150" dirty="0"/>
              <a:t>the</a:t>
            </a:r>
            <a:r>
              <a:rPr sz="2150" spc="-75" dirty="0"/>
              <a:t> </a:t>
            </a:r>
            <a:r>
              <a:rPr sz="2150" spc="-10" dirty="0"/>
              <a:t>project’s</a:t>
            </a:r>
            <a:r>
              <a:rPr sz="2150" spc="-70" dirty="0"/>
              <a:t> </a:t>
            </a:r>
            <a:r>
              <a:rPr sz="2150" spc="-30" dirty="0"/>
              <a:t>purpose,</a:t>
            </a:r>
            <a:r>
              <a:rPr sz="2150" spc="-70" dirty="0"/>
              <a:t> </a:t>
            </a:r>
            <a:r>
              <a:rPr sz="2150" spc="-45" dirty="0"/>
              <a:t>scope,</a:t>
            </a:r>
            <a:r>
              <a:rPr sz="2150" spc="-75" dirty="0"/>
              <a:t> </a:t>
            </a:r>
            <a:r>
              <a:rPr sz="2150" spc="-25" dirty="0"/>
              <a:t>and </a:t>
            </a:r>
            <a:r>
              <a:rPr sz="2150" spc="-35" dirty="0"/>
              <a:t>key</a:t>
            </a:r>
            <a:r>
              <a:rPr sz="2150" spc="-95" dirty="0"/>
              <a:t> </a:t>
            </a:r>
            <a:r>
              <a:rPr sz="2150" spc="-50" dirty="0"/>
              <a:t>stakeholders,</a:t>
            </a:r>
            <a:r>
              <a:rPr sz="2150" spc="-80" dirty="0"/>
              <a:t> </a:t>
            </a:r>
            <a:r>
              <a:rPr sz="2150" spc="-55" dirty="0"/>
              <a:t>such</a:t>
            </a:r>
            <a:r>
              <a:rPr sz="2150" spc="-80" dirty="0"/>
              <a:t> </a:t>
            </a:r>
            <a:r>
              <a:rPr sz="2150" spc="-145" dirty="0"/>
              <a:t>as</a:t>
            </a:r>
            <a:r>
              <a:rPr sz="2150" spc="-75" dirty="0"/>
              <a:t> </a:t>
            </a:r>
            <a:r>
              <a:rPr sz="2150" dirty="0"/>
              <a:t>the</a:t>
            </a:r>
            <a:r>
              <a:rPr sz="2150" spc="-80" dirty="0"/>
              <a:t> </a:t>
            </a:r>
            <a:r>
              <a:rPr sz="2150" spc="-30" dirty="0"/>
              <a:t>marketing</a:t>
            </a:r>
            <a:r>
              <a:rPr sz="2150" spc="-80" dirty="0"/>
              <a:t> </a:t>
            </a:r>
            <a:r>
              <a:rPr sz="2150" spc="-45" dirty="0"/>
              <a:t>team,</a:t>
            </a:r>
            <a:r>
              <a:rPr sz="2150" spc="-80" dirty="0"/>
              <a:t> </a:t>
            </a:r>
            <a:r>
              <a:rPr sz="2150" spc="-105" dirty="0"/>
              <a:t>IT</a:t>
            </a:r>
            <a:r>
              <a:rPr sz="2150" spc="-75" dirty="0"/>
              <a:t> </a:t>
            </a:r>
            <a:r>
              <a:rPr sz="2150" spc="-10" dirty="0"/>
              <a:t>department,</a:t>
            </a:r>
            <a:r>
              <a:rPr sz="2150" spc="-80" dirty="0"/>
              <a:t> </a:t>
            </a:r>
            <a:r>
              <a:rPr sz="2150" spc="-40" dirty="0"/>
              <a:t>and</a:t>
            </a:r>
            <a:r>
              <a:rPr sz="2150" spc="-80" dirty="0"/>
              <a:t> </a:t>
            </a:r>
            <a:r>
              <a:rPr sz="2150" spc="-30" dirty="0"/>
              <a:t>end-</a:t>
            </a:r>
            <a:r>
              <a:rPr sz="2150" spc="-10" dirty="0"/>
              <a:t>users.</a:t>
            </a:r>
            <a:endParaRPr sz="2150"/>
          </a:p>
        </p:txBody>
      </p:sp>
      <p:sp>
        <p:nvSpPr>
          <p:cNvPr id="3" name="object 3"/>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315910"/>
            <a:ext cx="1590040" cy="391160"/>
          </a:xfrm>
          <a:prstGeom prst="rect">
            <a:avLst/>
          </a:prstGeom>
        </p:spPr>
        <p:txBody>
          <a:bodyPr vert="horz" wrap="square" lIns="0" tIns="12700" rIns="0" bIns="0" rtlCol="0">
            <a:spAutoFit/>
          </a:bodyPr>
          <a:lstStyle/>
          <a:p>
            <a:pPr marL="12700">
              <a:lnSpc>
                <a:spcPct val="100000"/>
              </a:lnSpc>
              <a:spcBef>
                <a:spcPts val="100"/>
              </a:spcBef>
            </a:pPr>
            <a:r>
              <a:rPr spc="-114" dirty="0"/>
              <a:t>2.2</a:t>
            </a:r>
            <a:r>
              <a:rPr spc="-70" dirty="0"/>
              <a:t> </a:t>
            </a:r>
            <a:r>
              <a:rPr spc="-80" dirty="0"/>
              <a:t>Planning</a:t>
            </a:r>
          </a:p>
        </p:txBody>
      </p:sp>
      <p:pic>
        <p:nvPicPr>
          <p:cNvPr id="3" name="object 3"/>
          <p:cNvPicPr/>
          <p:nvPr/>
        </p:nvPicPr>
        <p:blipFill>
          <a:blip r:embed="rId2" cstate="print"/>
          <a:stretch>
            <a:fillRect/>
          </a:stretch>
        </p:blipFill>
        <p:spPr>
          <a:xfrm>
            <a:off x="1038222" y="2028820"/>
            <a:ext cx="104773" cy="104772"/>
          </a:xfrm>
          <a:prstGeom prst="rect">
            <a:avLst/>
          </a:prstGeom>
        </p:spPr>
      </p:pic>
      <p:pic>
        <p:nvPicPr>
          <p:cNvPr id="4" name="object 4"/>
          <p:cNvPicPr/>
          <p:nvPr/>
        </p:nvPicPr>
        <p:blipFill>
          <a:blip r:embed="rId2" cstate="print"/>
          <a:stretch>
            <a:fillRect/>
          </a:stretch>
        </p:blipFill>
        <p:spPr>
          <a:xfrm>
            <a:off x="1038222" y="2924170"/>
            <a:ext cx="104773" cy="104773"/>
          </a:xfrm>
          <a:prstGeom prst="rect">
            <a:avLst/>
          </a:prstGeom>
        </p:spPr>
      </p:pic>
      <p:pic>
        <p:nvPicPr>
          <p:cNvPr id="5" name="object 5"/>
          <p:cNvPicPr/>
          <p:nvPr/>
        </p:nvPicPr>
        <p:blipFill>
          <a:blip r:embed="rId3" cstate="print"/>
          <a:stretch>
            <a:fillRect/>
          </a:stretch>
        </p:blipFill>
        <p:spPr>
          <a:xfrm>
            <a:off x="1585909" y="3338494"/>
            <a:ext cx="114297" cy="114298"/>
          </a:xfrm>
          <a:prstGeom prst="rect">
            <a:avLst/>
          </a:prstGeom>
        </p:spPr>
      </p:pic>
      <p:pic>
        <p:nvPicPr>
          <p:cNvPr id="6" name="object 6"/>
          <p:cNvPicPr/>
          <p:nvPr/>
        </p:nvPicPr>
        <p:blipFill>
          <a:blip r:embed="rId4" cstate="print"/>
          <a:stretch>
            <a:fillRect/>
          </a:stretch>
        </p:blipFill>
        <p:spPr>
          <a:xfrm>
            <a:off x="1585909" y="3814743"/>
            <a:ext cx="114297" cy="114298"/>
          </a:xfrm>
          <a:prstGeom prst="rect">
            <a:avLst/>
          </a:prstGeom>
        </p:spPr>
      </p:pic>
      <p:pic>
        <p:nvPicPr>
          <p:cNvPr id="7" name="object 7"/>
          <p:cNvPicPr/>
          <p:nvPr/>
        </p:nvPicPr>
        <p:blipFill>
          <a:blip r:embed="rId5" cstate="print"/>
          <a:stretch>
            <a:fillRect/>
          </a:stretch>
        </p:blipFill>
        <p:spPr>
          <a:xfrm>
            <a:off x="1585909" y="4300517"/>
            <a:ext cx="114297" cy="114298"/>
          </a:xfrm>
          <a:prstGeom prst="rect">
            <a:avLst/>
          </a:prstGeom>
        </p:spPr>
      </p:pic>
      <p:pic>
        <p:nvPicPr>
          <p:cNvPr id="8" name="object 8"/>
          <p:cNvPicPr/>
          <p:nvPr/>
        </p:nvPicPr>
        <p:blipFill>
          <a:blip r:embed="rId6" cstate="print"/>
          <a:stretch>
            <a:fillRect/>
          </a:stretch>
        </p:blipFill>
        <p:spPr>
          <a:xfrm>
            <a:off x="1585909" y="4786291"/>
            <a:ext cx="114297" cy="114298"/>
          </a:xfrm>
          <a:prstGeom prst="rect">
            <a:avLst/>
          </a:prstGeom>
        </p:spPr>
      </p:pic>
      <p:pic>
        <p:nvPicPr>
          <p:cNvPr id="9" name="object 9"/>
          <p:cNvPicPr/>
          <p:nvPr/>
        </p:nvPicPr>
        <p:blipFill>
          <a:blip r:embed="rId7" cstate="print"/>
          <a:stretch>
            <a:fillRect/>
          </a:stretch>
        </p:blipFill>
        <p:spPr>
          <a:xfrm>
            <a:off x="1585909" y="5272065"/>
            <a:ext cx="114297" cy="114298"/>
          </a:xfrm>
          <a:prstGeom prst="rect">
            <a:avLst/>
          </a:prstGeom>
        </p:spPr>
      </p:pic>
      <p:sp>
        <p:nvSpPr>
          <p:cNvPr id="10" name="object 10"/>
          <p:cNvSpPr txBox="1"/>
          <p:nvPr/>
        </p:nvSpPr>
        <p:spPr>
          <a:xfrm>
            <a:off x="1287463" y="1718182"/>
            <a:ext cx="9192260" cy="4056379"/>
          </a:xfrm>
          <a:prstGeom prst="rect">
            <a:avLst/>
          </a:prstGeom>
        </p:spPr>
        <p:txBody>
          <a:bodyPr vert="horz" wrap="square" lIns="0" tIns="12700" rIns="0" bIns="0" rtlCol="0">
            <a:spAutoFit/>
          </a:bodyPr>
          <a:lstStyle/>
          <a:p>
            <a:pPr marL="12700" marR="5080">
              <a:lnSpc>
                <a:spcPct val="125000"/>
              </a:lnSpc>
              <a:spcBef>
                <a:spcPts val="100"/>
              </a:spcBef>
            </a:pPr>
            <a:r>
              <a:rPr sz="2150" spc="-20" dirty="0">
                <a:latin typeface="Arial"/>
                <a:cs typeface="Arial"/>
              </a:rPr>
              <a:t>Objective:</a:t>
            </a:r>
            <a:r>
              <a:rPr sz="2150" spc="-105" dirty="0">
                <a:latin typeface="Arial"/>
                <a:cs typeface="Arial"/>
              </a:rPr>
              <a:t> </a:t>
            </a:r>
            <a:r>
              <a:rPr sz="2150" spc="-75" dirty="0">
                <a:latin typeface="Arial"/>
                <a:cs typeface="Arial"/>
              </a:rPr>
              <a:t>Establish </a:t>
            </a:r>
            <a:r>
              <a:rPr sz="2150" dirty="0">
                <a:latin typeface="Arial"/>
                <a:cs typeface="Arial"/>
              </a:rPr>
              <a:t>the</a:t>
            </a:r>
            <a:r>
              <a:rPr sz="2150" spc="-90" dirty="0">
                <a:latin typeface="Arial"/>
                <a:cs typeface="Arial"/>
              </a:rPr>
              <a:t> </a:t>
            </a:r>
            <a:r>
              <a:rPr sz="2150" dirty="0">
                <a:latin typeface="Arial"/>
                <a:cs typeface="Arial"/>
              </a:rPr>
              <a:t>total</a:t>
            </a:r>
            <a:r>
              <a:rPr sz="2150" spc="-85" dirty="0">
                <a:latin typeface="Arial"/>
                <a:cs typeface="Arial"/>
              </a:rPr>
              <a:t> </a:t>
            </a:r>
            <a:r>
              <a:rPr sz="2150" spc="-45" dirty="0">
                <a:latin typeface="Arial"/>
                <a:cs typeface="Arial"/>
              </a:rPr>
              <a:t>scope,</a:t>
            </a:r>
            <a:r>
              <a:rPr sz="2150" spc="-90" dirty="0">
                <a:latin typeface="Arial"/>
                <a:cs typeface="Arial"/>
              </a:rPr>
              <a:t> </a:t>
            </a:r>
            <a:r>
              <a:rPr sz="2150" spc="-10" dirty="0">
                <a:latin typeface="Arial"/>
                <a:cs typeface="Arial"/>
              </a:rPr>
              <a:t>refine</a:t>
            </a:r>
            <a:r>
              <a:rPr sz="2150" spc="-90" dirty="0">
                <a:latin typeface="Arial"/>
                <a:cs typeface="Arial"/>
              </a:rPr>
              <a:t> </a:t>
            </a:r>
            <a:r>
              <a:rPr sz="2150" spc="-20" dirty="0">
                <a:latin typeface="Arial"/>
                <a:cs typeface="Arial"/>
              </a:rPr>
              <a:t>objectives,</a:t>
            </a:r>
            <a:r>
              <a:rPr sz="2150" spc="-85" dirty="0">
                <a:latin typeface="Arial"/>
                <a:cs typeface="Arial"/>
              </a:rPr>
              <a:t> </a:t>
            </a:r>
            <a:r>
              <a:rPr sz="2150" spc="-40" dirty="0">
                <a:latin typeface="Arial"/>
                <a:cs typeface="Arial"/>
              </a:rPr>
              <a:t>and</a:t>
            </a:r>
            <a:r>
              <a:rPr sz="2150" spc="-90" dirty="0">
                <a:latin typeface="Arial"/>
                <a:cs typeface="Arial"/>
              </a:rPr>
              <a:t> </a:t>
            </a:r>
            <a:r>
              <a:rPr sz="2150" spc="-10" dirty="0">
                <a:latin typeface="Arial"/>
                <a:cs typeface="Arial"/>
              </a:rPr>
              <a:t>define</a:t>
            </a:r>
            <a:r>
              <a:rPr sz="2150" spc="-90" dirty="0">
                <a:latin typeface="Arial"/>
                <a:cs typeface="Arial"/>
              </a:rPr>
              <a:t> </a:t>
            </a:r>
            <a:r>
              <a:rPr sz="2150" dirty="0">
                <a:latin typeface="Arial"/>
                <a:cs typeface="Arial"/>
              </a:rPr>
              <a:t>the</a:t>
            </a:r>
            <a:r>
              <a:rPr sz="2150" spc="-85" dirty="0">
                <a:latin typeface="Arial"/>
                <a:cs typeface="Arial"/>
              </a:rPr>
              <a:t> </a:t>
            </a:r>
            <a:r>
              <a:rPr sz="2150" spc="-25" dirty="0">
                <a:latin typeface="Arial"/>
                <a:cs typeface="Arial"/>
              </a:rPr>
              <a:t>course</a:t>
            </a:r>
            <a:r>
              <a:rPr sz="2150" spc="-90" dirty="0">
                <a:latin typeface="Arial"/>
                <a:cs typeface="Arial"/>
              </a:rPr>
              <a:t> </a:t>
            </a:r>
            <a:r>
              <a:rPr sz="2150" spc="-25" dirty="0">
                <a:latin typeface="Arial"/>
                <a:cs typeface="Arial"/>
              </a:rPr>
              <a:t>of </a:t>
            </a:r>
            <a:r>
              <a:rPr sz="2150" spc="-10" dirty="0">
                <a:latin typeface="Arial"/>
                <a:cs typeface="Arial"/>
              </a:rPr>
              <a:t>action.</a:t>
            </a:r>
            <a:endParaRPr sz="2150">
              <a:latin typeface="Arial"/>
              <a:cs typeface="Arial"/>
            </a:endParaRPr>
          </a:p>
          <a:p>
            <a:pPr marL="12700">
              <a:lnSpc>
                <a:spcPct val="100000"/>
              </a:lnSpc>
              <a:spcBef>
                <a:spcPts val="1890"/>
              </a:spcBef>
            </a:pPr>
            <a:r>
              <a:rPr sz="2150" spc="-80" dirty="0">
                <a:latin typeface="Arial"/>
                <a:cs typeface="Arial"/>
              </a:rPr>
              <a:t>Key</a:t>
            </a:r>
            <a:r>
              <a:rPr sz="2150" spc="-60" dirty="0">
                <a:latin typeface="Arial"/>
                <a:cs typeface="Arial"/>
              </a:rPr>
              <a:t> </a:t>
            </a:r>
            <a:r>
              <a:rPr sz="2150" spc="-10" dirty="0">
                <a:latin typeface="Arial"/>
                <a:cs typeface="Arial"/>
              </a:rPr>
              <a:t>Activities:</a:t>
            </a:r>
            <a:endParaRPr sz="2150">
              <a:latin typeface="Arial"/>
              <a:cs typeface="Arial"/>
            </a:endParaRPr>
          </a:p>
          <a:p>
            <a:pPr marL="563880" marR="4360545">
              <a:lnSpc>
                <a:spcPct val="109800"/>
              </a:lnSpc>
              <a:spcBef>
                <a:spcPts val="465"/>
              </a:spcBef>
            </a:pPr>
            <a:r>
              <a:rPr sz="2150" spc="-20" dirty="0">
                <a:latin typeface="Arial"/>
                <a:cs typeface="Arial"/>
              </a:rPr>
              <a:t>Develop</a:t>
            </a:r>
            <a:r>
              <a:rPr sz="2150" spc="-90" dirty="0">
                <a:latin typeface="Arial"/>
                <a:cs typeface="Arial"/>
              </a:rPr>
              <a:t> </a:t>
            </a:r>
            <a:r>
              <a:rPr sz="2150" spc="-35" dirty="0">
                <a:latin typeface="Arial"/>
                <a:cs typeface="Arial"/>
              </a:rPr>
              <a:t>Project</a:t>
            </a:r>
            <a:r>
              <a:rPr sz="2150" spc="-90" dirty="0">
                <a:latin typeface="Arial"/>
                <a:cs typeface="Arial"/>
              </a:rPr>
              <a:t> </a:t>
            </a:r>
            <a:r>
              <a:rPr sz="2150" spc="-50" dirty="0">
                <a:latin typeface="Arial"/>
                <a:cs typeface="Arial"/>
              </a:rPr>
              <a:t>Management</a:t>
            </a:r>
            <a:r>
              <a:rPr sz="2150" spc="-90" dirty="0">
                <a:latin typeface="Arial"/>
                <a:cs typeface="Arial"/>
              </a:rPr>
              <a:t> </a:t>
            </a:r>
            <a:r>
              <a:rPr sz="2150" spc="-20" dirty="0">
                <a:latin typeface="Arial"/>
                <a:cs typeface="Arial"/>
              </a:rPr>
              <a:t>Plan </a:t>
            </a:r>
            <a:r>
              <a:rPr sz="2150" spc="-35" dirty="0">
                <a:latin typeface="Arial"/>
                <a:cs typeface="Arial"/>
              </a:rPr>
              <a:t>Define</a:t>
            </a:r>
            <a:r>
              <a:rPr sz="2150" spc="-90" dirty="0">
                <a:latin typeface="Arial"/>
                <a:cs typeface="Arial"/>
              </a:rPr>
              <a:t> </a:t>
            </a:r>
            <a:r>
              <a:rPr sz="2150" spc="-70" dirty="0">
                <a:latin typeface="Arial"/>
                <a:cs typeface="Arial"/>
              </a:rPr>
              <a:t>Scope,</a:t>
            </a:r>
            <a:r>
              <a:rPr sz="2150" spc="-80" dirty="0">
                <a:latin typeface="Arial"/>
                <a:cs typeface="Arial"/>
              </a:rPr>
              <a:t> </a:t>
            </a:r>
            <a:r>
              <a:rPr sz="2150" spc="-65" dirty="0">
                <a:latin typeface="Arial"/>
                <a:cs typeface="Arial"/>
              </a:rPr>
              <a:t>Schedule,</a:t>
            </a:r>
            <a:r>
              <a:rPr sz="2150" spc="-85" dirty="0">
                <a:latin typeface="Arial"/>
                <a:cs typeface="Arial"/>
              </a:rPr>
              <a:t> </a:t>
            </a:r>
            <a:r>
              <a:rPr sz="2150" spc="-40" dirty="0">
                <a:latin typeface="Arial"/>
                <a:cs typeface="Arial"/>
              </a:rPr>
              <a:t>and</a:t>
            </a:r>
            <a:r>
              <a:rPr sz="2150" spc="-85" dirty="0">
                <a:latin typeface="Arial"/>
                <a:cs typeface="Arial"/>
              </a:rPr>
              <a:t> </a:t>
            </a:r>
            <a:r>
              <a:rPr sz="2150" spc="-40" dirty="0">
                <a:latin typeface="Arial"/>
                <a:cs typeface="Arial"/>
              </a:rPr>
              <a:t>Budget</a:t>
            </a:r>
            <a:endParaRPr sz="2150">
              <a:latin typeface="Arial"/>
              <a:cs typeface="Arial"/>
            </a:endParaRPr>
          </a:p>
          <a:p>
            <a:pPr marL="563880" marR="4311015">
              <a:lnSpc>
                <a:spcPct val="178100"/>
              </a:lnSpc>
            </a:pPr>
            <a:r>
              <a:rPr sz="2150" spc="-120" dirty="0">
                <a:latin typeface="Arial"/>
                <a:cs typeface="Arial"/>
              </a:rPr>
              <a:t>Risk</a:t>
            </a:r>
            <a:r>
              <a:rPr sz="2150" spc="-55" dirty="0">
                <a:latin typeface="Arial"/>
                <a:cs typeface="Arial"/>
              </a:rPr>
              <a:t> </a:t>
            </a:r>
            <a:r>
              <a:rPr sz="2150" spc="-50" dirty="0">
                <a:latin typeface="Arial"/>
                <a:cs typeface="Arial"/>
              </a:rPr>
              <a:t>Management </a:t>
            </a:r>
            <a:r>
              <a:rPr sz="2150" spc="-80" dirty="0">
                <a:latin typeface="Arial"/>
                <a:cs typeface="Arial"/>
              </a:rPr>
              <a:t>Planning</a:t>
            </a:r>
            <a:r>
              <a:rPr sz="2150" spc="-50" dirty="0">
                <a:latin typeface="Arial"/>
                <a:cs typeface="Arial"/>
              </a:rPr>
              <a:t> </a:t>
            </a:r>
            <a:r>
              <a:rPr sz="2150" spc="-70" dirty="0">
                <a:latin typeface="Arial"/>
                <a:cs typeface="Arial"/>
              </a:rPr>
              <a:t>Resource </a:t>
            </a:r>
            <a:r>
              <a:rPr sz="2150" spc="-10" dirty="0">
                <a:latin typeface="Arial"/>
                <a:cs typeface="Arial"/>
              </a:rPr>
              <a:t>Planning</a:t>
            </a:r>
            <a:endParaRPr sz="2150">
              <a:latin typeface="Arial"/>
              <a:cs typeface="Arial"/>
            </a:endParaRPr>
          </a:p>
          <a:p>
            <a:pPr>
              <a:lnSpc>
                <a:spcPct val="100000"/>
              </a:lnSpc>
              <a:spcBef>
                <a:spcPts val="440"/>
              </a:spcBef>
            </a:pPr>
            <a:endParaRPr sz="2150">
              <a:latin typeface="Arial"/>
              <a:cs typeface="Arial"/>
            </a:endParaRPr>
          </a:p>
          <a:p>
            <a:pPr marL="563880">
              <a:lnSpc>
                <a:spcPct val="100000"/>
              </a:lnSpc>
              <a:spcBef>
                <a:spcPts val="5"/>
              </a:spcBef>
            </a:pPr>
            <a:r>
              <a:rPr sz="2150" spc="-25" dirty="0">
                <a:latin typeface="Arial"/>
                <a:cs typeface="Arial"/>
              </a:rPr>
              <a:t>Communication</a:t>
            </a:r>
            <a:r>
              <a:rPr sz="2150" spc="-50" dirty="0">
                <a:latin typeface="Arial"/>
                <a:cs typeface="Arial"/>
              </a:rPr>
              <a:t> </a:t>
            </a:r>
            <a:r>
              <a:rPr sz="2150" spc="-10" dirty="0">
                <a:latin typeface="Arial"/>
                <a:cs typeface="Arial"/>
              </a:rPr>
              <a:t>Planning</a:t>
            </a:r>
            <a:endParaRPr sz="215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10</a:t>
            </a:fld>
            <a:endParaRPr spc="-25" dirty="0"/>
          </a:p>
        </p:txBody>
      </p:sp>
      <p:sp>
        <p:nvSpPr>
          <p:cNvPr id="11" name="object 11"/>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2" y="1381122"/>
            <a:ext cx="104773" cy="104772"/>
          </a:xfrm>
          <a:prstGeom prst="rect">
            <a:avLst/>
          </a:prstGeom>
        </p:spPr>
      </p:pic>
      <p:sp>
        <p:nvSpPr>
          <p:cNvPr id="3" name="object 3"/>
          <p:cNvSpPr txBox="1">
            <a:spLocks noGrp="1"/>
          </p:cNvSpPr>
          <p:nvPr>
            <p:ph type="title"/>
          </p:nvPr>
        </p:nvSpPr>
        <p:spPr>
          <a:xfrm>
            <a:off x="1287463" y="1230503"/>
            <a:ext cx="1552575" cy="353060"/>
          </a:xfrm>
          <a:prstGeom prst="rect">
            <a:avLst/>
          </a:prstGeom>
        </p:spPr>
        <p:txBody>
          <a:bodyPr vert="horz" wrap="square" lIns="0" tIns="12700" rIns="0" bIns="0" rtlCol="0">
            <a:spAutoFit/>
          </a:bodyPr>
          <a:lstStyle/>
          <a:p>
            <a:pPr marL="12700">
              <a:lnSpc>
                <a:spcPct val="100000"/>
              </a:lnSpc>
              <a:spcBef>
                <a:spcPts val="100"/>
              </a:spcBef>
            </a:pPr>
            <a:r>
              <a:rPr sz="2150" spc="-35" dirty="0"/>
              <a:t>Deliverables:</a:t>
            </a:r>
            <a:endParaRPr sz="2150"/>
          </a:p>
        </p:txBody>
      </p:sp>
      <p:pic>
        <p:nvPicPr>
          <p:cNvPr id="4" name="object 4"/>
          <p:cNvPicPr/>
          <p:nvPr/>
        </p:nvPicPr>
        <p:blipFill>
          <a:blip r:embed="rId3" cstate="print"/>
          <a:stretch>
            <a:fillRect/>
          </a:stretch>
        </p:blipFill>
        <p:spPr>
          <a:xfrm>
            <a:off x="1585909" y="1795458"/>
            <a:ext cx="114297" cy="114297"/>
          </a:xfrm>
          <a:prstGeom prst="rect">
            <a:avLst/>
          </a:prstGeom>
        </p:spPr>
      </p:pic>
      <p:pic>
        <p:nvPicPr>
          <p:cNvPr id="5" name="object 5"/>
          <p:cNvPicPr/>
          <p:nvPr/>
        </p:nvPicPr>
        <p:blipFill>
          <a:blip r:embed="rId4" cstate="print"/>
          <a:stretch>
            <a:fillRect/>
          </a:stretch>
        </p:blipFill>
        <p:spPr>
          <a:xfrm>
            <a:off x="1585909" y="2271707"/>
            <a:ext cx="114297" cy="114297"/>
          </a:xfrm>
          <a:prstGeom prst="rect">
            <a:avLst/>
          </a:prstGeom>
        </p:spPr>
      </p:pic>
      <p:pic>
        <p:nvPicPr>
          <p:cNvPr id="6" name="object 6"/>
          <p:cNvPicPr/>
          <p:nvPr/>
        </p:nvPicPr>
        <p:blipFill>
          <a:blip r:embed="rId5" cstate="print"/>
          <a:stretch>
            <a:fillRect/>
          </a:stretch>
        </p:blipFill>
        <p:spPr>
          <a:xfrm>
            <a:off x="1585909" y="2757470"/>
            <a:ext cx="114297" cy="114298"/>
          </a:xfrm>
          <a:prstGeom prst="rect">
            <a:avLst/>
          </a:prstGeom>
        </p:spPr>
      </p:pic>
      <p:pic>
        <p:nvPicPr>
          <p:cNvPr id="7" name="object 7"/>
          <p:cNvPicPr/>
          <p:nvPr/>
        </p:nvPicPr>
        <p:blipFill>
          <a:blip r:embed="rId6" cstate="print"/>
          <a:stretch>
            <a:fillRect/>
          </a:stretch>
        </p:blipFill>
        <p:spPr>
          <a:xfrm>
            <a:off x="1585909" y="3243244"/>
            <a:ext cx="114297" cy="114298"/>
          </a:xfrm>
          <a:prstGeom prst="rect">
            <a:avLst/>
          </a:prstGeom>
        </p:spPr>
      </p:pic>
      <p:sp>
        <p:nvSpPr>
          <p:cNvPr id="8" name="object 8"/>
          <p:cNvSpPr txBox="1"/>
          <p:nvPr/>
        </p:nvSpPr>
        <p:spPr>
          <a:xfrm>
            <a:off x="735010" y="1615439"/>
            <a:ext cx="10200640" cy="4038600"/>
          </a:xfrm>
          <a:prstGeom prst="rect">
            <a:avLst/>
          </a:prstGeom>
        </p:spPr>
        <p:txBody>
          <a:bodyPr vert="horz" wrap="square" lIns="0" tIns="44450" rIns="0" bIns="0" rtlCol="0">
            <a:spAutoFit/>
          </a:bodyPr>
          <a:lstStyle/>
          <a:p>
            <a:pPr marL="1116965">
              <a:lnSpc>
                <a:spcPct val="100000"/>
              </a:lnSpc>
              <a:spcBef>
                <a:spcPts val="350"/>
              </a:spcBef>
            </a:pPr>
            <a:r>
              <a:rPr sz="2150" spc="-35" dirty="0">
                <a:latin typeface="Arial"/>
                <a:cs typeface="Arial"/>
              </a:rPr>
              <a:t>Project</a:t>
            </a:r>
            <a:r>
              <a:rPr sz="2150" spc="-100" dirty="0">
                <a:latin typeface="Arial"/>
                <a:cs typeface="Arial"/>
              </a:rPr>
              <a:t> </a:t>
            </a:r>
            <a:r>
              <a:rPr sz="2150" spc="-20" dirty="0">
                <a:latin typeface="Arial"/>
                <a:cs typeface="Arial"/>
              </a:rPr>
              <a:t>Plan</a:t>
            </a:r>
            <a:endParaRPr sz="2150" dirty="0">
              <a:latin typeface="Arial"/>
              <a:cs typeface="Arial"/>
            </a:endParaRPr>
          </a:p>
          <a:p>
            <a:pPr marL="1116965">
              <a:lnSpc>
                <a:spcPct val="100000"/>
              </a:lnSpc>
              <a:spcBef>
                <a:spcPts val="254"/>
              </a:spcBef>
            </a:pPr>
            <a:r>
              <a:rPr sz="2150" spc="75" dirty="0">
                <a:latin typeface="Arial"/>
                <a:cs typeface="Arial"/>
              </a:rPr>
              <a:t>Work</a:t>
            </a:r>
            <a:r>
              <a:rPr sz="2150" spc="-80" dirty="0">
                <a:latin typeface="Arial"/>
                <a:cs typeface="Arial"/>
              </a:rPr>
              <a:t> </a:t>
            </a:r>
            <a:r>
              <a:rPr sz="2150" spc="-35" dirty="0">
                <a:latin typeface="Arial"/>
                <a:cs typeface="Arial"/>
              </a:rPr>
              <a:t>Breakdown</a:t>
            </a:r>
            <a:r>
              <a:rPr sz="2150" spc="-80" dirty="0">
                <a:latin typeface="Arial"/>
                <a:cs typeface="Arial"/>
              </a:rPr>
              <a:t> </a:t>
            </a:r>
            <a:r>
              <a:rPr sz="2150" spc="-10" dirty="0">
                <a:latin typeface="Arial"/>
                <a:cs typeface="Arial"/>
              </a:rPr>
              <a:t>Structure</a:t>
            </a:r>
            <a:endParaRPr sz="2150" dirty="0">
              <a:latin typeface="Arial"/>
              <a:cs typeface="Arial"/>
            </a:endParaRPr>
          </a:p>
          <a:p>
            <a:pPr marL="1116965">
              <a:lnSpc>
                <a:spcPct val="100000"/>
              </a:lnSpc>
              <a:spcBef>
                <a:spcPts val="2014"/>
              </a:spcBef>
            </a:pPr>
            <a:r>
              <a:rPr sz="2150" spc="-55" dirty="0" smtClean="0">
                <a:latin typeface="Arial"/>
                <a:cs typeface="Arial"/>
              </a:rPr>
              <a:t>Gantt</a:t>
            </a:r>
            <a:r>
              <a:rPr sz="2150" spc="-65" dirty="0" smtClean="0">
                <a:latin typeface="Arial"/>
                <a:cs typeface="Arial"/>
              </a:rPr>
              <a:t> </a:t>
            </a:r>
            <a:r>
              <a:rPr sz="2150" spc="-10" dirty="0">
                <a:latin typeface="Arial"/>
                <a:cs typeface="Arial"/>
              </a:rPr>
              <a:t>Charts</a:t>
            </a:r>
            <a:endParaRPr sz="2150" dirty="0">
              <a:latin typeface="Arial"/>
              <a:cs typeface="Arial"/>
            </a:endParaRPr>
          </a:p>
          <a:p>
            <a:pPr>
              <a:lnSpc>
                <a:spcPct val="100000"/>
              </a:lnSpc>
              <a:spcBef>
                <a:spcPts val="450"/>
              </a:spcBef>
            </a:pPr>
            <a:endParaRPr sz="2150" dirty="0">
              <a:latin typeface="Arial"/>
              <a:cs typeface="Arial"/>
            </a:endParaRPr>
          </a:p>
          <a:p>
            <a:pPr marL="1116965">
              <a:lnSpc>
                <a:spcPct val="100000"/>
              </a:lnSpc>
            </a:pPr>
            <a:r>
              <a:rPr sz="2150" spc="-120" dirty="0">
                <a:latin typeface="Arial"/>
                <a:cs typeface="Arial"/>
              </a:rPr>
              <a:t>Risk</a:t>
            </a:r>
            <a:r>
              <a:rPr sz="2150" spc="-55" dirty="0">
                <a:latin typeface="Arial"/>
                <a:cs typeface="Arial"/>
              </a:rPr>
              <a:t> </a:t>
            </a:r>
            <a:r>
              <a:rPr sz="2150" spc="-10" dirty="0">
                <a:latin typeface="Arial"/>
                <a:cs typeface="Arial"/>
              </a:rPr>
              <a:t>Register</a:t>
            </a:r>
            <a:endParaRPr sz="2150" dirty="0">
              <a:latin typeface="Arial"/>
              <a:cs typeface="Arial"/>
            </a:endParaRPr>
          </a:p>
          <a:p>
            <a:pPr>
              <a:lnSpc>
                <a:spcPct val="100000"/>
              </a:lnSpc>
              <a:spcBef>
                <a:spcPts val="635"/>
              </a:spcBef>
            </a:pPr>
            <a:endParaRPr sz="2150" dirty="0">
              <a:latin typeface="Arial"/>
              <a:cs typeface="Arial"/>
            </a:endParaRPr>
          </a:p>
          <a:p>
            <a:pPr marL="12700">
              <a:lnSpc>
                <a:spcPct val="100000"/>
              </a:lnSpc>
              <a:spcBef>
                <a:spcPts val="5"/>
              </a:spcBef>
            </a:pPr>
            <a:r>
              <a:rPr sz="2250" spc="-10" dirty="0">
                <a:latin typeface="Arial"/>
                <a:cs typeface="Arial"/>
              </a:rPr>
              <a:t>Example</a:t>
            </a:r>
            <a:endParaRPr sz="2250" dirty="0">
              <a:latin typeface="Arial"/>
              <a:cs typeface="Arial"/>
            </a:endParaRPr>
          </a:p>
          <a:p>
            <a:pPr marL="12700" marR="5080">
              <a:lnSpc>
                <a:spcPct val="126499"/>
              </a:lnSpc>
              <a:spcBef>
                <a:spcPts val="234"/>
              </a:spcBef>
            </a:pPr>
            <a:r>
              <a:rPr sz="2150" spc="-85" dirty="0">
                <a:latin typeface="Arial"/>
                <a:cs typeface="Arial"/>
              </a:rPr>
              <a:t>For</a:t>
            </a:r>
            <a:r>
              <a:rPr sz="2150" spc="-50" dirty="0">
                <a:latin typeface="Arial"/>
                <a:cs typeface="Arial"/>
              </a:rPr>
              <a:t> </a:t>
            </a:r>
            <a:r>
              <a:rPr sz="2150" dirty="0">
                <a:latin typeface="Arial"/>
                <a:cs typeface="Arial"/>
              </a:rPr>
              <a:t>the</a:t>
            </a:r>
            <a:r>
              <a:rPr sz="2150" spc="-45" dirty="0">
                <a:latin typeface="Arial"/>
                <a:cs typeface="Arial"/>
              </a:rPr>
              <a:t> </a:t>
            </a:r>
            <a:r>
              <a:rPr sz="2150" dirty="0">
                <a:latin typeface="Arial"/>
                <a:cs typeface="Arial"/>
              </a:rPr>
              <a:t>e-commerce</a:t>
            </a:r>
            <a:r>
              <a:rPr sz="2150" spc="-45" dirty="0">
                <a:latin typeface="Arial"/>
                <a:cs typeface="Arial"/>
              </a:rPr>
              <a:t> </a:t>
            </a:r>
            <a:r>
              <a:rPr sz="2150" dirty="0">
                <a:latin typeface="Arial"/>
                <a:cs typeface="Arial"/>
              </a:rPr>
              <a:t>platform,</a:t>
            </a:r>
            <a:r>
              <a:rPr sz="2150" spc="-50" dirty="0">
                <a:latin typeface="Arial"/>
                <a:cs typeface="Arial"/>
              </a:rPr>
              <a:t> </a:t>
            </a:r>
            <a:r>
              <a:rPr sz="2150" spc="-30" dirty="0">
                <a:latin typeface="Arial"/>
                <a:cs typeface="Arial"/>
              </a:rPr>
              <a:t>planning</a:t>
            </a:r>
            <a:r>
              <a:rPr sz="2150" spc="-45" dirty="0">
                <a:latin typeface="Arial"/>
                <a:cs typeface="Arial"/>
              </a:rPr>
              <a:t> </a:t>
            </a:r>
            <a:r>
              <a:rPr sz="2150" spc="-20" dirty="0">
                <a:latin typeface="Arial"/>
                <a:cs typeface="Arial"/>
              </a:rPr>
              <a:t>involves</a:t>
            </a:r>
            <a:r>
              <a:rPr sz="2150" spc="-45" dirty="0">
                <a:latin typeface="Arial"/>
                <a:cs typeface="Arial"/>
              </a:rPr>
              <a:t> </a:t>
            </a:r>
            <a:r>
              <a:rPr sz="2150" spc="-25" dirty="0">
                <a:latin typeface="Arial"/>
                <a:cs typeface="Arial"/>
              </a:rPr>
              <a:t>creating</a:t>
            </a:r>
            <a:r>
              <a:rPr sz="2150" spc="-50" dirty="0">
                <a:latin typeface="Arial"/>
                <a:cs typeface="Arial"/>
              </a:rPr>
              <a:t> </a:t>
            </a:r>
            <a:r>
              <a:rPr sz="2150" spc="-20" dirty="0">
                <a:latin typeface="Arial"/>
                <a:cs typeface="Arial"/>
              </a:rPr>
              <a:t>detailed</a:t>
            </a:r>
            <a:r>
              <a:rPr sz="2150" spc="-45" dirty="0">
                <a:latin typeface="Arial"/>
                <a:cs typeface="Arial"/>
              </a:rPr>
              <a:t> </a:t>
            </a:r>
            <a:r>
              <a:rPr sz="2150" spc="-50" dirty="0">
                <a:latin typeface="Arial"/>
                <a:cs typeface="Arial"/>
              </a:rPr>
              <a:t>schedules,</a:t>
            </a:r>
            <a:r>
              <a:rPr sz="2150" spc="-45" dirty="0">
                <a:latin typeface="Arial"/>
                <a:cs typeface="Arial"/>
              </a:rPr>
              <a:t> </a:t>
            </a:r>
            <a:r>
              <a:rPr sz="2150" spc="-60" dirty="0">
                <a:latin typeface="Arial"/>
                <a:cs typeface="Arial"/>
              </a:rPr>
              <a:t>assigning </a:t>
            </a:r>
            <a:r>
              <a:rPr sz="2150" spc="-85" dirty="0">
                <a:latin typeface="Arial"/>
                <a:cs typeface="Arial"/>
              </a:rPr>
              <a:t>tasks</a:t>
            </a:r>
            <a:r>
              <a:rPr sz="2150" spc="-60" dirty="0">
                <a:latin typeface="Arial"/>
                <a:cs typeface="Arial"/>
              </a:rPr>
              <a:t> </a:t>
            </a:r>
            <a:r>
              <a:rPr sz="2150" dirty="0">
                <a:latin typeface="Arial"/>
                <a:cs typeface="Arial"/>
              </a:rPr>
              <a:t>to</a:t>
            </a:r>
            <a:r>
              <a:rPr sz="2150" spc="-60" dirty="0">
                <a:latin typeface="Arial"/>
                <a:cs typeface="Arial"/>
              </a:rPr>
              <a:t> </a:t>
            </a:r>
            <a:r>
              <a:rPr sz="2150" spc="-30" dirty="0">
                <a:latin typeface="Arial"/>
                <a:cs typeface="Arial"/>
              </a:rPr>
              <a:t>developers,</a:t>
            </a:r>
            <a:r>
              <a:rPr sz="2150" spc="-60" dirty="0">
                <a:latin typeface="Arial"/>
                <a:cs typeface="Arial"/>
              </a:rPr>
              <a:t> </a:t>
            </a:r>
            <a:r>
              <a:rPr sz="2150" spc="-35" dirty="0">
                <a:latin typeface="Arial"/>
                <a:cs typeface="Arial"/>
              </a:rPr>
              <a:t>setting</a:t>
            </a:r>
            <a:r>
              <a:rPr sz="2150" spc="-60" dirty="0">
                <a:latin typeface="Arial"/>
                <a:cs typeface="Arial"/>
              </a:rPr>
              <a:t> </a:t>
            </a:r>
            <a:r>
              <a:rPr sz="2150" dirty="0">
                <a:latin typeface="Arial"/>
                <a:cs typeface="Arial"/>
              </a:rPr>
              <a:t>up</a:t>
            </a:r>
            <a:r>
              <a:rPr sz="2150" spc="-60" dirty="0">
                <a:latin typeface="Arial"/>
                <a:cs typeface="Arial"/>
              </a:rPr>
              <a:t> </a:t>
            </a:r>
            <a:r>
              <a:rPr sz="2150" spc="-20" dirty="0">
                <a:latin typeface="Arial"/>
                <a:cs typeface="Arial"/>
              </a:rPr>
              <a:t>timelines</a:t>
            </a:r>
            <a:r>
              <a:rPr sz="2150" spc="-60" dirty="0">
                <a:latin typeface="Arial"/>
                <a:cs typeface="Arial"/>
              </a:rPr>
              <a:t> </a:t>
            </a:r>
            <a:r>
              <a:rPr sz="2150" dirty="0">
                <a:latin typeface="Arial"/>
                <a:cs typeface="Arial"/>
              </a:rPr>
              <a:t>for</a:t>
            </a:r>
            <a:r>
              <a:rPr sz="2150" spc="-60" dirty="0">
                <a:latin typeface="Arial"/>
                <a:cs typeface="Arial"/>
              </a:rPr>
              <a:t> </a:t>
            </a:r>
            <a:r>
              <a:rPr sz="2150" spc="-25" dirty="0">
                <a:latin typeface="Arial"/>
                <a:cs typeface="Arial"/>
              </a:rPr>
              <a:t>feature</a:t>
            </a:r>
            <a:r>
              <a:rPr sz="2150" spc="-60" dirty="0">
                <a:latin typeface="Arial"/>
                <a:cs typeface="Arial"/>
              </a:rPr>
              <a:t> </a:t>
            </a:r>
            <a:r>
              <a:rPr sz="2150" spc="-10" dirty="0">
                <a:latin typeface="Arial"/>
                <a:cs typeface="Arial"/>
              </a:rPr>
              <a:t>implementation,</a:t>
            </a:r>
            <a:r>
              <a:rPr sz="2150" spc="-60" dirty="0">
                <a:latin typeface="Arial"/>
                <a:cs typeface="Arial"/>
              </a:rPr>
              <a:t> </a:t>
            </a:r>
            <a:r>
              <a:rPr sz="2150" spc="-30" dirty="0">
                <a:latin typeface="Arial"/>
                <a:cs typeface="Arial"/>
              </a:rPr>
              <a:t>budgeting</a:t>
            </a:r>
            <a:r>
              <a:rPr sz="2150" spc="-60" dirty="0">
                <a:latin typeface="Arial"/>
                <a:cs typeface="Arial"/>
              </a:rPr>
              <a:t> </a:t>
            </a:r>
            <a:r>
              <a:rPr sz="2150" spc="-25" dirty="0">
                <a:latin typeface="Arial"/>
                <a:cs typeface="Arial"/>
              </a:rPr>
              <a:t>for </a:t>
            </a:r>
            <a:r>
              <a:rPr sz="2150" spc="-50" dirty="0">
                <a:latin typeface="Arial"/>
                <a:cs typeface="Arial"/>
              </a:rPr>
              <a:t>resources,</a:t>
            </a:r>
            <a:r>
              <a:rPr sz="2150" spc="-80" dirty="0">
                <a:latin typeface="Arial"/>
                <a:cs typeface="Arial"/>
              </a:rPr>
              <a:t> </a:t>
            </a:r>
            <a:r>
              <a:rPr sz="2150" spc="-40" dirty="0">
                <a:latin typeface="Arial"/>
                <a:cs typeface="Arial"/>
              </a:rPr>
              <a:t>and</a:t>
            </a:r>
            <a:r>
              <a:rPr sz="2150" spc="-80" dirty="0">
                <a:latin typeface="Arial"/>
                <a:cs typeface="Arial"/>
              </a:rPr>
              <a:t> </a:t>
            </a:r>
            <a:r>
              <a:rPr sz="2150" spc="-10" dirty="0">
                <a:latin typeface="Arial"/>
                <a:cs typeface="Arial"/>
              </a:rPr>
              <a:t>identifying</a:t>
            </a:r>
            <a:r>
              <a:rPr sz="2150" spc="-80" dirty="0">
                <a:latin typeface="Arial"/>
                <a:cs typeface="Arial"/>
              </a:rPr>
              <a:t> </a:t>
            </a:r>
            <a:r>
              <a:rPr sz="2150" spc="-10" dirty="0">
                <a:latin typeface="Arial"/>
                <a:cs typeface="Arial"/>
              </a:rPr>
              <a:t>potential</a:t>
            </a:r>
            <a:r>
              <a:rPr sz="2150" spc="-80" dirty="0">
                <a:latin typeface="Arial"/>
                <a:cs typeface="Arial"/>
              </a:rPr>
              <a:t> </a:t>
            </a:r>
            <a:r>
              <a:rPr sz="2150" spc="-55" dirty="0">
                <a:latin typeface="Arial"/>
                <a:cs typeface="Arial"/>
              </a:rPr>
              <a:t>risks</a:t>
            </a:r>
            <a:r>
              <a:rPr sz="2150" spc="-80" dirty="0">
                <a:latin typeface="Arial"/>
                <a:cs typeface="Arial"/>
              </a:rPr>
              <a:t> </a:t>
            </a:r>
            <a:r>
              <a:rPr sz="2150" spc="-10" dirty="0">
                <a:latin typeface="Arial"/>
                <a:cs typeface="Arial"/>
              </a:rPr>
              <a:t>like</a:t>
            </a:r>
            <a:r>
              <a:rPr sz="2150" spc="-80" dirty="0">
                <a:latin typeface="Arial"/>
                <a:cs typeface="Arial"/>
              </a:rPr>
              <a:t> </a:t>
            </a:r>
            <a:r>
              <a:rPr sz="2150" spc="-10" dirty="0">
                <a:latin typeface="Arial"/>
                <a:cs typeface="Arial"/>
              </a:rPr>
              <a:t>technology</a:t>
            </a:r>
            <a:r>
              <a:rPr sz="2150" spc="-80" dirty="0">
                <a:latin typeface="Arial"/>
                <a:cs typeface="Arial"/>
              </a:rPr>
              <a:t> </a:t>
            </a:r>
            <a:r>
              <a:rPr sz="2150" spc="-20" dirty="0">
                <a:latin typeface="Arial"/>
                <a:cs typeface="Arial"/>
              </a:rPr>
              <a:t>integration</a:t>
            </a:r>
            <a:r>
              <a:rPr sz="2150" spc="-80" dirty="0">
                <a:latin typeface="Arial"/>
                <a:cs typeface="Arial"/>
              </a:rPr>
              <a:t> </a:t>
            </a:r>
            <a:r>
              <a:rPr sz="2150" spc="-10" dirty="0">
                <a:latin typeface="Arial"/>
                <a:cs typeface="Arial"/>
              </a:rPr>
              <a:t>issues.</a:t>
            </a:r>
            <a:endParaRPr sz="2150" dirty="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11</a:t>
            </a:fld>
            <a:endParaRPr spc="-25" dirty="0"/>
          </a:p>
        </p:txBody>
      </p:sp>
      <p:sp>
        <p:nvSpPr>
          <p:cNvPr id="9" name="object 9"/>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554035"/>
            <a:ext cx="1784350" cy="391160"/>
          </a:xfrm>
          <a:prstGeom prst="rect">
            <a:avLst/>
          </a:prstGeom>
        </p:spPr>
        <p:txBody>
          <a:bodyPr vert="horz" wrap="square" lIns="0" tIns="12700" rIns="0" bIns="0" rtlCol="0">
            <a:spAutoFit/>
          </a:bodyPr>
          <a:lstStyle/>
          <a:p>
            <a:pPr marL="12700">
              <a:lnSpc>
                <a:spcPct val="100000"/>
              </a:lnSpc>
              <a:spcBef>
                <a:spcPts val="100"/>
              </a:spcBef>
            </a:pPr>
            <a:r>
              <a:rPr spc="-110" dirty="0"/>
              <a:t>2.3</a:t>
            </a:r>
            <a:r>
              <a:rPr spc="-55" dirty="0"/>
              <a:t> </a:t>
            </a:r>
            <a:r>
              <a:rPr spc="-30" dirty="0"/>
              <a:t>Execution</a:t>
            </a:r>
          </a:p>
        </p:txBody>
      </p:sp>
      <p:pic>
        <p:nvPicPr>
          <p:cNvPr id="3" name="object 3"/>
          <p:cNvPicPr/>
          <p:nvPr/>
        </p:nvPicPr>
        <p:blipFill>
          <a:blip r:embed="rId2" cstate="print"/>
          <a:stretch>
            <a:fillRect/>
          </a:stretch>
        </p:blipFill>
        <p:spPr>
          <a:xfrm>
            <a:off x="1038222" y="2266945"/>
            <a:ext cx="104773" cy="104772"/>
          </a:xfrm>
          <a:prstGeom prst="rect">
            <a:avLst/>
          </a:prstGeom>
        </p:spPr>
      </p:pic>
      <p:pic>
        <p:nvPicPr>
          <p:cNvPr id="4" name="object 4"/>
          <p:cNvPicPr/>
          <p:nvPr/>
        </p:nvPicPr>
        <p:blipFill>
          <a:blip r:embed="rId2" cstate="print"/>
          <a:stretch>
            <a:fillRect/>
          </a:stretch>
        </p:blipFill>
        <p:spPr>
          <a:xfrm>
            <a:off x="1038222" y="3162294"/>
            <a:ext cx="104773" cy="104773"/>
          </a:xfrm>
          <a:prstGeom prst="rect">
            <a:avLst/>
          </a:prstGeom>
        </p:spPr>
      </p:pic>
      <p:pic>
        <p:nvPicPr>
          <p:cNvPr id="5" name="object 5"/>
          <p:cNvPicPr/>
          <p:nvPr/>
        </p:nvPicPr>
        <p:blipFill>
          <a:blip r:embed="rId3" cstate="print"/>
          <a:stretch>
            <a:fillRect/>
          </a:stretch>
        </p:blipFill>
        <p:spPr>
          <a:xfrm>
            <a:off x="1585909" y="3576618"/>
            <a:ext cx="114297" cy="114298"/>
          </a:xfrm>
          <a:prstGeom prst="rect">
            <a:avLst/>
          </a:prstGeom>
        </p:spPr>
      </p:pic>
      <p:pic>
        <p:nvPicPr>
          <p:cNvPr id="6" name="object 6"/>
          <p:cNvPicPr/>
          <p:nvPr/>
        </p:nvPicPr>
        <p:blipFill>
          <a:blip r:embed="rId4" cstate="print"/>
          <a:stretch>
            <a:fillRect/>
          </a:stretch>
        </p:blipFill>
        <p:spPr>
          <a:xfrm>
            <a:off x="1585909" y="4062392"/>
            <a:ext cx="114297" cy="114298"/>
          </a:xfrm>
          <a:prstGeom prst="rect">
            <a:avLst/>
          </a:prstGeom>
        </p:spPr>
      </p:pic>
      <p:pic>
        <p:nvPicPr>
          <p:cNvPr id="7" name="object 7"/>
          <p:cNvPicPr/>
          <p:nvPr/>
        </p:nvPicPr>
        <p:blipFill>
          <a:blip r:embed="rId5" cstate="print"/>
          <a:stretch>
            <a:fillRect/>
          </a:stretch>
        </p:blipFill>
        <p:spPr>
          <a:xfrm>
            <a:off x="1585909" y="4538641"/>
            <a:ext cx="114297" cy="114298"/>
          </a:xfrm>
          <a:prstGeom prst="rect">
            <a:avLst/>
          </a:prstGeom>
        </p:spPr>
      </p:pic>
      <p:pic>
        <p:nvPicPr>
          <p:cNvPr id="8" name="object 8"/>
          <p:cNvPicPr/>
          <p:nvPr/>
        </p:nvPicPr>
        <p:blipFill>
          <a:blip r:embed="rId6" cstate="print"/>
          <a:stretch>
            <a:fillRect/>
          </a:stretch>
        </p:blipFill>
        <p:spPr>
          <a:xfrm>
            <a:off x="1585909" y="5024415"/>
            <a:ext cx="114297" cy="114298"/>
          </a:xfrm>
          <a:prstGeom prst="rect">
            <a:avLst/>
          </a:prstGeom>
        </p:spPr>
      </p:pic>
      <p:sp>
        <p:nvSpPr>
          <p:cNvPr id="9" name="object 9"/>
          <p:cNvSpPr txBox="1"/>
          <p:nvPr/>
        </p:nvSpPr>
        <p:spPr>
          <a:xfrm>
            <a:off x="1287463" y="1937283"/>
            <a:ext cx="9293860" cy="3298190"/>
          </a:xfrm>
          <a:prstGeom prst="rect">
            <a:avLst/>
          </a:prstGeom>
        </p:spPr>
        <p:txBody>
          <a:bodyPr vert="horz" wrap="square" lIns="0" tIns="12700" rIns="0" bIns="0" rtlCol="0">
            <a:spAutoFit/>
          </a:bodyPr>
          <a:lstStyle/>
          <a:p>
            <a:pPr marL="12700" marR="5080">
              <a:lnSpc>
                <a:spcPct val="127899"/>
              </a:lnSpc>
              <a:spcBef>
                <a:spcPts val="100"/>
              </a:spcBef>
            </a:pPr>
            <a:r>
              <a:rPr sz="2150" spc="-20" dirty="0">
                <a:latin typeface="Arial"/>
                <a:cs typeface="Arial"/>
              </a:rPr>
              <a:t>Objective:</a:t>
            </a:r>
            <a:r>
              <a:rPr sz="2150" spc="-70" dirty="0">
                <a:latin typeface="Arial"/>
                <a:cs typeface="Arial"/>
              </a:rPr>
              <a:t> </a:t>
            </a:r>
            <a:r>
              <a:rPr sz="2150" spc="-20" dirty="0">
                <a:latin typeface="Arial"/>
                <a:cs typeface="Arial"/>
              </a:rPr>
              <a:t>Complete</a:t>
            </a:r>
            <a:r>
              <a:rPr sz="2150" spc="-65" dirty="0">
                <a:latin typeface="Arial"/>
                <a:cs typeface="Arial"/>
              </a:rPr>
              <a:t> </a:t>
            </a:r>
            <a:r>
              <a:rPr sz="2150" dirty="0">
                <a:latin typeface="Arial"/>
                <a:cs typeface="Arial"/>
              </a:rPr>
              <a:t>the</a:t>
            </a:r>
            <a:r>
              <a:rPr sz="2150" spc="-65" dirty="0">
                <a:latin typeface="Arial"/>
                <a:cs typeface="Arial"/>
              </a:rPr>
              <a:t> </a:t>
            </a:r>
            <a:r>
              <a:rPr sz="2150" dirty="0">
                <a:latin typeface="Arial"/>
                <a:cs typeface="Arial"/>
              </a:rPr>
              <a:t>work</a:t>
            </a:r>
            <a:r>
              <a:rPr sz="2150" spc="-65" dirty="0">
                <a:latin typeface="Arial"/>
                <a:cs typeface="Arial"/>
              </a:rPr>
              <a:t> </a:t>
            </a:r>
            <a:r>
              <a:rPr sz="2150" spc="-20" dirty="0">
                <a:latin typeface="Arial"/>
                <a:cs typeface="Arial"/>
              </a:rPr>
              <a:t>defined</a:t>
            </a:r>
            <a:r>
              <a:rPr sz="2150" spc="-65" dirty="0">
                <a:latin typeface="Arial"/>
                <a:cs typeface="Arial"/>
              </a:rPr>
              <a:t> </a:t>
            </a:r>
            <a:r>
              <a:rPr sz="2150" dirty="0">
                <a:latin typeface="Arial"/>
                <a:cs typeface="Arial"/>
              </a:rPr>
              <a:t>in</a:t>
            </a:r>
            <a:r>
              <a:rPr sz="2150" spc="-65" dirty="0">
                <a:latin typeface="Arial"/>
                <a:cs typeface="Arial"/>
              </a:rPr>
              <a:t> </a:t>
            </a:r>
            <a:r>
              <a:rPr sz="2150" dirty="0">
                <a:latin typeface="Arial"/>
                <a:cs typeface="Arial"/>
              </a:rPr>
              <a:t>the</a:t>
            </a:r>
            <a:r>
              <a:rPr sz="2150" spc="-65" dirty="0">
                <a:latin typeface="Arial"/>
                <a:cs typeface="Arial"/>
              </a:rPr>
              <a:t> </a:t>
            </a:r>
            <a:r>
              <a:rPr sz="2150" dirty="0">
                <a:latin typeface="Arial"/>
                <a:cs typeface="Arial"/>
              </a:rPr>
              <a:t>project</a:t>
            </a:r>
            <a:r>
              <a:rPr sz="2150" spc="-70" dirty="0">
                <a:latin typeface="Arial"/>
                <a:cs typeface="Arial"/>
              </a:rPr>
              <a:t> </a:t>
            </a:r>
            <a:r>
              <a:rPr sz="2150" spc="-50" dirty="0">
                <a:latin typeface="Arial"/>
                <a:cs typeface="Arial"/>
              </a:rPr>
              <a:t>management</a:t>
            </a:r>
            <a:r>
              <a:rPr sz="2150" spc="-65" dirty="0">
                <a:latin typeface="Arial"/>
                <a:cs typeface="Arial"/>
              </a:rPr>
              <a:t> </a:t>
            </a:r>
            <a:r>
              <a:rPr sz="2150" spc="-20" dirty="0">
                <a:latin typeface="Arial"/>
                <a:cs typeface="Arial"/>
              </a:rPr>
              <a:t>plan</a:t>
            </a:r>
            <a:r>
              <a:rPr sz="2150" spc="-65" dirty="0">
                <a:latin typeface="Arial"/>
                <a:cs typeface="Arial"/>
              </a:rPr>
              <a:t> </a:t>
            </a:r>
            <a:r>
              <a:rPr sz="2150" dirty="0">
                <a:latin typeface="Arial"/>
                <a:cs typeface="Arial"/>
              </a:rPr>
              <a:t>to</a:t>
            </a:r>
            <a:r>
              <a:rPr sz="2150" spc="-65" dirty="0">
                <a:latin typeface="Arial"/>
                <a:cs typeface="Arial"/>
              </a:rPr>
              <a:t> </a:t>
            </a:r>
            <a:r>
              <a:rPr sz="2150" spc="-20" dirty="0">
                <a:latin typeface="Arial"/>
                <a:cs typeface="Arial"/>
              </a:rPr>
              <a:t>meet </a:t>
            </a:r>
            <a:r>
              <a:rPr sz="2150" dirty="0">
                <a:latin typeface="Arial"/>
                <a:cs typeface="Arial"/>
              </a:rPr>
              <a:t>project</a:t>
            </a:r>
            <a:r>
              <a:rPr sz="2150" spc="-15" dirty="0">
                <a:latin typeface="Arial"/>
                <a:cs typeface="Arial"/>
              </a:rPr>
              <a:t> </a:t>
            </a:r>
            <a:r>
              <a:rPr sz="2150" spc="-10" dirty="0">
                <a:latin typeface="Arial"/>
                <a:cs typeface="Arial"/>
              </a:rPr>
              <a:t>objectives.</a:t>
            </a:r>
            <a:endParaRPr sz="2150">
              <a:latin typeface="Arial"/>
              <a:cs typeface="Arial"/>
            </a:endParaRPr>
          </a:p>
          <a:p>
            <a:pPr marL="12700">
              <a:lnSpc>
                <a:spcPct val="100000"/>
              </a:lnSpc>
              <a:spcBef>
                <a:spcPts val="1890"/>
              </a:spcBef>
            </a:pPr>
            <a:r>
              <a:rPr sz="2150" spc="-80" dirty="0">
                <a:latin typeface="Arial"/>
                <a:cs typeface="Arial"/>
              </a:rPr>
              <a:t>Key</a:t>
            </a:r>
            <a:r>
              <a:rPr sz="2150" spc="-60" dirty="0">
                <a:latin typeface="Arial"/>
                <a:cs typeface="Arial"/>
              </a:rPr>
              <a:t> </a:t>
            </a:r>
            <a:r>
              <a:rPr sz="2150" spc="-10" dirty="0">
                <a:latin typeface="Arial"/>
                <a:cs typeface="Arial"/>
              </a:rPr>
              <a:t>Activities:</a:t>
            </a:r>
            <a:endParaRPr sz="2150">
              <a:latin typeface="Arial"/>
              <a:cs typeface="Arial"/>
            </a:endParaRPr>
          </a:p>
          <a:p>
            <a:pPr marL="563880" marR="3823970">
              <a:lnSpc>
                <a:spcPct val="102899"/>
              </a:lnSpc>
              <a:spcBef>
                <a:spcPts val="645"/>
              </a:spcBef>
            </a:pPr>
            <a:r>
              <a:rPr sz="2150" spc="-135" dirty="0">
                <a:latin typeface="Arial"/>
                <a:cs typeface="Arial"/>
              </a:rPr>
              <a:t>Task</a:t>
            </a:r>
            <a:r>
              <a:rPr sz="2150" spc="-65" dirty="0">
                <a:latin typeface="Arial"/>
                <a:cs typeface="Arial"/>
              </a:rPr>
              <a:t> </a:t>
            </a:r>
            <a:r>
              <a:rPr sz="2150" spc="-45" dirty="0">
                <a:latin typeface="Arial"/>
                <a:cs typeface="Arial"/>
              </a:rPr>
              <a:t>Assignment</a:t>
            </a:r>
            <a:r>
              <a:rPr sz="2150" spc="-60" dirty="0">
                <a:latin typeface="Arial"/>
                <a:cs typeface="Arial"/>
              </a:rPr>
              <a:t> </a:t>
            </a:r>
            <a:r>
              <a:rPr sz="2150" spc="-40" dirty="0">
                <a:latin typeface="Arial"/>
                <a:cs typeface="Arial"/>
              </a:rPr>
              <a:t>and</a:t>
            </a:r>
            <a:r>
              <a:rPr sz="2150" spc="-65" dirty="0">
                <a:latin typeface="Arial"/>
                <a:cs typeface="Arial"/>
              </a:rPr>
              <a:t> </a:t>
            </a:r>
            <a:r>
              <a:rPr sz="2150" spc="-75" dirty="0">
                <a:latin typeface="Arial"/>
                <a:cs typeface="Arial"/>
              </a:rPr>
              <a:t>Resource</a:t>
            </a:r>
            <a:r>
              <a:rPr sz="2150" spc="-60" dirty="0">
                <a:latin typeface="Arial"/>
                <a:cs typeface="Arial"/>
              </a:rPr>
              <a:t> </a:t>
            </a:r>
            <a:r>
              <a:rPr sz="2150" spc="-10" dirty="0">
                <a:latin typeface="Arial"/>
                <a:cs typeface="Arial"/>
              </a:rPr>
              <a:t>Allocation </a:t>
            </a:r>
            <a:r>
              <a:rPr sz="2150" spc="-85" dirty="0">
                <a:latin typeface="Arial"/>
                <a:cs typeface="Arial"/>
              </a:rPr>
              <a:t>Team</a:t>
            </a:r>
            <a:r>
              <a:rPr sz="2150" spc="-75" dirty="0">
                <a:latin typeface="Arial"/>
                <a:cs typeface="Arial"/>
              </a:rPr>
              <a:t> </a:t>
            </a:r>
            <a:r>
              <a:rPr sz="2150" spc="-10" dirty="0">
                <a:latin typeface="Arial"/>
                <a:cs typeface="Arial"/>
              </a:rPr>
              <a:t>Development</a:t>
            </a:r>
            <a:r>
              <a:rPr sz="2150" spc="-100" dirty="0">
                <a:latin typeface="Arial"/>
                <a:cs typeface="Arial"/>
              </a:rPr>
              <a:t> </a:t>
            </a:r>
            <a:r>
              <a:rPr sz="2150" spc="-40" dirty="0">
                <a:latin typeface="Arial"/>
                <a:cs typeface="Arial"/>
              </a:rPr>
              <a:t>and</a:t>
            </a:r>
            <a:r>
              <a:rPr sz="2150" spc="-85" dirty="0">
                <a:latin typeface="Arial"/>
                <a:cs typeface="Arial"/>
              </a:rPr>
              <a:t> </a:t>
            </a:r>
            <a:r>
              <a:rPr sz="2150" spc="-10" dirty="0">
                <a:latin typeface="Arial"/>
                <a:cs typeface="Arial"/>
              </a:rPr>
              <a:t>Leadership</a:t>
            </a:r>
            <a:endParaRPr sz="2150">
              <a:latin typeface="Arial"/>
              <a:cs typeface="Arial"/>
            </a:endParaRPr>
          </a:p>
          <a:p>
            <a:pPr marL="563880">
              <a:lnSpc>
                <a:spcPct val="100000"/>
              </a:lnSpc>
              <a:spcBef>
                <a:spcPts val="1165"/>
              </a:spcBef>
            </a:pPr>
            <a:r>
              <a:rPr sz="2150" dirty="0">
                <a:latin typeface="Arial"/>
                <a:cs typeface="Arial"/>
              </a:rPr>
              <a:t>Quality</a:t>
            </a:r>
            <a:r>
              <a:rPr sz="2150" spc="-145" dirty="0">
                <a:latin typeface="Arial"/>
                <a:cs typeface="Arial"/>
              </a:rPr>
              <a:t> </a:t>
            </a:r>
            <a:r>
              <a:rPr sz="2150" spc="-10" dirty="0">
                <a:latin typeface="Arial"/>
                <a:cs typeface="Arial"/>
              </a:rPr>
              <a:t>Assurance</a:t>
            </a:r>
            <a:endParaRPr sz="2150">
              <a:latin typeface="Arial"/>
              <a:cs typeface="Arial"/>
            </a:endParaRPr>
          </a:p>
          <a:p>
            <a:pPr marL="563880">
              <a:lnSpc>
                <a:spcPct val="100000"/>
              </a:lnSpc>
              <a:spcBef>
                <a:spcPts val="2415"/>
              </a:spcBef>
            </a:pPr>
            <a:r>
              <a:rPr sz="2150" spc="-25" dirty="0">
                <a:latin typeface="Arial"/>
                <a:cs typeface="Arial"/>
              </a:rPr>
              <a:t>Communication</a:t>
            </a:r>
            <a:r>
              <a:rPr sz="2150" spc="-60" dirty="0">
                <a:latin typeface="Arial"/>
                <a:cs typeface="Arial"/>
              </a:rPr>
              <a:t> </a:t>
            </a:r>
            <a:r>
              <a:rPr sz="2150" spc="65" dirty="0">
                <a:latin typeface="Arial"/>
                <a:cs typeface="Arial"/>
              </a:rPr>
              <a:t>with</a:t>
            </a:r>
            <a:r>
              <a:rPr sz="2150" spc="-60" dirty="0">
                <a:latin typeface="Arial"/>
                <a:cs typeface="Arial"/>
              </a:rPr>
              <a:t> </a:t>
            </a:r>
            <a:r>
              <a:rPr sz="2150" spc="-10" dirty="0">
                <a:latin typeface="Arial"/>
                <a:cs typeface="Arial"/>
              </a:rPr>
              <a:t>Stakeholders</a:t>
            </a:r>
            <a:endParaRPr sz="215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12</a:t>
            </a:fld>
            <a:endParaRPr spc="-25" dirty="0"/>
          </a:p>
        </p:txBody>
      </p:sp>
      <p:sp>
        <p:nvSpPr>
          <p:cNvPr id="10" name="object 10"/>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2" y="1866896"/>
            <a:ext cx="104773" cy="104772"/>
          </a:xfrm>
          <a:prstGeom prst="rect">
            <a:avLst/>
          </a:prstGeom>
        </p:spPr>
      </p:pic>
      <p:sp>
        <p:nvSpPr>
          <p:cNvPr id="3" name="object 3"/>
          <p:cNvSpPr txBox="1">
            <a:spLocks noGrp="1"/>
          </p:cNvSpPr>
          <p:nvPr>
            <p:ph type="title"/>
          </p:nvPr>
        </p:nvSpPr>
        <p:spPr>
          <a:xfrm>
            <a:off x="1287463" y="1716277"/>
            <a:ext cx="1552575" cy="353060"/>
          </a:xfrm>
          <a:prstGeom prst="rect">
            <a:avLst/>
          </a:prstGeom>
        </p:spPr>
        <p:txBody>
          <a:bodyPr vert="horz" wrap="square" lIns="0" tIns="12700" rIns="0" bIns="0" rtlCol="0">
            <a:spAutoFit/>
          </a:bodyPr>
          <a:lstStyle/>
          <a:p>
            <a:pPr marL="12700">
              <a:lnSpc>
                <a:spcPct val="100000"/>
              </a:lnSpc>
              <a:spcBef>
                <a:spcPts val="100"/>
              </a:spcBef>
            </a:pPr>
            <a:r>
              <a:rPr sz="2150" spc="-35" dirty="0"/>
              <a:t>Deliverables:</a:t>
            </a:r>
            <a:endParaRPr sz="2150"/>
          </a:p>
        </p:txBody>
      </p:sp>
      <p:pic>
        <p:nvPicPr>
          <p:cNvPr id="4" name="object 4"/>
          <p:cNvPicPr/>
          <p:nvPr/>
        </p:nvPicPr>
        <p:blipFill>
          <a:blip r:embed="rId3" cstate="print"/>
          <a:stretch>
            <a:fillRect/>
          </a:stretch>
        </p:blipFill>
        <p:spPr>
          <a:xfrm>
            <a:off x="1585909" y="2271707"/>
            <a:ext cx="114297" cy="114297"/>
          </a:xfrm>
          <a:prstGeom prst="rect">
            <a:avLst/>
          </a:prstGeom>
        </p:spPr>
      </p:pic>
      <p:pic>
        <p:nvPicPr>
          <p:cNvPr id="5" name="object 5"/>
          <p:cNvPicPr/>
          <p:nvPr/>
        </p:nvPicPr>
        <p:blipFill>
          <a:blip r:embed="rId4" cstate="print"/>
          <a:stretch>
            <a:fillRect/>
          </a:stretch>
        </p:blipFill>
        <p:spPr>
          <a:xfrm>
            <a:off x="1585909" y="2757470"/>
            <a:ext cx="114297" cy="114298"/>
          </a:xfrm>
          <a:prstGeom prst="rect">
            <a:avLst/>
          </a:prstGeom>
        </p:spPr>
      </p:pic>
      <p:sp>
        <p:nvSpPr>
          <p:cNvPr id="6" name="object 6"/>
          <p:cNvSpPr txBox="1"/>
          <p:nvPr/>
        </p:nvSpPr>
        <p:spPr>
          <a:xfrm>
            <a:off x="762000" y="1524000"/>
            <a:ext cx="10061575" cy="3704669"/>
          </a:xfrm>
          <a:prstGeom prst="rect">
            <a:avLst/>
          </a:prstGeom>
        </p:spPr>
        <p:txBody>
          <a:bodyPr vert="horz" wrap="square" lIns="0" tIns="12700" rIns="0" bIns="0" rtlCol="0">
            <a:spAutoFit/>
          </a:bodyPr>
          <a:lstStyle/>
          <a:p>
            <a:pPr marL="1116965" marR="990600">
              <a:lnSpc>
                <a:spcPct val="148300"/>
              </a:lnSpc>
              <a:spcBef>
                <a:spcPts val="100"/>
              </a:spcBef>
            </a:pPr>
            <a:endParaRPr lang="en-US" sz="2150" spc="-30" dirty="0">
              <a:latin typeface="Arial"/>
              <a:cs typeface="Arial"/>
            </a:endParaRPr>
          </a:p>
          <a:p>
            <a:pPr marL="1116965" marR="990600">
              <a:lnSpc>
                <a:spcPct val="148300"/>
              </a:lnSpc>
              <a:spcBef>
                <a:spcPts val="100"/>
              </a:spcBef>
            </a:pPr>
            <a:r>
              <a:rPr sz="2150" spc="-30" dirty="0" smtClean="0">
                <a:latin typeface="Arial"/>
                <a:cs typeface="Arial"/>
              </a:rPr>
              <a:t>Deliverables</a:t>
            </a:r>
            <a:r>
              <a:rPr sz="2150" spc="-65" dirty="0" smtClean="0">
                <a:latin typeface="Arial"/>
                <a:cs typeface="Arial"/>
              </a:rPr>
              <a:t> </a:t>
            </a:r>
            <a:r>
              <a:rPr sz="2150" spc="-145" dirty="0">
                <a:latin typeface="Arial"/>
                <a:cs typeface="Arial"/>
              </a:rPr>
              <a:t>as</a:t>
            </a:r>
            <a:r>
              <a:rPr sz="2150" spc="-65" dirty="0">
                <a:latin typeface="Arial"/>
                <a:cs typeface="Arial"/>
              </a:rPr>
              <a:t> </a:t>
            </a:r>
            <a:r>
              <a:rPr sz="2150" dirty="0">
                <a:latin typeface="Arial"/>
                <a:cs typeface="Arial"/>
              </a:rPr>
              <a:t>per</a:t>
            </a:r>
            <a:r>
              <a:rPr sz="2150" spc="-60" dirty="0">
                <a:latin typeface="Arial"/>
                <a:cs typeface="Arial"/>
              </a:rPr>
              <a:t> </a:t>
            </a:r>
            <a:r>
              <a:rPr sz="2150" dirty="0">
                <a:latin typeface="Arial"/>
                <a:cs typeface="Arial"/>
              </a:rPr>
              <a:t>project</a:t>
            </a:r>
            <a:r>
              <a:rPr sz="2150" spc="-65" dirty="0">
                <a:latin typeface="Arial"/>
                <a:cs typeface="Arial"/>
              </a:rPr>
              <a:t> </a:t>
            </a:r>
            <a:r>
              <a:rPr sz="2150" spc="-20" dirty="0">
                <a:latin typeface="Arial"/>
                <a:cs typeface="Arial"/>
              </a:rPr>
              <a:t>plan</a:t>
            </a:r>
            <a:r>
              <a:rPr sz="2150" spc="-65" dirty="0">
                <a:latin typeface="Arial"/>
                <a:cs typeface="Arial"/>
              </a:rPr>
              <a:t> </a:t>
            </a:r>
            <a:r>
              <a:rPr sz="2150" spc="-100" dirty="0">
                <a:latin typeface="Arial"/>
                <a:cs typeface="Arial"/>
              </a:rPr>
              <a:t>(e.g.,</a:t>
            </a:r>
            <a:r>
              <a:rPr sz="2150" spc="-60" dirty="0">
                <a:latin typeface="Arial"/>
                <a:cs typeface="Arial"/>
              </a:rPr>
              <a:t> </a:t>
            </a:r>
            <a:r>
              <a:rPr sz="2150" spc="-10" dirty="0">
                <a:latin typeface="Arial"/>
                <a:cs typeface="Arial"/>
              </a:rPr>
              <a:t>developed</a:t>
            </a:r>
            <a:r>
              <a:rPr sz="2150" spc="-65" dirty="0">
                <a:latin typeface="Arial"/>
                <a:cs typeface="Arial"/>
              </a:rPr>
              <a:t> </a:t>
            </a:r>
            <a:r>
              <a:rPr sz="2150" dirty="0">
                <a:latin typeface="Arial"/>
                <a:cs typeface="Arial"/>
              </a:rPr>
              <a:t>software</a:t>
            </a:r>
            <a:r>
              <a:rPr sz="2150" spc="-65" dirty="0">
                <a:latin typeface="Arial"/>
                <a:cs typeface="Arial"/>
              </a:rPr>
              <a:t> </a:t>
            </a:r>
            <a:r>
              <a:rPr sz="2150" spc="-10" dirty="0" smtClean="0">
                <a:latin typeface="Arial"/>
                <a:cs typeface="Arial"/>
              </a:rPr>
              <a:t>modules)</a:t>
            </a:r>
            <a:endParaRPr lang="en-US" sz="2150" spc="-10" dirty="0" smtClean="0">
              <a:latin typeface="Arial"/>
              <a:cs typeface="Arial"/>
            </a:endParaRPr>
          </a:p>
          <a:p>
            <a:pPr marL="1116965" marR="990600">
              <a:lnSpc>
                <a:spcPct val="148300"/>
              </a:lnSpc>
              <a:spcBef>
                <a:spcPts val="100"/>
              </a:spcBef>
            </a:pPr>
            <a:r>
              <a:rPr sz="2150" spc="-45" dirty="0" smtClean="0">
                <a:latin typeface="Arial"/>
                <a:cs typeface="Arial"/>
              </a:rPr>
              <a:t>Performance</a:t>
            </a:r>
            <a:r>
              <a:rPr sz="2150" spc="-75" dirty="0" smtClean="0">
                <a:latin typeface="Arial"/>
                <a:cs typeface="Arial"/>
              </a:rPr>
              <a:t> </a:t>
            </a:r>
            <a:r>
              <a:rPr sz="2150" spc="-10" dirty="0">
                <a:latin typeface="Arial"/>
                <a:cs typeface="Arial"/>
              </a:rPr>
              <a:t>Reports</a:t>
            </a:r>
            <a:endParaRPr sz="2150" dirty="0">
              <a:latin typeface="Arial"/>
              <a:cs typeface="Arial"/>
            </a:endParaRPr>
          </a:p>
          <a:p>
            <a:pPr>
              <a:lnSpc>
                <a:spcPct val="100000"/>
              </a:lnSpc>
              <a:spcBef>
                <a:spcPts val="1960"/>
              </a:spcBef>
            </a:pPr>
            <a:endParaRPr sz="2150" dirty="0">
              <a:latin typeface="Arial"/>
              <a:cs typeface="Arial"/>
            </a:endParaRPr>
          </a:p>
          <a:p>
            <a:pPr marL="12700">
              <a:lnSpc>
                <a:spcPct val="100000"/>
              </a:lnSpc>
              <a:spcBef>
                <a:spcPts val="5"/>
              </a:spcBef>
            </a:pPr>
            <a:r>
              <a:rPr sz="2250" spc="-10" dirty="0">
                <a:latin typeface="Arial"/>
                <a:cs typeface="Arial"/>
              </a:rPr>
              <a:t>Example</a:t>
            </a:r>
            <a:endParaRPr sz="2250" dirty="0">
              <a:latin typeface="Arial"/>
              <a:cs typeface="Arial"/>
            </a:endParaRPr>
          </a:p>
          <a:p>
            <a:pPr marL="12700" marR="5080">
              <a:lnSpc>
                <a:spcPct val="126499"/>
              </a:lnSpc>
              <a:spcBef>
                <a:spcPts val="235"/>
              </a:spcBef>
            </a:pPr>
            <a:r>
              <a:rPr sz="2150" spc="-105" dirty="0">
                <a:latin typeface="Arial"/>
                <a:cs typeface="Arial"/>
              </a:rPr>
              <a:t>The</a:t>
            </a:r>
            <a:r>
              <a:rPr sz="2150" spc="-55" dirty="0">
                <a:latin typeface="Arial"/>
                <a:cs typeface="Arial"/>
              </a:rPr>
              <a:t> </a:t>
            </a:r>
            <a:r>
              <a:rPr sz="2150" dirty="0">
                <a:latin typeface="Arial"/>
                <a:cs typeface="Arial"/>
              </a:rPr>
              <a:t>development</a:t>
            </a:r>
            <a:r>
              <a:rPr sz="2150" spc="-50" dirty="0">
                <a:latin typeface="Arial"/>
                <a:cs typeface="Arial"/>
              </a:rPr>
              <a:t> </a:t>
            </a:r>
            <a:r>
              <a:rPr sz="2150" spc="-10" dirty="0">
                <a:latin typeface="Arial"/>
                <a:cs typeface="Arial"/>
              </a:rPr>
              <a:t>team</a:t>
            </a:r>
            <a:r>
              <a:rPr sz="2150" spc="-50" dirty="0">
                <a:latin typeface="Arial"/>
                <a:cs typeface="Arial"/>
              </a:rPr>
              <a:t> </a:t>
            </a:r>
            <a:r>
              <a:rPr sz="2150" spc="-30" dirty="0">
                <a:latin typeface="Arial"/>
                <a:cs typeface="Arial"/>
              </a:rPr>
              <a:t>starts</a:t>
            </a:r>
            <a:r>
              <a:rPr sz="2150" spc="-50" dirty="0">
                <a:latin typeface="Arial"/>
                <a:cs typeface="Arial"/>
              </a:rPr>
              <a:t> </a:t>
            </a:r>
            <a:r>
              <a:rPr sz="2150" spc="-20" dirty="0">
                <a:latin typeface="Arial"/>
                <a:cs typeface="Arial"/>
              </a:rPr>
              <a:t>coding</a:t>
            </a:r>
            <a:r>
              <a:rPr sz="2150" spc="-50" dirty="0">
                <a:latin typeface="Arial"/>
                <a:cs typeface="Arial"/>
              </a:rPr>
              <a:t> </a:t>
            </a:r>
            <a:r>
              <a:rPr sz="2150" dirty="0">
                <a:latin typeface="Arial"/>
                <a:cs typeface="Arial"/>
              </a:rPr>
              <a:t>the</a:t>
            </a:r>
            <a:r>
              <a:rPr sz="2150" spc="-50" dirty="0">
                <a:latin typeface="Arial"/>
                <a:cs typeface="Arial"/>
              </a:rPr>
              <a:t> </a:t>
            </a:r>
            <a:r>
              <a:rPr sz="2150" dirty="0">
                <a:latin typeface="Arial"/>
                <a:cs typeface="Arial"/>
              </a:rPr>
              <a:t>e-commerce</a:t>
            </a:r>
            <a:r>
              <a:rPr sz="2150" spc="-50" dirty="0">
                <a:latin typeface="Arial"/>
                <a:cs typeface="Arial"/>
              </a:rPr>
              <a:t> </a:t>
            </a:r>
            <a:r>
              <a:rPr sz="2150" dirty="0">
                <a:latin typeface="Arial"/>
                <a:cs typeface="Arial"/>
              </a:rPr>
              <a:t>platform,</a:t>
            </a:r>
            <a:r>
              <a:rPr sz="2150" spc="-50" dirty="0">
                <a:latin typeface="Arial"/>
                <a:cs typeface="Arial"/>
              </a:rPr>
              <a:t> </a:t>
            </a:r>
            <a:r>
              <a:rPr sz="2150" spc="-40" dirty="0">
                <a:latin typeface="Arial"/>
                <a:cs typeface="Arial"/>
              </a:rPr>
              <a:t>adhering</a:t>
            </a:r>
            <a:r>
              <a:rPr sz="2150" spc="-55" dirty="0">
                <a:latin typeface="Arial"/>
                <a:cs typeface="Arial"/>
              </a:rPr>
              <a:t> </a:t>
            </a:r>
            <a:r>
              <a:rPr sz="2150" dirty="0">
                <a:latin typeface="Arial"/>
                <a:cs typeface="Arial"/>
              </a:rPr>
              <a:t>to</a:t>
            </a:r>
            <a:r>
              <a:rPr sz="2150" spc="-50" dirty="0">
                <a:latin typeface="Arial"/>
                <a:cs typeface="Arial"/>
              </a:rPr>
              <a:t> </a:t>
            </a:r>
            <a:r>
              <a:rPr sz="2150" spc="-25" dirty="0">
                <a:latin typeface="Arial"/>
                <a:cs typeface="Arial"/>
              </a:rPr>
              <a:t>the </a:t>
            </a:r>
            <a:r>
              <a:rPr sz="2150" spc="-30" dirty="0">
                <a:latin typeface="Arial"/>
                <a:cs typeface="Arial"/>
              </a:rPr>
              <a:t>planned</a:t>
            </a:r>
            <a:r>
              <a:rPr sz="2150" spc="-85" dirty="0">
                <a:latin typeface="Arial"/>
                <a:cs typeface="Arial"/>
              </a:rPr>
              <a:t> </a:t>
            </a:r>
            <a:r>
              <a:rPr sz="2150" spc="-50" dirty="0">
                <a:latin typeface="Arial"/>
                <a:cs typeface="Arial"/>
              </a:rPr>
              <a:t>schedule.</a:t>
            </a:r>
            <a:r>
              <a:rPr sz="2150" spc="-80" dirty="0">
                <a:latin typeface="Arial"/>
                <a:cs typeface="Arial"/>
              </a:rPr>
              <a:t> </a:t>
            </a:r>
            <a:r>
              <a:rPr sz="2150" spc="-95" dirty="0">
                <a:latin typeface="Arial"/>
                <a:cs typeface="Arial"/>
              </a:rPr>
              <a:t>Regular</a:t>
            </a:r>
            <a:r>
              <a:rPr sz="2150" spc="-75" dirty="0">
                <a:latin typeface="Arial"/>
                <a:cs typeface="Arial"/>
              </a:rPr>
              <a:t> </a:t>
            </a:r>
            <a:r>
              <a:rPr sz="2150" spc="-40" dirty="0">
                <a:latin typeface="Arial"/>
                <a:cs typeface="Arial"/>
              </a:rPr>
              <a:t>meetings</a:t>
            </a:r>
            <a:r>
              <a:rPr sz="2150" spc="-75" dirty="0">
                <a:latin typeface="Arial"/>
                <a:cs typeface="Arial"/>
              </a:rPr>
              <a:t> </a:t>
            </a:r>
            <a:r>
              <a:rPr sz="2150" spc="-60" dirty="0">
                <a:latin typeface="Arial"/>
                <a:cs typeface="Arial"/>
              </a:rPr>
              <a:t>ensure</a:t>
            </a:r>
            <a:r>
              <a:rPr sz="2150" spc="-75" dirty="0">
                <a:latin typeface="Arial"/>
                <a:cs typeface="Arial"/>
              </a:rPr>
              <a:t> </a:t>
            </a:r>
            <a:r>
              <a:rPr sz="2150" dirty="0">
                <a:latin typeface="Arial"/>
                <a:cs typeface="Arial"/>
              </a:rPr>
              <a:t>that</a:t>
            </a:r>
            <a:r>
              <a:rPr sz="2150" spc="-80" dirty="0">
                <a:latin typeface="Arial"/>
                <a:cs typeface="Arial"/>
              </a:rPr>
              <a:t> </a:t>
            </a:r>
            <a:r>
              <a:rPr sz="2150" spc="-85" dirty="0">
                <a:latin typeface="Arial"/>
                <a:cs typeface="Arial"/>
              </a:rPr>
              <a:t>tasks</a:t>
            </a:r>
            <a:r>
              <a:rPr sz="2150" spc="-75" dirty="0">
                <a:latin typeface="Arial"/>
                <a:cs typeface="Arial"/>
              </a:rPr>
              <a:t> </a:t>
            </a:r>
            <a:r>
              <a:rPr sz="2150" spc="-65" dirty="0">
                <a:latin typeface="Arial"/>
                <a:cs typeface="Arial"/>
              </a:rPr>
              <a:t>are</a:t>
            </a:r>
            <a:r>
              <a:rPr sz="2150" spc="-75" dirty="0">
                <a:latin typeface="Arial"/>
                <a:cs typeface="Arial"/>
              </a:rPr>
              <a:t> </a:t>
            </a:r>
            <a:r>
              <a:rPr sz="2150" dirty="0">
                <a:latin typeface="Arial"/>
                <a:cs typeface="Arial"/>
              </a:rPr>
              <a:t>on</a:t>
            </a:r>
            <a:r>
              <a:rPr sz="2150" spc="-80" dirty="0">
                <a:latin typeface="Arial"/>
                <a:cs typeface="Arial"/>
              </a:rPr>
              <a:t> </a:t>
            </a:r>
            <a:r>
              <a:rPr sz="2150" spc="-20" dirty="0">
                <a:latin typeface="Arial"/>
                <a:cs typeface="Arial"/>
              </a:rPr>
              <a:t>track,</a:t>
            </a:r>
            <a:r>
              <a:rPr sz="2150" spc="-75" dirty="0">
                <a:latin typeface="Arial"/>
                <a:cs typeface="Arial"/>
              </a:rPr>
              <a:t> </a:t>
            </a:r>
            <a:r>
              <a:rPr sz="2150" spc="-40" dirty="0">
                <a:latin typeface="Arial"/>
                <a:cs typeface="Arial"/>
              </a:rPr>
              <a:t>and</a:t>
            </a:r>
            <a:r>
              <a:rPr sz="2150" spc="-75" dirty="0">
                <a:latin typeface="Arial"/>
                <a:cs typeface="Arial"/>
              </a:rPr>
              <a:t> </a:t>
            </a:r>
            <a:r>
              <a:rPr sz="2150" spc="-40" dirty="0">
                <a:latin typeface="Arial"/>
                <a:cs typeface="Arial"/>
              </a:rPr>
              <a:t>any</a:t>
            </a:r>
            <a:r>
              <a:rPr sz="2150" spc="-80" dirty="0">
                <a:latin typeface="Arial"/>
                <a:cs typeface="Arial"/>
              </a:rPr>
              <a:t> </a:t>
            </a:r>
            <a:r>
              <a:rPr sz="2150" spc="-100" dirty="0">
                <a:latin typeface="Arial"/>
                <a:cs typeface="Arial"/>
              </a:rPr>
              <a:t>issues</a:t>
            </a:r>
            <a:r>
              <a:rPr sz="2150" spc="-75" dirty="0">
                <a:latin typeface="Arial"/>
                <a:cs typeface="Arial"/>
              </a:rPr>
              <a:t> </a:t>
            </a:r>
            <a:r>
              <a:rPr sz="2150" spc="-25" dirty="0">
                <a:latin typeface="Arial"/>
                <a:cs typeface="Arial"/>
              </a:rPr>
              <a:t>are </a:t>
            </a:r>
            <a:r>
              <a:rPr sz="2150" dirty="0">
                <a:latin typeface="Arial"/>
                <a:cs typeface="Arial"/>
              </a:rPr>
              <a:t>promptly</a:t>
            </a:r>
            <a:r>
              <a:rPr sz="2150" spc="254" dirty="0">
                <a:latin typeface="Arial"/>
                <a:cs typeface="Arial"/>
              </a:rPr>
              <a:t> </a:t>
            </a:r>
            <a:r>
              <a:rPr sz="2150" spc="-10" dirty="0">
                <a:latin typeface="Arial"/>
                <a:cs typeface="Arial"/>
              </a:rPr>
              <a:t>addressed.</a:t>
            </a:r>
            <a:endParaRPr sz="2150" dirty="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13</a:t>
            </a:fld>
            <a:endParaRPr spc="-25" dirty="0"/>
          </a:p>
        </p:txBody>
      </p:sp>
      <p:sp>
        <p:nvSpPr>
          <p:cNvPr id="7" name="object 7"/>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763585"/>
            <a:ext cx="3995420" cy="391160"/>
          </a:xfrm>
          <a:prstGeom prst="rect">
            <a:avLst/>
          </a:prstGeom>
        </p:spPr>
        <p:txBody>
          <a:bodyPr vert="horz" wrap="square" lIns="0" tIns="12700" rIns="0" bIns="0" rtlCol="0">
            <a:spAutoFit/>
          </a:bodyPr>
          <a:lstStyle/>
          <a:p>
            <a:pPr marL="12700">
              <a:lnSpc>
                <a:spcPct val="100000"/>
              </a:lnSpc>
              <a:spcBef>
                <a:spcPts val="100"/>
              </a:spcBef>
            </a:pPr>
            <a:r>
              <a:rPr spc="-114" dirty="0"/>
              <a:t>2.4</a:t>
            </a:r>
            <a:r>
              <a:rPr spc="-80" dirty="0"/>
              <a:t> </a:t>
            </a:r>
            <a:r>
              <a:rPr dirty="0"/>
              <a:t>Monitoring</a:t>
            </a:r>
            <a:r>
              <a:rPr spc="-90" dirty="0"/>
              <a:t> </a:t>
            </a:r>
            <a:r>
              <a:rPr spc="-45" dirty="0"/>
              <a:t>and</a:t>
            </a:r>
            <a:r>
              <a:rPr spc="-85" dirty="0"/>
              <a:t> </a:t>
            </a:r>
            <a:r>
              <a:rPr spc="-10" dirty="0"/>
              <a:t>Controlling</a:t>
            </a:r>
          </a:p>
        </p:txBody>
      </p:sp>
      <p:pic>
        <p:nvPicPr>
          <p:cNvPr id="3" name="object 3"/>
          <p:cNvPicPr/>
          <p:nvPr/>
        </p:nvPicPr>
        <p:blipFill>
          <a:blip r:embed="rId2" cstate="print"/>
          <a:stretch>
            <a:fillRect/>
          </a:stretch>
        </p:blipFill>
        <p:spPr>
          <a:xfrm>
            <a:off x="1038222" y="2476496"/>
            <a:ext cx="104773" cy="104773"/>
          </a:xfrm>
          <a:prstGeom prst="rect">
            <a:avLst/>
          </a:prstGeom>
        </p:spPr>
      </p:pic>
      <p:pic>
        <p:nvPicPr>
          <p:cNvPr id="4" name="object 4"/>
          <p:cNvPicPr/>
          <p:nvPr/>
        </p:nvPicPr>
        <p:blipFill>
          <a:blip r:embed="rId2" cstate="print"/>
          <a:stretch>
            <a:fillRect/>
          </a:stretch>
        </p:blipFill>
        <p:spPr>
          <a:xfrm>
            <a:off x="1038222" y="2962270"/>
            <a:ext cx="104773" cy="104773"/>
          </a:xfrm>
          <a:prstGeom prst="rect">
            <a:avLst/>
          </a:prstGeom>
        </p:spPr>
      </p:pic>
      <p:pic>
        <p:nvPicPr>
          <p:cNvPr id="5" name="object 5"/>
          <p:cNvPicPr/>
          <p:nvPr/>
        </p:nvPicPr>
        <p:blipFill>
          <a:blip r:embed="rId3" cstate="print"/>
          <a:stretch>
            <a:fillRect/>
          </a:stretch>
        </p:blipFill>
        <p:spPr>
          <a:xfrm>
            <a:off x="1585909" y="3367069"/>
            <a:ext cx="114297" cy="114298"/>
          </a:xfrm>
          <a:prstGeom prst="rect">
            <a:avLst/>
          </a:prstGeom>
        </p:spPr>
      </p:pic>
      <p:pic>
        <p:nvPicPr>
          <p:cNvPr id="6" name="object 6"/>
          <p:cNvPicPr/>
          <p:nvPr/>
        </p:nvPicPr>
        <p:blipFill>
          <a:blip r:embed="rId4" cstate="print"/>
          <a:stretch>
            <a:fillRect/>
          </a:stretch>
        </p:blipFill>
        <p:spPr>
          <a:xfrm>
            <a:off x="1585909" y="3852843"/>
            <a:ext cx="114297" cy="114298"/>
          </a:xfrm>
          <a:prstGeom prst="rect">
            <a:avLst/>
          </a:prstGeom>
        </p:spPr>
      </p:pic>
      <p:pic>
        <p:nvPicPr>
          <p:cNvPr id="7" name="object 7"/>
          <p:cNvPicPr/>
          <p:nvPr/>
        </p:nvPicPr>
        <p:blipFill>
          <a:blip r:embed="rId4" cstate="print"/>
          <a:stretch>
            <a:fillRect/>
          </a:stretch>
        </p:blipFill>
        <p:spPr>
          <a:xfrm>
            <a:off x="1585909" y="4338617"/>
            <a:ext cx="114297" cy="114298"/>
          </a:xfrm>
          <a:prstGeom prst="rect">
            <a:avLst/>
          </a:prstGeom>
        </p:spPr>
      </p:pic>
      <p:sp>
        <p:nvSpPr>
          <p:cNvPr id="9" name="object 9"/>
          <p:cNvSpPr txBox="1"/>
          <p:nvPr/>
        </p:nvSpPr>
        <p:spPr>
          <a:xfrm>
            <a:off x="1371600" y="2293627"/>
            <a:ext cx="8630285" cy="2375394"/>
          </a:xfrm>
          <a:prstGeom prst="rect">
            <a:avLst/>
          </a:prstGeom>
        </p:spPr>
        <p:txBody>
          <a:bodyPr vert="horz" wrap="square" lIns="0" tIns="12065" rIns="0" bIns="0" rtlCol="0">
            <a:spAutoFit/>
          </a:bodyPr>
          <a:lstStyle/>
          <a:p>
            <a:pPr marL="12700" marR="5080">
              <a:lnSpc>
                <a:spcPct val="148300"/>
              </a:lnSpc>
              <a:spcBef>
                <a:spcPts val="95"/>
              </a:spcBef>
            </a:pPr>
            <a:r>
              <a:rPr sz="2150" spc="-20" dirty="0">
                <a:latin typeface="Arial"/>
                <a:cs typeface="Arial"/>
              </a:rPr>
              <a:t>Objective:</a:t>
            </a:r>
            <a:r>
              <a:rPr sz="2150" spc="-65" dirty="0">
                <a:latin typeface="Arial"/>
                <a:cs typeface="Arial"/>
              </a:rPr>
              <a:t> </a:t>
            </a:r>
            <a:r>
              <a:rPr sz="2150" spc="-75" dirty="0">
                <a:latin typeface="Arial"/>
                <a:cs typeface="Arial"/>
              </a:rPr>
              <a:t>Track,</a:t>
            </a:r>
            <a:r>
              <a:rPr sz="2150" spc="-65" dirty="0">
                <a:latin typeface="Arial"/>
                <a:cs typeface="Arial"/>
              </a:rPr>
              <a:t> </a:t>
            </a:r>
            <a:r>
              <a:rPr sz="2150" dirty="0">
                <a:latin typeface="Arial"/>
                <a:cs typeface="Arial"/>
              </a:rPr>
              <a:t>review,</a:t>
            </a:r>
            <a:r>
              <a:rPr sz="2150" spc="-65" dirty="0">
                <a:latin typeface="Arial"/>
                <a:cs typeface="Arial"/>
              </a:rPr>
              <a:t> </a:t>
            </a:r>
            <a:r>
              <a:rPr sz="2150" spc="-40" dirty="0">
                <a:latin typeface="Arial"/>
                <a:cs typeface="Arial"/>
              </a:rPr>
              <a:t>and</a:t>
            </a:r>
            <a:r>
              <a:rPr sz="2150" spc="-65" dirty="0">
                <a:latin typeface="Arial"/>
                <a:cs typeface="Arial"/>
              </a:rPr>
              <a:t> </a:t>
            </a:r>
            <a:r>
              <a:rPr sz="2150" spc="-35" dirty="0">
                <a:latin typeface="Arial"/>
                <a:cs typeface="Arial"/>
              </a:rPr>
              <a:t>regulate</a:t>
            </a:r>
            <a:r>
              <a:rPr sz="2150" spc="-65" dirty="0">
                <a:latin typeface="Arial"/>
                <a:cs typeface="Arial"/>
              </a:rPr>
              <a:t> </a:t>
            </a:r>
            <a:r>
              <a:rPr sz="2150" dirty="0">
                <a:latin typeface="Arial"/>
                <a:cs typeface="Arial"/>
              </a:rPr>
              <a:t>project</a:t>
            </a:r>
            <a:r>
              <a:rPr sz="2150" spc="-65" dirty="0">
                <a:latin typeface="Arial"/>
                <a:cs typeface="Arial"/>
              </a:rPr>
              <a:t> </a:t>
            </a:r>
            <a:r>
              <a:rPr sz="2150" spc="-10" dirty="0">
                <a:latin typeface="Arial"/>
                <a:cs typeface="Arial"/>
              </a:rPr>
              <a:t>performance</a:t>
            </a:r>
            <a:r>
              <a:rPr sz="2150" spc="-65" dirty="0">
                <a:latin typeface="Arial"/>
                <a:cs typeface="Arial"/>
              </a:rPr>
              <a:t> </a:t>
            </a:r>
            <a:r>
              <a:rPr sz="2150" spc="-40" dirty="0">
                <a:latin typeface="Arial"/>
                <a:cs typeface="Arial"/>
              </a:rPr>
              <a:t>and</a:t>
            </a:r>
            <a:r>
              <a:rPr sz="2150" spc="-65" dirty="0">
                <a:latin typeface="Arial"/>
                <a:cs typeface="Arial"/>
              </a:rPr>
              <a:t> </a:t>
            </a:r>
            <a:r>
              <a:rPr sz="2150" spc="-25" dirty="0">
                <a:latin typeface="Arial"/>
                <a:cs typeface="Arial"/>
              </a:rPr>
              <a:t>progress. </a:t>
            </a:r>
            <a:r>
              <a:rPr sz="2150" spc="-80" dirty="0">
                <a:latin typeface="Arial"/>
                <a:cs typeface="Arial"/>
              </a:rPr>
              <a:t>Key</a:t>
            </a:r>
            <a:r>
              <a:rPr sz="2150" spc="-60" dirty="0">
                <a:latin typeface="Arial"/>
                <a:cs typeface="Arial"/>
              </a:rPr>
              <a:t> </a:t>
            </a:r>
            <a:r>
              <a:rPr sz="2150" spc="-10" dirty="0">
                <a:latin typeface="Arial"/>
                <a:cs typeface="Arial"/>
              </a:rPr>
              <a:t>Activities:</a:t>
            </a:r>
            <a:endParaRPr sz="2150" dirty="0">
              <a:latin typeface="Arial"/>
              <a:cs typeface="Arial"/>
            </a:endParaRPr>
          </a:p>
          <a:p>
            <a:pPr marL="563880" marR="1231900">
              <a:lnSpc>
                <a:spcPct val="101400"/>
              </a:lnSpc>
              <a:spcBef>
                <a:spcPts val="610"/>
              </a:spcBef>
            </a:pPr>
            <a:r>
              <a:rPr sz="2150" spc="-45" dirty="0">
                <a:latin typeface="Arial"/>
                <a:cs typeface="Arial"/>
              </a:rPr>
              <a:t>Performance</a:t>
            </a:r>
            <a:r>
              <a:rPr sz="2150" spc="-60" dirty="0">
                <a:latin typeface="Arial"/>
                <a:cs typeface="Arial"/>
              </a:rPr>
              <a:t> </a:t>
            </a:r>
            <a:r>
              <a:rPr sz="2150" spc="-35" dirty="0">
                <a:latin typeface="Arial"/>
                <a:cs typeface="Arial"/>
              </a:rPr>
              <a:t>Measurement</a:t>
            </a:r>
            <a:r>
              <a:rPr sz="2150" spc="-60" dirty="0">
                <a:latin typeface="Arial"/>
                <a:cs typeface="Arial"/>
              </a:rPr>
              <a:t> </a:t>
            </a:r>
            <a:endParaRPr sz="2150" dirty="0">
              <a:latin typeface="Arial"/>
              <a:cs typeface="Arial"/>
            </a:endParaRPr>
          </a:p>
          <a:p>
            <a:pPr marL="563880" marR="6237605">
              <a:lnSpc>
                <a:spcPct val="146800"/>
              </a:lnSpc>
            </a:pPr>
            <a:r>
              <a:rPr sz="2150" spc="-120" dirty="0">
                <a:latin typeface="Arial"/>
                <a:cs typeface="Arial"/>
              </a:rPr>
              <a:t>Risk</a:t>
            </a:r>
            <a:r>
              <a:rPr sz="2150" spc="-55" dirty="0">
                <a:latin typeface="Arial"/>
                <a:cs typeface="Arial"/>
              </a:rPr>
              <a:t> </a:t>
            </a:r>
            <a:r>
              <a:rPr sz="2150" spc="-10" dirty="0">
                <a:latin typeface="Arial"/>
                <a:cs typeface="Arial"/>
              </a:rPr>
              <a:t>Monitoring </a:t>
            </a:r>
            <a:r>
              <a:rPr sz="2150" dirty="0">
                <a:latin typeface="Arial"/>
                <a:cs typeface="Arial"/>
              </a:rPr>
              <a:t>Quality</a:t>
            </a:r>
            <a:r>
              <a:rPr sz="2150" spc="-145" dirty="0">
                <a:latin typeface="Arial"/>
                <a:cs typeface="Arial"/>
              </a:rPr>
              <a:t> </a:t>
            </a:r>
            <a:r>
              <a:rPr sz="2150" spc="-10" dirty="0">
                <a:latin typeface="Arial"/>
                <a:cs typeface="Arial"/>
              </a:rPr>
              <a:t>Control</a:t>
            </a:r>
            <a:endParaRPr sz="2150" dirty="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14</a:t>
            </a:fld>
            <a:endParaRPr spc="-25" dirty="0"/>
          </a:p>
        </p:txBody>
      </p:sp>
      <p:sp>
        <p:nvSpPr>
          <p:cNvPr id="10" name="object 10"/>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2" y="1619247"/>
            <a:ext cx="104773" cy="104773"/>
          </a:xfrm>
          <a:prstGeom prst="rect">
            <a:avLst/>
          </a:prstGeom>
        </p:spPr>
      </p:pic>
      <p:sp>
        <p:nvSpPr>
          <p:cNvPr id="3" name="object 3"/>
          <p:cNvSpPr txBox="1">
            <a:spLocks noGrp="1"/>
          </p:cNvSpPr>
          <p:nvPr>
            <p:ph type="title"/>
          </p:nvPr>
        </p:nvSpPr>
        <p:spPr>
          <a:xfrm>
            <a:off x="1287463" y="1468627"/>
            <a:ext cx="1552575" cy="353060"/>
          </a:xfrm>
          <a:prstGeom prst="rect">
            <a:avLst/>
          </a:prstGeom>
        </p:spPr>
        <p:txBody>
          <a:bodyPr vert="horz" wrap="square" lIns="0" tIns="12700" rIns="0" bIns="0" rtlCol="0">
            <a:spAutoFit/>
          </a:bodyPr>
          <a:lstStyle/>
          <a:p>
            <a:pPr marL="12700">
              <a:lnSpc>
                <a:spcPct val="100000"/>
              </a:lnSpc>
              <a:spcBef>
                <a:spcPts val="100"/>
              </a:spcBef>
            </a:pPr>
            <a:r>
              <a:rPr sz="2150" spc="-35" dirty="0"/>
              <a:t>Deliverables:</a:t>
            </a:r>
            <a:endParaRPr sz="2150"/>
          </a:p>
        </p:txBody>
      </p:sp>
      <p:pic>
        <p:nvPicPr>
          <p:cNvPr id="4" name="object 4"/>
          <p:cNvPicPr/>
          <p:nvPr/>
        </p:nvPicPr>
        <p:blipFill>
          <a:blip r:embed="rId3" cstate="print"/>
          <a:stretch>
            <a:fillRect/>
          </a:stretch>
        </p:blipFill>
        <p:spPr>
          <a:xfrm>
            <a:off x="1585909" y="2033583"/>
            <a:ext cx="114297" cy="114297"/>
          </a:xfrm>
          <a:prstGeom prst="rect">
            <a:avLst/>
          </a:prstGeom>
        </p:spPr>
      </p:pic>
      <p:pic>
        <p:nvPicPr>
          <p:cNvPr id="5" name="object 5"/>
          <p:cNvPicPr/>
          <p:nvPr/>
        </p:nvPicPr>
        <p:blipFill>
          <a:blip r:embed="rId4" cstate="print"/>
          <a:stretch>
            <a:fillRect/>
          </a:stretch>
        </p:blipFill>
        <p:spPr>
          <a:xfrm>
            <a:off x="1585909" y="2519346"/>
            <a:ext cx="114297" cy="114298"/>
          </a:xfrm>
          <a:prstGeom prst="rect">
            <a:avLst/>
          </a:prstGeom>
        </p:spPr>
      </p:pic>
      <p:pic>
        <p:nvPicPr>
          <p:cNvPr id="6" name="object 6"/>
          <p:cNvPicPr/>
          <p:nvPr/>
        </p:nvPicPr>
        <p:blipFill>
          <a:blip r:embed="rId5" cstate="print"/>
          <a:stretch>
            <a:fillRect/>
          </a:stretch>
        </p:blipFill>
        <p:spPr>
          <a:xfrm>
            <a:off x="1585909" y="2995595"/>
            <a:ext cx="114297" cy="114298"/>
          </a:xfrm>
          <a:prstGeom prst="rect">
            <a:avLst/>
          </a:prstGeom>
        </p:spPr>
      </p:pic>
      <p:sp>
        <p:nvSpPr>
          <p:cNvPr id="7" name="object 7"/>
          <p:cNvSpPr txBox="1"/>
          <p:nvPr/>
        </p:nvSpPr>
        <p:spPr>
          <a:xfrm>
            <a:off x="838200" y="1756936"/>
            <a:ext cx="10352405" cy="3252109"/>
          </a:xfrm>
          <a:prstGeom prst="rect">
            <a:avLst/>
          </a:prstGeom>
        </p:spPr>
        <p:txBody>
          <a:bodyPr vert="horz" wrap="square" lIns="0" tIns="12700" rIns="0" bIns="0" rtlCol="0">
            <a:spAutoFit/>
          </a:bodyPr>
          <a:lstStyle/>
          <a:p>
            <a:pPr marL="1116965" marR="6560820">
              <a:lnSpc>
                <a:spcPct val="146800"/>
              </a:lnSpc>
              <a:spcBef>
                <a:spcPts val="100"/>
              </a:spcBef>
            </a:pPr>
            <a:r>
              <a:rPr sz="2150" spc="-75" dirty="0">
                <a:latin typeface="Arial"/>
                <a:cs typeface="Arial"/>
              </a:rPr>
              <a:t>Status</a:t>
            </a:r>
            <a:r>
              <a:rPr sz="2150" spc="-40" dirty="0">
                <a:latin typeface="Arial"/>
                <a:cs typeface="Arial"/>
              </a:rPr>
              <a:t> </a:t>
            </a:r>
            <a:r>
              <a:rPr sz="2150" spc="-60" dirty="0">
                <a:latin typeface="Arial"/>
                <a:cs typeface="Arial"/>
              </a:rPr>
              <a:t>Reports</a:t>
            </a:r>
            <a:r>
              <a:rPr sz="2150" spc="-45" dirty="0">
                <a:latin typeface="Arial"/>
                <a:cs typeface="Arial"/>
              </a:rPr>
              <a:t> </a:t>
            </a:r>
            <a:r>
              <a:rPr sz="2150" spc="-90" dirty="0">
                <a:latin typeface="Arial"/>
                <a:cs typeface="Arial"/>
              </a:rPr>
              <a:t>Change </a:t>
            </a:r>
            <a:r>
              <a:rPr sz="2150" spc="-80" dirty="0">
                <a:latin typeface="Arial"/>
                <a:cs typeface="Arial"/>
              </a:rPr>
              <a:t>Requests</a:t>
            </a:r>
            <a:r>
              <a:rPr sz="2150" spc="-75" dirty="0">
                <a:latin typeface="Arial"/>
                <a:cs typeface="Arial"/>
              </a:rPr>
              <a:t> </a:t>
            </a:r>
            <a:r>
              <a:rPr sz="2150" spc="-10" dirty="0">
                <a:latin typeface="Arial"/>
                <a:cs typeface="Arial"/>
              </a:rPr>
              <a:t>Updated </a:t>
            </a:r>
            <a:r>
              <a:rPr sz="2150" spc="-35" dirty="0">
                <a:latin typeface="Arial"/>
                <a:cs typeface="Arial"/>
              </a:rPr>
              <a:t>Project</a:t>
            </a:r>
            <a:r>
              <a:rPr sz="2150" spc="-100" dirty="0">
                <a:latin typeface="Arial"/>
                <a:cs typeface="Arial"/>
              </a:rPr>
              <a:t> </a:t>
            </a:r>
            <a:r>
              <a:rPr sz="2150" spc="-10" dirty="0">
                <a:latin typeface="Arial"/>
                <a:cs typeface="Arial"/>
              </a:rPr>
              <a:t>Plans</a:t>
            </a:r>
            <a:endParaRPr sz="2150" dirty="0">
              <a:latin typeface="Arial"/>
              <a:cs typeface="Arial"/>
            </a:endParaRPr>
          </a:p>
          <a:p>
            <a:pPr>
              <a:lnSpc>
                <a:spcPct val="100000"/>
              </a:lnSpc>
              <a:spcBef>
                <a:spcPts val="1920"/>
              </a:spcBef>
            </a:pPr>
            <a:endParaRPr sz="2150" dirty="0">
              <a:latin typeface="Arial"/>
              <a:cs typeface="Arial"/>
            </a:endParaRPr>
          </a:p>
          <a:p>
            <a:pPr marL="12700">
              <a:lnSpc>
                <a:spcPct val="100000"/>
              </a:lnSpc>
            </a:pPr>
            <a:r>
              <a:rPr sz="2250" spc="-10" dirty="0">
                <a:latin typeface="Arial"/>
                <a:cs typeface="Arial"/>
              </a:rPr>
              <a:t>Example</a:t>
            </a:r>
            <a:endParaRPr sz="2250" dirty="0">
              <a:latin typeface="Arial"/>
              <a:cs typeface="Arial"/>
            </a:endParaRPr>
          </a:p>
          <a:p>
            <a:pPr marL="12700" marR="5080">
              <a:lnSpc>
                <a:spcPct val="126499"/>
              </a:lnSpc>
              <a:spcBef>
                <a:spcPts val="240"/>
              </a:spcBef>
            </a:pPr>
            <a:r>
              <a:rPr sz="2150" spc="-45" dirty="0" smtClean="0">
                <a:latin typeface="Arial"/>
                <a:cs typeface="Arial"/>
              </a:rPr>
              <a:t>Through</a:t>
            </a:r>
            <a:r>
              <a:rPr sz="2150" spc="-80" dirty="0" smtClean="0">
                <a:latin typeface="Arial"/>
                <a:cs typeface="Arial"/>
              </a:rPr>
              <a:t> </a:t>
            </a:r>
            <a:r>
              <a:rPr sz="2150" spc="-10" dirty="0">
                <a:latin typeface="Arial"/>
                <a:cs typeface="Arial"/>
              </a:rPr>
              <a:t>monitoring,</a:t>
            </a:r>
            <a:r>
              <a:rPr sz="2150" spc="-75" dirty="0">
                <a:latin typeface="Arial"/>
                <a:cs typeface="Arial"/>
              </a:rPr>
              <a:t> </a:t>
            </a:r>
            <a:r>
              <a:rPr sz="2150" dirty="0">
                <a:latin typeface="Arial"/>
                <a:cs typeface="Arial"/>
              </a:rPr>
              <a:t>they</a:t>
            </a:r>
            <a:r>
              <a:rPr sz="2150" spc="-80" dirty="0">
                <a:latin typeface="Arial"/>
                <a:cs typeface="Arial"/>
              </a:rPr>
              <a:t> </a:t>
            </a:r>
            <a:r>
              <a:rPr sz="2150" spc="-130" dirty="0">
                <a:latin typeface="Arial"/>
                <a:cs typeface="Arial"/>
              </a:rPr>
              <a:t>assess</a:t>
            </a:r>
            <a:r>
              <a:rPr sz="2150" spc="-75" dirty="0">
                <a:latin typeface="Arial"/>
                <a:cs typeface="Arial"/>
              </a:rPr>
              <a:t> </a:t>
            </a:r>
            <a:r>
              <a:rPr sz="2150" dirty="0">
                <a:latin typeface="Arial"/>
                <a:cs typeface="Arial"/>
              </a:rPr>
              <a:t>the</a:t>
            </a:r>
            <a:r>
              <a:rPr sz="2150" spc="-80" dirty="0">
                <a:latin typeface="Arial"/>
                <a:cs typeface="Arial"/>
              </a:rPr>
              <a:t> </a:t>
            </a:r>
            <a:r>
              <a:rPr sz="2150" spc="-10" dirty="0">
                <a:latin typeface="Arial"/>
                <a:cs typeface="Arial"/>
              </a:rPr>
              <a:t>impact, </a:t>
            </a:r>
            <a:r>
              <a:rPr sz="2150" spc="-25" dirty="0">
                <a:latin typeface="Arial"/>
                <a:cs typeface="Arial"/>
              </a:rPr>
              <a:t>adjust</a:t>
            </a:r>
            <a:r>
              <a:rPr sz="2150" spc="-90" dirty="0">
                <a:latin typeface="Arial"/>
                <a:cs typeface="Arial"/>
              </a:rPr>
              <a:t> </a:t>
            </a:r>
            <a:r>
              <a:rPr sz="2150" dirty="0">
                <a:latin typeface="Arial"/>
                <a:cs typeface="Arial"/>
              </a:rPr>
              <a:t>the</a:t>
            </a:r>
            <a:r>
              <a:rPr sz="2150" spc="-90" dirty="0">
                <a:latin typeface="Arial"/>
                <a:cs typeface="Arial"/>
              </a:rPr>
              <a:t> </a:t>
            </a:r>
            <a:r>
              <a:rPr sz="2150" spc="-40" dirty="0">
                <a:latin typeface="Arial"/>
                <a:cs typeface="Arial"/>
              </a:rPr>
              <a:t>schedule,</a:t>
            </a:r>
            <a:r>
              <a:rPr sz="2150" spc="-90" dirty="0">
                <a:latin typeface="Arial"/>
                <a:cs typeface="Arial"/>
              </a:rPr>
              <a:t> </a:t>
            </a:r>
            <a:r>
              <a:rPr sz="2150" spc="-40" dirty="0">
                <a:latin typeface="Arial"/>
                <a:cs typeface="Arial"/>
              </a:rPr>
              <a:t>and</a:t>
            </a:r>
            <a:r>
              <a:rPr sz="2150" spc="-90" dirty="0">
                <a:latin typeface="Arial"/>
                <a:cs typeface="Arial"/>
              </a:rPr>
              <a:t> </a:t>
            </a:r>
            <a:r>
              <a:rPr sz="2150" spc="-25" dirty="0">
                <a:latin typeface="Arial"/>
                <a:cs typeface="Arial"/>
              </a:rPr>
              <a:t>allocate</a:t>
            </a:r>
            <a:r>
              <a:rPr sz="2150" spc="-85" dirty="0">
                <a:latin typeface="Arial"/>
                <a:cs typeface="Arial"/>
              </a:rPr>
              <a:t> </a:t>
            </a:r>
            <a:r>
              <a:rPr sz="2150" spc="-10" dirty="0">
                <a:latin typeface="Arial"/>
                <a:cs typeface="Arial"/>
              </a:rPr>
              <a:t>additional</a:t>
            </a:r>
            <a:r>
              <a:rPr sz="2150" spc="-90" dirty="0">
                <a:latin typeface="Arial"/>
                <a:cs typeface="Arial"/>
              </a:rPr>
              <a:t> </a:t>
            </a:r>
            <a:r>
              <a:rPr sz="2150" spc="-40" dirty="0">
                <a:latin typeface="Arial"/>
                <a:cs typeface="Arial"/>
              </a:rPr>
              <a:t>resources</a:t>
            </a:r>
            <a:r>
              <a:rPr sz="2150" spc="-90" dirty="0">
                <a:latin typeface="Arial"/>
                <a:cs typeface="Arial"/>
              </a:rPr>
              <a:t> </a:t>
            </a:r>
            <a:r>
              <a:rPr sz="2150" dirty="0">
                <a:latin typeface="Arial"/>
                <a:cs typeface="Arial"/>
              </a:rPr>
              <a:t>to</a:t>
            </a:r>
            <a:r>
              <a:rPr sz="2150" spc="-90" dirty="0">
                <a:latin typeface="Arial"/>
                <a:cs typeface="Arial"/>
              </a:rPr>
              <a:t> </a:t>
            </a:r>
            <a:r>
              <a:rPr sz="2150" spc="-30" dirty="0">
                <a:latin typeface="Arial"/>
                <a:cs typeface="Arial"/>
              </a:rPr>
              <a:t>stay</a:t>
            </a:r>
            <a:r>
              <a:rPr sz="2150" spc="-85" dirty="0">
                <a:latin typeface="Arial"/>
                <a:cs typeface="Arial"/>
              </a:rPr>
              <a:t> </a:t>
            </a:r>
            <a:r>
              <a:rPr sz="2150" dirty="0">
                <a:latin typeface="Arial"/>
                <a:cs typeface="Arial"/>
              </a:rPr>
              <a:t>on</a:t>
            </a:r>
            <a:r>
              <a:rPr sz="2150" spc="-90" dirty="0">
                <a:latin typeface="Arial"/>
                <a:cs typeface="Arial"/>
              </a:rPr>
              <a:t> </a:t>
            </a:r>
            <a:r>
              <a:rPr sz="2150" spc="-10" dirty="0">
                <a:latin typeface="Arial"/>
                <a:cs typeface="Arial"/>
              </a:rPr>
              <a:t>track.</a:t>
            </a:r>
            <a:endParaRPr sz="2150" dirty="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15</a:t>
            </a:fld>
            <a:endParaRPr spc="-25" dirty="0"/>
          </a:p>
        </p:txBody>
      </p:sp>
      <p:sp>
        <p:nvSpPr>
          <p:cNvPr id="8" name="object 8"/>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525460"/>
            <a:ext cx="1454785" cy="391160"/>
          </a:xfrm>
          <a:prstGeom prst="rect">
            <a:avLst/>
          </a:prstGeom>
        </p:spPr>
        <p:txBody>
          <a:bodyPr vert="horz" wrap="square" lIns="0" tIns="12700" rIns="0" bIns="0" rtlCol="0">
            <a:spAutoFit/>
          </a:bodyPr>
          <a:lstStyle/>
          <a:p>
            <a:pPr marL="12700">
              <a:lnSpc>
                <a:spcPct val="100000"/>
              </a:lnSpc>
              <a:spcBef>
                <a:spcPts val="100"/>
              </a:spcBef>
            </a:pPr>
            <a:r>
              <a:rPr spc="-90" dirty="0"/>
              <a:t>2.5</a:t>
            </a:r>
            <a:r>
              <a:rPr spc="-80" dirty="0"/>
              <a:t> </a:t>
            </a:r>
            <a:r>
              <a:rPr spc="-60" dirty="0"/>
              <a:t>Closing</a:t>
            </a:r>
          </a:p>
        </p:txBody>
      </p:sp>
      <p:pic>
        <p:nvPicPr>
          <p:cNvPr id="3" name="object 3"/>
          <p:cNvPicPr/>
          <p:nvPr/>
        </p:nvPicPr>
        <p:blipFill>
          <a:blip r:embed="rId2" cstate="print"/>
          <a:stretch>
            <a:fillRect/>
          </a:stretch>
        </p:blipFill>
        <p:spPr>
          <a:xfrm>
            <a:off x="1038222" y="2238370"/>
            <a:ext cx="104773" cy="104772"/>
          </a:xfrm>
          <a:prstGeom prst="rect">
            <a:avLst/>
          </a:prstGeom>
        </p:spPr>
      </p:pic>
      <p:pic>
        <p:nvPicPr>
          <p:cNvPr id="4" name="object 4"/>
          <p:cNvPicPr/>
          <p:nvPr/>
        </p:nvPicPr>
        <p:blipFill>
          <a:blip r:embed="rId2" cstate="print"/>
          <a:stretch>
            <a:fillRect/>
          </a:stretch>
        </p:blipFill>
        <p:spPr>
          <a:xfrm>
            <a:off x="1038222" y="2714620"/>
            <a:ext cx="104773" cy="104773"/>
          </a:xfrm>
          <a:prstGeom prst="rect">
            <a:avLst/>
          </a:prstGeom>
        </p:spPr>
      </p:pic>
      <p:pic>
        <p:nvPicPr>
          <p:cNvPr id="5" name="object 5"/>
          <p:cNvPicPr/>
          <p:nvPr/>
        </p:nvPicPr>
        <p:blipFill>
          <a:blip r:embed="rId3" cstate="print"/>
          <a:stretch>
            <a:fillRect/>
          </a:stretch>
        </p:blipFill>
        <p:spPr>
          <a:xfrm>
            <a:off x="1585909" y="3128944"/>
            <a:ext cx="114297" cy="114298"/>
          </a:xfrm>
          <a:prstGeom prst="rect">
            <a:avLst/>
          </a:prstGeom>
        </p:spPr>
      </p:pic>
      <p:pic>
        <p:nvPicPr>
          <p:cNvPr id="6" name="object 6"/>
          <p:cNvPicPr/>
          <p:nvPr/>
        </p:nvPicPr>
        <p:blipFill>
          <a:blip r:embed="rId4" cstate="print"/>
          <a:stretch>
            <a:fillRect/>
          </a:stretch>
        </p:blipFill>
        <p:spPr>
          <a:xfrm>
            <a:off x="1585909" y="3614718"/>
            <a:ext cx="114297" cy="114298"/>
          </a:xfrm>
          <a:prstGeom prst="rect">
            <a:avLst/>
          </a:prstGeom>
        </p:spPr>
      </p:pic>
      <p:pic>
        <p:nvPicPr>
          <p:cNvPr id="7" name="object 7"/>
          <p:cNvPicPr/>
          <p:nvPr/>
        </p:nvPicPr>
        <p:blipFill>
          <a:blip r:embed="rId5" cstate="print"/>
          <a:stretch>
            <a:fillRect/>
          </a:stretch>
        </p:blipFill>
        <p:spPr>
          <a:xfrm>
            <a:off x="1585909" y="4090967"/>
            <a:ext cx="114297" cy="114298"/>
          </a:xfrm>
          <a:prstGeom prst="rect">
            <a:avLst/>
          </a:prstGeom>
        </p:spPr>
      </p:pic>
      <p:pic>
        <p:nvPicPr>
          <p:cNvPr id="8" name="object 8"/>
          <p:cNvPicPr/>
          <p:nvPr/>
        </p:nvPicPr>
        <p:blipFill>
          <a:blip r:embed="rId6" cstate="print"/>
          <a:stretch>
            <a:fillRect/>
          </a:stretch>
        </p:blipFill>
        <p:spPr>
          <a:xfrm>
            <a:off x="1585909" y="4576741"/>
            <a:ext cx="114297" cy="114298"/>
          </a:xfrm>
          <a:prstGeom prst="rect">
            <a:avLst/>
          </a:prstGeom>
        </p:spPr>
      </p:pic>
      <p:pic>
        <p:nvPicPr>
          <p:cNvPr id="9" name="object 9"/>
          <p:cNvPicPr/>
          <p:nvPr/>
        </p:nvPicPr>
        <p:blipFill>
          <a:blip r:embed="rId7" cstate="print"/>
          <a:stretch>
            <a:fillRect/>
          </a:stretch>
        </p:blipFill>
        <p:spPr>
          <a:xfrm>
            <a:off x="1585909" y="5062515"/>
            <a:ext cx="114297" cy="114298"/>
          </a:xfrm>
          <a:prstGeom prst="rect">
            <a:avLst/>
          </a:prstGeom>
        </p:spPr>
      </p:pic>
      <p:sp>
        <p:nvSpPr>
          <p:cNvPr id="10" name="object 10"/>
          <p:cNvSpPr txBox="1"/>
          <p:nvPr/>
        </p:nvSpPr>
        <p:spPr>
          <a:xfrm>
            <a:off x="1287463" y="1937257"/>
            <a:ext cx="7918450" cy="3330575"/>
          </a:xfrm>
          <a:prstGeom prst="rect">
            <a:avLst/>
          </a:prstGeom>
        </p:spPr>
        <p:txBody>
          <a:bodyPr vert="horz" wrap="square" lIns="0" tIns="12700" rIns="0" bIns="0" rtlCol="0">
            <a:spAutoFit/>
          </a:bodyPr>
          <a:lstStyle/>
          <a:p>
            <a:pPr marL="12700" marR="5080">
              <a:lnSpc>
                <a:spcPct val="145300"/>
              </a:lnSpc>
              <a:spcBef>
                <a:spcPts val="100"/>
              </a:spcBef>
            </a:pPr>
            <a:r>
              <a:rPr sz="2150" spc="-20" dirty="0">
                <a:latin typeface="Arial"/>
                <a:cs typeface="Arial"/>
              </a:rPr>
              <a:t>Objective:</a:t>
            </a:r>
            <a:r>
              <a:rPr sz="2150" spc="-70" dirty="0">
                <a:latin typeface="Arial"/>
                <a:cs typeface="Arial"/>
              </a:rPr>
              <a:t> </a:t>
            </a:r>
            <a:r>
              <a:rPr sz="2150" spc="-90" dirty="0">
                <a:latin typeface="Arial"/>
                <a:cs typeface="Arial"/>
              </a:rPr>
              <a:t>Finalize</a:t>
            </a:r>
            <a:r>
              <a:rPr sz="2150" spc="-70" dirty="0">
                <a:latin typeface="Arial"/>
                <a:cs typeface="Arial"/>
              </a:rPr>
              <a:t> </a:t>
            </a:r>
            <a:r>
              <a:rPr sz="2150" dirty="0">
                <a:latin typeface="Arial"/>
                <a:cs typeface="Arial"/>
              </a:rPr>
              <a:t>all</a:t>
            </a:r>
            <a:r>
              <a:rPr sz="2150" spc="-70" dirty="0">
                <a:latin typeface="Arial"/>
                <a:cs typeface="Arial"/>
              </a:rPr>
              <a:t> </a:t>
            </a:r>
            <a:r>
              <a:rPr sz="2150" dirty="0">
                <a:latin typeface="Arial"/>
                <a:cs typeface="Arial"/>
              </a:rPr>
              <a:t>project</a:t>
            </a:r>
            <a:r>
              <a:rPr sz="2150" spc="-65" dirty="0">
                <a:latin typeface="Arial"/>
                <a:cs typeface="Arial"/>
              </a:rPr>
              <a:t> </a:t>
            </a:r>
            <a:r>
              <a:rPr sz="2150" spc="-10" dirty="0">
                <a:latin typeface="Arial"/>
                <a:cs typeface="Arial"/>
              </a:rPr>
              <a:t>activities</a:t>
            </a:r>
            <a:r>
              <a:rPr sz="2150" spc="-70" dirty="0">
                <a:latin typeface="Arial"/>
                <a:cs typeface="Arial"/>
              </a:rPr>
              <a:t> </a:t>
            </a:r>
            <a:r>
              <a:rPr sz="2150" dirty="0">
                <a:latin typeface="Arial"/>
                <a:cs typeface="Arial"/>
              </a:rPr>
              <a:t>to</a:t>
            </a:r>
            <a:r>
              <a:rPr sz="2150" spc="-70" dirty="0">
                <a:latin typeface="Arial"/>
                <a:cs typeface="Arial"/>
              </a:rPr>
              <a:t> </a:t>
            </a:r>
            <a:r>
              <a:rPr sz="2150" dirty="0">
                <a:latin typeface="Arial"/>
                <a:cs typeface="Arial"/>
              </a:rPr>
              <a:t>formally</a:t>
            </a:r>
            <a:r>
              <a:rPr sz="2150" spc="-70" dirty="0">
                <a:latin typeface="Arial"/>
                <a:cs typeface="Arial"/>
              </a:rPr>
              <a:t> </a:t>
            </a:r>
            <a:r>
              <a:rPr sz="2150" spc="-35" dirty="0">
                <a:latin typeface="Arial"/>
                <a:cs typeface="Arial"/>
              </a:rPr>
              <a:t>close</a:t>
            </a:r>
            <a:r>
              <a:rPr sz="2150" spc="-65" dirty="0">
                <a:latin typeface="Arial"/>
                <a:cs typeface="Arial"/>
              </a:rPr>
              <a:t> </a:t>
            </a:r>
            <a:r>
              <a:rPr sz="2150" dirty="0">
                <a:latin typeface="Arial"/>
                <a:cs typeface="Arial"/>
              </a:rPr>
              <a:t>the</a:t>
            </a:r>
            <a:r>
              <a:rPr sz="2150" spc="-70" dirty="0">
                <a:latin typeface="Arial"/>
                <a:cs typeface="Arial"/>
              </a:rPr>
              <a:t> </a:t>
            </a:r>
            <a:r>
              <a:rPr sz="2150" spc="-10" dirty="0">
                <a:latin typeface="Arial"/>
                <a:cs typeface="Arial"/>
              </a:rPr>
              <a:t>project. </a:t>
            </a:r>
            <a:r>
              <a:rPr sz="2150" spc="-80" dirty="0">
                <a:latin typeface="Arial"/>
                <a:cs typeface="Arial"/>
              </a:rPr>
              <a:t>Key</a:t>
            </a:r>
            <a:r>
              <a:rPr sz="2150" spc="-60" dirty="0">
                <a:latin typeface="Arial"/>
                <a:cs typeface="Arial"/>
              </a:rPr>
              <a:t> </a:t>
            </a:r>
            <a:r>
              <a:rPr sz="2150" spc="-10" dirty="0">
                <a:latin typeface="Arial"/>
                <a:cs typeface="Arial"/>
              </a:rPr>
              <a:t>Activities:</a:t>
            </a:r>
            <a:endParaRPr sz="2150">
              <a:latin typeface="Arial"/>
              <a:cs typeface="Arial"/>
            </a:endParaRPr>
          </a:p>
          <a:p>
            <a:pPr marL="563880">
              <a:lnSpc>
                <a:spcPct val="100000"/>
              </a:lnSpc>
              <a:spcBef>
                <a:spcPts val="720"/>
              </a:spcBef>
            </a:pPr>
            <a:r>
              <a:rPr sz="2150" dirty="0">
                <a:latin typeface="Arial"/>
                <a:cs typeface="Arial"/>
              </a:rPr>
              <a:t>Deliver</a:t>
            </a:r>
            <a:r>
              <a:rPr sz="2150" spc="-114" dirty="0">
                <a:latin typeface="Arial"/>
                <a:cs typeface="Arial"/>
              </a:rPr>
              <a:t> </a:t>
            </a:r>
            <a:r>
              <a:rPr sz="2150" spc="-90" dirty="0">
                <a:latin typeface="Arial"/>
                <a:cs typeface="Arial"/>
              </a:rPr>
              <a:t>Final</a:t>
            </a:r>
            <a:r>
              <a:rPr sz="2150" spc="-75" dirty="0">
                <a:latin typeface="Arial"/>
                <a:cs typeface="Arial"/>
              </a:rPr>
              <a:t> </a:t>
            </a:r>
            <a:r>
              <a:rPr sz="2150" spc="-10" dirty="0">
                <a:latin typeface="Arial"/>
                <a:cs typeface="Arial"/>
              </a:rPr>
              <a:t>Product</a:t>
            </a:r>
            <a:endParaRPr sz="2150">
              <a:latin typeface="Arial"/>
              <a:cs typeface="Arial"/>
            </a:endParaRPr>
          </a:p>
          <a:p>
            <a:pPr marL="563880">
              <a:lnSpc>
                <a:spcPct val="100000"/>
              </a:lnSpc>
              <a:spcBef>
                <a:spcPts val="35"/>
              </a:spcBef>
            </a:pPr>
            <a:r>
              <a:rPr sz="2150" spc="-20" dirty="0">
                <a:latin typeface="Arial"/>
                <a:cs typeface="Arial"/>
              </a:rPr>
              <a:t>Obtain</a:t>
            </a:r>
            <a:r>
              <a:rPr sz="2150" spc="-65" dirty="0">
                <a:latin typeface="Arial"/>
                <a:cs typeface="Arial"/>
              </a:rPr>
              <a:t> </a:t>
            </a:r>
            <a:r>
              <a:rPr sz="2150" spc="-45" dirty="0">
                <a:latin typeface="Arial"/>
                <a:cs typeface="Arial"/>
              </a:rPr>
              <a:t>Stakeholder</a:t>
            </a:r>
            <a:r>
              <a:rPr sz="2150" spc="-60" dirty="0">
                <a:latin typeface="Arial"/>
                <a:cs typeface="Arial"/>
              </a:rPr>
              <a:t> </a:t>
            </a:r>
            <a:r>
              <a:rPr sz="2150" spc="-10" dirty="0">
                <a:latin typeface="Arial"/>
                <a:cs typeface="Arial"/>
              </a:rPr>
              <a:t>Acceptance</a:t>
            </a:r>
            <a:endParaRPr sz="2150">
              <a:latin typeface="Arial"/>
              <a:cs typeface="Arial"/>
            </a:endParaRPr>
          </a:p>
          <a:p>
            <a:pPr marL="563880" marR="2830830">
              <a:lnSpc>
                <a:spcPct val="146800"/>
              </a:lnSpc>
            </a:pPr>
            <a:r>
              <a:rPr sz="2150" spc="-20" dirty="0">
                <a:latin typeface="Arial"/>
                <a:cs typeface="Arial"/>
              </a:rPr>
              <a:t>Conduct</a:t>
            </a:r>
            <a:r>
              <a:rPr sz="2150" spc="-65" dirty="0">
                <a:latin typeface="Arial"/>
                <a:cs typeface="Arial"/>
              </a:rPr>
              <a:t> </a:t>
            </a:r>
            <a:r>
              <a:rPr sz="2150" spc="-20" dirty="0">
                <a:latin typeface="Arial"/>
                <a:cs typeface="Arial"/>
              </a:rPr>
              <a:t>Post-</a:t>
            </a:r>
            <a:r>
              <a:rPr sz="2150" spc="-10" dirty="0">
                <a:latin typeface="Arial"/>
                <a:cs typeface="Arial"/>
              </a:rPr>
              <a:t>Implementation</a:t>
            </a:r>
            <a:r>
              <a:rPr sz="2150" spc="-65" dirty="0">
                <a:latin typeface="Arial"/>
                <a:cs typeface="Arial"/>
              </a:rPr>
              <a:t> </a:t>
            </a:r>
            <a:r>
              <a:rPr sz="2150" spc="-10" dirty="0">
                <a:latin typeface="Arial"/>
                <a:cs typeface="Arial"/>
              </a:rPr>
              <a:t>Review Document</a:t>
            </a:r>
            <a:r>
              <a:rPr sz="2150" spc="-65" dirty="0">
                <a:latin typeface="Arial"/>
                <a:cs typeface="Arial"/>
              </a:rPr>
              <a:t> </a:t>
            </a:r>
            <a:r>
              <a:rPr sz="2150" spc="-110" dirty="0">
                <a:latin typeface="Arial"/>
                <a:cs typeface="Arial"/>
              </a:rPr>
              <a:t>Lessons</a:t>
            </a:r>
            <a:r>
              <a:rPr sz="2150" spc="-60" dirty="0">
                <a:latin typeface="Arial"/>
                <a:cs typeface="Arial"/>
              </a:rPr>
              <a:t> </a:t>
            </a:r>
            <a:r>
              <a:rPr sz="2150" spc="-10" dirty="0">
                <a:latin typeface="Arial"/>
                <a:cs typeface="Arial"/>
              </a:rPr>
              <a:t>Learned</a:t>
            </a:r>
            <a:endParaRPr sz="2150">
              <a:latin typeface="Arial"/>
              <a:cs typeface="Arial"/>
            </a:endParaRPr>
          </a:p>
          <a:p>
            <a:pPr marL="563880">
              <a:lnSpc>
                <a:spcPct val="100000"/>
              </a:lnSpc>
              <a:spcBef>
                <a:spcPts val="2450"/>
              </a:spcBef>
            </a:pPr>
            <a:r>
              <a:rPr sz="2150" spc="-120" dirty="0">
                <a:latin typeface="Arial"/>
                <a:cs typeface="Arial"/>
              </a:rPr>
              <a:t>Release</a:t>
            </a:r>
            <a:r>
              <a:rPr sz="2150" spc="-65" dirty="0">
                <a:latin typeface="Arial"/>
                <a:cs typeface="Arial"/>
              </a:rPr>
              <a:t> </a:t>
            </a:r>
            <a:r>
              <a:rPr sz="2150" spc="-35" dirty="0">
                <a:latin typeface="Arial"/>
                <a:cs typeface="Arial"/>
              </a:rPr>
              <a:t>Project</a:t>
            </a:r>
            <a:r>
              <a:rPr sz="2150" spc="-60" dirty="0">
                <a:latin typeface="Arial"/>
                <a:cs typeface="Arial"/>
              </a:rPr>
              <a:t> </a:t>
            </a:r>
            <a:r>
              <a:rPr sz="2150" spc="-10" dirty="0">
                <a:latin typeface="Arial"/>
                <a:cs typeface="Arial"/>
              </a:rPr>
              <a:t>Resources</a:t>
            </a:r>
            <a:endParaRPr sz="215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16</a:t>
            </a:fld>
            <a:endParaRPr spc="-25" dirty="0"/>
          </a:p>
        </p:txBody>
      </p:sp>
      <p:sp>
        <p:nvSpPr>
          <p:cNvPr id="11" name="object 11"/>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2" y="1619247"/>
            <a:ext cx="104773" cy="104773"/>
          </a:xfrm>
          <a:prstGeom prst="rect">
            <a:avLst/>
          </a:prstGeom>
        </p:spPr>
      </p:pic>
      <p:sp>
        <p:nvSpPr>
          <p:cNvPr id="3" name="object 3"/>
          <p:cNvSpPr txBox="1">
            <a:spLocks noGrp="1"/>
          </p:cNvSpPr>
          <p:nvPr>
            <p:ph type="title"/>
          </p:nvPr>
        </p:nvSpPr>
        <p:spPr>
          <a:xfrm>
            <a:off x="1287463" y="1468627"/>
            <a:ext cx="1552575" cy="353060"/>
          </a:xfrm>
          <a:prstGeom prst="rect">
            <a:avLst/>
          </a:prstGeom>
        </p:spPr>
        <p:txBody>
          <a:bodyPr vert="horz" wrap="square" lIns="0" tIns="12700" rIns="0" bIns="0" rtlCol="0">
            <a:spAutoFit/>
          </a:bodyPr>
          <a:lstStyle/>
          <a:p>
            <a:pPr marL="12700">
              <a:lnSpc>
                <a:spcPct val="100000"/>
              </a:lnSpc>
              <a:spcBef>
                <a:spcPts val="100"/>
              </a:spcBef>
            </a:pPr>
            <a:r>
              <a:rPr sz="2150" spc="-35" dirty="0"/>
              <a:t>Deliverables:</a:t>
            </a:r>
            <a:endParaRPr sz="2150"/>
          </a:p>
        </p:txBody>
      </p:sp>
      <p:pic>
        <p:nvPicPr>
          <p:cNvPr id="4" name="object 4"/>
          <p:cNvPicPr/>
          <p:nvPr/>
        </p:nvPicPr>
        <p:blipFill>
          <a:blip r:embed="rId3" cstate="print"/>
          <a:stretch>
            <a:fillRect/>
          </a:stretch>
        </p:blipFill>
        <p:spPr>
          <a:xfrm>
            <a:off x="1585909" y="2033583"/>
            <a:ext cx="114297" cy="114297"/>
          </a:xfrm>
          <a:prstGeom prst="rect">
            <a:avLst/>
          </a:prstGeom>
        </p:spPr>
      </p:pic>
      <p:pic>
        <p:nvPicPr>
          <p:cNvPr id="5" name="object 5"/>
          <p:cNvPicPr/>
          <p:nvPr/>
        </p:nvPicPr>
        <p:blipFill>
          <a:blip r:embed="rId4" cstate="print"/>
          <a:stretch>
            <a:fillRect/>
          </a:stretch>
        </p:blipFill>
        <p:spPr>
          <a:xfrm>
            <a:off x="1585909" y="2519346"/>
            <a:ext cx="114297" cy="114298"/>
          </a:xfrm>
          <a:prstGeom prst="rect">
            <a:avLst/>
          </a:prstGeom>
        </p:spPr>
      </p:pic>
      <p:pic>
        <p:nvPicPr>
          <p:cNvPr id="6" name="object 6"/>
          <p:cNvPicPr/>
          <p:nvPr/>
        </p:nvPicPr>
        <p:blipFill>
          <a:blip r:embed="rId5" cstate="print"/>
          <a:stretch>
            <a:fillRect/>
          </a:stretch>
        </p:blipFill>
        <p:spPr>
          <a:xfrm>
            <a:off x="1585909" y="2995595"/>
            <a:ext cx="114297" cy="114298"/>
          </a:xfrm>
          <a:prstGeom prst="rect">
            <a:avLst/>
          </a:prstGeom>
        </p:spPr>
      </p:pic>
      <p:sp>
        <p:nvSpPr>
          <p:cNvPr id="7" name="object 7"/>
          <p:cNvSpPr txBox="1"/>
          <p:nvPr/>
        </p:nvSpPr>
        <p:spPr>
          <a:xfrm>
            <a:off x="735010" y="1727707"/>
            <a:ext cx="10075545" cy="3494404"/>
          </a:xfrm>
          <a:prstGeom prst="rect">
            <a:avLst/>
          </a:prstGeom>
        </p:spPr>
        <p:txBody>
          <a:bodyPr vert="horz" wrap="square" lIns="0" tIns="170815" rIns="0" bIns="0" rtlCol="0">
            <a:spAutoFit/>
          </a:bodyPr>
          <a:lstStyle/>
          <a:p>
            <a:pPr marL="1116965">
              <a:lnSpc>
                <a:spcPct val="100000"/>
              </a:lnSpc>
              <a:spcBef>
                <a:spcPts val="1345"/>
              </a:spcBef>
            </a:pPr>
            <a:r>
              <a:rPr sz="2150" spc="-90" dirty="0">
                <a:latin typeface="Arial"/>
                <a:cs typeface="Arial"/>
              </a:rPr>
              <a:t>Final</a:t>
            </a:r>
            <a:r>
              <a:rPr sz="2150" spc="-45" dirty="0">
                <a:latin typeface="Arial"/>
                <a:cs typeface="Arial"/>
              </a:rPr>
              <a:t> </a:t>
            </a:r>
            <a:r>
              <a:rPr sz="2150" spc="-10" dirty="0">
                <a:latin typeface="Arial"/>
                <a:cs typeface="Arial"/>
              </a:rPr>
              <a:t>Product</a:t>
            </a:r>
            <a:endParaRPr sz="2150">
              <a:latin typeface="Arial"/>
              <a:cs typeface="Arial"/>
            </a:endParaRPr>
          </a:p>
          <a:p>
            <a:pPr marL="1116965">
              <a:lnSpc>
                <a:spcPct val="100000"/>
              </a:lnSpc>
              <a:spcBef>
                <a:spcPts val="1245"/>
              </a:spcBef>
            </a:pPr>
            <a:r>
              <a:rPr sz="2150" spc="-35" dirty="0">
                <a:latin typeface="Arial"/>
                <a:cs typeface="Arial"/>
              </a:rPr>
              <a:t>Project</a:t>
            </a:r>
            <a:r>
              <a:rPr sz="2150" spc="-100" dirty="0">
                <a:latin typeface="Arial"/>
                <a:cs typeface="Arial"/>
              </a:rPr>
              <a:t> </a:t>
            </a:r>
            <a:r>
              <a:rPr sz="2150" spc="-50" dirty="0">
                <a:latin typeface="Arial"/>
                <a:cs typeface="Arial"/>
              </a:rPr>
              <a:t>Closure</a:t>
            </a:r>
            <a:r>
              <a:rPr sz="2150" spc="-95" dirty="0">
                <a:latin typeface="Arial"/>
                <a:cs typeface="Arial"/>
              </a:rPr>
              <a:t> </a:t>
            </a:r>
            <a:r>
              <a:rPr sz="2150" spc="-10" dirty="0">
                <a:latin typeface="Arial"/>
                <a:cs typeface="Arial"/>
              </a:rPr>
              <a:t>Report</a:t>
            </a:r>
            <a:endParaRPr sz="2150">
              <a:latin typeface="Arial"/>
              <a:cs typeface="Arial"/>
            </a:endParaRPr>
          </a:p>
          <a:p>
            <a:pPr marL="1116965">
              <a:lnSpc>
                <a:spcPct val="100000"/>
              </a:lnSpc>
              <a:spcBef>
                <a:spcPts val="1170"/>
              </a:spcBef>
            </a:pPr>
            <a:r>
              <a:rPr sz="2150" spc="-110" dirty="0">
                <a:latin typeface="Arial"/>
                <a:cs typeface="Arial"/>
              </a:rPr>
              <a:t>Lessons</a:t>
            </a:r>
            <a:r>
              <a:rPr sz="2150" spc="-25" dirty="0">
                <a:latin typeface="Arial"/>
                <a:cs typeface="Arial"/>
              </a:rPr>
              <a:t> </a:t>
            </a:r>
            <a:r>
              <a:rPr sz="2150" spc="-75" dirty="0">
                <a:latin typeface="Arial"/>
                <a:cs typeface="Arial"/>
              </a:rPr>
              <a:t>Learned</a:t>
            </a:r>
            <a:r>
              <a:rPr sz="2150" spc="-30" dirty="0">
                <a:latin typeface="Arial"/>
                <a:cs typeface="Arial"/>
              </a:rPr>
              <a:t> </a:t>
            </a:r>
            <a:r>
              <a:rPr sz="2150" spc="-10" dirty="0">
                <a:latin typeface="Arial"/>
                <a:cs typeface="Arial"/>
              </a:rPr>
              <a:t>Documentation</a:t>
            </a:r>
            <a:endParaRPr sz="2150">
              <a:latin typeface="Arial"/>
              <a:cs typeface="Arial"/>
            </a:endParaRPr>
          </a:p>
          <a:p>
            <a:pPr>
              <a:lnSpc>
                <a:spcPct val="100000"/>
              </a:lnSpc>
              <a:spcBef>
                <a:spcPts val="710"/>
              </a:spcBef>
            </a:pPr>
            <a:endParaRPr sz="2150">
              <a:latin typeface="Arial"/>
              <a:cs typeface="Arial"/>
            </a:endParaRPr>
          </a:p>
          <a:p>
            <a:pPr marL="12700">
              <a:lnSpc>
                <a:spcPct val="100000"/>
              </a:lnSpc>
            </a:pPr>
            <a:r>
              <a:rPr sz="2250" spc="-10" dirty="0">
                <a:latin typeface="Arial"/>
                <a:cs typeface="Arial"/>
              </a:rPr>
              <a:t>Example</a:t>
            </a:r>
            <a:endParaRPr sz="2250">
              <a:latin typeface="Arial"/>
              <a:cs typeface="Arial"/>
            </a:endParaRPr>
          </a:p>
          <a:p>
            <a:pPr marL="12700" marR="5080" algn="just">
              <a:lnSpc>
                <a:spcPct val="126499"/>
              </a:lnSpc>
              <a:spcBef>
                <a:spcPts val="235"/>
              </a:spcBef>
            </a:pPr>
            <a:r>
              <a:rPr sz="2150" dirty="0">
                <a:latin typeface="Arial"/>
                <a:cs typeface="Arial"/>
              </a:rPr>
              <a:t>After</a:t>
            </a:r>
            <a:r>
              <a:rPr sz="2150" spc="110" dirty="0">
                <a:latin typeface="Arial"/>
                <a:cs typeface="Arial"/>
              </a:rPr>
              <a:t> </a:t>
            </a:r>
            <a:r>
              <a:rPr sz="2150" dirty="0">
                <a:latin typeface="Arial"/>
                <a:cs typeface="Arial"/>
              </a:rPr>
              <a:t>thorough</a:t>
            </a:r>
            <a:r>
              <a:rPr sz="2150" spc="105" dirty="0">
                <a:latin typeface="Arial"/>
                <a:cs typeface="Arial"/>
              </a:rPr>
              <a:t> </a:t>
            </a:r>
            <a:r>
              <a:rPr sz="2150" dirty="0">
                <a:latin typeface="Arial"/>
                <a:cs typeface="Arial"/>
              </a:rPr>
              <a:t>testing,</a:t>
            </a:r>
            <a:r>
              <a:rPr sz="2150" spc="110" dirty="0">
                <a:latin typeface="Arial"/>
                <a:cs typeface="Arial"/>
              </a:rPr>
              <a:t> </a:t>
            </a:r>
            <a:r>
              <a:rPr sz="2150" dirty="0">
                <a:latin typeface="Arial"/>
                <a:cs typeface="Arial"/>
              </a:rPr>
              <a:t>the</a:t>
            </a:r>
            <a:r>
              <a:rPr sz="2150" spc="105" dirty="0">
                <a:latin typeface="Arial"/>
                <a:cs typeface="Arial"/>
              </a:rPr>
              <a:t> </a:t>
            </a:r>
            <a:r>
              <a:rPr sz="2150" dirty="0">
                <a:latin typeface="Arial"/>
                <a:cs typeface="Arial"/>
              </a:rPr>
              <a:t>e-commerce</a:t>
            </a:r>
            <a:r>
              <a:rPr sz="2150" spc="110" dirty="0">
                <a:latin typeface="Arial"/>
                <a:cs typeface="Arial"/>
              </a:rPr>
              <a:t> </a:t>
            </a:r>
            <a:r>
              <a:rPr sz="2150" dirty="0">
                <a:latin typeface="Arial"/>
                <a:cs typeface="Arial"/>
              </a:rPr>
              <a:t>platform</a:t>
            </a:r>
            <a:r>
              <a:rPr sz="2150" spc="110" dirty="0">
                <a:latin typeface="Arial"/>
                <a:cs typeface="Arial"/>
              </a:rPr>
              <a:t> </a:t>
            </a:r>
            <a:r>
              <a:rPr sz="2150" dirty="0">
                <a:latin typeface="Arial"/>
                <a:cs typeface="Arial"/>
              </a:rPr>
              <a:t>is</a:t>
            </a:r>
            <a:r>
              <a:rPr sz="2150" spc="105" dirty="0">
                <a:latin typeface="Arial"/>
                <a:cs typeface="Arial"/>
              </a:rPr>
              <a:t> </a:t>
            </a:r>
            <a:r>
              <a:rPr sz="2150" spc="-10" dirty="0">
                <a:latin typeface="Arial"/>
                <a:cs typeface="Arial"/>
              </a:rPr>
              <a:t>launched.</a:t>
            </a:r>
            <a:r>
              <a:rPr sz="2150" spc="110" dirty="0">
                <a:latin typeface="Arial"/>
                <a:cs typeface="Arial"/>
              </a:rPr>
              <a:t> </a:t>
            </a:r>
            <a:r>
              <a:rPr sz="2150" dirty="0">
                <a:latin typeface="Arial"/>
                <a:cs typeface="Arial"/>
              </a:rPr>
              <a:t>The</a:t>
            </a:r>
            <a:r>
              <a:rPr sz="2150" spc="110" dirty="0">
                <a:latin typeface="Arial"/>
                <a:cs typeface="Arial"/>
              </a:rPr>
              <a:t> </a:t>
            </a:r>
            <a:r>
              <a:rPr sz="2150" dirty="0">
                <a:latin typeface="Arial"/>
                <a:cs typeface="Arial"/>
              </a:rPr>
              <a:t>project</a:t>
            </a:r>
            <a:r>
              <a:rPr sz="2150" spc="105" dirty="0">
                <a:latin typeface="Arial"/>
                <a:cs typeface="Arial"/>
              </a:rPr>
              <a:t> </a:t>
            </a:r>
            <a:r>
              <a:rPr sz="2150" spc="-35" dirty="0">
                <a:latin typeface="Arial"/>
                <a:cs typeface="Arial"/>
              </a:rPr>
              <a:t>manager </a:t>
            </a:r>
            <a:r>
              <a:rPr sz="2150" dirty="0">
                <a:latin typeface="Arial"/>
                <a:cs typeface="Arial"/>
              </a:rPr>
              <a:t>conducts</a:t>
            </a:r>
            <a:r>
              <a:rPr sz="2150" spc="40" dirty="0">
                <a:latin typeface="Arial"/>
                <a:cs typeface="Arial"/>
              </a:rPr>
              <a:t> </a:t>
            </a:r>
            <a:r>
              <a:rPr sz="2150" dirty="0">
                <a:latin typeface="Arial"/>
                <a:cs typeface="Arial"/>
              </a:rPr>
              <a:t>a</a:t>
            </a:r>
            <a:r>
              <a:rPr sz="2150" spc="45" dirty="0">
                <a:latin typeface="Arial"/>
                <a:cs typeface="Arial"/>
              </a:rPr>
              <a:t> </a:t>
            </a:r>
            <a:r>
              <a:rPr sz="2150" dirty="0">
                <a:latin typeface="Arial"/>
                <a:cs typeface="Arial"/>
              </a:rPr>
              <a:t>review</a:t>
            </a:r>
            <a:r>
              <a:rPr sz="2150" spc="40" dirty="0">
                <a:latin typeface="Arial"/>
                <a:cs typeface="Arial"/>
              </a:rPr>
              <a:t> </a:t>
            </a:r>
            <a:r>
              <a:rPr sz="2150" spc="-10" dirty="0">
                <a:latin typeface="Arial"/>
                <a:cs typeface="Arial"/>
              </a:rPr>
              <a:t>meeting</a:t>
            </a:r>
            <a:r>
              <a:rPr sz="2150" spc="40" dirty="0">
                <a:latin typeface="Arial"/>
                <a:cs typeface="Arial"/>
              </a:rPr>
              <a:t> </a:t>
            </a:r>
            <a:r>
              <a:rPr sz="2150" dirty="0">
                <a:latin typeface="Arial"/>
                <a:cs typeface="Arial"/>
              </a:rPr>
              <a:t>to</a:t>
            </a:r>
            <a:r>
              <a:rPr sz="2150" spc="45" dirty="0">
                <a:latin typeface="Arial"/>
                <a:cs typeface="Arial"/>
              </a:rPr>
              <a:t> </a:t>
            </a:r>
            <a:r>
              <a:rPr sz="2150" spc="-40" dirty="0">
                <a:latin typeface="Arial"/>
                <a:cs typeface="Arial"/>
              </a:rPr>
              <a:t>discuss</a:t>
            </a:r>
            <a:r>
              <a:rPr sz="2150" spc="40" dirty="0">
                <a:latin typeface="Arial"/>
                <a:cs typeface="Arial"/>
              </a:rPr>
              <a:t> </a:t>
            </a:r>
            <a:r>
              <a:rPr sz="2150" dirty="0">
                <a:latin typeface="Arial"/>
                <a:cs typeface="Arial"/>
              </a:rPr>
              <a:t>what</a:t>
            </a:r>
            <a:r>
              <a:rPr sz="2150" spc="40" dirty="0">
                <a:latin typeface="Arial"/>
                <a:cs typeface="Arial"/>
              </a:rPr>
              <a:t> </a:t>
            </a:r>
            <a:r>
              <a:rPr sz="2150" dirty="0">
                <a:latin typeface="Arial"/>
                <a:cs typeface="Arial"/>
              </a:rPr>
              <a:t>went</a:t>
            </a:r>
            <a:r>
              <a:rPr sz="2150" spc="40" dirty="0">
                <a:latin typeface="Arial"/>
                <a:cs typeface="Arial"/>
              </a:rPr>
              <a:t> </a:t>
            </a:r>
            <a:r>
              <a:rPr sz="2150" dirty="0">
                <a:latin typeface="Arial"/>
                <a:cs typeface="Arial"/>
              </a:rPr>
              <a:t>well</a:t>
            </a:r>
            <a:r>
              <a:rPr sz="2150" spc="45" dirty="0">
                <a:latin typeface="Arial"/>
                <a:cs typeface="Arial"/>
              </a:rPr>
              <a:t> </a:t>
            </a:r>
            <a:r>
              <a:rPr sz="2150" dirty="0">
                <a:latin typeface="Arial"/>
                <a:cs typeface="Arial"/>
              </a:rPr>
              <a:t>and</a:t>
            </a:r>
            <a:r>
              <a:rPr sz="2150" spc="40" dirty="0">
                <a:latin typeface="Arial"/>
                <a:cs typeface="Arial"/>
              </a:rPr>
              <a:t> </a:t>
            </a:r>
            <a:r>
              <a:rPr sz="2150" dirty="0">
                <a:latin typeface="Arial"/>
                <a:cs typeface="Arial"/>
              </a:rPr>
              <a:t>what</a:t>
            </a:r>
            <a:r>
              <a:rPr sz="2150" spc="40" dirty="0">
                <a:latin typeface="Arial"/>
                <a:cs typeface="Arial"/>
              </a:rPr>
              <a:t> </a:t>
            </a:r>
            <a:r>
              <a:rPr sz="2150" dirty="0">
                <a:latin typeface="Arial"/>
                <a:cs typeface="Arial"/>
              </a:rPr>
              <a:t>could</a:t>
            </a:r>
            <a:r>
              <a:rPr sz="2150" spc="45" dirty="0">
                <a:latin typeface="Arial"/>
                <a:cs typeface="Arial"/>
              </a:rPr>
              <a:t> </a:t>
            </a:r>
            <a:r>
              <a:rPr sz="2150" dirty="0">
                <a:latin typeface="Arial"/>
                <a:cs typeface="Arial"/>
              </a:rPr>
              <a:t>be</a:t>
            </a:r>
            <a:r>
              <a:rPr sz="2150" spc="40" dirty="0">
                <a:latin typeface="Arial"/>
                <a:cs typeface="Arial"/>
              </a:rPr>
              <a:t> </a:t>
            </a:r>
            <a:r>
              <a:rPr sz="2150" spc="-10" dirty="0">
                <a:latin typeface="Arial"/>
                <a:cs typeface="Arial"/>
              </a:rPr>
              <a:t>improved, documents</a:t>
            </a:r>
            <a:r>
              <a:rPr sz="2150" spc="-70" dirty="0">
                <a:latin typeface="Arial"/>
                <a:cs typeface="Arial"/>
              </a:rPr>
              <a:t> </a:t>
            </a:r>
            <a:r>
              <a:rPr sz="2150" spc="-55" dirty="0">
                <a:latin typeface="Arial"/>
                <a:cs typeface="Arial"/>
              </a:rPr>
              <a:t>these</a:t>
            </a:r>
            <a:r>
              <a:rPr sz="2150" spc="-65" dirty="0">
                <a:latin typeface="Arial"/>
                <a:cs typeface="Arial"/>
              </a:rPr>
              <a:t> </a:t>
            </a:r>
            <a:r>
              <a:rPr sz="2150" spc="-75" dirty="0">
                <a:latin typeface="Arial"/>
                <a:cs typeface="Arial"/>
              </a:rPr>
              <a:t>lessons,</a:t>
            </a:r>
            <a:r>
              <a:rPr sz="2150" spc="-65" dirty="0">
                <a:latin typeface="Arial"/>
                <a:cs typeface="Arial"/>
              </a:rPr>
              <a:t> </a:t>
            </a:r>
            <a:r>
              <a:rPr sz="2150" spc="-40" dirty="0">
                <a:latin typeface="Arial"/>
                <a:cs typeface="Arial"/>
              </a:rPr>
              <a:t>and</a:t>
            </a:r>
            <a:r>
              <a:rPr sz="2150" spc="-70" dirty="0">
                <a:latin typeface="Arial"/>
                <a:cs typeface="Arial"/>
              </a:rPr>
              <a:t> </a:t>
            </a:r>
            <a:r>
              <a:rPr sz="2150" dirty="0">
                <a:latin typeface="Arial"/>
                <a:cs typeface="Arial"/>
              </a:rPr>
              <a:t>formally</a:t>
            </a:r>
            <a:r>
              <a:rPr sz="2150" spc="-65" dirty="0">
                <a:latin typeface="Arial"/>
                <a:cs typeface="Arial"/>
              </a:rPr>
              <a:t> </a:t>
            </a:r>
            <a:r>
              <a:rPr sz="2150" spc="-55" dirty="0">
                <a:latin typeface="Arial"/>
                <a:cs typeface="Arial"/>
              </a:rPr>
              <a:t>closes</a:t>
            </a:r>
            <a:r>
              <a:rPr sz="2150" spc="-65" dirty="0">
                <a:latin typeface="Arial"/>
                <a:cs typeface="Arial"/>
              </a:rPr>
              <a:t> </a:t>
            </a:r>
            <a:r>
              <a:rPr sz="2150" dirty="0">
                <a:latin typeface="Arial"/>
                <a:cs typeface="Arial"/>
              </a:rPr>
              <a:t>the</a:t>
            </a:r>
            <a:r>
              <a:rPr sz="2150" spc="-70" dirty="0">
                <a:latin typeface="Arial"/>
                <a:cs typeface="Arial"/>
              </a:rPr>
              <a:t> </a:t>
            </a:r>
            <a:r>
              <a:rPr sz="2150" spc="-10" dirty="0">
                <a:latin typeface="Arial"/>
                <a:cs typeface="Arial"/>
              </a:rPr>
              <a:t>project.</a:t>
            </a:r>
            <a:endParaRPr sz="215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17</a:t>
            </a:fld>
            <a:endParaRPr spc="-25" dirty="0"/>
          </a:p>
        </p:txBody>
      </p:sp>
      <p:sp>
        <p:nvSpPr>
          <p:cNvPr id="8" name="object 8"/>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18</a:t>
            </a:fld>
            <a:endParaRPr spc="-25" dirty="0"/>
          </a:p>
        </p:txBody>
      </p:sp>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2800" spc="-90" dirty="0"/>
              <a:t>3.</a:t>
            </a:r>
            <a:r>
              <a:rPr sz="2800" spc="-95" dirty="0"/>
              <a:t> </a:t>
            </a:r>
            <a:r>
              <a:rPr sz="2800" spc="-120" dirty="0"/>
              <a:t>Role</a:t>
            </a:r>
            <a:r>
              <a:rPr sz="2800" spc="-95" dirty="0"/>
              <a:t> </a:t>
            </a:r>
            <a:r>
              <a:rPr sz="2800" dirty="0"/>
              <a:t>of</a:t>
            </a:r>
            <a:r>
              <a:rPr sz="2800" spc="-95" dirty="0"/>
              <a:t> </a:t>
            </a:r>
            <a:r>
              <a:rPr sz="2800" spc="-180" dirty="0"/>
              <a:t>a</a:t>
            </a:r>
            <a:r>
              <a:rPr sz="2800" spc="-95" dirty="0"/>
              <a:t> </a:t>
            </a:r>
            <a:r>
              <a:rPr sz="2800" spc="-10" dirty="0"/>
              <a:t>Software</a:t>
            </a:r>
            <a:r>
              <a:rPr sz="2800" spc="-95" dirty="0"/>
              <a:t> </a:t>
            </a:r>
            <a:r>
              <a:rPr sz="2800" spc="-45" dirty="0"/>
              <a:t>Project</a:t>
            </a:r>
            <a:r>
              <a:rPr sz="2800" spc="-95" dirty="0"/>
              <a:t> </a:t>
            </a:r>
            <a:r>
              <a:rPr sz="2800" spc="-55" dirty="0"/>
              <a:t>Manager</a:t>
            </a:r>
            <a:endParaRPr sz="2800"/>
          </a:p>
        </p:txBody>
      </p:sp>
      <p:sp>
        <p:nvSpPr>
          <p:cNvPr id="3" name="object 3"/>
          <p:cNvSpPr txBox="1"/>
          <p:nvPr/>
        </p:nvSpPr>
        <p:spPr>
          <a:xfrm>
            <a:off x="735010" y="2999143"/>
            <a:ext cx="10360025" cy="1269365"/>
          </a:xfrm>
          <a:prstGeom prst="rect">
            <a:avLst/>
          </a:prstGeom>
        </p:spPr>
        <p:txBody>
          <a:bodyPr vert="horz" wrap="square" lIns="0" tIns="12700" rIns="0" bIns="0" rtlCol="0">
            <a:spAutoFit/>
          </a:bodyPr>
          <a:lstStyle/>
          <a:p>
            <a:pPr marL="12700" marR="5080">
              <a:lnSpc>
                <a:spcPct val="126499"/>
              </a:lnSpc>
              <a:spcBef>
                <a:spcPts val="100"/>
              </a:spcBef>
            </a:pPr>
            <a:r>
              <a:rPr sz="2150" dirty="0">
                <a:latin typeface="Arial"/>
                <a:cs typeface="Arial"/>
              </a:rPr>
              <a:t>A</a:t>
            </a:r>
            <a:r>
              <a:rPr sz="2150" spc="-125" dirty="0">
                <a:latin typeface="Arial"/>
                <a:cs typeface="Arial"/>
              </a:rPr>
              <a:t> </a:t>
            </a:r>
            <a:r>
              <a:rPr sz="2150" spc="-10" dirty="0">
                <a:latin typeface="Arial"/>
                <a:cs typeface="Arial"/>
              </a:rPr>
              <a:t>Software</a:t>
            </a:r>
            <a:r>
              <a:rPr sz="2150" spc="-100" dirty="0">
                <a:latin typeface="Arial"/>
                <a:cs typeface="Arial"/>
              </a:rPr>
              <a:t> </a:t>
            </a:r>
            <a:r>
              <a:rPr sz="2150" spc="-35" dirty="0">
                <a:latin typeface="Arial"/>
                <a:cs typeface="Arial"/>
              </a:rPr>
              <a:t>Project</a:t>
            </a:r>
            <a:r>
              <a:rPr sz="2150" spc="-95" dirty="0">
                <a:latin typeface="Arial"/>
                <a:cs typeface="Arial"/>
              </a:rPr>
              <a:t> </a:t>
            </a:r>
            <a:r>
              <a:rPr sz="2150" spc="-60" dirty="0">
                <a:latin typeface="Arial"/>
                <a:cs typeface="Arial"/>
              </a:rPr>
              <a:t>Manager</a:t>
            </a:r>
            <a:r>
              <a:rPr sz="2150" spc="-90" dirty="0">
                <a:latin typeface="Arial"/>
                <a:cs typeface="Arial"/>
              </a:rPr>
              <a:t> </a:t>
            </a:r>
            <a:r>
              <a:rPr sz="2150" spc="-25" dirty="0">
                <a:latin typeface="Arial"/>
                <a:cs typeface="Arial"/>
              </a:rPr>
              <a:t>plays</a:t>
            </a:r>
            <a:r>
              <a:rPr sz="2150" spc="-95" dirty="0">
                <a:latin typeface="Arial"/>
                <a:cs typeface="Arial"/>
              </a:rPr>
              <a:t> </a:t>
            </a:r>
            <a:r>
              <a:rPr sz="2150" spc="-140" dirty="0">
                <a:latin typeface="Arial"/>
                <a:cs typeface="Arial"/>
              </a:rPr>
              <a:t>a</a:t>
            </a:r>
            <a:r>
              <a:rPr sz="2150" spc="-75" dirty="0">
                <a:latin typeface="Arial"/>
                <a:cs typeface="Arial"/>
              </a:rPr>
              <a:t> </a:t>
            </a:r>
            <a:r>
              <a:rPr sz="2150" dirty="0">
                <a:latin typeface="Arial"/>
                <a:cs typeface="Arial"/>
              </a:rPr>
              <a:t>crucial</a:t>
            </a:r>
            <a:r>
              <a:rPr sz="2150" spc="-100" dirty="0">
                <a:latin typeface="Arial"/>
                <a:cs typeface="Arial"/>
              </a:rPr>
              <a:t> </a:t>
            </a:r>
            <a:r>
              <a:rPr sz="2150" dirty="0">
                <a:latin typeface="Arial"/>
                <a:cs typeface="Arial"/>
              </a:rPr>
              <a:t>role</a:t>
            </a:r>
            <a:r>
              <a:rPr sz="2150" spc="-95" dirty="0">
                <a:latin typeface="Arial"/>
                <a:cs typeface="Arial"/>
              </a:rPr>
              <a:t> </a:t>
            </a:r>
            <a:r>
              <a:rPr sz="2150" dirty="0">
                <a:latin typeface="Arial"/>
                <a:cs typeface="Arial"/>
              </a:rPr>
              <a:t>in</a:t>
            </a:r>
            <a:r>
              <a:rPr sz="2150" spc="-95" dirty="0">
                <a:latin typeface="Arial"/>
                <a:cs typeface="Arial"/>
              </a:rPr>
              <a:t> </a:t>
            </a:r>
            <a:r>
              <a:rPr sz="2150" spc="-50" dirty="0">
                <a:latin typeface="Arial"/>
                <a:cs typeface="Arial"/>
              </a:rPr>
              <a:t>ensuring</a:t>
            </a:r>
            <a:r>
              <a:rPr sz="2150" spc="-95" dirty="0">
                <a:latin typeface="Arial"/>
                <a:cs typeface="Arial"/>
              </a:rPr>
              <a:t> </a:t>
            </a:r>
            <a:r>
              <a:rPr sz="2150" dirty="0">
                <a:latin typeface="Arial"/>
                <a:cs typeface="Arial"/>
              </a:rPr>
              <a:t>the</a:t>
            </a:r>
            <a:r>
              <a:rPr sz="2150" spc="-100" dirty="0">
                <a:latin typeface="Arial"/>
                <a:cs typeface="Arial"/>
              </a:rPr>
              <a:t> </a:t>
            </a:r>
            <a:r>
              <a:rPr sz="2150" spc="-50" dirty="0">
                <a:latin typeface="Arial"/>
                <a:cs typeface="Arial"/>
              </a:rPr>
              <a:t>successful</a:t>
            </a:r>
            <a:r>
              <a:rPr sz="2150" spc="-95" dirty="0">
                <a:latin typeface="Arial"/>
                <a:cs typeface="Arial"/>
              </a:rPr>
              <a:t> </a:t>
            </a:r>
            <a:r>
              <a:rPr sz="2150" dirty="0">
                <a:latin typeface="Arial"/>
                <a:cs typeface="Arial"/>
              </a:rPr>
              <a:t>delivery</a:t>
            </a:r>
            <a:r>
              <a:rPr sz="2150" spc="-95" dirty="0">
                <a:latin typeface="Arial"/>
                <a:cs typeface="Arial"/>
              </a:rPr>
              <a:t> </a:t>
            </a:r>
            <a:r>
              <a:rPr sz="2150" spc="-25" dirty="0">
                <a:latin typeface="Arial"/>
                <a:cs typeface="Arial"/>
              </a:rPr>
              <a:t>of </a:t>
            </a:r>
            <a:r>
              <a:rPr sz="2150" dirty="0">
                <a:latin typeface="Arial"/>
                <a:cs typeface="Arial"/>
              </a:rPr>
              <a:t>software</a:t>
            </a:r>
            <a:r>
              <a:rPr sz="2150" spc="-35" dirty="0">
                <a:latin typeface="Arial"/>
                <a:cs typeface="Arial"/>
              </a:rPr>
              <a:t> </a:t>
            </a:r>
            <a:r>
              <a:rPr sz="2150" spc="-20" dirty="0">
                <a:latin typeface="Arial"/>
                <a:cs typeface="Arial"/>
              </a:rPr>
              <a:t>projects.</a:t>
            </a:r>
            <a:r>
              <a:rPr sz="2150" spc="-35" dirty="0">
                <a:latin typeface="Arial"/>
                <a:cs typeface="Arial"/>
              </a:rPr>
              <a:t> </a:t>
            </a:r>
            <a:r>
              <a:rPr sz="2150" spc="-50" dirty="0">
                <a:latin typeface="Arial"/>
                <a:cs typeface="Arial"/>
              </a:rPr>
              <a:t>Their</a:t>
            </a:r>
            <a:r>
              <a:rPr sz="2150" spc="-35" dirty="0">
                <a:latin typeface="Arial"/>
                <a:cs typeface="Arial"/>
              </a:rPr>
              <a:t> </a:t>
            </a:r>
            <a:r>
              <a:rPr sz="2150" spc="-30" dirty="0">
                <a:latin typeface="Arial"/>
                <a:cs typeface="Arial"/>
              </a:rPr>
              <a:t>responsibilities</a:t>
            </a:r>
            <a:r>
              <a:rPr sz="2150" spc="-35" dirty="0">
                <a:latin typeface="Arial"/>
                <a:cs typeface="Arial"/>
              </a:rPr>
              <a:t> </a:t>
            </a:r>
            <a:r>
              <a:rPr sz="2150" spc="-50" dirty="0">
                <a:latin typeface="Arial"/>
                <a:cs typeface="Arial"/>
              </a:rPr>
              <a:t>encompass</a:t>
            </a:r>
            <a:r>
              <a:rPr sz="2150" spc="-35" dirty="0">
                <a:latin typeface="Arial"/>
                <a:cs typeface="Arial"/>
              </a:rPr>
              <a:t> </a:t>
            </a:r>
            <a:r>
              <a:rPr sz="2150" spc="-140" dirty="0">
                <a:latin typeface="Arial"/>
                <a:cs typeface="Arial"/>
              </a:rPr>
              <a:t>a</a:t>
            </a:r>
            <a:r>
              <a:rPr sz="2150" spc="-35" dirty="0">
                <a:latin typeface="Arial"/>
                <a:cs typeface="Arial"/>
              </a:rPr>
              <a:t> </a:t>
            </a:r>
            <a:r>
              <a:rPr sz="2150" dirty="0">
                <a:latin typeface="Arial"/>
                <a:cs typeface="Arial"/>
              </a:rPr>
              <a:t>wide</a:t>
            </a:r>
            <a:r>
              <a:rPr sz="2150" spc="-35" dirty="0">
                <a:latin typeface="Arial"/>
                <a:cs typeface="Arial"/>
              </a:rPr>
              <a:t> </a:t>
            </a:r>
            <a:r>
              <a:rPr sz="2150" spc="-70" dirty="0">
                <a:latin typeface="Arial"/>
                <a:cs typeface="Arial"/>
              </a:rPr>
              <a:t>range</a:t>
            </a:r>
            <a:r>
              <a:rPr sz="2150" spc="-35" dirty="0">
                <a:latin typeface="Arial"/>
                <a:cs typeface="Arial"/>
              </a:rPr>
              <a:t> </a:t>
            </a:r>
            <a:r>
              <a:rPr sz="2150" dirty="0">
                <a:latin typeface="Arial"/>
                <a:cs typeface="Arial"/>
              </a:rPr>
              <a:t>of</a:t>
            </a:r>
            <a:r>
              <a:rPr sz="2150" spc="-35" dirty="0">
                <a:latin typeface="Arial"/>
                <a:cs typeface="Arial"/>
              </a:rPr>
              <a:t> </a:t>
            </a:r>
            <a:r>
              <a:rPr sz="2150" spc="-80" dirty="0">
                <a:latin typeface="Arial"/>
                <a:cs typeface="Arial"/>
              </a:rPr>
              <a:t>tasks,</a:t>
            </a:r>
            <a:r>
              <a:rPr sz="2150" spc="-35" dirty="0">
                <a:latin typeface="Arial"/>
                <a:cs typeface="Arial"/>
              </a:rPr>
              <a:t> </a:t>
            </a:r>
            <a:r>
              <a:rPr sz="2150" dirty="0">
                <a:latin typeface="Arial"/>
                <a:cs typeface="Arial"/>
              </a:rPr>
              <a:t>from</a:t>
            </a:r>
            <a:r>
              <a:rPr sz="2150" spc="-35" dirty="0">
                <a:latin typeface="Arial"/>
                <a:cs typeface="Arial"/>
              </a:rPr>
              <a:t> </a:t>
            </a:r>
            <a:r>
              <a:rPr sz="2150" spc="-10" dirty="0">
                <a:latin typeface="Arial"/>
                <a:cs typeface="Arial"/>
              </a:rPr>
              <a:t>strategic </a:t>
            </a:r>
            <a:r>
              <a:rPr sz="2150" spc="-30" dirty="0">
                <a:latin typeface="Arial"/>
                <a:cs typeface="Arial"/>
              </a:rPr>
              <a:t>planning</a:t>
            </a:r>
            <a:r>
              <a:rPr sz="2150" spc="-75" dirty="0">
                <a:latin typeface="Arial"/>
                <a:cs typeface="Arial"/>
              </a:rPr>
              <a:t> </a:t>
            </a:r>
            <a:r>
              <a:rPr sz="2150" dirty="0">
                <a:latin typeface="Arial"/>
                <a:cs typeface="Arial"/>
              </a:rPr>
              <a:t>to</a:t>
            </a:r>
            <a:r>
              <a:rPr sz="2150" spc="-70" dirty="0">
                <a:latin typeface="Arial"/>
                <a:cs typeface="Arial"/>
              </a:rPr>
              <a:t> </a:t>
            </a:r>
            <a:r>
              <a:rPr sz="2150" spc="-10" dirty="0">
                <a:latin typeface="Arial"/>
                <a:cs typeface="Arial"/>
              </a:rPr>
              <a:t>team</a:t>
            </a:r>
            <a:r>
              <a:rPr sz="2150" spc="-70" dirty="0">
                <a:latin typeface="Arial"/>
                <a:cs typeface="Arial"/>
              </a:rPr>
              <a:t> </a:t>
            </a:r>
            <a:r>
              <a:rPr sz="2150" spc="-10" dirty="0">
                <a:latin typeface="Arial"/>
                <a:cs typeface="Arial"/>
              </a:rPr>
              <a:t>leadership.</a:t>
            </a:r>
            <a:endParaRPr sz="2150">
              <a:latin typeface="Arial"/>
              <a:cs typeface="Arial"/>
            </a:endParaRPr>
          </a:p>
        </p:txBody>
      </p:sp>
      <p:sp>
        <p:nvSpPr>
          <p:cNvPr id="4" name="object 4"/>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382585"/>
            <a:ext cx="3035300" cy="391160"/>
          </a:xfrm>
          <a:prstGeom prst="rect">
            <a:avLst/>
          </a:prstGeom>
        </p:spPr>
        <p:txBody>
          <a:bodyPr vert="horz" wrap="square" lIns="0" tIns="12700" rIns="0" bIns="0" rtlCol="0">
            <a:spAutoFit/>
          </a:bodyPr>
          <a:lstStyle/>
          <a:p>
            <a:pPr marL="12700">
              <a:lnSpc>
                <a:spcPct val="100000"/>
              </a:lnSpc>
              <a:spcBef>
                <a:spcPts val="100"/>
              </a:spcBef>
            </a:pPr>
            <a:r>
              <a:rPr spc="-250" dirty="0"/>
              <a:t>3.1</a:t>
            </a:r>
            <a:r>
              <a:rPr spc="-65" dirty="0"/>
              <a:t> </a:t>
            </a:r>
            <a:r>
              <a:rPr spc="-90" dirty="0"/>
              <a:t>Key</a:t>
            </a:r>
            <a:r>
              <a:rPr spc="-60" dirty="0"/>
              <a:t> </a:t>
            </a:r>
            <a:r>
              <a:rPr spc="-45" dirty="0"/>
              <a:t>Responsibilities</a:t>
            </a:r>
          </a:p>
        </p:txBody>
      </p:sp>
      <p:pic>
        <p:nvPicPr>
          <p:cNvPr id="3" name="object 3"/>
          <p:cNvPicPr/>
          <p:nvPr/>
        </p:nvPicPr>
        <p:blipFill>
          <a:blip r:embed="rId2" cstate="print"/>
          <a:stretch>
            <a:fillRect/>
          </a:stretch>
        </p:blipFill>
        <p:spPr>
          <a:xfrm>
            <a:off x="1038222" y="2095495"/>
            <a:ext cx="104773" cy="104772"/>
          </a:xfrm>
          <a:prstGeom prst="rect">
            <a:avLst/>
          </a:prstGeom>
        </p:spPr>
      </p:pic>
      <p:sp>
        <p:nvSpPr>
          <p:cNvPr id="4" name="object 4"/>
          <p:cNvSpPr txBox="1"/>
          <p:nvPr/>
        </p:nvSpPr>
        <p:spPr>
          <a:xfrm>
            <a:off x="1287463" y="1765833"/>
            <a:ext cx="9565640" cy="3559175"/>
          </a:xfrm>
          <a:prstGeom prst="rect">
            <a:avLst/>
          </a:prstGeom>
        </p:spPr>
        <p:txBody>
          <a:bodyPr vert="horz" wrap="square" lIns="0" tIns="12700" rIns="0" bIns="0" rtlCol="0">
            <a:spAutoFit/>
          </a:bodyPr>
          <a:lstStyle/>
          <a:p>
            <a:pPr marL="12700" marR="768350">
              <a:lnSpc>
                <a:spcPct val="127899"/>
              </a:lnSpc>
              <a:spcBef>
                <a:spcPts val="100"/>
              </a:spcBef>
            </a:pPr>
            <a:r>
              <a:rPr sz="2150" spc="-80" dirty="0">
                <a:latin typeface="Arial"/>
                <a:cs typeface="Arial"/>
              </a:rPr>
              <a:t>Planning</a:t>
            </a:r>
            <a:r>
              <a:rPr sz="2150" spc="-75" dirty="0">
                <a:latin typeface="Arial"/>
                <a:cs typeface="Arial"/>
              </a:rPr>
              <a:t> </a:t>
            </a:r>
            <a:r>
              <a:rPr sz="2150" spc="-40" dirty="0">
                <a:latin typeface="Arial"/>
                <a:cs typeface="Arial"/>
              </a:rPr>
              <a:t>and</a:t>
            </a:r>
            <a:r>
              <a:rPr sz="2150" spc="-75" dirty="0">
                <a:latin typeface="Arial"/>
                <a:cs typeface="Arial"/>
              </a:rPr>
              <a:t> </a:t>
            </a:r>
            <a:r>
              <a:rPr sz="2150" spc="-50" dirty="0">
                <a:latin typeface="Arial"/>
                <a:cs typeface="Arial"/>
              </a:rPr>
              <a:t>Scheduling:</a:t>
            </a:r>
            <a:r>
              <a:rPr sz="2150" spc="-75" dirty="0">
                <a:latin typeface="Arial"/>
                <a:cs typeface="Arial"/>
              </a:rPr>
              <a:t> </a:t>
            </a:r>
            <a:r>
              <a:rPr sz="2150" spc="-20" dirty="0">
                <a:latin typeface="Arial"/>
                <a:cs typeface="Arial"/>
              </a:rPr>
              <a:t>Develop</a:t>
            </a:r>
            <a:r>
              <a:rPr sz="2150" spc="-75" dirty="0">
                <a:latin typeface="Arial"/>
                <a:cs typeface="Arial"/>
              </a:rPr>
              <a:t> </a:t>
            </a:r>
            <a:r>
              <a:rPr sz="2150" spc="-20" dirty="0">
                <a:latin typeface="Arial"/>
                <a:cs typeface="Arial"/>
              </a:rPr>
              <a:t>detailed</a:t>
            </a:r>
            <a:r>
              <a:rPr sz="2150" spc="-70" dirty="0">
                <a:latin typeface="Arial"/>
                <a:cs typeface="Arial"/>
              </a:rPr>
              <a:t> </a:t>
            </a:r>
            <a:r>
              <a:rPr sz="2150" dirty="0">
                <a:latin typeface="Arial"/>
                <a:cs typeface="Arial"/>
              </a:rPr>
              <a:t>project</a:t>
            </a:r>
            <a:r>
              <a:rPr sz="2150" spc="-75" dirty="0">
                <a:latin typeface="Arial"/>
                <a:cs typeface="Arial"/>
              </a:rPr>
              <a:t> </a:t>
            </a:r>
            <a:r>
              <a:rPr sz="2150" spc="-55" dirty="0">
                <a:latin typeface="Arial"/>
                <a:cs typeface="Arial"/>
              </a:rPr>
              <a:t>plans,</a:t>
            </a:r>
            <a:r>
              <a:rPr sz="2150" spc="-75" dirty="0">
                <a:latin typeface="Arial"/>
                <a:cs typeface="Arial"/>
              </a:rPr>
              <a:t> </a:t>
            </a:r>
            <a:r>
              <a:rPr sz="2150" spc="-40" dirty="0">
                <a:latin typeface="Arial"/>
                <a:cs typeface="Arial"/>
              </a:rPr>
              <a:t>set</a:t>
            </a:r>
            <a:r>
              <a:rPr sz="2150" spc="-75" dirty="0">
                <a:latin typeface="Arial"/>
                <a:cs typeface="Arial"/>
              </a:rPr>
              <a:t> </a:t>
            </a:r>
            <a:r>
              <a:rPr sz="2150" spc="-25" dirty="0">
                <a:latin typeface="Arial"/>
                <a:cs typeface="Arial"/>
              </a:rPr>
              <a:t>timelines,</a:t>
            </a:r>
            <a:r>
              <a:rPr sz="2150" spc="-70" dirty="0">
                <a:latin typeface="Arial"/>
                <a:cs typeface="Arial"/>
              </a:rPr>
              <a:t> </a:t>
            </a:r>
            <a:r>
              <a:rPr sz="2150" spc="-25" dirty="0">
                <a:latin typeface="Arial"/>
                <a:cs typeface="Arial"/>
              </a:rPr>
              <a:t>and allocate</a:t>
            </a:r>
            <a:r>
              <a:rPr sz="2150" spc="-100" dirty="0">
                <a:latin typeface="Arial"/>
                <a:cs typeface="Arial"/>
              </a:rPr>
              <a:t> </a:t>
            </a:r>
            <a:r>
              <a:rPr sz="2150" spc="-40" dirty="0">
                <a:latin typeface="Arial"/>
                <a:cs typeface="Arial"/>
              </a:rPr>
              <a:t>resources</a:t>
            </a:r>
            <a:r>
              <a:rPr sz="2150" spc="-95" dirty="0">
                <a:latin typeface="Arial"/>
                <a:cs typeface="Arial"/>
              </a:rPr>
              <a:t> </a:t>
            </a:r>
            <a:r>
              <a:rPr sz="2150" spc="-10" dirty="0">
                <a:latin typeface="Arial"/>
                <a:cs typeface="Arial"/>
              </a:rPr>
              <a:t>effectively.</a:t>
            </a:r>
            <a:endParaRPr sz="2150">
              <a:latin typeface="Arial"/>
              <a:cs typeface="Arial"/>
            </a:endParaRPr>
          </a:p>
          <a:p>
            <a:pPr marL="12700" marR="946785">
              <a:lnSpc>
                <a:spcPct val="127899"/>
              </a:lnSpc>
              <a:spcBef>
                <a:spcPts val="450"/>
              </a:spcBef>
            </a:pPr>
            <a:r>
              <a:rPr sz="2150" spc="-85" dirty="0">
                <a:latin typeface="Arial"/>
                <a:cs typeface="Arial"/>
              </a:rPr>
              <a:t>Team</a:t>
            </a:r>
            <a:r>
              <a:rPr sz="2150" spc="-75" dirty="0">
                <a:latin typeface="Arial"/>
                <a:cs typeface="Arial"/>
              </a:rPr>
              <a:t> </a:t>
            </a:r>
            <a:r>
              <a:rPr sz="2150" spc="-50" dirty="0">
                <a:latin typeface="Arial"/>
                <a:cs typeface="Arial"/>
              </a:rPr>
              <a:t>Leadership:</a:t>
            </a:r>
            <a:r>
              <a:rPr sz="2150" spc="-90" dirty="0">
                <a:latin typeface="Arial"/>
                <a:cs typeface="Arial"/>
              </a:rPr>
              <a:t> </a:t>
            </a:r>
            <a:r>
              <a:rPr sz="2150" spc="-85" dirty="0">
                <a:latin typeface="Arial"/>
                <a:cs typeface="Arial"/>
              </a:rPr>
              <a:t>Manage</a:t>
            </a:r>
            <a:r>
              <a:rPr sz="2150" spc="-75" dirty="0">
                <a:latin typeface="Arial"/>
                <a:cs typeface="Arial"/>
              </a:rPr>
              <a:t> </a:t>
            </a:r>
            <a:r>
              <a:rPr sz="2150" spc="-40" dirty="0">
                <a:latin typeface="Arial"/>
                <a:cs typeface="Arial"/>
              </a:rPr>
              <a:t>and</a:t>
            </a:r>
            <a:r>
              <a:rPr sz="2150" spc="-80" dirty="0">
                <a:latin typeface="Arial"/>
                <a:cs typeface="Arial"/>
              </a:rPr>
              <a:t> </a:t>
            </a:r>
            <a:r>
              <a:rPr sz="2150" dirty="0">
                <a:latin typeface="Arial"/>
                <a:cs typeface="Arial"/>
              </a:rPr>
              <a:t>motivate</a:t>
            </a:r>
            <a:r>
              <a:rPr sz="2150" spc="-80" dirty="0">
                <a:latin typeface="Arial"/>
                <a:cs typeface="Arial"/>
              </a:rPr>
              <a:t> </a:t>
            </a:r>
            <a:r>
              <a:rPr sz="2150" dirty="0">
                <a:latin typeface="Arial"/>
                <a:cs typeface="Arial"/>
              </a:rPr>
              <a:t>the</a:t>
            </a:r>
            <a:r>
              <a:rPr sz="2150" spc="-80" dirty="0">
                <a:latin typeface="Arial"/>
                <a:cs typeface="Arial"/>
              </a:rPr>
              <a:t> </a:t>
            </a:r>
            <a:r>
              <a:rPr sz="2150" dirty="0">
                <a:latin typeface="Arial"/>
                <a:cs typeface="Arial"/>
              </a:rPr>
              <a:t>development</a:t>
            </a:r>
            <a:r>
              <a:rPr sz="2150" spc="-80" dirty="0">
                <a:latin typeface="Arial"/>
                <a:cs typeface="Arial"/>
              </a:rPr>
              <a:t> </a:t>
            </a:r>
            <a:r>
              <a:rPr sz="2150" spc="-45" dirty="0">
                <a:latin typeface="Arial"/>
                <a:cs typeface="Arial"/>
              </a:rPr>
              <a:t>team,</a:t>
            </a:r>
            <a:r>
              <a:rPr sz="2150" spc="-75" dirty="0">
                <a:latin typeface="Arial"/>
                <a:cs typeface="Arial"/>
              </a:rPr>
              <a:t> </a:t>
            </a:r>
            <a:r>
              <a:rPr sz="2150" spc="-10" dirty="0">
                <a:latin typeface="Arial"/>
                <a:cs typeface="Arial"/>
              </a:rPr>
              <a:t>fostering collaboration</a:t>
            </a:r>
            <a:r>
              <a:rPr sz="2150" spc="-80" dirty="0">
                <a:latin typeface="Arial"/>
                <a:cs typeface="Arial"/>
              </a:rPr>
              <a:t> </a:t>
            </a:r>
            <a:r>
              <a:rPr sz="2150" spc="-40" dirty="0">
                <a:latin typeface="Arial"/>
                <a:cs typeface="Arial"/>
              </a:rPr>
              <a:t>and</a:t>
            </a:r>
            <a:r>
              <a:rPr sz="2150" spc="-75" dirty="0">
                <a:latin typeface="Arial"/>
                <a:cs typeface="Arial"/>
              </a:rPr>
              <a:t> </a:t>
            </a:r>
            <a:r>
              <a:rPr sz="2150" spc="-30" dirty="0">
                <a:latin typeface="Arial"/>
                <a:cs typeface="Arial"/>
              </a:rPr>
              <a:t>resolving</a:t>
            </a:r>
            <a:r>
              <a:rPr sz="2150" spc="-75" dirty="0">
                <a:latin typeface="Arial"/>
                <a:cs typeface="Arial"/>
              </a:rPr>
              <a:t> </a:t>
            </a:r>
            <a:r>
              <a:rPr sz="2150" spc="-10" dirty="0">
                <a:latin typeface="Arial"/>
                <a:cs typeface="Arial"/>
              </a:rPr>
              <a:t>conflicts.</a:t>
            </a:r>
            <a:endParaRPr sz="2150">
              <a:latin typeface="Arial"/>
              <a:cs typeface="Arial"/>
            </a:endParaRPr>
          </a:p>
          <a:p>
            <a:pPr marL="12700" marR="5080">
              <a:lnSpc>
                <a:spcPct val="125000"/>
              </a:lnSpc>
              <a:spcBef>
                <a:spcPts val="675"/>
              </a:spcBef>
            </a:pPr>
            <a:r>
              <a:rPr sz="2150" spc="-45" dirty="0">
                <a:latin typeface="Arial"/>
                <a:cs typeface="Arial"/>
              </a:rPr>
              <a:t>Stakeholder</a:t>
            </a:r>
            <a:r>
              <a:rPr sz="2150" spc="-60" dirty="0">
                <a:latin typeface="Arial"/>
                <a:cs typeface="Arial"/>
              </a:rPr>
              <a:t> </a:t>
            </a:r>
            <a:r>
              <a:rPr sz="2150" spc="-25" dirty="0">
                <a:latin typeface="Arial"/>
                <a:cs typeface="Arial"/>
              </a:rPr>
              <a:t>Communication:</a:t>
            </a:r>
            <a:r>
              <a:rPr sz="2150" spc="-55" dirty="0">
                <a:latin typeface="Arial"/>
                <a:cs typeface="Arial"/>
              </a:rPr>
              <a:t> </a:t>
            </a:r>
            <a:r>
              <a:rPr sz="2150" spc="-70" dirty="0">
                <a:latin typeface="Arial"/>
                <a:cs typeface="Arial"/>
              </a:rPr>
              <a:t>Serve</a:t>
            </a:r>
            <a:r>
              <a:rPr sz="2150" spc="-50" dirty="0">
                <a:latin typeface="Arial"/>
                <a:cs typeface="Arial"/>
              </a:rPr>
              <a:t> </a:t>
            </a:r>
            <a:r>
              <a:rPr sz="2150" spc="-145" dirty="0">
                <a:latin typeface="Arial"/>
                <a:cs typeface="Arial"/>
              </a:rPr>
              <a:t>as</a:t>
            </a:r>
            <a:r>
              <a:rPr sz="2150" spc="-60" dirty="0">
                <a:latin typeface="Arial"/>
                <a:cs typeface="Arial"/>
              </a:rPr>
              <a:t> </a:t>
            </a:r>
            <a:r>
              <a:rPr sz="2150" dirty="0">
                <a:latin typeface="Arial"/>
                <a:cs typeface="Arial"/>
              </a:rPr>
              <a:t>the</a:t>
            </a:r>
            <a:r>
              <a:rPr sz="2150" spc="-55" dirty="0">
                <a:latin typeface="Arial"/>
                <a:cs typeface="Arial"/>
              </a:rPr>
              <a:t> </a:t>
            </a:r>
            <a:r>
              <a:rPr sz="2150" dirty="0">
                <a:latin typeface="Arial"/>
                <a:cs typeface="Arial"/>
              </a:rPr>
              <a:t>primary</a:t>
            </a:r>
            <a:r>
              <a:rPr sz="2150" spc="-55" dirty="0">
                <a:latin typeface="Arial"/>
                <a:cs typeface="Arial"/>
              </a:rPr>
              <a:t> </a:t>
            </a:r>
            <a:r>
              <a:rPr sz="2150" dirty="0">
                <a:latin typeface="Arial"/>
                <a:cs typeface="Arial"/>
              </a:rPr>
              <a:t>point</a:t>
            </a:r>
            <a:r>
              <a:rPr sz="2150" spc="-55" dirty="0">
                <a:latin typeface="Arial"/>
                <a:cs typeface="Arial"/>
              </a:rPr>
              <a:t> </a:t>
            </a:r>
            <a:r>
              <a:rPr sz="2150" dirty="0">
                <a:latin typeface="Arial"/>
                <a:cs typeface="Arial"/>
              </a:rPr>
              <a:t>of</a:t>
            </a:r>
            <a:r>
              <a:rPr sz="2150" spc="-55" dirty="0">
                <a:latin typeface="Arial"/>
                <a:cs typeface="Arial"/>
              </a:rPr>
              <a:t> </a:t>
            </a:r>
            <a:r>
              <a:rPr sz="2150" dirty="0">
                <a:latin typeface="Arial"/>
                <a:cs typeface="Arial"/>
              </a:rPr>
              <a:t>contact</a:t>
            </a:r>
            <a:r>
              <a:rPr sz="2150" spc="-55" dirty="0">
                <a:latin typeface="Arial"/>
                <a:cs typeface="Arial"/>
              </a:rPr>
              <a:t> </a:t>
            </a:r>
            <a:r>
              <a:rPr sz="2150" spc="-10" dirty="0">
                <a:latin typeface="Arial"/>
                <a:cs typeface="Arial"/>
              </a:rPr>
              <a:t>between </a:t>
            </a:r>
            <a:r>
              <a:rPr sz="2150" spc="-40" dirty="0">
                <a:latin typeface="Arial"/>
                <a:cs typeface="Arial"/>
              </a:rPr>
              <a:t>stakeholders</a:t>
            </a:r>
            <a:r>
              <a:rPr sz="2150" spc="-85" dirty="0">
                <a:latin typeface="Arial"/>
                <a:cs typeface="Arial"/>
              </a:rPr>
              <a:t> </a:t>
            </a:r>
            <a:r>
              <a:rPr sz="2150" spc="-40" dirty="0">
                <a:latin typeface="Arial"/>
                <a:cs typeface="Arial"/>
              </a:rPr>
              <a:t>and</a:t>
            </a:r>
            <a:r>
              <a:rPr sz="2150" spc="-85" dirty="0">
                <a:latin typeface="Arial"/>
                <a:cs typeface="Arial"/>
              </a:rPr>
              <a:t> </a:t>
            </a:r>
            <a:r>
              <a:rPr sz="2150" dirty="0">
                <a:latin typeface="Arial"/>
                <a:cs typeface="Arial"/>
              </a:rPr>
              <a:t>the</a:t>
            </a:r>
            <a:r>
              <a:rPr sz="2150" spc="-85" dirty="0">
                <a:latin typeface="Arial"/>
                <a:cs typeface="Arial"/>
              </a:rPr>
              <a:t> </a:t>
            </a:r>
            <a:r>
              <a:rPr sz="2150" dirty="0">
                <a:latin typeface="Arial"/>
                <a:cs typeface="Arial"/>
              </a:rPr>
              <a:t>project</a:t>
            </a:r>
            <a:r>
              <a:rPr sz="2150" spc="-85" dirty="0">
                <a:latin typeface="Arial"/>
                <a:cs typeface="Arial"/>
              </a:rPr>
              <a:t> </a:t>
            </a:r>
            <a:r>
              <a:rPr sz="2150" spc="-45" dirty="0">
                <a:latin typeface="Arial"/>
                <a:cs typeface="Arial"/>
              </a:rPr>
              <a:t>team,</a:t>
            </a:r>
            <a:r>
              <a:rPr sz="2150" spc="-85" dirty="0">
                <a:latin typeface="Arial"/>
                <a:cs typeface="Arial"/>
              </a:rPr>
              <a:t> </a:t>
            </a:r>
            <a:r>
              <a:rPr sz="2150" spc="-50" dirty="0">
                <a:latin typeface="Arial"/>
                <a:cs typeface="Arial"/>
              </a:rPr>
              <a:t>ensuring</a:t>
            </a:r>
            <a:r>
              <a:rPr sz="2150" spc="-85" dirty="0">
                <a:latin typeface="Arial"/>
                <a:cs typeface="Arial"/>
              </a:rPr>
              <a:t> </a:t>
            </a:r>
            <a:r>
              <a:rPr sz="2150" spc="-20" dirty="0">
                <a:latin typeface="Arial"/>
                <a:cs typeface="Arial"/>
              </a:rPr>
              <a:t>clear</a:t>
            </a:r>
            <a:r>
              <a:rPr sz="2150" spc="-85" dirty="0">
                <a:latin typeface="Arial"/>
                <a:cs typeface="Arial"/>
              </a:rPr>
              <a:t> </a:t>
            </a:r>
            <a:r>
              <a:rPr sz="2150" spc="-40" dirty="0">
                <a:latin typeface="Arial"/>
                <a:cs typeface="Arial"/>
              </a:rPr>
              <a:t>and</a:t>
            </a:r>
            <a:r>
              <a:rPr sz="2150" spc="-85" dirty="0">
                <a:latin typeface="Arial"/>
                <a:cs typeface="Arial"/>
              </a:rPr>
              <a:t> </a:t>
            </a:r>
            <a:r>
              <a:rPr sz="2150" spc="-30" dirty="0">
                <a:latin typeface="Arial"/>
                <a:cs typeface="Arial"/>
              </a:rPr>
              <a:t>consistent</a:t>
            </a:r>
            <a:r>
              <a:rPr sz="2150" spc="-85" dirty="0">
                <a:latin typeface="Arial"/>
                <a:cs typeface="Arial"/>
              </a:rPr>
              <a:t> </a:t>
            </a:r>
            <a:r>
              <a:rPr sz="2150" spc="-10" dirty="0">
                <a:latin typeface="Arial"/>
                <a:cs typeface="Arial"/>
              </a:rPr>
              <a:t>communication.</a:t>
            </a:r>
            <a:endParaRPr sz="2150">
              <a:latin typeface="Arial"/>
              <a:cs typeface="Arial"/>
            </a:endParaRPr>
          </a:p>
          <a:p>
            <a:pPr marL="12700" marR="770890">
              <a:lnSpc>
                <a:spcPct val="125000"/>
              </a:lnSpc>
              <a:spcBef>
                <a:spcPts val="600"/>
              </a:spcBef>
            </a:pPr>
            <a:r>
              <a:rPr sz="2150" spc="-120" dirty="0">
                <a:latin typeface="Arial"/>
                <a:cs typeface="Arial"/>
              </a:rPr>
              <a:t>Risk</a:t>
            </a:r>
            <a:r>
              <a:rPr sz="2150" spc="-65" dirty="0">
                <a:latin typeface="Arial"/>
                <a:cs typeface="Arial"/>
              </a:rPr>
              <a:t> </a:t>
            </a:r>
            <a:r>
              <a:rPr sz="2150" spc="-50" dirty="0">
                <a:latin typeface="Arial"/>
                <a:cs typeface="Arial"/>
              </a:rPr>
              <a:t>Management:</a:t>
            </a:r>
            <a:r>
              <a:rPr sz="2150" spc="-65" dirty="0">
                <a:latin typeface="Arial"/>
                <a:cs typeface="Arial"/>
              </a:rPr>
              <a:t> </a:t>
            </a:r>
            <a:r>
              <a:rPr sz="2150" dirty="0">
                <a:latin typeface="Arial"/>
                <a:cs typeface="Arial"/>
              </a:rPr>
              <a:t>Identify</a:t>
            </a:r>
            <a:r>
              <a:rPr sz="2150" spc="-60" dirty="0">
                <a:latin typeface="Arial"/>
                <a:cs typeface="Arial"/>
              </a:rPr>
              <a:t> </a:t>
            </a:r>
            <a:r>
              <a:rPr sz="2150" spc="-10" dirty="0">
                <a:latin typeface="Arial"/>
                <a:cs typeface="Arial"/>
              </a:rPr>
              <a:t>potential</a:t>
            </a:r>
            <a:r>
              <a:rPr sz="2150" spc="-65" dirty="0">
                <a:latin typeface="Arial"/>
                <a:cs typeface="Arial"/>
              </a:rPr>
              <a:t> risks,</a:t>
            </a:r>
            <a:r>
              <a:rPr sz="2150" spc="-60" dirty="0">
                <a:latin typeface="Arial"/>
                <a:cs typeface="Arial"/>
              </a:rPr>
              <a:t> </a:t>
            </a:r>
            <a:r>
              <a:rPr sz="2150" spc="-130" dirty="0">
                <a:latin typeface="Arial"/>
                <a:cs typeface="Arial"/>
              </a:rPr>
              <a:t>assess</a:t>
            </a:r>
            <a:r>
              <a:rPr sz="2150" spc="-65" dirty="0">
                <a:latin typeface="Arial"/>
                <a:cs typeface="Arial"/>
              </a:rPr>
              <a:t> </a:t>
            </a:r>
            <a:r>
              <a:rPr sz="2150" dirty="0">
                <a:latin typeface="Arial"/>
                <a:cs typeface="Arial"/>
              </a:rPr>
              <a:t>their</a:t>
            </a:r>
            <a:r>
              <a:rPr sz="2150" spc="-60" dirty="0">
                <a:latin typeface="Arial"/>
                <a:cs typeface="Arial"/>
              </a:rPr>
              <a:t> </a:t>
            </a:r>
            <a:r>
              <a:rPr sz="2150" dirty="0">
                <a:latin typeface="Arial"/>
                <a:cs typeface="Arial"/>
              </a:rPr>
              <a:t>impact,</a:t>
            </a:r>
            <a:r>
              <a:rPr sz="2150" spc="-65" dirty="0">
                <a:latin typeface="Arial"/>
                <a:cs typeface="Arial"/>
              </a:rPr>
              <a:t> </a:t>
            </a:r>
            <a:r>
              <a:rPr sz="2150" spc="-40" dirty="0">
                <a:latin typeface="Arial"/>
                <a:cs typeface="Arial"/>
              </a:rPr>
              <a:t>and</a:t>
            </a:r>
            <a:r>
              <a:rPr sz="2150" spc="-60" dirty="0">
                <a:latin typeface="Arial"/>
                <a:cs typeface="Arial"/>
              </a:rPr>
              <a:t> </a:t>
            </a:r>
            <a:r>
              <a:rPr sz="2150" spc="-10" dirty="0">
                <a:latin typeface="Arial"/>
                <a:cs typeface="Arial"/>
              </a:rPr>
              <a:t>develop mitigation</a:t>
            </a:r>
            <a:r>
              <a:rPr sz="2150" spc="-70" dirty="0">
                <a:latin typeface="Arial"/>
                <a:cs typeface="Arial"/>
              </a:rPr>
              <a:t> </a:t>
            </a:r>
            <a:r>
              <a:rPr sz="2150" spc="-10" dirty="0">
                <a:latin typeface="Arial"/>
                <a:cs typeface="Arial"/>
              </a:rPr>
              <a:t>strategies.</a:t>
            </a:r>
            <a:endParaRPr sz="2150">
              <a:latin typeface="Arial"/>
              <a:cs typeface="Arial"/>
            </a:endParaRPr>
          </a:p>
        </p:txBody>
      </p:sp>
      <p:pic>
        <p:nvPicPr>
          <p:cNvPr id="5" name="object 5"/>
          <p:cNvPicPr/>
          <p:nvPr/>
        </p:nvPicPr>
        <p:blipFill>
          <a:blip r:embed="rId2" cstate="print"/>
          <a:stretch>
            <a:fillRect/>
          </a:stretch>
        </p:blipFill>
        <p:spPr>
          <a:xfrm>
            <a:off x="1038222" y="2990844"/>
            <a:ext cx="104773" cy="104773"/>
          </a:xfrm>
          <a:prstGeom prst="rect">
            <a:avLst/>
          </a:prstGeom>
        </p:spPr>
      </p:pic>
      <p:pic>
        <p:nvPicPr>
          <p:cNvPr id="6" name="object 6"/>
          <p:cNvPicPr/>
          <p:nvPr/>
        </p:nvPicPr>
        <p:blipFill>
          <a:blip r:embed="rId3" cstate="print"/>
          <a:stretch>
            <a:fillRect/>
          </a:stretch>
        </p:blipFill>
        <p:spPr>
          <a:xfrm>
            <a:off x="1038222" y="3895718"/>
            <a:ext cx="104773" cy="104773"/>
          </a:xfrm>
          <a:prstGeom prst="rect">
            <a:avLst/>
          </a:prstGeom>
        </p:spPr>
      </p:pic>
      <p:pic>
        <p:nvPicPr>
          <p:cNvPr id="7" name="object 7"/>
          <p:cNvPicPr/>
          <p:nvPr/>
        </p:nvPicPr>
        <p:blipFill>
          <a:blip r:embed="rId3" cstate="print"/>
          <a:stretch>
            <a:fillRect/>
          </a:stretch>
        </p:blipFill>
        <p:spPr>
          <a:xfrm>
            <a:off x="1038222" y="4791066"/>
            <a:ext cx="104773" cy="104773"/>
          </a:xfrm>
          <a:prstGeom prst="rect">
            <a:avLst/>
          </a:prstGeom>
        </p:spPr>
      </p:pic>
      <p:sp>
        <p:nvSpPr>
          <p:cNvPr id="8" name="object 8"/>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985"/>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8222" y="2276470"/>
            <a:ext cx="104773" cy="104772"/>
          </a:xfrm>
          <a:prstGeom prst="rect">
            <a:avLst/>
          </a:prstGeom>
        </p:spPr>
      </p:pic>
      <p:sp>
        <p:nvSpPr>
          <p:cNvPr id="3" name="object 3"/>
          <p:cNvSpPr txBox="1">
            <a:spLocks noGrp="1"/>
          </p:cNvSpPr>
          <p:nvPr>
            <p:ph type="title"/>
          </p:nvPr>
        </p:nvSpPr>
        <p:spPr>
          <a:xfrm>
            <a:off x="1287463" y="1946808"/>
            <a:ext cx="9126855" cy="863600"/>
          </a:xfrm>
          <a:prstGeom prst="rect">
            <a:avLst/>
          </a:prstGeom>
        </p:spPr>
        <p:txBody>
          <a:bodyPr vert="horz" wrap="square" lIns="0" tIns="12700" rIns="0" bIns="0" rtlCol="0">
            <a:spAutoFit/>
          </a:bodyPr>
          <a:lstStyle/>
          <a:p>
            <a:pPr marL="12700" marR="5080">
              <a:lnSpc>
                <a:spcPct val="127899"/>
              </a:lnSpc>
              <a:spcBef>
                <a:spcPts val="100"/>
              </a:spcBef>
            </a:pPr>
            <a:r>
              <a:rPr sz="2150" dirty="0"/>
              <a:t>Quality</a:t>
            </a:r>
            <a:r>
              <a:rPr sz="2150" spc="-120" dirty="0"/>
              <a:t> </a:t>
            </a:r>
            <a:r>
              <a:rPr sz="2150" spc="-65" dirty="0"/>
              <a:t>Assurance:</a:t>
            </a:r>
            <a:r>
              <a:rPr sz="2150" spc="-85" dirty="0"/>
              <a:t> </a:t>
            </a:r>
            <a:r>
              <a:rPr sz="2150" spc="-100" dirty="0"/>
              <a:t>Ensure</a:t>
            </a:r>
            <a:r>
              <a:rPr sz="2150" spc="-75" dirty="0"/>
              <a:t> </a:t>
            </a:r>
            <a:r>
              <a:rPr sz="2150" dirty="0"/>
              <a:t>that</a:t>
            </a:r>
            <a:r>
              <a:rPr sz="2150" spc="-90" dirty="0"/>
              <a:t> </a:t>
            </a:r>
            <a:r>
              <a:rPr sz="2150" dirty="0"/>
              <a:t>the</a:t>
            </a:r>
            <a:r>
              <a:rPr sz="2150" spc="-95" dirty="0"/>
              <a:t> </a:t>
            </a:r>
            <a:r>
              <a:rPr sz="2150" dirty="0"/>
              <a:t>software</a:t>
            </a:r>
            <a:r>
              <a:rPr sz="2150" spc="-90" dirty="0"/>
              <a:t> </a:t>
            </a:r>
            <a:r>
              <a:rPr sz="2150" spc="-30" dirty="0"/>
              <a:t>meets</a:t>
            </a:r>
            <a:r>
              <a:rPr sz="2150" spc="-95" dirty="0"/>
              <a:t> </a:t>
            </a:r>
            <a:r>
              <a:rPr sz="2150" dirty="0"/>
              <a:t>quality</a:t>
            </a:r>
            <a:r>
              <a:rPr sz="2150" spc="-90" dirty="0"/>
              <a:t> </a:t>
            </a:r>
            <a:r>
              <a:rPr sz="2150" spc="-40" dirty="0"/>
              <a:t>standards</a:t>
            </a:r>
            <a:r>
              <a:rPr sz="2150" spc="-95" dirty="0"/>
              <a:t> </a:t>
            </a:r>
            <a:r>
              <a:rPr sz="2150" spc="-40" dirty="0"/>
              <a:t>and</a:t>
            </a:r>
            <a:r>
              <a:rPr sz="2150" spc="-90" dirty="0"/>
              <a:t> </a:t>
            </a:r>
            <a:r>
              <a:rPr sz="2150" spc="-20" dirty="0"/>
              <a:t>user requirements</a:t>
            </a:r>
            <a:r>
              <a:rPr sz="2150" spc="-105" dirty="0"/>
              <a:t> </a:t>
            </a:r>
            <a:r>
              <a:rPr sz="2150" dirty="0"/>
              <a:t>through</a:t>
            </a:r>
            <a:r>
              <a:rPr sz="2150" spc="-105" dirty="0"/>
              <a:t> </a:t>
            </a:r>
            <a:r>
              <a:rPr sz="2150" spc="-35" dirty="0"/>
              <a:t>regular</a:t>
            </a:r>
            <a:r>
              <a:rPr sz="2150" spc="-100" dirty="0"/>
              <a:t> </a:t>
            </a:r>
            <a:r>
              <a:rPr sz="2150" spc="-35" dirty="0"/>
              <a:t>testing</a:t>
            </a:r>
            <a:r>
              <a:rPr sz="2150" spc="-105" dirty="0"/>
              <a:t> </a:t>
            </a:r>
            <a:r>
              <a:rPr sz="2150" spc="-40" dirty="0"/>
              <a:t>and</a:t>
            </a:r>
            <a:r>
              <a:rPr sz="2150" spc="-105" dirty="0"/>
              <a:t> </a:t>
            </a:r>
            <a:r>
              <a:rPr sz="2150" spc="-10" dirty="0"/>
              <a:t>reviews.</a:t>
            </a:r>
            <a:endParaRPr sz="2150"/>
          </a:p>
        </p:txBody>
      </p:sp>
      <p:pic>
        <p:nvPicPr>
          <p:cNvPr id="4" name="object 4"/>
          <p:cNvPicPr/>
          <p:nvPr/>
        </p:nvPicPr>
        <p:blipFill>
          <a:blip r:embed="rId2" cstate="print"/>
          <a:stretch>
            <a:fillRect/>
          </a:stretch>
        </p:blipFill>
        <p:spPr>
          <a:xfrm>
            <a:off x="1038222" y="3181344"/>
            <a:ext cx="104773" cy="104773"/>
          </a:xfrm>
          <a:prstGeom prst="rect">
            <a:avLst/>
          </a:prstGeom>
        </p:spPr>
      </p:pic>
      <p:sp>
        <p:nvSpPr>
          <p:cNvPr id="5" name="object 5"/>
          <p:cNvSpPr txBox="1"/>
          <p:nvPr/>
        </p:nvSpPr>
        <p:spPr>
          <a:xfrm>
            <a:off x="1287463" y="2870705"/>
            <a:ext cx="9283700" cy="1739900"/>
          </a:xfrm>
          <a:prstGeom prst="rect">
            <a:avLst/>
          </a:prstGeom>
        </p:spPr>
        <p:txBody>
          <a:bodyPr vert="horz" wrap="square" lIns="0" tIns="12700" rIns="0" bIns="0" rtlCol="0">
            <a:spAutoFit/>
          </a:bodyPr>
          <a:lstStyle/>
          <a:p>
            <a:pPr marL="12700" marR="167640">
              <a:lnSpc>
                <a:spcPct val="125000"/>
              </a:lnSpc>
              <a:spcBef>
                <a:spcPts val="100"/>
              </a:spcBef>
            </a:pPr>
            <a:r>
              <a:rPr sz="2150" spc="-75" dirty="0">
                <a:latin typeface="Arial"/>
                <a:cs typeface="Arial"/>
              </a:rPr>
              <a:t>Budget</a:t>
            </a:r>
            <a:r>
              <a:rPr sz="2150" spc="-40" dirty="0">
                <a:latin typeface="Arial"/>
                <a:cs typeface="Arial"/>
              </a:rPr>
              <a:t> </a:t>
            </a:r>
            <a:r>
              <a:rPr sz="2150" spc="-50" dirty="0">
                <a:latin typeface="Arial"/>
                <a:cs typeface="Arial"/>
              </a:rPr>
              <a:t>Management:</a:t>
            </a:r>
            <a:r>
              <a:rPr sz="2150" spc="-45" dirty="0">
                <a:latin typeface="Arial"/>
                <a:cs typeface="Arial"/>
              </a:rPr>
              <a:t> </a:t>
            </a:r>
            <a:r>
              <a:rPr sz="2150" dirty="0">
                <a:latin typeface="Arial"/>
                <a:cs typeface="Arial"/>
              </a:rPr>
              <a:t>Monitor</a:t>
            </a:r>
            <a:r>
              <a:rPr sz="2150" spc="-40" dirty="0">
                <a:latin typeface="Arial"/>
                <a:cs typeface="Arial"/>
              </a:rPr>
              <a:t> </a:t>
            </a:r>
            <a:r>
              <a:rPr sz="2150" dirty="0">
                <a:latin typeface="Arial"/>
                <a:cs typeface="Arial"/>
              </a:rPr>
              <a:t>project</a:t>
            </a:r>
            <a:r>
              <a:rPr sz="2150" spc="-40" dirty="0">
                <a:latin typeface="Arial"/>
                <a:cs typeface="Arial"/>
              </a:rPr>
              <a:t> </a:t>
            </a:r>
            <a:r>
              <a:rPr sz="2150" spc="-65" dirty="0">
                <a:latin typeface="Arial"/>
                <a:cs typeface="Arial"/>
              </a:rPr>
              <a:t>expenses,</a:t>
            </a:r>
            <a:r>
              <a:rPr sz="2150" spc="-40" dirty="0">
                <a:latin typeface="Arial"/>
                <a:cs typeface="Arial"/>
              </a:rPr>
              <a:t> </a:t>
            </a:r>
            <a:r>
              <a:rPr sz="2150" spc="-85" dirty="0">
                <a:latin typeface="Arial"/>
                <a:cs typeface="Arial"/>
              </a:rPr>
              <a:t>manage</a:t>
            </a:r>
            <a:r>
              <a:rPr sz="2150" spc="-40" dirty="0">
                <a:latin typeface="Arial"/>
                <a:cs typeface="Arial"/>
              </a:rPr>
              <a:t> budgets,</a:t>
            </a:r>
            <a:r>
              <a:rPr sz="2150" spc="-45" dirty="0">
                <a:latin typeface="Arial"/>
                <a:cs typeface="Arial"/>
              </a:rPr>
              <a:t> </a:t>
            </a:r>
            <a:r>
              <a:rPr sz="2150" spc="-40" dirty="0">
                <a:latin typeface="Arial"/>
                <a:cs typeface="Arial"/>
              </a:rPr>
              <a:t>and </a:t>
            </a:r>
            <a:r>
              <a:rPr sz="2150" spc="-20" dirty="0">
                <a:latin typeface="Arial"/>
                <a:cs typeface="Arial"/>
              </a:rPr>
              <a:t>ensure </a:t>
            </a:r>
            <a:r>
              <a:rPr sz="2150" spc="-25" dirty="0">
                <a:latin typeface="Arial"/>
                <a:cs typeface="Arial"/>
              </a:rPr>
              <a:t>cost-</a:t>
            </a:r>
            <a:r>
              <a:rPr sz="2150" spc="-10" dirty="0">
                <a:latin typeface="Arial"/>
                <a:cs typeface="Arial"/>
              </a:rPr>
              <a:t>effectiveness.</a:t>
            </a:r>
            <a:endParaRPr sz="2150">
              <a:latin typeface="Arial"/>
              <a:cs typeface="Arial"/>
            </a:endParaRPr>
          </a:p>
          <a:p>
            <a:pPr marL="12700" marR="5080">
              <a:lnSpc>
                <a:spcPct val="125000"/>
              </a:lnSpc>
              <a:spcBef>
                <a:spcPts val="600"/>
              </a:spcBef>
            </a:pPr>
            <a:r>
              <a:rPr sz="2150" spc="-110" dirty="0">
                <a:latin typeface="Arial"/>
                <a:cs typeface="Arial"/>
              </a:rPr>
              <a:t>Change</a:t>
            </a:r>
            <a:r>
              <a:rPr sz="2150" spc="-55" dirty="0">
                <a:latin typeface="Arial"/>
                <a:cs typeface="Arial"/>
              </a:rPr>
              <a:t> </a:t>
            </a:r>
            <a:r>
              <a:rPr sz="2150" spc="-50" dirty="0">
                <a:latin typeface="Arial"/>
                <a:cs typeface="Arial"/>
              </a:rPr>
              <a:t>Management:</a:t>
            </a:r>
            <a:r>
              <a:rPr sz="2150" spc="-55" dirty="0">
                <a:latin typeface="Arial"/>
                <a:cs typeface="Arial"/>
              </a:rPr>
              <a:t> </a:t>
            </a:r>
            <a:r>
              <a:rPr sz="2150" spc="-40" dirty="0">
                <a:latin typeface="Arial"/>
                <a:cs typeface="Arial"/>
              </a:rPr>
              <a:t>Handle</a:t>
            </a:r>
            <a:r>
              <a:rPr sz="2150" spc="-50" dirty="0">
                <a:latin typeface="Arial"/>
                <a:cs typeface="Arial"/>
              </a:rPr>
              <a:t> </a:t>
            </a:r>
            <a:r>
              <a:rPr sz="2150" spc="-90" dirty="0">
                <a:latin typeface="Arial"/>
                <a:cs typeface="Arial"/>
              </a:rPr>
              <a:t>changes</a:t>
            </a:r>
            <a:r>
              <a:rPr sz="2150" spc="-55" dirty="0">
                <a:latin typeface="Arial"/>
                <a:cs typeface="Arial"/>
              </a:rPr>
              <a:t> </a:t>
            </a:r>
            <a:r>
              <a:rPr sz="2150" dirty="0">
                <a:latin typeface="Arial"/>
                <a:cs typeface="Arial"/>
              </a:rPr>
              <a:t>in</a:t>
            </a:r>
            <a:r>
              <a:rPr sz="2150" spc="-50" dirty="0">
                <a:latin typeface="Arial"/>
                <a:cs typeface="Arial"/>
              </a:rPr>
              <a:t> </a:t>
            </a:r>
            <a:r>
              <a:rPr sz="2150" dirty="0">
                <a:latin typeface="Arial"/>
                <a:cs typeface="Arial"/>
              </a:rPr>
              <a:t>project</a:t>
            </a:r>
            <a:r>
              <a:rPr sz="2150" spc="-55" dirty="0">
                <a:latin typeface="Arial"/>
                <a:cs typeface="Arial"/>
              </a:rPr>
              <a:t> </a:t>
            </a:r>
            <a:r>
              <a:rPr sz="2150" spc="-45" dirty="0">
                <a:latin typeface="Arial"/>
                <a:cs typeface="Arial"/>
              </a:rPr>
              <a:t>scope,</a:t>
            </a:r>
            <a:r>
              <a:rPr sz="2150" spc="-50" dirty="0">
                <a:latin typeface="Arial"/>
                <a:cs typeface="Arial"/>
              </a:rPr>
              <a:t> </a:t>
            </a:r>
            <a:r>
              <a:rPr sz="2150" spc="-40" dirty="0">
                <a:latin typeface="Arial"/>
                <a:cs typeface="Arial"/>
              </a:rPr>
              <a:t>schedule,</a:t>
            </a:r>
            <a:r>
              <a:rPr sz="2150" spc="-55" dirty="0">
                <a:latin typeface="Arial"/>
                <a:cs typeface="Arial"/>
              </a:rPr>
              <a:t> </a:t>
            </a:r>
            <a:r>
              <a:rPr sz="2150" dirty="0">
                <a:latin typeface="Arial"/>
                <a:cs typeface="Arial"/>
              </a:rPr>
              <a:t>or</a:t>
            </a:r>
            <a:r>
              <a:rPr sz="2150" spc="-50" dirty="0">
                <a:latin typeface="Arial"/>
                <a:cs typeface="Arial"/>
              </a:rPr>
              <a:t> </a:t>
            </a:r>
            <a:r>
              <a:rPr sz="2150" spc="-20" dirty="0">
                <a:latin typeface="Arial"/>
                <a:cs typeface="Arial"/>
              </a:rPr>
              <a:t>resources </a:t>
            </a:r>
            <a:r>
              <a:rPr sz="2150" dirty="0">
                <a:latin typeface="Arial"/>
                <a:cs typeface="Arial"/>
              </a:rPr>
              <a:t>without</a:t>
            </a:r>
            <a:r>
              <a:rPr sz="2150" spc="-35" dirty="0">
                <a:latin typeface="Arial"/>
                <a:cs typeface="Arial"/>
              </a:rPr>
              <a:t> </a:t>
            </a:r>
            <a:r>
              <a:rPr sz="2150" spc="-10" dirty="0">
                <a:latin typeface="Arial"/>
                <a:cs typeface="Arial"/>
              </a:rPr>
              <a:t>disrupting</a:t>
            </a:r>
            <a:r>
              <a:rPr sz="2150" spc="-30" dirty="0">
                <a:latin typeface="Arial"/>
                <a:cs typeface="Arial"/>
              </a:rPr>
              <a:t> </a:t>
            </a:r>
            <a:r>
              <a:rPr sz="2150" dirty="0">
                <a:latin typeface="Arial"/>
                <a:cs typeface="Arial"/>
              </a:rPr>
              <a:t>the</a:t>
            </a:r>
            <a:r>
              <a:rPr sz="2150" spc="-30" dirty="0">
                <a:latin typeface="Arial"/>
                <a:cs typeface="Arial"/>
              </a:rPr>
              <a:t> </a:t>
            </a:r>
            <a:r>
              <a:rPr sz="2150" dirty="0">
                <a:latin typeface="Arial"/>
                <a:cs typeface="Arial"/>
              </a:rPr>
              <a:t>overall</a:t>
            </a:r>
            <a:r>
              <a:rPr sz="2150" spc="-30" dirty="0">
                <a:latin typeface="Arial"/>
                <a:cs typeface="Arial"/>
              </a:rPr>
              <a:t> </a:t>
            </a:r>
            <a:r>
              <a:rPr sz="2150" dirty="0">
                <a:latin typeface="Arial"/>
                <a:cs typeface="Arial"/>
              </a:rPr>
              <a:t>project</a:t>
            </a:r>
            <a:r>
              <a:rPr sz="2150" spc="-30" dirty="0">
                <a:latin typeface="Arial"/>
                <a:cs typeface="Arial"/>
              </a:rPr>
              <a:t> </a:t>
            </a:r>
            <a:r>
              <a:rPr sz="2150" spc="-10" dirty="0">
                <a:latin typeface="Arial"/>
                <a:cs typeface="Arial"/>
              </a:rPr>
              <a:t>flow.</a:t>
            </a:r>
            <a:endParaRPr sz="2150">
              <a:latin typeface="Arial"/>
              <a:cs typeface="Arial"/>
            </a:endParaRPr>
          </a:p>
        </p:txBody>
      </p:sp>
      <p:pic>
        <p:nvPicPr>
          <p:cNvPr id="6" name="object 6"/>
          <p:cNvPicPr/>
          <p:nvPr/>
        </p:nvPicPr>
        <p:blipFill>
          <a:blip r:embed="rId2" cstate="print"/>
          <a:stretch>
            <a:fillRect/>
          </a:stretch>
        </p:blipFill>
        <p:spPr>
          <a:xfrm>
            <a:off x="1038222" y="4076693"/>
            <a:ext cx="104773" cy="104773"/>
          </a:xfrm>
          <a:prstGeom prst="rect">
            <a:avLst/>
          </a:prstGeom>
        </p:spPr>
      </p:pic>
      <p:sp>
        <p:nvSpPr>
          <p:cNvPr id="7" name="object 7"/>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8" name="object 8"/>
          <p:cNvSpPr txBox="1"/>
          <p:nvPr/>
        </p:nvSpPr>
        <p:spPr>
          <a:xfrm>
            <a:off x="11645908" y="6329108"/>
            <a:ext cx="173990" cy="57404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777777"/>
                </a:solidFill>
                <a:latin typeface="Arial"/>
                <a:cs typeface="Arial"/>
              </a:rPr>
              <a:t>2</a:t>
            </a:r>
            <a:endParaRPr sz="1800">
              <a:latin typeface="Arial"/>
              <a:cs typeface="Arial"/>
            </a:endParaRPr>
          </a:p>
          <a:p>
            <a:pPr marL="12700">
              <a:lnSpc>
                <a:spcPct val="100000"/>
              </a:lnSpc>
            </a:pPr>
            <a:r>
              <a:rPr sz="1800" spc="110" dirty="0">
                <a:solidFill>
                  <a:srgbClr val="777777"/>
                </a:solidFill>
                <a:latin typeface="Arial"/>
                <a:cs typeface="Arial"/>
              </a:rPr>
              <a:t>0</a:t>
            </a:r>
            <a:endParaRPr sz="18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106361"/>
            <a:ext cx="2366010" cy="391160"/>
          </a:xfrm>
          <a:prstGeom prst="rect">
            <a:avLst/>
          </a:prstGeom>
        </p:spPr>
        <p:txBody>
          <a:bodyPr vert="horz" wrap="square" lIns="0" tIns="12700" rIns="0" bIns="0" rtlCol="0">
            <a:spAutoFit/>
          </a:bodyPr>
          <a:lstStyle/>
          <a:p>
            <a:pPr marL="12700">
              <a:lnSpc>
                <a:spcPct val="100000"/>
              </a:lnSpc>
              <a:spcBef>
                <a:spcPts val="100"/>
              </a:spcBef>
            </a:pPr>
            <a:r>
              <a:rPr spc="-110" dirty="0"/>
              <a:t>3.2</a:t>
            </a:r>
            <a:r>
              <a:rPr spc="-30" dirty="0"/>
              <a:t> </a:t>
            </a:r>
            <a:r>
              <a:rPr spc="-95" dirty="0"/>
              <a:t>Essential</a:t>
            </a:r>
            <a:r>
              <a:rPr spc="-30" dirty="0"/>
              <a:t> </a:t>
            </a:r>
            <a:r>
              <a:rPr spc="-60" dirty="0"/>
              <a:t>Skills</a:t>
            </a:r>
          </a:p>
        </p:txBody>
      </p:sp>
      <p:pic>
        <p:nvPicPr>
          <p:cNvPr id="3" name="object 3"/>
          <p:cNvPicPr/>
          <p:nvPr/>
        </p:nvPicPr>
        <p:blipFill>
          <a:blip r:embed="rId2" cstate="print"/>
          <a:stretch>
            <a:fillRect/>
          </a:stretch>
        </p:blipFill>
        <p:spPr>
          <a:xfrm>
            <a:off x="1038222" y="1819272"/>
            <a:ext cx="104773" cy="104773"/>
          </a:xfrm>
          <a:prstGeom prst="rect">
            <a:avLst/>
          </a:prstGeom>
        </p:spPr>
      </p:pic>
      <p:sp>
        <p:nvSpPr>
          <p:cNvPr id="4" name="object 4"/>
          <p:cNvSpPr txBox="1"/>
          <p:nvPr/>
        </p:nvSpPr>
        <p:spPr>
          <a:xfrm>
            <a:off x="1287463" y="1470559"/>
            <a:ext cx="9480550" cy="4193540"/>
          </a:xfrm>
          <a:prstGeom prst="rect">
            <a:avLst/>
          </a:prstGeom>
        </p:spPr>
        <p:txBody>
          <a:bodyPr vert="horz" wrap="square" lIns="0" tIns="12700" rIns="0" bIns="0" rtlCol="0">
            <a:spAutoFit/>
          </a:bodyPr>
          <a:lstStyle/>
          <a:p>
            <a:pPr marL="12700" marR="5080">
              <a:lnSpc>
                <a:spcPct val="127899"/>
              </a:lnSpc>
              <a:spcBef>
                <a:spcPts val="100"/>
              </a:spcBef>
            </a:pPr>
            <a:r>
              <a:rPr sz="2150" spc="-50" dirty="0">
                <a:latin typeface="Arial"/>
                <a:cs typeface="Arial"/>
              </a:rPr>
              <a:t>Technical</a:t>
            </a:r>
            <a:r>
              <a:rPr sz="2150" spc="-65" dirty="0">
                <a:latin typeface="Arial"/>
                <a:cs typeface="Arial"/>
              </a:rPr>
              <a:t> </a:t>
            </a:r>
            <a:r>
              <a:rPr sz="2150" spc="-35" dirty="0">
                <a:latin typeface="Arial"/>
                <a:cs typeface="Arial"/>
              </a:rPr>
              <a:t>Knowledge:</a:t>
            </a:r>
            <a:r>
              <a:rPr sz="2150" spc="-60" dirty="0">
                <a:latin typeface="Arial"/>
                <a:cs typeface="Arial"/>
              </a:rPr>
              <a:t> </a:t>
            </a:r>
            <a:r>
              <a:rPr sz="2150" spc="-35" dirty="0">
                <a:latin typeface="Arial"/>
                <a:cs typeface="Arial"/>
              </a:rPr>
              <a:t>Understanding</a:t>
            </a:r>
            <a:r>
              <a:rPr sz="2150" spc="-60" dirty="0">
                <a:latin typeface="Arial"/>
                <a:cs typeface="Arial"/>
              </a:rPr>
              <a:t> </a:t>
            </a:r>
            <a:r>
              <a:rPr sz="2150" dirty="0">
                <a:latin typeface="Arial"/>
                <a:cs typeface="Arial"/>
              </a:rPr>
              <a:t>of</a:t>
            </a:r>
            <a:r>
              <a:rPr sz="2150" spc="-60" dirty="0">
                <a:latin typeface="Arial"/>
                <a:cs typeface="Arial"/>
              </a:rPr>
              <a:t> </a:t>
            </a:r>
            <a:r>
              <a:rPr sz="2150" dirty="0">
                <a:latin typeface="Arial"/>
                <a:cs typeface="Arial"/>
              </a:rPr>
              <a:t>software</a:t>
            </a:r>
            <a:r>
              <a:rPr sz="2150" spc="-65" dirty="0">
                <a:latin typeface="Arial"/>
                <a:cs typeface="Arial"/>
              </a:rPr>
              <a:t> </a:t>
            </a:r>
            <a:r>
              <a:rPr sz="2150" dirty="0">
                <a:latin typeface="Arial"/>
                <a:cs typeface="Arial"/>
              </a:rPr>
              <a:t>development</a:t>
            </a:r>
            <a:r>
              <a:rPr sz="2150" spc="-60" dirty="0">
                <a:latin typeface="Arial"/>
                <a:cs typeface="Arial"/>
              </a:rPr>
              <a:t> </a:t>
            </a:r>
            <a:r>
              <a:rPr sz="2150" spc="-65" dirty="0">
                <a:latin typeface="Arial"/>
                <a:cs typeface="Arial"/>
              </a:rPr>
              <a:t>processes,</a:t>
            </a:r>
            <a:r>
              <a:rPr sz="2150" spc="-60" dirty="0">
                <a:latin typeface="Arial"/>
                <a:cs typeface="Arial"/>
              </a:rPr>
              <a:t> </a:t>
            </a:r>
            <a:r>
              <a:rPr sz="2150" spc="-10" dirty="0">
                <a:latin typeface="Arial"/>
                <a:cs typeface="Arial"/>
              </a:rPr>
              <a:t>tools, </a:t>
            </a:r>
            <a:r>
              <a:rPr sz="2150" spc="-40" dirty="0">
                <a:latin typeface="Arial"/>
                <a:cs typeface="Arial"/>
              </a:rPr>
              <a:t>and</a:t>
            </a:r>
            <a:r>
              <a:rPr sz="2150" spc="-100" dirty="0">
                <a:latin typeface="Arial"/>
                <a:cs typeface="Arial"/>
              </a:rPr>
              <a:t> </a:t>
            </a:r>
            <a:r>
              <a:rPr sz="2150" spc="-10" dirty="0">
                <a:latin typeface="Arial"/>
                <a:cs typeface="Arial"/>
              </a:rPr>
              <a:t>technologies.</a:t>
            </a:r>
            <a:endParaRPr sz="2150">
              <a:latin typeface="Arial"/>
              <a:cs typeface="Arial"/>
            </a:endParaRPr>
          </a:p>
          <a:p>
            <a:pPr marL="12700" marR="167640">
              <a:lnSpc>
                <a:spcPct val="124100"/>
              </a:lnSpc>
              <a:spcBef>
                <a:spcPts val="1265"/>
              </a:spcBef>
            </a:pPr>
            <a:r>
              <a:rPr sz="2150" spc="-50" dirty="0">
                <a:latin typeface="Arial"/>
                <a:cs typeface="Arial"/>
              </a:rPr>
              <a:t>Leadership:</a:t>
            </a:r>
            <a:r>
              <a:rPr sz="2150" spc="-60" dirty="0">
                <a:latin typeface="Arial"/>
                <a:cs typeface="Arial"/>
              </a:rPr>
              <a:t> </a:t>
            </a:r>
            <a:r>
              <a:rPr sz="2150" dirty="0">
                <a:latin typeface="Arial"/>
                <a:cs typeface="Arial"/>
              </a:rPr>
              <a:t>Ability</a:t>
            </a:r>
            <a:r>
              <a:rPr sz="2150" spc="-60" dirty="0">
                <a:latin typeface="Arial"/>
                <a:cs typeface="Arial"/>
              </a:rPr>
              <a:t> </a:t>
            </a:r>
            <a:r>
              <a:rPr sz="2150" dirty="0">
                <a:latin typeface="Arial"/>
                <a:cs typeface="Arial"/>
              </a:rPr>
              <a:t>to</a:t>
            </a:r>
            <a:r>
              <a:rPr sz="2150" spc="-55" dirty="0">
                <a:latin typeface="Arial"/>
                <a:cs typeface="Arial"/>
              </a:rPr>
              <a:t> </a:t>
            </a:r>
            <a:r>
              <a:rPr sz="2150" spc="-25" dirty="0">
                <a:latin typeface="Arial"/>
                <a:cs typeface="Arial"/>
              </a:rPr>
              <a:t>inspire</a:t>
            </a:r>
            <a:r>
              <a:rPr sz="2150" spc="-60" dirty="0">
                <a:latin typeface="Arial"/>
                <a:cs typeface="Arial"/>
              </a:rPr>
              <a:t> </a:t>
            </a:r>
            <a:r>
              <a:rPr sz="2150" spc="-40" dirty="0">
                <a:latin typeface="Arial"/>
                <a:cs typeface="Arial"/>
              </a:rPr>
              <a:t>and</a:t>
            </a:r>
            <a:r>
              <a:rPr sz="2150" spc="-60" dirty="0">
                <a:latin typeface="Arial"/>
                <a:cs typeface="Arial"/>
              </a:rPr>
              <a:t> </a:t>
            </a:r>
            <a:r>
              <a:rPr sz="2150" spc="-35" dirty="0">
                <a:latin typeface="Arial"/>
                <a:cs typeface="Arial"/>
              </a:rPr>
              <a:t>guide</a:t>
            </a:r>
            <a:r>
              <a:rPr sz="2150" spc="-55" dirty="0">
                <a:latin typeface="Arial"/>
                <a:cs typeface="Arial"/>
              </a:rPr>
              <a:t> </a:t>
            </a:r>
            <a:r>
              <a:rPr sz="2150" spc="-140" dirty="0">
                <a:latin typeface="Arial"/>
                <a:cs typeface="Arial"/>
              </a:rPr>
              <a:t>a</a:t>
            </a:r>
            <a:r>
              <a:rPr sz="2150" spc="-60" dirty="0">
                <a:latin typeface="Arial"/>
                <a:cs typeface="Arial"/>
              </a:rPr>
              <a:t> </a:t>
            </a:r>
            <a:r>
              <a:rPr sz="2150" spc="-10" dirty="0">
                <a:latin typeface="Arial"/>
                <a:cs typeface="Arial"/>
              </a:rPr>
              <a:t>team</a:t>
            </a:r>
            <a:r>
              <a:rPr sz="2150" spc="-55" dirty="0">
                <a:latin typeface="Arial"/>
                <a:cs typeface="Arial"/>
              </a:rPr>
              <a:t> </a:t>
            </a:r>
            <a:r>
              <a:rPr sz="2150" dirty="0">
                <a:latin typeface="Arial"/>
                <a:cs typeface="Arial"/>
              </a:rPr>
              <a:t>towards</a:t>
            </a:r>
            <a:r>
              <a:rPr sz="2150" spc="-60" dirty="0">
                <a:latin typeface="Arial"/>
                <a:cs typeface="Arial"/>
              </a:rPr>
              <a:t> </a:t>
            </a:r>
            <a:r>
              <a:rPr sz="2150" spc="-40" dirty="0">
                <a:latin typeface="Arial"/>
                <a:cs typeface="Arial"/>
              </a:rPr>
              <a:t>achieving</a:t>
            </a:r>
            <a:r>
              <a:rPr sz="2150" spc="-60" dirty="0">
                <a:latin typeface="Arial"/>
                <a:cs typeface="Arial"/>
              </a:rPr>
              <a:t> </a:t>
            </a:r>
            <a:r>
              <a:rPr sz="2150" dirty="0">
                <a:latin typeface="Arial"/>
                <a:cs typeface="Arial"/>
              </a:rPr>
              <a:t>project</a:t>
            </a:r>
            <a:r>
              <a:rPr sz="2150" spc="-55" dirty="0">
                <a:latin typeface="Arial"/>
                <a:cs typeface="Arial"/>
              </a:rPr>
              <a:t> </a:t>
            </a:r>
            <a:r>
              <a:rPr sz="2150" spc="-30" dirty="0">
                <a:latin typeface="Arial"/>
                <a:cs typeface="Arial"/>
              </a:rPr>
              <a:t>goals. </a:t>
            </a:r>
            <a:r>
              <a:rPr sz="2150" spc="-25" dirty="0">
                <a:latin typeface="Arial"/>
                <a:cs typeface="Arial"/>
              </a:rPr>
              <a:t>Communication:</a:t>
            </a:r>
            <a:r>
              <a:rPr sz="2150" spc="-80" dirty="0">
                <a:latin typeface="Arial"/>
                <a:cs typeface="Arial"/>
              </a:rPr>
              <a:t> </a:t>
            </a:r>
            <a:r>
              <a:rPr sz="2150" spc="-65" dirty="0">
                <a:latin typeface="Arial"/>
                <a:cs typeface="Arial"/>
              </a:rPr>
              <a:t>Clear</a:t>
            </a:r>
            <a:r>
              <a:rPr sz="2150" spc="-75" dirty="0">
                <a:latin typeface="Arial"/>
                <a:cs typeface="Arial"/>
              </a:rPr>
              <a:t> </a:t>
            </a:r>
            <a:r>
              <a:rPr sz="2150" spc="-40" dirty="0">
                <a:latin typeface="Arial"/>
                <a:cs typeface="Arial"/>
              </a:rPr>
              <a:t>and</a:t>
            </a:r>
            <a:r>
              <a:rPr sz="2150" spc="-75" dirty="0">
                <a:latin typeface="Arial"/>
                <a:cs typeface="Arial"/>
              </a:rPr>
              <a:t> </a:t>
            </a:r>
            <a:r>
              <a:rPr sz="2150" spc="-10" dirty="0">
                <a:latin typeface="Arial"/>
                <a:cs typeface="Arial"/>
              </a:rPr>
              <a:t>effective</a:t>
            </a:r>
            <a:r>
              <a:rPr sz="2150" spc="-75" dirty="0">
                <a:latin typeface="Arial"/>
                <a:cs typeface="Arial"/>
              </a:rPr>
              <a:t> </a:t>
            </a:r>
            <a:r>
              <a:rPr sz="2150" dirty="0">
                <a:latin typeface="Arial"/>
                <a:cs typeface="Arial"/>
              </a:rPr>
              <a:t>communication</a:t>
            </a:r>
            <a:r>
              <a:rPr sz="2150" spc="-75" dirty="0">
                <a:latin typeface="Arial"/>
                <a:cs typeface="Arial"/>
              </a:rPr>
              <a:t> </a:t>
            </a:r>
            <a:r>
              <a:rPr sz="2150" spc="65" dirty="0">
                <a:latin typeface="Arial"/>
                <a:cs typeface="Arial"/>
              </a:rPr>
              <a:t>with</a:t>
            </a:r>
            <a:r>
              <a:rPr sz="2150" spc="-80" dirty="0">
                <a:latin typeface="Arial"/>
                <a:cs typeface="Arial"/>
              </a:rPr>
              <a:t> </a:t>
            </a:r>
            <a:r>
              <a:rPr sz="2150" spc="-10" dirty="0">
                <a:latin typeface="Arial"/>
                <a:cs typeface="Arial"/>
              </a:rPr>
              <a:t>team</a:t>
            </a:r>
            <a:r>
              <a:rPr sz="2150" spc="-75" dirty="0">
                <a:latin typeface="Arial"/>
                <a:cs typeface="Arial"/>
              </a:rPr>
              <a:t> </a:t>
            </a:r>
            <a:r>
              <a:rPr sz="2150" spc="-10" dirty="0">
                <a:latin typeface="Arial"/>
                <a:cs typeface="Arial"/>
              </a:rPr>
              <a:t>members, </a:t>
            </a:r>
            <a:r>
              <a:rPr sz="2150" spc="-50" dirty="0">
                <a:latin typeface="Arial"/>
                <a:cs typeface="Arial"/>
              </a:rPr>
              <a:t>stakeholders,</a:t>
            </a:r>
            <a:r>
              <a:rPr sz="2150" spc="-85" dirty="0">
                <a:latin typeface="Arial"/>
                <a:cs typeface="Arial"/>
              </a:rPr>
              <a:t> </a:t>
            </a:r>
            <a:r>
              <a:rPr sz="2150" spc="-40" dirty="0">
                <a:latin typeface="Arial"/>
                <a:cs typeface="Arial"/>
              </a:rPr>
              <a:t>and</a:t>
            </a:r>
            <a:r>
              <a:rPr sz="2150" spc="-80" dirty="0">
                <a:latin typeface="Arial"/>
                <a:cs typeface="Arial"/>
              </a:rPr>
              <a:t> </a:t>
            </a:r>
            <a:r>
              <a:rPr sz="2150" spc="-10" dirty="0">
                <a:latin typeface="Arial"/>
                <a:cs typeface="Arial"/>
              </a:rPr>
              <a:t>clients.</a:t>
            </a:r>
            <a:endParaRPr sz="2150">
              <a:latin typeface="Arial"/>
              <a:cs typeface="Arial"/>
            </a:endParaRPr>
          </a:p>
          <a:p>
            <a:pPr marL="12700" marR="646430">
              <a:lnSpc>
                <a:spcPct val="124100"/>
              </a:lnSpc>
              <a:spcBef>
                <a:spcPts val="1270"/>
              </a:spcBef>
            </a:pPr>
            <a:r>
              <a:rPr sz="2150" spc="-30" dirty="0">
                <a:latin typeface="Arial"/>
                <a:cs typeface="Arial"/>
              </a:rPr>
              <a:t>Problem-</a:t>
            </a:r>
            <a:r>
              <a:rPr sz="2150" spc="-20" dirty="0">
                <a:latin typeface="Arial"/>
                <a:cs typeface="Arial"/>
              </a:rPr>
              <a:t>Solving:</a:t>
            </a:r>
            <a:r>
              <a:rPr sz="2150" spc="-35" dirty="0">
                <a:latin typeface="Arial"/>
                <a:cs typeface="Arial"/>
              </a:rPr>
              <a:t> </a:t>
            </a:r>
            <a:r>
              <a:rPr sz="2150" dirty="0">
                <a:latin typeface="Arial"/>
                <a:cs typeface="Arial"/>
              </a:rPr>
              <a:t>Ability</a:t>
            </a:r>
            <a:r>
              <a:rPr sz="2150" spc="-30" dirty="0">
                <a:latin typeface="Arial"/>
                <a:cs typeface="Arial"/>
              </a:rPr>
              <a:t> </a:t>
            </a:r>
            <a:r>
              <a:rPr sz="2150" dirty="0">
                <a:latin typeface="Arial"/>
                <a:cs typeface="Arial"/>
              </a:rPr>
              <a:t>to</a:t>
            </a:r>
            <a:r>
              <a:rPr sz="2150" spc="-30" dirty="0">
                <a:latin typeface="Arial"/>
                <a:cs typeface="Arial"/>
              </a:rPr>
              <a:t> </a:t>
            </a:r>
            <a:r>
              <a:rPr sz="2150" dirty="0">
                <a:latin typeface="Arial"/>
                <a:cs typeface="Arial"/>
              </a:rPr>
              <a:t>identify</a:t>
            </a:r>
            <a:r>
              <a:rPr sz="2150" spc="-30" dirty="0">
                <a:latin typeface="Arial"/>
                <a:cs typeface="Arial"/>
              </a:rPr>
              <a:t> </a:t>
            </a:r>
            <a:r>
              <a:rPr sz="2150" spc="-100" dirty="0">
                <a:latin typeface="Arial"/>
                <a:cs typeface="Arial"/>
              </a:rPr>
              <a:t>issues</a:t>
            </a:r>
            <a:r>
              <a:rPr sz="2150" spc="-25" dirty="0">
                <a:latin typeface="Arial"/>
                <a:cs typeface="Arial"/>
              </a:rPr>
              <a:t> </a:t>
            </a:r>
            <a:r>
              <a:rPr sz="2150" spc="-40" dirty="0">
                <a:latin typeface="Arial"/>
                <a:cs typeface="Arial"/>
              </a:rPr>
              <a:t>and</a:t>
            </a:r>
            <a:r>
              <a:rPr sz="2150" spc="-35" dirty="0">
                <a:latin typeface="Arial"/>
                <a:cs typeface="Arial"/>
              </a:rPr>
              <a:t> </a:t>
            </a:r>
            <a:r>
              <a:rPr sz="2150" spc="-10" dirty="0">
                <a:latin typeface="Arial"/>
                <a:cs typeface="Arial"/>
              </a:rPr>
              <a:t>develop</a:t>
            </a:r>
            <a:r>
              <a:rPr sz="2150" spc="-30" dirty="0">
                <a:latin typeface="Arial"/>
                <a:cs typeface="Arial"/>
              </a:rPr>
              <a:t> </a:t>
            </a:r>
            <a:r>
              <a:rPr sz="2150" spc="-10" dirty="0">
                <a:latin typeface="Arial"/>
                <a:cs typeface="Arial"/>
              </a:rPr>
              <a:t>practical</a:t>
            </a:r>
            <a:r>
              <a:rPr sz="2150" spc="-30" dirty="0">
                <a:latin typeface="Arial"/>
                <a:cs typeface="Arial"/>
              </a:rPr>
              <a:t> </a:t>
            </a:r>
            <a:r>
              <a:rPr sz="2150" spc="-10" dirty="0">
                <a:latin typeface="Arial"/>
                <a:cs typeface="Arial"/>
              </a:rPr>
              <a:t>solutions. </a:t>
            </a:r>
            <a:r>
              <a:rPr sz="2150" spc="-45" dirty="0">
                <a:latin typeface="Arial"/>
                <a:cs typeface="Arial"/>
              </a:rPr>
              <a:t>Time</a:t>
            </a:r>
            <a:r>
              <a:rPr sz="2150" spc="-65" dirty="0">
                <a:latin typeface="Arial"/>
                <a:cs typeface="Arial"/>
              </a:rPr>
              <a:t> </a:t>
            </a:r>
            <a:r>
              <a:rPr sz="2150" spc="-50" dirty="0">
                <a:latin typeface="Arial"/>
                <a:cs typeface="Arial"/>
              </a:rPr>
              <a:t>Management:</a:t>
            </a:r>
            <a:r>
              <a:rPr sz="2150" spc="-60" dirty="0">
                <a:latin typeface="Arial"/>
                <a:cs typeface="Arial"/>
              </a:rPr>
              <a:t> </a:t>
            </a:r>
            <a:r>
              <a:rPr sz="2150" spc="-20" dirty="0">
                <a:latin typeface="Arial"/>
                <a:cs typeface="Arial"/>
              </a:rPr>
              <a:t>Efficiently</a:t>
            </a:r>
            <a:r>
              <a:rPr sz="2150" spc="-60" dirty="0">
                <a:latin typeface="Arial"/>
                <a:cs typeface="Arial"/>
              </a:rPr>
              <a:t> </a:t>
            </a:r>
            <a:r>
              <a:rPr sz="2150" spc="-65" dirty="0">
                <a:latin typeface="Arial"/>
                <a:cs typeface="Arial"/>
              </a:rPr>
              <a:t>managing</a:t>
            </a:r>
            <a:r>
              <a:rPr sz="2150" spc="-60" dirty="0">
                <a:latin typeface="Arial"/>
                <a:cs typeface="Arial"/>
              </a:rPr>
              <a:t> </a:t>
            </a:r>
            <a:r>
              <a:rPr sz="2150" dirty="0">
                <a:latin typeface="Arial"/>
                <a:cs typeface="Arial"/>
              </a:rPr>
              <a:t>time</a:t>
            </a:r>
            <a:r>
              <a:rPr sz="2150" spc="-60" dirty="0">
                <a:latin typeface="Arial"/>
                <a:cs typeface="Arial"/>
              </a:rPr>
              <a:t> </a:t>
            </a:r>
            <a:r>
              <a:rPr sz="2150" dirty="0">
                <a:latin typeface="Arial"/>
                <a:cs typeface="Arial"/>
              </a:rPr>
              <a:t>to</a:t>
            </a:r>
            <a:r>
              <a:rPr sz="2150" spc="-65" dirty="0">
                <a:latin typeface="Arial"/>
                <a:cs typeface="Arial"/>
              </a:rPr>
              <a:t> </a:t>
            </a:r>
            <a:r>
              <a:rPr sz="2150" dirty="0">
                <a:latin typeface="Arial"/>
                <a:cs typeface="Arial"/>
              </a:rPr>
              <a:t>meet</a:t>
            </a:r>
            <a:r>
              <a:rPr sz="2150" spc="-60" dirty="0">
                <a:latin typeface="Arial"/>
                <a:cs typeface="Arial"/>
              </a:rPr>
              <a:t> </a:t>
            </a:r>
            <a:r>
              <a:rPr sz="2150" spc="-40" dirty="0">
                <a:latin typeface="Arial"/>
                <a:cs typeface="Arial"/>
              </a:rPr>
              <a:t>deadlines</a:t>
            </a:r>
            <a:r>
              <a:rPr sz="2150" spc="-60" dirty="0">
                <a:latin typeface="Arial"/>
                <a:cs typeface="Arial"/>
              </a:rPr>
              <a:t> </a:t>
            </a:r>
            <a:r>
              <a:rPr sz="2150" spc="-40" dirty="0">
                <a:latin typeface="Arial"/>
                <a:cs typeface="Arial"/>
              </a:rPr>
              <a:t>and</a:t>
            </a:r>
            <a:r>
              <a:rPr sz="2150" spc="-60" dirty="0">
                <a:latin typeface="Arial"/>
                <a:cs typeface="Arial"/>
              </a:rPr>
              <a:t> </a:t>
            </a:r>
            <a:r>
              <a:rPr sz="2150" spc="-25" dirty="0">
                <a:latin typeface="Arial"/>
                <a:cs typeface="Arial"/>
              </a:rPr>
              <a:t>handle </a:t>
            </a:r>
            <a:r>
              <a:rPr sz="2150" dirty="0">
                <a:latin typeface="Arial"/>
                <a:cs typeface="Arial"/>
              </a:rPr>
              <a:t>multiple</a:t>
            </a:r>
            <a:r>
              <a:rPr sz="2150" spc="-5" dirty="0">
                <a:latin typeface="Arial"/>
                <a:cs typeface="Arial"/>
              </a:rPr>
              <a:t> </a:t>
            </a:r>
            <a:r>
              <a:rPr sz="2150" spc="-10" dirty="0">
                <a:latin typeface="Arial"/>
                <a:cs typeface="Arial"/>
              </a:rPr>
              <a:t>tasks.</a:t>
            </a:r>
            <a:endParaRPr sz="2150">
              <a:latin typeface="Arial"/>
              <a:cs typeface="Arial"/>
            </a:endParaRPr>
          </a:p>
          <a:p>
            <a:pPr marL="12700">
              <a:lnSpc>
                <a:spcPct val="100000"/>
              </a:lnSpc>
              <a:spcBef>
                <a:spcPts val="1889"/>
              </a:spcBef>
            </a:pPr>
            <a:r>
              <a:rPr sz="2150" spc="-30" dirty="0">
                <a:latin typeface="Arial"/>
                <a:cs typeface="Arial"/>
              </a:rPr>
              <a:t>Negotiation:</a:t>
            </a:r>
            <a:r>
              <a:rPr sz="2150" spc="-75" dirty="0">
                <a:latin typeface="Arial"/>
                <a:cs typeface="Arial"/>
              </a:rPr>
              <a:t> Balancing </a:t>
            </a:r>
            <a:r>
              <a:rPr sz="2150" spc="-30" dirty="0">
                <a:latin typeface="Arial"/>
                <a:cs typeface="Arial"/>
              </a:rPr>
              <a:t>stakeholder</a:t>
            </a:r>
            <a:r>
              <a:rPr sz="2150" spc="-75" dirty="0">
                <a:latin typeface="Arial"/>
                <a:cs typeface="Arial"/>
              </a:rPr>
              <a:t> </a:t>
            </a:r>
            <a:r>
              <a:rPr sz="2150" spc="-20" dirty="0">
                <a:latin typeface="Arial"/>
                <a:cs typeface="Arial"/>
              </a:rPr>
              <a:t>expectations</a:t>
            </a:r>
            <a:r>
              <a:rPr sz="2150" spc="-70" dirty="0">
                <a:latin typeface="Arial"/>
                <a:cs typeface="Arial"/>
              </a:rPr>
              <a:t> </a:t>
            </a:r>
            <a:r>
              <a:rPr sz="2150" spc="-40" dirty="0">
                <a:latin typeface="Arial"/>
                <a:cs typeface="Arial"/>
              </a:rPr>
              <a:t>and</a:t>
            </a:r>
            <a:r>
              <a:rPr sz="2150" spc="-75" dirty="0">
                <a:latin typeface="Arial"/>
                <a:cs typeface="Arial"/>
              </a:rPr>
              <a:t> </a:t>
            </a:r>
            <a:r>
              <a:rPr sz="2150" spc="-30" dirty="0">
                <a:latin typeface="Arial"/>
                <a:cs typeface="Arial"/>
              </a:rPr>
              <a:t>resolving</a:t>
            </a:r>
            <a:r>
              <a:rPr sz="2150" spc="-75" dirty="0">
                <a:latin typeface="Arial"/>
                <a:cs typeface="Arial"/>
              </a:rPr>
              <a:t> </a:t>
            </a:r>
            <a:r>
              <a:rPr sz="2150" spc="-10" dirty="0">
                <a:latin typeface="Arial"/>
                <a:cs typeface="Arial"/>
              </a:rPr>
              <a:t>conflicts.</a:t>
            </a:r>
            <a:endParaRPr sz="2150">
              <a:latin typeface="Arial"/>
              <a:cs typeface="Arial"/>
            </a:endParaRPr>
          </a:p>
        </p:txBody>
      </p:sp>
      <p:pic>
        <p:nvPicPr>
          <p:cNvPr id="5" name="object 5"/>
          <p:cNvPicPr/>
          <p:nvPr/>
        </p:nvPicPr>
        <p:blipFill>
          <a:blip r:embed="rId2" cstate="print"/>
          <a:stretch>
            <a:fillRect/>
          </a:stretch>
        </p:blipFill>
        <p:spPr>
          <a:xfrm>
            <a:off x="1038222" y="2714620"/>
            <a:ext cx="104773" cy="104773"/>
          </a:xfrm>
          <a:prstGeom prst="rect">
            <a:avLst/>
          </a:prstGeom>
        </p:spPr>
      </p:pic>
      <p:pic>
        <p:nvPicPr>
          <p:cNvPr id="6" name="object 6"/>
          <p:cNvPicPr/>
          <p:nvPr/>
        </p:nvPicPr>
        <p:blipFill>
          <a:blip r:embed="rId2" cstate="print"/>
          <a:stretch>
            <a:fillRect/>
          </a:stretch>
        </p:blipFill>
        <p:spPr>
          <a:xfrm>
            <a:off x="1038222" y="3200394"/>
            <a:ext cx="104773" cy="104773"/>
          </a:xfrm>
          <a:prstGeom prst="rect">
            <a:avLst/>
          </a:prstGeom>
        </p:spPr>
      </p:pic>
      <p:pic>
        <p:nvPicPr>
          <p:cNvPr id="7" name="object 7"/>
          <p:cNvPicPr/>
          <p:nvPr/>
        </p:nvPicPr>
        <p:blipFill>
          <a:blip r:embed="rId2" cstate="print"/>
          <a:stretch>
            <a:fillRect/>
          </a:stretch>
        </p:blipFill>
        <p:spPr>
          <a:xfrm>
            <a:off x="1038222" y="4095742"/>
            <a:ext cx="104773" cy="104773"/>
          </a:xfrm>
          <a:prstGeom prst="rect">
            <a:avLst/>
          </a:prstGeom>
        </p:spPr>
      </p:pic>
      <p:pic>
        <p:nvPicPr>
          <p:cNvPr id="8" name="object 8"/>
          <p:cNvPicPr/>
          <p:nvPr/>
        </p:nvPicPr>
        <p:blipFill>
          <a:blip r:embed="rId2" cstate="print"/>
          <a:stretch>
            <a:fillRect/>
          </a:stretch>
        </p:blipFill>
        <p:spPr>
          <a:xfrm>
            <a:off x="1038222" y="4581516"/>
            <a:ext cx="104773" cy="104773"/>
          </a:xfrm>
          <a:prstGeom prst="rect">
            <a:avLst/>
          </a:prstGeom>
        </p:spPr>
      </p:pic>
      <p:pic>
        <p:nvPicPr>
          <p:cNvPr id="9" name="object 9"/>
          <p:cNvPicPr/>
          <p:nvPr/>
        </p:nvPicPr>
        <p:blipFill>
          <a:blip r:embed="rId2" cstate="print"/>
          <a:stretch>
            <a:fillRect/>
          </a:stretch>
        </p:blipFill>
        <p:spPr>
          <a:xfrm>
            <a:off x="1038222" y="5476864"/>
            <a:ext cx="104773" cy="104773"/>
          </a:xfrm>
          <a:prstGeom prst="rect">
            <a:avLst/>
          </a:prstGeom>
        </p:spPr>
      </p:pic>
      <p:sp>
        <p:nvSpPr>
          <p:cNvPr id="10" name="object 10"/>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11" name="object 11"/>
          <p:cNvSpPr txBox="1"/>
          <p:nvPr/>
        </p:nvSpPr>
        <p:spPr>
          <a:xfrm>
            <a:off x="11620508" y="6363855"/>
            <a:ext cx="283845" cy="278765"/>
          </a:xfrm>
          <a:prstGeom prst="rect">
            <a:avLst/>
          </a:prstGeom>
        </p:spPr>
        <p:txBody>
          <a:bodyPr vert="horz" wrap="square" lIns="0" tIns="0" rIns="0" bIns="0" rtlCol="0">
            <a:spAutoFit/>
          </a:bodyPr>
          <a:lstStyle/>
          <a:p>
            <a:pPr marL="38100">
              <a:lnSpc>
                <a:spcPts val="1985"/>
              </a:lnSpc>
            </a:pPr>
            <a:fld id="{81D60167-4931-47E6-BA6A-407CBD079E47}" type="slidenum">
              <a:rPr sz="1800" spc="-65" dirty="0">
                <a:solidFill>
                  <a:srgbClr val="777777"/>
                </a:solidFill>
                <a:latin typeface="Arial"/>
                <a:cs typeface="Arial"/>
              </a:rPr>
              <a:t>21</a:t>
            </a:fld>
            <a:endParaRPr sz="18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1620508" y="6363855"/>
            <a:ext cx="283845" cy="278765"/>
          </a:xfrm>
          <a:prstGeom prst="rect">
            <a:avLst/>
          </a:prstGeom>
        </p:spPr>
        <p:txBody>
          <a:bodyPr vert="horz" wrap="square" lIns="0" tIns="0" rIns="0" bIns="0" rtlCol="0">
            <a:spAutoFit/>
          </a:bodyPr>
          <a:lstStyle/>
          <a:p>
            <a:pPr marL="38100">
              <a:lnSpc>
                <a:spcPts val="1985"/>
              </a:lnSpc>
            </a:pPr>
            <a:fld id="{81D60167-4931-47E6-BA6A-407CBD079E47}" type="slidenum">
              <a:rPr sz="1800" spc="-65" dirty="0">
                <a:solidFill>
                  <a:srgbClr val="777777"/>
                </a:solidFill>
                <a:latin typeface="Arial"/>
                <a:cs typeface="Arial"/>
              </a:rPr>
              <a:t>22</a:t>
            </a:fld>
            <a:endParaRPr sz="1800">
              <a:latin typeface="Arial"/>
              <a:cs typeface="Arial"/>
            </a:endParaRPr>
          </a:p>
        </p:txBody>
      </p:sp>
      <p:sp>
        <p:nvSpPr>
          <p:cNvPr id="2" name="object 2"/>
          <p:cNvSpPr txBox="1">
            <a:spLocks noGrp="1"/>
          </p:cNvSpPr>
          <p:nvPr>
            <p:ph type="title"/>
          </p:nvPr>
        </p:nvSpPr>
        <p:spPr>
          <a:prstGeom prst="rect">
            <a:avLst/>
          </a:prstGeom>
        </p:spPr>
        <p:txBody>
          <a:bodyPr vert="horz" wrap="square" lIns="0" tIns="133985" rIns="0" bIns="0" rtlCol="0">
            <a:spAutoFit/>
          </a:bodyPr>
          <a:lstStyle/>
          <a:p>
            <a:pPr marL="12700">
              <a:lnSpc>
                <a:spcPct val="100000"/>
              </a:lnSpc>
              <a:spcBef>
                <a:spcPts val="1055"/>
              </a:spcBef>
            </a:pPr>
            <a:r>
              <a:rPr spc="-80" dirty="0"/>
              <a:t>3.3</a:t>
            </a:r>
            <a:r>
              <a:rPr spc="-75" dirty="0"/>
              <a:t> </a:t>
            </a:r>
            <a:r>
              <a:rPr spc="-10" dirty="0"/>
              <a:t>Example</a:t>
            </a:r>
          </a:p>
          <a:p>
            <a:pPr marL="12700" marR="5080">
              <a:lnSpc>
                <a:spcPct val="126000"/>
              </a:lnSpc>
              <a:spcBef>
                <a:spcPts val="185"/>
              </a:spcBef>
            </a:pPr>
            <a:r>
              <a:rPr sz="2150" spc="-40" dirty="0"/>
              <a:t>Imagine</a:t>
            </a:r>
            <a:r>
              <a:rPr sz="2150" spc="-70" dirty="0"/>
              <a:t> </a:t>
            </a:r>
            <a:r>
              <a:rPr sz="2150" spc="-140" dirty="0"/>
              <a:t>a</a:t>
            </a:r>
            <a:r>
              <a:rPr sz="2150" spc="-65" dirty="0"/>
              <a:t> </a:t>
            </a:r>
            <a:r>
              <a:rPr sz="2150" dirty="0"/>
              <a:t>project</a:t>
            </a:r>
            <a:r>
              <a:rPr sz="2150" spc="-70" dirty="0"/>
              <a:t> </a:t>
            </a:r>
            <a:r>
              <a:rPr sz="2150" spc="-60" dirty="0"/>
              <a:t>manager</a:t>
            </a:r>
            <a:r>
              <a:rPr sz="2150" spc="-65" dirty="0"/>
              <a:t> </a:t>
            </a:r>
            <a:r>
              <a:rPr sz="2150" spc="-40" dirty="0"/>
              <a:t>overseeing</a:t>
            </a:r>
            <a:r>
              <a:rPr sz="2150" spc="-70" dirty="0"/>
              <a:t> </a:t>
            </a:r>
            <a:r>
              <a:rPr sz="2150" dirty="0"/>
              <a:t>the</a:t>
            </a:r>
            <a:r>
              <a:rPr sz="2150" spc="-65" dirty="0"/>
              <a:t> </a:t>
            </a:r>
            <a:r>
              <a:rPr sz="2150" dirty="0"/>
              <a:t>development</a:t>
            </a:r>
            <a:r>
              <a:rPr sz="2150" spc="-70" dirty="0"/>
              <a:t> </a:t>
            </a:r>
            <a:r>
              <a:rPr sz="2150" dirty="0"/>
              <a:t>of</a:t>
            </a:r>
            <a:r>
              <a:rPr sz="2150" spc="-65" dirty="0"/>
              <a:t> </a:t>
            </a:r>
            <a:r>
              <a:rPr sz="2150" spc="-140" dirty="0"/>
              <a:t>a</a:t>
            </a:r>
            <a:r>
              <a:rPr sz="2150" spc="-70" dirty="0"/>
              <a:t> </a:t>
            </a:r>
            <a:r>
              <a:rPr sz="2150" dirty="0"/>
              <a:t>new</a:t>
            </a:r>
            <a:r>
              <a:rPr sz="2150" spc="-65" dirty="0"/>
              <a:t> </a:t>
            </a:r>
            <a:r>
              <a:rPr sz="2150" dirty="0"/>
              <a:t>software</a:t>
            </a:r>
            <a:r>
              <a:rPr sz="2150" spc="-70" dirty="0"/>
              <a:t> </a:t>
            </a:r>
            <a:r>
              <a:rPr sz="2150" spc="-10" dirty="0"/>
              <a:t>application. </a:t>
            </a:r>
            <a:r>
              <a:rPr sz="2150" spc="-75" dirty="0"/>
              <a:t>They </a:t>
            </a:r>
            <a:r>
              <a:rPr sz="2150" dirty="0"/>
              <a:t>must</a:t>
            </a:r>
            <a:r>
              <a:rPr sz="2150" spc="-100" dirty="0"/>
              <a:t> </a:t>
            </a:r>
            <a:r>
              <a:rPr sz="2150" spc="-10" dirty="0"/>
              <a:t>coordinate</a:t>
            </a:r>
            <a:r>
              <a:rPr sz="2150" spc="-85" dirty="0"/>
              <a:t> </a:t>
            </a:r>
            <a:r>
              <a:rPr sz="2150" dirty="0"/>
              <a:t>between</a:t>
            </a:r>
            <a:r>
              <a:rPr sz="2150" spc="-85" dirty="0"/>
              <a:t> </a:t>
            </a:r>
            <a:r>
              <a:rPr sz="2150" spc="-30" dirty="0"/>
              <a:t>developers,</a:t>
            </a:r>
            <a:r>
              <a:rPr sz="2150" spc="-90" dirty="0"/>
              <a:t> </a:t>
            </a:r>
            <a:r>
              <a:rPr sz="2150" spc="-60" dirty="0"/>
              <a:t>designers,</a:t>
            </a:r>
            <a:r>
              <a:rPr sz="2150" spc="-85" dirty="0"/>
              <a:t> </a:t>
            </a:r>
            <a:r>
              <a:rPr sz="2150" spc="-40" dirty="0"/>
              <a:t>and</a:t>
            </a:r>
            <a:r>
              <a:rPr sz="2150" spc="-85" dirty="0"/>
              <a:t> </a:t>
            </a:r>
            <a:r>
              <a:rPr sz="2150" spc="-50" dirty="0"/>
              <a:t>QA</a:t>
            </a:r>
            <a:r>
              <a:rPr sz="2150" spc="-85" dirty="0"/>
              <a:t> </a:t>
            </a:r>
            <a:r>
              <a:rPr sz="2150" spc="-40" dirty="0"/>
              <a:t>testers,</a:t>
            </a:r>
            <a:r>
              <a:rPr sz="2150" spc="-85" dirty="0"/>
              <a:t> </a:t>
            </a:r>
            <a:r>
              <a:rPr sz="2150" spc="-60" dirty="0"/>
              <a:t>ensure</a:t>
            </a:r>
            <a:r>
              <a:rPr sz="2150" spc="-90" dirty="0"/>
              <a:t> </a:t>
            </a:r>
            <a:r>
              <a:rPr sz="2150" dirty="0"/>
              <a:t>that</a:t>
            </a:r>
            <a:r>
              <a:rPr sz="2150" spc="-85" dirty="0"/>
              <a:t> </a:t>
            </a:r>
            <a:r>
              <a:rPr sz="2150" spc="-25" dirty="0"/>
              <a:t>the </a:t>
            </a:r>
            <a:r>
              <a:rPr sz="2150" dirty="0"/>
              <a:t>project</a:t>
            </a:r>
            <a:r>
              <a:rPr sz="2150" spc="-50" dirty="0"/>
              <a:t> </a:t>
            </a:r>
            <a:r>
              <a:rPr sz="2150" spc="-65" dirty="0"/>
              <a:t>stays</a:t>
            </a:r>
            <a:r>
              <a:rPr sz="2150" spc="-45" dirty="0"/>
              <a:t> </a:t>
            </a:r>
            <a:r>
              <a:rPr sz="2150" dirty="0"/>
              <a:t>within</a:t>
            </a:r>
            <a:r>
              <a:rPr sz="2150" spc="-45" dirty="0"/>
              <a:t> </a:t>
            </a:r>
            <a:r>
              <a:rPr sz="2150" spc="-30" dirty="0"/>
              <a:t>budget,</a:t>
            </a:r>
            <a:r>
              <a:rPr sz="2150" spc="-45" dirty="0"/>
              <a:t> </a:t>
            </a:r>
            <a:r>
              <a:rPr sz="2150" spc="-85" dirty="0"/>
              <a:t>manage</a:t>
            </a:r>
            <a:r>
              <a:rPr sz="2150" spc="-45" dirty="0"/>
              <a:t> </a:t>
            </a:r>
            <a:r>
              <a:rPr sz="2150" spc="-40" dirty="0"/>
              <a:t>any</a:t>
            </a:r>
            <a:r>
              <a:rPr sz="2150" spc="-45" dirty="0"/>
              <a:t> </a:t>
            </a:r>
            <a:r>
              <a:rPr sz="2150" spc="-20" dirty="0"/>
              <a:t>unexpected</a:t>
            </a:r>
            <a:r>
              <a:rPr sz="2150" spc="-45" dirty="0"/>
              <a:t> </a:t>
            </a:r>
            <a:r>
              <a:rPr sz="2150" spc="-20" dirty="0"/>
              <a:t>technical</a:t>
            </a:r>
            <a:r>
              <a:rPr sz="2150" spc="-45" dirty="0"/>
              <a:t> </a:t>
            </a:r>
            <a:r>
              <a:rPr sz="2150" spc="-60" dirty="0"/>
              <a:t>challenges,</a:t>
            </a:r>
            <a:r>
              <a:rPr sz="2150" spc="-45" dirty="0"/>
              <a:t> </a:t>
            </a:r>
            <a:r>
              <a:rPr sz="2150" spc="-40" dirty="0"/>
              <a:t>and</a:t>
            </a:r>
            <a:r>
              <a:rPr sz="2150" spc="-50" dirty="0"/>
              <a:t> </a:t>
            </a:r>
            <a:r>
              <a:rPr sz="2150" spc="-20" dirty="0"/>
              <a:t>keep </a:t>
            </a:r>
            <a:r>
              <a:rPr sz="2150" spc="-40" dirty="0"/>
              <a:t>stakeholders</a:t>
            </a:r>
            <a:r>
              <a:rPr sz="2150" spc="-80" dirty="0"/>
              <a:t> </a:t>
            </a:r>
            <a:r>
              <a:rPr sz="2150" dirty="0"/>
              <a:t>informed</a:t>
            </a:r>
            <a:r>
              <a:rPr sz="2150" spc="-75" dirty="0"/>
              <a:t> </a:t>
            </a:r>
            <a:r>
              <a:rPr sz="2150" dirty="0"/>
              <a:t>about</a:t>
            </a:r>
            <a:r>
              <a:rPr sz="2150" spc="-80" dirty="0"/>
              <a:t> </a:t>
            </a:r>
            <a:r>
              <a:rPr sz="2150" spc="-40" dirty="0"/>
              <a:t>progress</a:t>
            </a:r>
            <a:r>
              <a:rPr sz="2150" spc="-75" dirty="0"/>
              <a:t> </a:t>
            </a:r>
            <a:r>
              <a:rPr sz="2150" spc="-40" dirty="0"/>
              <a:t>and</a:t>
            </a:r>
            <a:r>
              <a:rPr sz="2150" spc="-75" dirty="0"/>
              <a:t> </a:t>
            </a:r>
            <a:r>
              <a:rPr sz="2150" spc="-40" dirty="0"/>
              <a:t>any</a:t>
            </a:r>
            <a:r>
              <a:rPr sz="2150" spc="-75" dirty="0"/>
              <a:t> </a:t>
            </a:r>
            <a:r>
              <a:rPr sz="2150" spc="-90" dirty="0"/>
              <a:t>changes</a:t>
            </a:r>
            <a:r>
              <a:rPr sz="2150" spc="-75" dirty="0"/>
              <a:t> </a:t>
            </a:r>
            <a:r>
              <a:rPr sz="2150" dirty="0"/>
              <a:t>in</a:t>
            </a:r>
            <a:r>
              <a:rPr sz="2150" spc="-80" dirty="0"/>
              <a:t> </a:t>
            </a:r>
            <a:r>
              <a:rPr sz="2150" spc="-10" dirty="0"/>
              <a:t>scope.</a:t>
            </a:r>
            <a:endParaRPr sz="2150"/>
          </a:p>
        </p:txBody>
      </p:sp>
      <p:sp>
        <p:nvSpPr>
          <p:cNvPr id="3" name="object 3"/>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010" y="1534858"/>
            <a:ext cx="1865630" cy="452120"/>
          </a:xfrm>
          <a:prstGeom prst="rect">
            <a:avLst/>
          </a:prstGeom>
        </p:spPr>
        <p:txBody>
          <a:bodyPr vert="horz" wrap="square" lIns="0" tIns="12700" rIns="0" bIns="0" rtlCol="0">
            <a:spAutoFit/>
          </a:bodyPr>
          <a:lstStyle/>
          <a:p>
            <a:pPr marL="12700">
              <a:lnSpc>
                <a:spcPct val="100000"/>
              </a:lnSpc>
              <a:spcBef>
                <a:spcPts val="100"/>
              </a:spcBef>
            </a:pPr>
            <a:r>
              <a:rPr sz="2800" spc="-135" dirty="0"/>
              <a:t>4.</a:t>
            </a:r>
            <a:r>
              <a:rPr sz="2800" spc="-85" dirty="0"/>
              <a:t> </a:t>
            </a:r>
            <a:r>
              <a:rPr sz="2800" spc="-40" dirty="0"/>
              <a:t>Summary</a:t>
            </a:r>
            <a:endParaRPr sz="2800"/>
          </a:p>
        </p:txBody>
      </p:sp>
      <p:pic>
        <p:nvPicPr>
          <p:cNvPr id="3" name="object 3"/>
          <p:cNvPicPr/>
          <p:nvPr/>
        </p:nvPicPr>
        <p:blipFill>
          <a:blip r:embed="rId2" cstate="print"/>
          <a:stretch>
            <a:fillRect/>
          </a:stretch>
        </p:blipFill>
        <p:spPr>
          <a:xfrm>
            <a:off x="1038222" y="2428871"/>
            <a:ext cx="104773" cy="104773"/>
          </a:xfrm>
          <a:prstGeom prst="rect">
            <a:avLst/>
          </a:prstGeom>
        </p:spPr>
      </p:pic>
      <p:sp>
        <p:nvSpPr>
          <p:cNvPr id="4" name="object 4"/>
          <p:cNvSpPr txBox="1"/>
          <p:nvPr/>
        </p:nvSpPr>
        <p:spPr>
          <a:xfrm>
            <a:off x="1287463" y="2118232"/>
            <a:ext cx="9981565" cy="3049905"/>
          </a:xfrm>
          <a:prstGeom prst="rect">
            <a:avLst/>
          </a:prstGeom>
        </p:spPr>
        <p:txBody>
          <a:bodyPr vert="horz" wrap="square" lIns="0" tIns="12700" rIns="0" bIns="0" rtlCol="0">
            <a:spAutoFit/>
          </a:bodyPr>
          <a:lstStyle/>
          <a:p>
            <a:pPr marL="12700" marR="123189">
              <a:lnSpc>
                <a:spcPct val="125000"/>
              </a:lnSpc>
              <a:spcBef>
                <a:spcPts val="100"/>
              </a:spcBef>
            </a:pPr>
            <a:r>
              <a:rPr sz="2150" spc="-35" dirty="0">
                <a:latin typeface="Arial"/>
                <a:cs typeface="Arial"/>
              </a:rPr>
              <a:t>Project</a:t>
            </a:r>
            <a:r>
              <a:rPr sz="2150" spc="-75" dirty="0">
                <a:latin typeface="Arial"/>
                <a:cs typeface="Arial"/>
              </a:rPr>
              <a:t> </a:t>
            </a:r>
            <a:r>
              <a:rPr sz="2150" spc="-50" dirty="0">
                <a:latin typeface="Arial"/>
                <a:cs typeface="Arial"/>
              </a:rPr>
              <a:t>Management</a:t>
            </a:r>
            <a:r>
              <a:rPr sz="2150" spc="-75" dirty="0">
                <a:latin typeface="Arial"/>
                <a:cs typeface="Arial"/>
              </a:rPr>
              <a:t> </a:t>
            </a:r>
            <a:r>
              <a:rPr sz="2150" spc="-50" dirty="0">
                <a:latin typeface="Arial"/>
                <a:cs typeface="Arial"/>
              </a:rPr>
              <a:t>is</a:t>
            </a:r>
            <a:r>
              <a:rPr sz="2150" spc="-70" dirty="0">
                <a:latin typeface="Arial"/>
                <a:cs typeface="Arial"/>
              </a:rPr>
              <a:t> </a:t>
            </a:r>
            <a:r>
              <a:rPr sz="2150" spc="-55" dirty="0">
                <a:latin typeface="Arial"/>
                <a:cs typeface="Arial"/>
              </a:rPr>
              <a:t>essential</a:t>
            </a:r>
            <a:r>
              <a:rPr sz="2150" spc="-75" dirty="0">
                <a:latin typeface="Arial"/>
                <a:cs typeface="Arial"/>
              </a:rPr>
              <a:t> </a:t>
            </a:r>
            <a:r>
              <a:rPr sz="2150" dirty="0">
                <a:latin typeface="Arial"/>
                <a:cs typeface="Arial"/>
              </a:rPr>
              <a:t>in</a:t>
            </a:r>
            <a:r>
              <a:rPr sz="2150" spc="-75" dirty="0">
                <a:latin typeface="Arial"/>
                <a:cs typeface="Arial"/>
              </a:rPr>
              <a:t> </a:t>
            </a:r>
            <a:r>
              <a:rPr sz="2150" dirty="0">
                <a:latin typeface="Arial"/>
                <a:cs typeface="Arial"/>
              </a:rPr>
              <a:t>software</a:t>
            </a:r>
            <a:r>
              <a:rPr sz="2150" spc="-70" dirty="0">
                <a:latin typeface="Arial"/>
                <a:cs typeface="Arial"/>
              </a:rPr>
              <a:t> </a:t>
            </a:r>
            <a:r>
              <a:rPr sz="2150" dirty="0">
                <a:latin typeface="Arial"/>
                <a:cs typeface="Arial"/>
              </a:rPr>
              <a:t>development</a:t>
            </a:r>
            <a:r>
              <a:rPr sz="2150" spc="-75" dirty="0">
                <a:latin typeface="Arial"/>
                <a:cs typeface="Arial"/>
              </a:rPr>
              <a:t> </a:t>
            </a:r>
            <a:r>
              <a:rPr sz="2150" dirty="0">
                <a:latin typeface="Arial"/>
                <a:cs typeface="Arial"/>
              </a:rPr>
              <a:t>to</a:t>
            </a:r>
            <a:r>
              <a:rPr sz="2150" spc="-75" dirty="0">
                <a:latin typeface="Arial"/>
                <a:cs typeface="Arial"/>
              </a:rPr>
              <a:t> </a:t>
            </a:r>
            <a:r>
              <a:rPr sz="2150" spc="-85" dirty="0">
                <a:latin typeface="Arial"/>
                <a:cs typeface="Arial"/>
              </a:rPr>
              <a:t>manage</a:t>
            </a:r>
            <a:r>
              <a:rPr sz="2150" spc="-70" dirty="0">
                <a:latin typeface="Arial"/>
                <a:cs typeface="Arial"/>
              </a:rPr>
              <a:t> </a:t>
            </a:r>
            <a:r>
              <a:rPr sz="2150" spc="-10" dirty="0">
                <a:latin typeface="Arial"/>
                <a:cs typeface="Arial"/>
              </a:rPr>
              <a:t>complexity, </a:t>
            </a:r>
            <a:r>
              <a:rPr sz="2150" spc="-25" dirty="0">
                <a:latin typeface="Arial"/>
                <a:cs typeface="Arial"/>
              </a:rPr>
              <a:t>allocate</a:t>
            </a:r>
            <a:r>
              <a:rPr sz="2150" spc="-85" dirty="0">
                <a:latin typeface="Arial"/>
                <a:cs typeface="Arial"/>
              </a:rPr>
              <a:t> </a:t>
            </a:r>
            <a:r>
              <a:rPr sz="2150" spc="-40" dirty="0">
                <a:latin typeface="Arial"/>
                <a:cs typeface="Arial"/>
              </a:rPr>
              <a:t>resources</a:t>
            </a:r>
            <a:r>
              <a:rPr sz="2150" spc="-80" dirty="0">
                <a:latin typeface="Arial"/>
                <a:cs typeface="Arial"/>
              </a:rPr>
              <a:t> </a:t>
            </a:r>
            <a:r>
              <a:rPr sz="2150" spc="-10" dirty="0">
                <a:latin typeface="Arial"/>
                <a:cs typeface="Arial"/>
              </a:rPr>
              <a:t>efficiently,</a:t>
            </a:r>
            <a:r>
              <a:rPr sz="2150" spc="-85" dirty="0">
                <a:latin typeface="Arial"/>
                <a:cs typeface="Arial"/>
              </a:rPr>
              <a:t> </a:t>
            </a:r>
            <a:r>
              <a:rPr sz="2150" spc="-20" dirty="0">
                <a:latin typeface="Arial"/>
                <a:cs typeface="Arial"/>
              </a:rPr>
              <a:t>mitigate</a:t>
            </a:r>
            <a:r>
              <a:rPr sz="2150" spc="-80" dirty="0">
                <a:latin typeface="Arial"/>
                <a:cs typeface="Arial"/>
              </a:rPr>
              <a:t> </a:t>
            </a:r>
            <a:r>
              <a:rPr sz="2150" spc="-65" dirty="0">
                <a:latin typeface="Arial"/>
                <a:cs typeface="Arial"/>
              </a:rPr>
              <a:t>risks,</a:t>
            </a:r>
            <a:r>
              <a:rPr sz="2150" spc="-85" dirty="0">
                <a:latin typeface="Arial"/>
                <a:cs typeface="Arial"/>
              </a:rPr>
              <a:t> </a:t>
            </a:r>
            <a:r>
              <a:rPr sz="2150" spc="-60" dirty="0">
                <a:latin typeface="Arial"/>
                <a:cs typeface="Arial"/>
              </a:rPr>
              <a:t>ensure</a:t>
            </a:r>
            <a:r>
              <a:rPr sz="2150" spc="-80" dirty="0">
                <a:latin typeface="Arial"/>
                <a:cs typeface="Arial"/>
              </a:rPr>
              <a:t> </a:t>
            </a:r>
            <a:r>
              <a:rPr sz="2150" dirty="0">
                <a:latin typeface="Arial"/>
                <a:cs typeface="Arial"/>
              </a:rPr>
              <a:t>quality,</a:t>
            </a:r>
            <a:r>
              <a:rPr sz="2150" spc="-80" dirty="0">
                <a:latin typeface="Arial"/>
                <a:cs typeface="Arial"/>
              </a:rPr>
              <a:t> </a:t>
            </a:r>
            <a:r>
              <a:rPr sz="2150" spc="-40" dirty="0">
                <a:latin typeface="Arial"/>
                <a:cs typeface="Arial"/>
              </a:rPr>
              <a:t>and</a:t>
            </a:r>
            <a:r>
              <a:rPr sz="2150" spc="-85" dirty="0">
                <a:latin typeface="Arial"/>
                <a:cs typeface="Arial"/>
              </a:rPr>
              <a:t> </a:t>
            </a:r>
            <a:r>
              <a:rPr sz="2150" spc="-30" dirty="0">
                <a:latin typeface="Arial"/>
                <a:cs typeface="Arial"/>
              </a:rPr>
              <a:t>satisfy</a:t>
            </a:r>
            <a:r>
              <a:rPr sz="2150" spc="-80" dirty="0">
                <a:latin typeface="Arial"/>
                <a:cs typeface="Arial"/>
              </a:rPr>
              <a:t> </a:t>
            </a:r>
            <a:r>
              <a:rPr sz="2150" spc="-25" dirty="0">
                <a:latin typeface="Arial"/>
                <a:cs typeface="Arial"/>
              </a:rPr>
              <a:t>stakeholders.</a:t>
            </a:r>
            <a:endParaRPr sz="2150">
              <a:latin typeface="Arial"/>
              <a:cs typeface="Arial"/>
            </a:endParaRPr>
          </a:p>
          <a:p>
            <a:pPr marL="12700" marR="499745">
              <a:lnSpc>
                <a:spcPct val="125000"/>
              </a:lnSpc>
              <a:spcBef>
                <a:spcPts val="600"/>
              </a:spcBef>
            </a:pPr>
            <a:r>
              <a:rPr sz="2150" spc="-105" dirty="0">
                <a:latin typeface="Arial"/>
                <a:cs typeface="Arial"/>
              </a:rPr>
              <a:t>The</a:t>
            </a:r>
            <a:r>
              <a:rPr sz="2150" spc="-55" dirty="0">
                <a:latin typeface="Arial"/>
                <a:cs typeface="Arial"/>
              </a:rPr>
              <a:t> </a:t>
            </a:r>
            <a:r>
              <a:rPr sz="2150" dirty="0">
                <a:latin typeface="Arial"/>
                <a:cs typeface="Arial"/>
              </a:rPr>
              <a:t>five</a:t>
            </a:r>
            <a:r>
              <a:rPr sz="2150" spc="-50" dirty="0">
                <a:latin typeface="Arial"/>
                <a:cs typeface="Arial"/>
              </a:rPr>
              <a:t> </a:t>
            </a:r>
            <a:r>
              <a:rPr sz="2150" dirty="0">
                <a:latin typeface="Arial"/>
                <a:cs typeface="Arial"/>
              </a:rPr>
              <a:t>project</a:t>
            </a:r>
            <a:r>
              <a:rPr sz="2150" spc="-55" dirty="0">
                <a:latin typeface="Arial"/>
                <a:cs typeface="Arial"/>
              </a:rPr>
              <a:t> </a:t>
            </a:r>
            <a:r>
              <a:rPr sz="2150" spc="-50" dirty="0">
                <a:latin typeface="Arial"/>
                <a:cs typeface="Arial"/>
              </a:rPr>
              <a:t>management </a:t>
            </a:r>
            <a:r>
              <a:rPr sz="2150" spc="-85" dirty="0">
                <a:latin typeface="Arial"/>
                <a:cs typeface="Arial"/>
              </a:rPr>
              <a:t>phases—</a:t>
            </a:r>
            <a:r>
              <a:rPr sz="2150" spc="-50" dirty="0">
                <a:latin typeface="Arial"/>
                <a:cs typeface="Arial"/>
              </a:rPr>
              <a:t>Initiation,</a:t>
            </a:r>
            <a:r>
              <a:rPr sz="2150" spc="-55" dirty="0">
                <a:latin typeface="Arial"/>
                <a:cs typeface="Arial"/>
              </a:rPr>
              <a:t> </a:t>
            </a:r>
            <a:r>
              <a:rPr sz="2150" spc="-80" dirty="0">
                <a:latin typeface="Arial"/>
                <a:cs typeface="Arial"/>
              </a:rPr>
              <a:t>Planning,</a:t>
            </a:r>
            <a:r>
              <a:rPr sz="2150" spc="-50" dirty="0">
                <a:latin typeface="Arial"/>
                <a:cs typeface="Arial"/>
              </a:rPr>
              <a:t> Execution,</a:t>
            </a:r>
            <a:r>
              <a:rPr sz="2150" spc="-55" dirty="0">
                <a:latin typeface="Arial"/>
                <a:cs typeface="Arial"/>
              </a:rPr>
              <a:t> </a:t>
            </a:r>
            <a:r>
              <a:rPr sz="2150" spc="-10" dirty="0">
                <a:latin typeface="Arial"/>
                <a:cs typeface="Arial"/>
              </a:rPr>
              <a:t>Monitoring, </a:t>
            </a:r>
            <a:r>
              <a:rPr sz="2150" spc="-40" dirty="0">
                <a:latin typeface="Arial"/>
                <a:cs typeface="Arial"/>
              </a:rPr>
              <a:t>and</a:t>
            </a:r>
            <a:r>
              <a:rPr sz="2150" spc="-55" dirty="0">
                <a:latin typeface="Arial"/>
                <a:cs typeface="Arial"/>
              </a:rPr>
              <a:t> </a:t>
            </a:r>
            <a:r>
              <a:rPr sz="2150" spc="-65" dirty="0">
                <a:latin typeface="Arial"/>
                <a:cs typeface="Arial"/>
              </a:rPr>
              <a:t>Closing—</a:t>
            </a:r>
            <a:r>
              <a:rPr sz="2150" spc="-55" dirty="0">
                <a:latin typeface="Arial"/>
                <a:cs typeface="Arial"/>
              </a:rPr>
              <a:t>provide</a:t>
            </a:r>
            <a:r>
              <a:rPr sz="2150" spc="-45" dirty="0">
                <a:latin typeface="Arial"/>
                <a:cs typeface="Arial"/>
              </a:rPr>
              <a:t> </a:t>
            </a:r>
            <a:r>
              <a:rPr sz="2150" spc="-140" dirty="0">
                <a:latin typeface="Arial"/>
                <a:cs typeface="Arial"/>
              </a:rPr>
              <a:t>a</a:t>
            </a:r>
            <a:r>
              <a:rPr sz="2150" spc="-55" dirty="0">
                <a:latin typeface="Arial"/>
                <a:cs typeface="Arial"/>
              </a:rPr>
              <a:t> </a:t>
            </a:r>
            <a:r>
              <a:rPr sz="2150" dirty="0">
                <a:latin typeface="Arial"/>
                <a:cs typeface="Arial"/>
              </a:rPr>
              <a:t>structured</a:t>
            </a:r>
            <a:r>
              <a:rPr sz="2150" spc="-50" dirty="0">
                <a:latin typeface="Arial"/>
                <a:cs typeface="Arial"/>
              </a:rPr>
              <a:t> </a:t>
            </a:r>
            <a:r>
              <a:rPr sz="2150" spc="-20" dirty="0">
                <a:latin typeface="Arial"/>
                <a:cs typeface="Arial"/>
              </a:rPr>
              <a:t>approach</a:t>
            </a:r>
            <a:r>
              <a:rPr sz="2150" spc="-50" dirty="0">
                <a:latin typeface="Arial"/>
                <a:cs typeface="Arial"/>
              </a:rPr>
              <a:t> </a:t>
            </a:r>
            <a:r>
              <a:rPr sz="2150" dirty="0">
                <a:latin typeface="Arial"/>
                <a:cs typeface="Arial"/>
              </a:rPr>
              <a:t>to</a:t>
            </a:r>
            <a:r>
              <a:rPr sz="2150" spc="-55" dirty="0">
                <a:latin typeface="Arial"/>
                <a:cs typeface="Arial"/>
              </a:rPr>
              <a:t> </a:t>
            </a:r>
            <a:r>
              <a:rPr sz="2150" spc="-65" dirty="0">
                <a:latin typeface="Arial"/>
                <a:cs typeface="Arial"/>
              </a:rPr>
              <a:t>managing</a:t>
            </a:r>
            <a:r>
              <a:rPr sz="2150" spc="-50" dirty="0">
                <a:latin typeface="Arial"/>
                <a:cs typeface="Arial"/>
              </a:rPr>
              <a:t> </a:t>
            </a:r>
            <a:r>
              <a:rPr sz="2150" spc="-10" dirty="0">
                <a:latin typeface="Arial"/>
                <a:cs typeface="Arial"/>
              </a:rPr>
              <a:t>projects.</a:t>
            </a:r>
            <a:endParaRPr sz="2150">
              <a:latin typeface="Arial"/>
              <a:cs typeface="Arial"/>
            </a:endParaRPr>
          </a:p>
          <a:p>
            <a:pPr marL="12700" marR="5080">
              <a:lnSpc>
                <a:spcPct val="126499"/>
              </a:lnSpc>
              <a:spcBef>
                <a:spcPts val="520"/>
              </a:spcBef>
            </a:pPr>
            <a:r>
              <a:rPr sz="2150" dirty="0">
                <a:latin typeface="Arial"/>
                <a:cs typeface="Arial"/>
              </a:rPr>
              <a:t>A</a:t>
            </a:r>
            <a:r>
              <a:rPr sz="2150" spc="-105" dirty="0">
                <a:latin typeface="Arial"/>
                <a:cs typeface="Arial"/>
              </a:rPr>
              <a:t> </a:t>
            </a:r>
            <a:r>
              <a:rPr sz="2150" spc="-10" dirty="0">
                <a:latin typeface="Arial"/>
                <a:cs typeface="Arial"/>
              </a:rPr>
              <a:t>Software</a:t>
            </a:r>
            <a:r>
              <a:rPr sz="2150" spc="-90" dirty="0">
                <a:latin typeface="Arial"/>
                <a:cs typeface="Arial"/>
              </a:rPr>
              <a:t> </a:t>
            </a:r>
            <a:r>
              <a:rPr sz="2150" spc="-35" dirty="0">
                <a:latin typeface="Arial"/>
                <a:cs typeface="Arial"/>
              </a:rPr>
              <a:t>Project</a:t>
            </a:r>
            <a:r>
              <a:rPr sz="2150" spc="-85" dirty="0">
                <a:latin typeface="Arial"/>
                <a:cs typeface="Arial"/>
              </a:rPr>
              <a:t> </a:t>
            </a:r>
            <a:r>
              <a:rPr sz="2150" spc="-60" dirty="0">
                <a:latin typeface="Arial"/>
                <a:cs typeface="Arial"/>
              </a:rPr>
              <a:t>Manager</a:t>
            </a:r>
            <a:r>
              <a:rPr sz="2150" spc="-90" dirty="0">
                <a:latin typeface="Arial"/>
                <a:cs typeface="Arial"/>
              </a:rPr>
              <a:t> </a:t>
            </a:r>
            <a:r>
              <a:rPr sz="2150" spc="-25" dirty="0">
                <a:latin typeface="Arial"/>
                <a:cs typeface="Arial"/>
              </a:rPr>
              <a:t>plays</a:t>
            </a:r>
            <a:r>
              <a:rPr sz="2150" spc="-90" dirty="0">
                <a:latin typeface="Arial"/>
                <a:cs typeface="Arial"/>
              </a:rPr>
              <a:t> </a:t>
            </a:r>
            <a:r>
              <a:rPr sz="2150" spc="-140" dirty="0">
                <a:latin typeface="Arial"/>
                <a:cs typeface="Arial"/>
              </a:rPr>
              <a:t>a</a:t>
            </a:r>
            <a:r>
              <a:rPr sz="2150" spc="-75" dirty="0">
                <a:latin typeface="Arial"/>
                <a:cs typeface="Arial"/>
              </a:rPr>
              <a:t> </a:t>
            </a:r>
            <a:r>
              <a:rPr sz="2150" dirty="0">
                <a:latin typeface="Arial"/>
                <a:cs typeface="Arial"/>
              </a:rPr>
              <a:t>pivotal</a:t>
            </a:r>
            <a:r>
              <a:rPr sz="2150" spc="-90" dirty="0">
                <a:latin typeface="Arial"/>
                <a:cs typeface="Arial"/>
              </a:rPr>
              <a:t> </a:t>
            </a:r>
            <a:r>
              <a:rPr sz="2150" dirty="0">
                <a:latin typeface="Arial"/>
                <a:cs typeface="Arial"/>
              </a:rPr>
              <a:t>role</a:t>
            </a:r>
            <a:r>
              <a:rPr sz="2150" spc="-85" dirty="0">
                <a:latin typeface="Arial"/>
                <a:cs typeface="Arial"/>
              </a:rPr>
              <a:t> </a:t>
            </a:r>
            <a:r>
              <a:rPr sz="2150" dirty="0">
                <a:latin typeface="Arial"/>
                <a:cs typeface="Arial"/>
              </a:rPr>
              <a:t>in</a:t>
            </a:r>
            <a:r>
              <a:rPr sz="2150" spc="-90" dirty="0">
                <a:latin typeface="Arial"/>
                <a:cs typeface="Arial"/>
              </a:rPr>
              <a:t> </a:t>
            </a:r>
            <a:r>
              <a:rPr sz="2150" spc="-35" dirty="0">
                <a:latin typeface="Arial"/>
                <a:cs typeface="Arial"/>
              </a:rPr>
              <a:t>leading</a:t>
            </a:r>
            <a:r>
              <a:rPr sz="2150" spc="-90" dirty="0">
                <a:latin typeface="Arial"/>
                <a:cs typeface="Arial"/>
              </a:rPr>
              <a:t> </a:t>
            </a:r>
            <a:r>
              <a:rPr sz="2150" dirty="0">
                <a:latin typeface="Arial"/>
                <a:cs typeface="Arial"/>
              </a:rPr>
              <a:t>the</a:t>
            </a:r>
            <a:r>
              <a:rPr sz="2150" spc="-85" dirty="0">
                <a:latin typeface="Arial"/>
                <a:cs typeface="Arial"/>
              </a:rPr>
              <a:t> </a:t>
            </a:r>
            <a:r>
              <a:rPr sz="2150" spc="-45" dirty="0">
                <a:latin typeface="Arial"/>
                <a:cs typeface="Arial"/>
              </a:rPr>
              <a:t>team,</a:t>
            </a:r>
            <a:r>
              <a:rPr sz="2150" spc="-90" dirty="0">
                <a:latin typeface="Arial"/>
                <a:cs typeface="Arial"/>
              </a:rPr>
              <a:t> </a:t>
            </a:r>
            <a:r>
              <a:rPr sz="2150" spc="-10" dirty="0">
                <a:latin typeface="Arial"/>
                <a:cs typeface="Arial"/>
              </a:rPr>
              <a:t>managing </a:t>
            </a:r>
            <a:r>
              <a:rPr sz="2150" spc="-50" dirty="0">
                <a:latin typeface="Arial"/>
                <a:cs typeface="Arial"/>
              </a:rPr>
              <a:t>resources,</a:t>
            </a:r>
            <a:r>
              <a:rPr sz="2150" spc="-90" dirty="0">
                <a:latin typeface="Arial"/>
                <a:cs typeface="Arial"/>
              </a:rPr>
              <a:t> </a:t>
            </a:r>
            <a:r>
              <a:rPr sz="2150" spc="-10" dirty="0">
                <a:latin typeface="Arial"/>
                <a:cs typeface="Arial"/>
              </a:rPr>
              <a:t>communicating</a:t>
            </a:r>
            <a:r>
              <a:rPr sz="2150" spc="-85" dirty="0">
                <a:latin typeface="Arial"/>
                <a:cs typeface="Arial"/>
              </a:rPr>
              <a:t> </a:t>
            </a:r>
            <a:r>
              <a:rPr sz="2150" spc="65" dirty="0">
                <a:latin typeface="Arial"/>
                <a:cs typeface="Arial"/>
              </a:rPr>
              <a:t>with</a:t>
            </a:r>
            <a:r>
              <a:rPr sz="2150" spc="-85" dirty="0">
                <a:latin typeface="Arial"/>
                <a:cs typeface="Arial"/>
              </a:rPr>
              <a:t> </a:t>
            </a:r>
            <a:r>
              <a:rPr sz="2150" spc="-50" dirty="0">
                <a:latin typeface="Arial"/>
                <a:cs typeface="Arial"/>
              </a:rPr>
              <a:t>stakeholders,</a:t>
            </a:r>
            <a:r>
              <a:rPr sz="2150" spc="-85" dirty="0">
                <a:latin typeface="Arial"/>
                <a:cs typeface="Arial"/>
              </a:rPr>
              <a:t> </a:t>
            </a:r>
            <a:r>
              <a:rPr sz="2150" spc="-40" dirty="0">
                <a:latin typeface="Arial"/>
                <a:cs typeface="Arial"/>
              </a:rPr>
              <a:t>and</a:t>
            </a:r>
            <a:r>
              <a:rPr sz="2150" spc="-90" dirty="0">
                <a:latin typeface="Arial"/>
                <a:cs typeface="Arial"/>
              </a:rPr>
              <a:t> </a:t>
            </a:r>
            <a:r>
              <a:rPr sz="2150" spc="-50" dirty="0">
                <a:latin typeface="Arial"/>
                <a:cs typeface="Arial"/>
              </a:rPr>
              <a:t>ensuring</a:t>
            </a:r>
            <a:r>
              <a:rPr sz="2150" spc="-85" dirty="0">
                <a:latin typeface="Arial"/>
                <a:cs typeface="Arial"/>
              </a:rPr>
              <a:t> </a:t>
            </a:r>
            <a:r>
              <a:rPr sz="2150" dirty="0">
                <a:latin typeface="Arial"/>
                <a:cs typeface="Arial"/>
              </a:rPr>
              <a:t>the</a:t>
            </a:r>
            <a:r>
              <a:rPr sz="2150" spc="-85" dirty="0">
                <a:latin typeface="Arial"/>
                <a:cs typeface="Arial"/>
              </a:rPr>
              <a:t> </a:t>
            </a:r>
            <a:r>
              <a:rPr sz="2150" spc="-50" dirty="0">
                <a:latin typeface="Arial"/>
                <a:cs typeface="Arial"/>
              </a:rPr>
              <a:t>successful</a:t>
            </a:r>
            <a:r>
              <a:rPr sz="2150" spc="-85" dirty="0">
                <a:latin typeface="Arial"/>
                <a:cs typeface="Arial"/>
              </a:rPr>
              <a:t> </a:t>
            </a:r>
            <a:r>
              <a:rPr sz="2150" dirty="0">
                <a:latin typeface="Arial"/>
                <a:cs typeface="Arial"/>
              </a:rPr>
              <a:t>delivery</a:t>
            </a:r>
            <a:r>
              <a:rPr sz="2150" spc="-85" dirty="0">
                <a:latin typeface="Arial"/>
                <a:cs typeface="Arial"/>
              </a:rPr>
              <a:t> </a:t>
            </a:r>
            <a:r>
              <a:rPr sz="2150" spc="-25" dirty="0">
                <a:latin typeface="Arial"/>
                <a:cs typeface="Arial"/>
              </a:rPr>
              <a:t>of </a:t>
            </a:r>
            <a:r>
              <a:rPr sz="2150" dirty="0">
                <a:latin typeface="Arial"/>
                <a:cs typeface="Arial"/>
              </a:rPr>
              <a:t>the</a:t>
            </a:r>
            <a:r>
              <a:rPr sz="2150" spc="-135" dirty="0">
                <a:latin typeface="Arial"/>
                <a:cs typeface="Arial"/>
              </a:rPr>
              <a:t> </a:t>
            </a:r>
            <a:r>
              <a:rPr sz="2150" spc="-10" dirty="0">
                <a:latin typeface="Arial"/>
                <a:cs typeface="Arial"/>
              </a:rPr>
              <a:t>project.</a:t>
            </a:r>
            <a:endParaRPr sz="2150">
              <a:latin typeface="Arial"/>
              <a:cs typeface="Arial"/>
            </a:endParaRPr>
          </a:p>
        </p:txBody>
      </p:sp>
      <p:pic>
        <p:nvPicPr>
          <p:cNvPr id="5" name="object 5"/>
          <p:cNvPicPr/>
          <p:nvPr/>
        </p:nvPicPr>
        <p:blipFill>
          <a:blip r:embed="rId2" cstate="print"/>
          <a:stretch>
            <a:fillRect/>
          </a:stretch>
        </p:blipFill>
        <p:spPr>
          <a:xfrm>
            <a:off x="1038222" y="3324219"/>
            <a:ext cx="104773" cy="104773"/>
          </a:xfrm>
          <a:prstGeom prst="rect">
            <a:avLst/>
          </a:prstGeom>
        </p:spPr>
      </p:pic>
      <p:pic>
        <p:nvPicPr>
          <p:cNvPr id="6" name="object 6"/>
          <p:cNvPicPr/>
          <p:nvPr/>
        </p:nvPicPr>
        <p:blipFill>
          <a:blip r:embed="rId2" cstate="print"/>
          <a:stretch>
            <a:fillRect/>
          </a:stretch>
        </p:blipFill>
        <p:spPr>
          <a:xfrm>
            <a:off x="1038222" y="4219567"/>
            <a:ext cx="104773" cy="104773"/>
          </a:xfrm>
          <a:prstGeom prst="rect">
            <a:avLst/>
          </a:prstGeom>
        </p:spPr>
      </p:pic>
      <p:sp>
        <p:nvSpPr>
          <p:cNvPr id="7" name="object 7"/>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
        <p:nvSpPr>
          <p:cNvPr id="8" name="object 8"/>
          <p:cNvSpPr txBox="1"/>
          <p:nvPr/>
        </p:nvSpPr>
        <p:spPr>
          <a:xfrm>
            <a:off x="11620508" y="6363855"/>
            <a:ext cx="283845" cy="278765"/>
          </a:xfrm>
          <a:prstGeom prst="rect">
            <a:avLst/>
          </a:prstGeom>
        </p:spPr>
        <p:txBody>
          <a:bodyPr vert="horz" wrap="square" lIns="0" tIns="0" rIns="0" bIns="0" rtlCol="0">
            <a:spAutoFit/>
          </a:bodyPr>
          <a:lstStyle/>
          <a:p>
            <a:pPr marL="38100">
              <a:lnSpc>
                <a:spcPts val="1985"/>
              </a:lnSpc>
            </a:pPr>
            <a:fld id="{81D60167-4931-47E6-BA6A-407CBD079E47}" type="slidenum">
              <a:rPr sz="1800" spc="-65" dirty="0">
                <a:solidFill>
                  <a:srgbClr val="777777"/>
                </a:solidFill>
                <a:latin typeface="Arial"/>
                <a:cs typeface="Arial"/>
              </a:rPr>
              <a:t>23</a:t>
            </a:fld>
            <a:endParaRPr sz="18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1620508" y="6363855"/>
            <a:ext cx="283845" cy="278765"/>
          </a:xfrm>
          <a:prstGeom prst="rect">
            <a:avLst/>
          </a:prstGeom>
        </p:spPr>
        <p:txBody>
          <a:bodyPr vert="horz" wrap="square" lIns="0" tIns="0" rIns="0" bIns="0" rtlCol="0">
            <a:spAutoFit/>
          </a:bodyPr>
          <a:lstStyle/>
          <a:p>
            <a:pPr marL="38100">
              <a:lnSpc>
                <a:spcPts val="1985"/>
              </a:lnSpc>
            </a:pPr>
            <a:fld id="{81D60167-4931-47E6-BA6A-407CBD079E47}" type="slidenum">
              <a:rPr sz="1800" spc="-65" dirty="0">
                <a:solidFill>
                  <a:srgbClr val="777777"/>
                </a:solidFill>
                <a:latin typeface="Arial"/>
                <a:cs typeface="Arial"/>
              </a:rPr>
              <a:t>24</a:t>
            </a:fld>
            <a:endParaRPr sz="1800">
              <a:latin typeface="Arial"/>
              <a:cs typeface="Arial"/>
            </a:endParaRPr>
          </a:p>
        </p:txBody>
      </p:sp>
      <p:sp>
        <p:nvSpPr>
          <p:cNvPr id="2" name="object 2"/>
          <p:cNvSpPr txBox="1">
            <a:spLocks noGrp="1"/>
          </p:cNvSpPr>
          <p:nvPr>
            <p:ph type="title"/>
          </p:nvPr>
        </p:nvSpPr>
        <p:spPr>
          <a:xfrm>
            <a:off x="735010" y="1749170"/>
            <a:ext cx="3666490" cy="452120"/>
          </a:xfrm>
          <a:prstGeom prst="rect">
            <a:avLst/>
          </a:prstGeom>
        </p:spPr>
        <p:txBody>
          <a:bodyPr vert="horz" wrap="square" lIns="0" tIns="12700" rIns="0" bIns="0" rtlCol="0">
            <a:spAutoFit/>
          </a:bodyPr>
          <a:lstStyle/>
          <a:p>
            <a:pPr marL="12700">
              <a:lnSpc>
                <a:spcPct val="100000"/>
              </a:lnSpc>
              <a:spcBef>
                <a:spcPts val="100"/>
              </a:spcBef>
            </a:pPr>
            <a:r>
              <a:rPr sz="2800" spc="-90" dirty="0"/>
              <a:t>5.</a:t>
            </a:r>
            <a:r>
              <a:rPr sz="2800" spc="-105" dirty="0"/>
              <a:t> </a:t>
            </a:r>
            <a:r>
              <a:rPr sz="2800" spc="-65" dirty="0"/>
              <a:t>Discussion</a:t>
            </a:r>
            <a:r>
              <a:rPr sz="2800" spc="-125" dirty="0"/>
              <a:t> </a:t>
            </a:r>
            <a:r>
              <a:rPr sz="2800" spc="-40" dirty="0"/>
              <a:t>Questions</a:t>
            </a:r>
            <a:endParaRPr sz="280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70205" marR="941069" indent="-299085">
              <a:lnSpc>
                <a:spcPct val="127899"/>
              </a:lnSpc>
              <a:spcBef>
                <a:spcPts val="100"/>
              </a:spcBef>
              <a:buAutoNum type="arabicPeriod"/>
              <a:tabLst>
                <a:tab pos="370205" algn="l"/>
              </a:tabLst>
            </a:pPr>
            <a:r>
              <a:rPr spc="55" dirty="0"/>
              <a:t>How</a:t>
            </a:r>
            <a:r>
              <a:rPr spc="-65" dirty="0"/>
              <a:t> </a:t>
            </a:r>
            <a:r>
              <a:rPr spc="-45" dirty="0"/>
              <a:t>does</a:t>
            </a:r>
            <a:r>
              <a:rPr spc="-50" dirty="0"/>
              <a:t> </a:t>
            </a:r>
            <a:r>
              <a:rPr dirty="0"/>
              <a:t>project</a:t>
            </a:r>
            <a:r>
              <a:rPr spc="-55" dirty="0"/>
              <a:t> </a:t>
            </a:r>
            <a:r>
              <a:rPr spc="-50" dirty="0"/>
              <a:t>management </a:t>
            </a:r>
            <a:r>
              <a:rPr dirty="0"/>
              <a:t>in</a:t>
            </a:r>
            <a:r>
              <a:rPr spc="-55" dirty="0"/>
              <a:t> </a:t>
            </a:r>
            <a:r>
              <a:rPr dirty="0"/>
              <a:t>software</a:t>
            </a:r>
            <a:r>
              <a:rPr spc="-50" dirty="0"/>
              <a:t> </a:t>
            </a:r>
            <a:r>
              <a:rPr dirty="0"/>
              <a:t>development</a:t>
            </a:r>
            <a:r>
              <a:rPr spc="-55" dirty="0"/>
              <a:t> </a:t>
            </a:r>
            <a:r>
              <a:rPr dirty="0"/>
              <a:t>differ</a:t>
            </a:r>
            <a:r>
              <a:rPr spc="-50" dirty="0"/>
              <a:t> </a:t>
            </a:r>
            <a:r>
              <a:rPr dirty="0"/>
              <a:t>from</a:t>
            </a:r>
            <a:r>
              <a:rPr spc="-50" dirty="0"/>
              <a:t> </a:t>
            </a:r>
            <a:r>
              <a:rPr spc="-10" dirty="0"/>
              <a:t>other industries?</a:t>
            </a:r>
          </a:p>
          <a:p>
            <a:pPr marL="370205" marR="5080" indent="-351155">
              <a:lnSpc>
                <a:spcPct val="125000"/>
              </a:lnSpc>
              <a:spcBef>
                <a:spcPts val="675"/>
              </a:spcBef>
              <a:buAutoNum type="arabicPeriod"/>
              <a:tabLst>
                <a:tab pos="370205" algn="l"/>
              </a:tabLst>
            </a:pPr>
            <a:r>
              <a:rPr spc="-125" dirty="0"/>
              <a:t>Can</a:t>
            </a:r>
            <a:r>
              <a:rPr spc="-60" dirty="0"/>
              <a:t> </a:t>
            </a:r>
            <a:r>
              <a:rPr dirty="0"/>
              <a:t>you</a:t>
            </a:r>
            <a:r>
              <a:rPr spc="-55" dirty="0"/>
              <a:t> </a:t>
            </a:r>
            <a:r>
              <a:rPr dirty="0"/>
              <a:t>think</a:t>
            </a:r>
            <a:r>
              <a:rPr spc="-55" dirty="0"/>
              <a:t> </a:t>
            </a:r>
            <a:r>
              <a:rPr dirty="0"/>
              <a:t>of</a:t>
            </a:r>
            <a:r>
              <a:rPr spc="-55" dirty="0"/>
              <a:t> </a:t>
            </a:r>
            <a:r>
              <a:rPr spc="-140" dirty="0"/>
              <a:t>a</a:t>
            </a:r>
            <a:r>
              <a:rPr spc="-60" dirty="0"/>
              <a:t> </a:t>
            </a:r>
            <a:r>
              <a:rPr dirty="0"/>
              <a:t>project</a:t>
            </a:r>
            <a:r>
              <a:rPr spc="-55" dirty="0"/>
              <a:t> </a:t>
            </a:r>
            <a:r>
              <a:rPr dirty="0"/>
              <a:t>where</a:t>
            </a:r>
            <a:r>
              <a:rPr spc="-55" dirty="0"/>
              <a:t> </a:t>
            </a:r>
            <a:r>
              <a:rPr dirty="0"/>
              <a:t>poor</a:t>
            </a:r>
            <a:r>
              <a:rPr spc="-55" dirty="0"/>
              <a:t> </a:t>
            </a:r>
            <a:r>
              <a:rPr dirty="0"/>
              <a:t>project</a:t>
            </a:r>
            <a:r>
              <a:rPr spc="-55" dirty="0"/>
              <a:t> </a:t>
            </a:r>
            <a:r>
              <a:rPr spc="-50" dirty="0"/>
              <a:t>management</a:t>
            </a:r>
            <a:r>
              <a:rPr spc="-60" dirty="0"/>
              <a:t> </a:t>
            </a:r>
            <a:r>
              <a:rPr dirty="0"/>
              <a:t>led</a:t>
            </a:r>
            <a:r>
              <a:rPr spc="-55" dirty="0"/>
              <a:t> </a:t>
            </a:r>
            <a:r>
              <a:rPr dirty="0"/>
              <a:t>to</a:t>
            </a:r>
            <a:r>
              <a:rPr spc="-55" dirty="0"/>
              <a:t> </a:t>
            </a:r>
            <a:r>
              <a:rPr dirty="0"/>
              <a:t>its</a:t>
            </a:r>
            <a:r>
              <a:rPr spc="-55" dirty="0"/>
              <a:t> </a:t>
            </a:r>
            <a:r>
              <a:rPr spc="-50" dirty="0"/>
              <a:t>failure?</a:t>
            </a:r>
            <a:r>
              <a:rPr spc="-55" dirty="0"/>
              <a:t> </a:t>
            </a:r>
            <a:r>
              <a:rPr spc="30" dirty="0"/>
              <a:t>What </a:t>
            </a:r>
            <a:r>
              <a:rPr dirty="0"/>
              <a:t>could</a:t>
            </a:r>
            <a:r>
              <a:rPr spc="-100" dirty="0"/>
              <a:t> </a:t>
            </a:r>
            <a:r>
              <a:rPr spc="-55" dirty="0"/>
              <a:t>have</a:t>
            </a:r>
            <a:r>
              <a:rPr spc="-95" dirty="0"/>
              <a:t> </a:t>
            </a:r>
            <a:r>
              <a:rPr spc="-45" dirty="0"/>
              <a:t>been</a:t>
            </a:r>
            <a:r>
              <a:rPr spc="-95" dirty="0"/>
              <a:t> </a:t>
            </a:r>
            <a:r>
              <a:rPr spc="-10" dirty="0"/>
              <a:t>done</a:t>
            </a:r>
            <a:r>
              <a:rPr spc="-95" dirty="0"/>
              <a:t> </a:t>
            </a:r>
            <a:r>
              <a:rPr spc="-10" dirty="0"/>
              <a:t>differently?</a:t>
            </a:r>
          </a:p>
          <a:p>
            <a:pPr marL="370205" marR="427990" indent="-358140">
              <a:lnSpc>
                <a:spcPct val="125000"/>
              </a:lnSpc>
              <a:spcBef>
                <a:spcPts val="600"/>
              </a:spcBef>
              <a:buAutoNum type="arabicPeriod"/>
              <a:tabLst>
                <a:tab pos="370205" algn="l"/>
              </a:tabLst>
            </a:pPr>
            <a:r>
              <a:rPr spc="55" dirty="0"/>
              <a:t>How</a:t>
            </a:r>
            <a:r>
              <a:rPr spc="-55" dirty="0"/>
              <a:t> </a:t>
            </a:r>
            <a:r>
              <a:rPr dirty="0"/>
              <a:t>do</a:t>
            </a:r>
            <a:r>
              <a:rPr spc="-55" dirty="0"/>
              <a:t> </a:t>
            </a:r>
            <a:r>
              <a:rPr dirty="0"/>
              <a:t>different</a:t>
            </a:r>
            <a:r>
              <a:rPr spc="-50" dirty="0"/>
              <a:t> </a:t>
            </a:r>
            <a:r>
              <a:rPr dirty="0"/>
              <a:t>project</a:t>
            </a:r>
            <a:r>
              <a:rPr spc="-55" dirty="0"/>
              <a:t> </a:t>
            </a:r>
            <a:r>
              <a:rPr spc="-50" dirty="0"/>
              <a:t>management</a:t>
            </a:r>
            <a:r>
              <a:rPr spc="-55" dirty="0"/>
              <a:t> </a:t>
            </a:r>
            <a:r>
              <a:rPr spc="-25" dirty="0" smtClean="0"/>
              <a:t>methodologies</a:t>
            </a:r>
            <a:r>
              <a:rPr spc="-10" dirty="0" smtClean="0"/>
              <a:t> </a:t>
            </a:r>
            <a:r>
              <a:rPr dirty="0"/>
              <a:t>impact</a:t>
            </a:r>
            <a:r>
              <a:rPr spc="-80" dirty="0"/>
              <a:t> </a:t>
            </a:r>
            <a:r>
              <a:rPr dirty="0"/>
              <a:t>the</a:t>
            </a:r>
            <a:r>
              <a:rPr spc="-80" dirty="0"/>
              <a:t> </a:t>
            </a:r>
            <a:r>
              <a:rPr dirty="0"/>
              <a:t>role</a:t>
            </a:r>
            <a:r>
              <a:rPr spc="-75" dirty="0"/>
              <a:t> </a:t>
            </a:r>
            <a:r>
              <a:rPr dirty="0"/>
              <a:t>of</a:t>
            </a:r>
            <a:r>
              <a:rPr spc="-80" dirty="0"/>
              <a:t> </a:t>
            </a:r>
            <a:r>
              <a:rPr dirty="0"/>
              <a:t>the</a:t>
            </a:r>
            <a:r>
              <a:rPr spc="-80" dirty="0"/>
              <a:t> </a:t>
            </a:r>
            <a:r>
              <a:rPr dirty="0"/>
              <a:t>project</a:t>
            </a:r>
            <a:r>
              <a:rPr spc="-75" dirty="0"/>
              <a:t> </a:t>
            </a:r>
            <a:r>
              <a:rPr spc="-10" dirty="0"/>
              <a:t>manager?</a:t>
            </a:r>
          </a:p>
        </p:txBody>
      </p:sp>
      <p:sp>
        <p:nvSpPr>
          <p:cNvPr id="4" name="object 4"/>
          <p:cNvSpPr txBox="1"/>
          <p:nvPr/>
        </p:nvSpPr>
        <p:spPr>
          <a:xfrm>
            <a:off x="273049" y="205866"/>
            <a:ext cx="5252085" cy="231140"/>
          </a:xfrm>
          <a:prstGeom prst="rect">
            <a:avLst/>
          </a:prstGeom>
        </p:spPr>
        <p:txBody>
          <a:bodyPr vert="horz" wrap="square" lIns="0" tIns="12700" rIns="0" bIns="0" rtlCol="0">
            <a:spAutoFit/>
          </a:bodyPr>
          <a:lstStyle/>
          <a:p>
            <a:pPr marL="12700">
              <a:lnSpc>
                <a:spcPct val="100000"/>
              </a:lnSpc>
              <a:spcBef>
                <a:spcPts val="100"/>
              </a:spcBef>
            </a:pPr>
            <a:r>
              <a:rPr sz="1350" dirty="0">
                <a:solidFill>
                  <a:srgbClr val="666666"/>
                </a:solidFill>
                <a:latin typeface="Arial"/>
                <a:cs typeface="Arial"/>
              </a:rPr>
              <a:t>Overview</a:t>
            </a:r>
            <a:r>
              <a:rPr sz="1350" spc="-30" dirty="0">
                <a:solidFill>
                  <a:srgbClr val="666666"/>
                </a:solidFill>
                <a:latin typeface="Arial"/>
                <a:cs typeface="Arial"/>
              </a:rPr>
              <a:t> </a:t>
            </a:r>
            <a:r>
              <a:rPr sz="1350" dirty="0">
                <a:solidFill>
                  <a:srgbClr val="666666"/>
                </a:solidFill>
                <a:latin typeface="Arial"/>
                <a:cs typeface="Arial"/>
              </a:rPr>
              <a:t>of</a:t>
            </a:r>
            <a:r>
              <a:rPr sz="1350" spc="-30" dirty="0">
                <a:solidFill>
                  <a:srgbClr val="666666"/>
                </a:solidFill>
                <a:latin typeface="Arial"/>
                <a:cs typeface="Arial"/>
              </a:rPr>
              <a:t> </a:t>
            </a:r>
            <a:r>
              <a:rPr sz="1350" spc="-25" dirty="0">
                <a:solidFill>
                  <a:srgbClr val="666666"/>
                </a:solidFill>
                <a:latin typeface="Arial"/>
                <a:cs typeface="Arial"/>
              </a:rPr>
              <a:t>Project </a:t>
            </a:r>
            <a:r>
              <a:rPr sz="1350" spc="-35" dirty="0">
                <a:solidFill>
                  <a:srgbClr val="666666"/>
                </a:solidFill>
                <a:latin typeface="Arial"/>
                <a:cs typeface="Arial"/>
              </a:rPr>
              <a:t>Management</a:t>
            </a:r>
            <a:r>
              <a:rPr sz="1350" spc="-30" dirty="0">
                <a:solidFill>
                  <a:srgbClr val="666666"/>
                </a:solidFill>
                <a:latin typeface="Arial"/>
                <a:cs typeface="Arial"/>
              </a:rPr>
              <a:t> </a:t>
            </a:r>
            <a:r>
              <a:rPr sz="1350" dirty="0">
                <a:solidFill>
                  <a:srgbClr val="666666"/>
                </a:solidFill>
                <a:latin typeface="Arial"/>
                <a:cs typeface="Arial"/>
              </a:rPr>
              <a:t>in</a:t>
            </a:r>
            <a:r>
              <a:rPr sz="1350" spc="-25" dirty="0">
                <a:solidFill>
                  <a:srgbClr val="666666"/>
                </a:solidFill>
                <a:latin typeface="Arial"/>
                <a:cs typeface="Arial"/>
              </a:rPr>
              <a:t> </a:t>
            </a:r>
            <a:r>
              <a:rPr sz="1350" spc="-10" dirty="0">
                <a:solidFill>
                  <a:srgbClr val="666666"/>
                </a:solidFill>
                <a:latin typeface="Arial"/>
                <a:cs typeface="Arial"/>
              </a:rPr>
              <a:t>Software</a:t>
            </a:r>
            <a:r>
              <a:rPr sz="1350" spc="-30" dirty="0">
                <a:solidFill>
                  <a:srgbClr val="666666"/>
                </a:solidFill>
                <a:latin typeface="Arial"/>
                <a:cs typeface="Arial"/>
              </a:rPr>
              <a:t> </a:t>
            </a:r>
            <a:r>
              <a:rPr sz="1350" spc="-10" dirty="0">
                <a:solidFill>
                  <a:srgbClr val="666666"/>
                </a:solidFill>
                <a:latin typeface="Arial"/>
                <a:cs typeface="Arial"/>
              </a:rPr>
              <a:t>Development</a:t>
            </a:r>
            <a:r>
              <a:rPr sz="1350" spc="-25" dirty="0">
                <a:solidFill>
                  <a:srgbClr val="666666"/>
                </a:solidFill>
                <a:latin typeface="Arial"/>
                <a:cs typeface="Arial"/>
              </a:rPr>
              <a:t> </a:t>
            </a:r>
            <a:r>
              <a:rPr sz="1350" dirty="0">
                <a:solidFill>
                  <a:srgbClr val="666666"/>
                </a:solidFill>
                <a:latin typeface="Arial"/>
                <a:cs typeface="Arial"/>
              </a:rPr>
              <a:t>|</a:t>
            </a:r>
            <a:r>
              <a:rPr sz="1350" spc="-30" dirty="0">
                <a:solidFill>
                  <a:srgbClr val="666666"/>
                </a:solidFill>
                <a:latin typeface="Arial"/>
                <a:cs typeface="Arial"/>
              </a:rPr>
              <a:t> </a:t>
            </a:r>
            <a:r>
              <a:rPr sz="1350" spc="-20" dirty="0">
                <a:solidFill>
                  <a:srgbClr val="666666"/>
                </a:solidFill>
                <a:latin typeface="Arial"/>
                <a:cs typeface="Arial"/>
              </a:rPr>
              <a:t>Lecture</a:t>
            </a:r>
            <a:r>
              <a:rPr sz="1350" spc="-25" dirty="0">
                <a:solidFill>
                  <a:srgbClr val="666666"/>
                </a:solidFill>
                <a:latin typeface="Arial"/>
                <a:cs typeface="Arial"/>
              </a:rPr>
              <a:t> </a:t>
            </a:r>
            <a:r>
              <a:rPr sz="1350" spc="-50" dirty="0">
                <a:solidFill>
                  <a:srgbClr val="666666"/>
                </a:solidFill>
                <a:latin typeface="Arial"/>
                <a:cs typeface="Arial"/>
              </a:rPr>
              <a:t>2</a:t>
            </a:r>
            <a:endParaRPr sz="135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1417</Words>
  <Application>Microsoft Office PowerPoint</Application>
  <PresentationFormat>Widescreen</PresentationFormat>
  <Paragraphs>154</Paragraphs>
  <Slides>24</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Office Theme</vt:lpstr>
      <vt:lpstr>Lecture 1: Overview of Project Management in Software Development</vt:lpstr>
      <vt:lpstr>1. Introduction to Project Management in Software Development</vt:lpstr>
      <vt:lpstr>1.2 Importance in Software Development</vt:lpstr>
      <vt:lpstr>1.2 Importance in Software Development</vt:lpstr>
      <vt:lpstr>1.3 Real-World Example Consider a software development project aimed at creating a mobile banking app. Project management ensures that:</vt:lpstr>
      <vt:lpstr>Initial: Objectives are defined, stakeholders are identified, and feasibility is assessed. Planning: Detailed project plans are created, including timelines, budgets, and resource allocation.</vt:lpstr>
      <vt:lpstr>PowerPoint Presentation</vt:lpstr>
      <vt:lpstr>2.1 Initial</vt:lpstr>
      <vt:lpstr>Example A company decides to develop a new e-commerce platform. During initiation, the project manager creates a Project Charter outlining the project’s purpose, scope, and key stakeholders, such as the marketing team, IT department, and end-users.</vt:lpstr>
      <vt:lpstr>2.2 Planning</vt:lpstr>
      <vt:lpstr>Deliverables:</vt:lpstr>
      <vt:lpstr>2.3 Execution</vt:lpstr>
      <vt:lpstr>Deliverables:</vt:lpstr>
      <vt:lpstr>2.4 Monitoring and Controlling</vt:lpstr>
      <vt:lpstr>Deliverables:</vt:lpstr>
      <vt:lpstr>2.5 Closing</vt:lpstr>
      <vt:lpstr>Deliverables:</vt:lpstr>
      <vt:lpstr>3. Role of a Software Project Manager</vt:lpstr>
      <vt:lpstr>3.1 Key Responsibilities</vt:lpstr>
      <vt:lpstr>Quality Assurance: Ensure that the software meets quality standards and user requirements through regular testing and reviews.</vt:lpstr>
      <vt:lpstr>3.2 Essential Skills</vt:lpstr>
      <vt:lpstr>3.3 Example Imagine a project manager overseeing the development of a new software application. They must coordinate between developers, designers, and QA testers, ensure that the project stays within budget, manage any unexpected technical challenges, and keep stakeholders informed about progress and any changes in scope.</vt:lpstr>
      <vt:lpstr>4. Summary</vt:lpstr>
      <vt:lpstr>5. Discussion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Overview of Project Management in Software Development</dc:title>
  <cp:lastModifiedBy>Admin</cp:lastModifiedBy>
  <cp:revision>6</cp:revision>
  <dcterms:created xsi:type="dcterms:W3CDTF">2026-02-11T10:36:54Z</dcterms:created>
  <dcterms:modified xsi:type="dcterms:W3CDTF">2026-02-11T11:31:02Z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2026-02-11T00:00:00Z</vt:filetime>
  </property>
  <property fmtid="{D5CDD505-2E9C-101B-9397-08002B2CF9AE}" pid="3" name="Creator">
    <vt:lpwstr>Google</vt:lpwstr>
  </property>
  <property fmtid="{D5CDD505-2E9C-101B-9397-08002B2CF9AE}" pid="4" name="LastSaved">
    <vt:filetime>2026-02-11T00:00:00Z</vt:filetime>
  </property>
  <property fmtid="{D5CDD505-2E9C-101B-9397-08002B2CF9AE}" pid="5" name="Producer">
    <vt:lpwstr>3-Heights(TM) PDF Security Shell 4.8.25.2 (http://www.pdf-tools.com)</vt:lpwstr>
  </property>
</Properties>
</file>