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9B09A-843F-4E77-BE09-B81402A1A0B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335E-F463-4155-A300-E364B4717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4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>
                <a:latin typeface="Segoe UI Semibold"/>
                <a:cs typeface="Segoe UI Semibold"/>
              </a:rPr>
              <a:t>Kanban:</a:t>
            </a:r>
            <a:r>
              <a:rPr lang="en-US" sz="1200" spc="75" dirty="0" smtClean="0">
                <a:latin typeface="Segoe UI Semibold"/>
                <a:cs typeface="Segoe UI Semibold"/>
              </a:rPr>
              <a:t> </a:t>
            </a:r>
            <a:r>
              <a:rPr lang="en-US" sz="1200" dirty="0" smtClean="0">
                <a:latin typeface="Segoe UI"/>
                <a:cs typeface="Segoe UI"/>
              </a:rPr>
              <a:t>Emphasizes</a:t>
            </a:r>
            <a:r>
              <a:rPr lang="en-US" sz="1200" spc="85" dirty="0" smtClean="0">
                <a:latin typeface="Segoe UI"/>
                <a:cs typeface="Segoe UI"/>
              </a:rPr>
              <a:t> </a:t>
            </a:r>
            <a:r>
              <a:rPr lang="en-US" sz="1200" dirty="0" smtClean="0">
                <a:latin typeface="Segoe UI"/>
                <a:cs typeface="Segoe UI"/>
              </a:rPr>
              <a:t>visual</a:t>
            </a:r>
            <a:r>
              <a:rPr lang="en-US" sz="1200" spc="85" dirty="0" smtClean="0">
                <a:latin typeface="Segoe UI"/>
                <a:cs typeface="Segoe UI"/>
              </a:rPr>
              <a:t> </a:t>
            </a:r>
            <a:r>
              <a:rPr lang="en-US" sz="1200" dirty="0" smtClean="0">
                <a:latin typeface="Segoe UI"/>
                <a:cs typeface="Segoe UI"/>
              </a:rPr>
              <a:t>workflow</a:t>
            </a:r>
            <a:r>
              <a:rPr lang="en-US" sz="1200" spc="90" dirty="0" smtClean="0">
                <a:latin typeface="Segoe UI"/>
                <a:cs typeface="Segoe UI"/>
              </a:rPr>
              <a:t> </a:t>
            </a:r>
            <a:r>
              <a:rPr lang="en-US" sz="1200" dirty="0" smtClean="0">
                <a:latin typeface="Segoe UI"/>
                <a:cs typeface="Segoe UI"/>
              </a:rPr>
              <a:t>management</a:t>
            </a:r>
            <a:r>
              <a:rPr lang="en-US" sz="1200" spc="85" dirty="0" smtClean="0">
                <a:latin typeface="Segoe UI"/>
                <a:cs typeface="Segoe UI"/>
              </a:rPr>
              <a:t> </a:t>
            </a:r>
            <a:r>
              <a:rPr lang="en-US" sz="1200" dirty="0" smtClean="0">
                <a:latin typeface="Segoe UI"/>
                <a:cs typeface="Segoe UI"/>
              </a:rPr>
              <a:t>and</a:t>
            </a:r>
            <a:r>
              <a:rPr lang="en-US" sz="1200" spc="85" dirty="0" smtClean="0">
                <a:latin typeface="Segoe UI"/>
                <a:cs typeface="Segoe UI"/>
              </a:rPr>
              <a:t> </a:t>
            </a:r>
            <a:r>
              <a:rPr lang="en-US" sz="1200" dirty="0" smtClean="0">
                <a:latin typeface="Segoe UI"/>
                <a:cs typeface="Segoe UI"/>
              </a:rPr>
              <a:t>continuous</a:t>
            </a:r>
            <a:r>
              <a:rPr lang="en-US" sz="1200" spc="85" dirty="0" smtClean="0">
                <a:latin typeface="Segoe UI"/>
                <a:cs typeface="Segoe UI"/>
              </a:rPr>
              <a:t> </a:t>
            </a:r>
            <a:r>
              <a:rPr lang="en-US" sz="1200" spc="-10" dirty="0" smtClean="0">
                <a:latin typeface="Segoe UI"/>
                <a:cs typeface="Segoe UI"/>
              </a:rPr>
              <a:t>delivery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A335E-F463-4155-A300-E364B47174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22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Scope creep is the uncontrolled, undocumented, and gradual expansion of a project’s scope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2A335E-F463-4155-A300-E364B47174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94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531427"/>
            <a:ext cx="4861560" cy="39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4487CC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>
                <a:latin typeface="Segoe UI Semibold"/>
                <a:cs typeface="Segoe UI Semibold"/>
              </a:rPr>
              <a:t>Abdur</a:t>
            </a:r>
            <a:r>
              <a:rPr spc="-30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Rehman</a:t>
            </a:r>
            <a:r>
              <a:rPr spc="-25" dirty="0">
                <a:latin typeface="Segoe UI Semibold"/>
                <a:cs typeface="Segoe UI Semibold"/>
              </a:rPr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dirty="0"/>
              <a:t>SPM</a:t>
            </a:r>
            <a:r>
              <a:rPr spc="-25" dirty="0"/>
              <a:t> </a:t>
            </a:r>
            <a:r>
              <a:rPr dirty="0"/>
              <a:t>Lecture</a:t>
            </a:r>
            <a:r>
              <a:rPr spc="-30" dirty="0"/>
              <a:t> </a:t>
            </a:r>
            <a:r>
              <a:rPr spc="-50" dirty="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4487CC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>
                <a:latin typeface="Segoe UI Semibold"/>
                <a:cs typeface="Segoe UI Semibold"/>
              </a:rPr>
              <a:t>Abdur</a:t>
            </a:r>
            <a:r>
              <a:rPr spc="-30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Rehman</a:t>
            </a:r>
            <a:r>
              <a:rPr spc="-25" dirty="0">
                <a:latin typeface="Segoe UI Semibold"/>
                <a:cs typeface="Segoe UI Semibold"/>
              </a:rPr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dirty="0"/>
              <a:t>SPM</a:t>
            </a:r>
            <a:r>
              <a:rPr spc="-25" dirty="0"/>
              <a:t> </a:t>
            </a:r>
            <a:r>
              <a:rPr dirty="0"/>
              <a:t>Lecture</a:t>
            </a:r>
            <a:r>
              <a:rPr spc="-30" dirty="0"/>
              <a:t> </a:t>
            </a:r>
            <a:r>
              <a:rPr spc="-50" dirty="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4487CC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>
                <a:latin typeface="Segoe UI Semibold"/>
                <a:cs typeface="Segoe UI Semibold"/>
              </a:rPr>
              <a:t>Abdur</a:t>
            </a:r>
            <a:r>
              <a:rPr spc="-30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Rehman</a:t>
            </a:r>
            <a:r>
              <a:rPr spc="-25" dirty="0">
                <a:latin typeface="Segoe UI Semibold"/>
                <a:cs typeface="Segoe UI Semibold"/>
              </a:rPr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dirty="0"/>
              <a:t>SPM</a:t>
            </a:r>
            <a:r>
              <a:rPr spc="-25" dirty="0"/>
              <a:t> </a:t>
            </a:r>
            <a:r>
              <a:rPr dirty="0"/>
              <a:t>Lecture</a:t>
            </a:r>
            <a:r>
              <a:rPr spc="-30" dirty="0"/>
              <a:t> </a:t>
            </a:r>
            <a:r>
              <a:rPr spc="-50" dirty="0"/>
              <a:t>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4487CC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>
                <a:latin typeface="Segoe UI Semibold"/>
                <a:cs typeface="Segoe UI Semibold"/>
              </a:rPr>
              <a:t>Abdur</a:t>
            </a:r>
            <a:r>
              <a:rPr spc="-30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Rehman</a:t>
            </a:r>
            <a:r>
              <a:rPr spc="-25" dirty="0">
                <a:latin typeface="Segoe UI Semibold"/>
                <a:cs typeface="Segoe UI Semibold"/>
              </a:rPr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dirty="0"/>
              <a:t>SPM</a:t>
            </a:r>
            <a:r>
              <a:rPr spc="-25" dirty="0"/>
              <a:t> </a:t>
            </a:r>
            <a:r>
              <a:rPr dirty="0"/>
              <a:t>Lecture</a:t>
            </a:r>
            <a:r>
              <a:rPr spc="-30" dirty="0"/>
              <a:t> </a:t>
            </a:r>
            <a:r>
              <a:rPr spc="-50" dirty="0"/>
              <a:t>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>
                <a:latin typeface="Segoe UI Semibold"/>
                <a:cs typeface="Segoe UI Semibold"/>
              </a:rPr>
              <a:t>Abdur</a:t>
            </a:r>
            <a:r>
              <a:rPr spc="-30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Rehman</a:t>
            </a:r>
            <a:r>
              <a:rPr spc="-25" dirty="0">
                <a:latin typeface="Segoe UI Semibold"/>
                <a:cs typeface="Segoe UI Semibold"/>
              </a:rPr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dirty="0"/>
              <a:t>SPM</a:t>
            </a:r>
            <a:r>
              <a:rPr spc="-25" dirty="0"/>
              <a:t> </a:t>
            </a:r>
            <a:r>
              <a:rPr dirty="0"/>
              <a:t>Lecture</a:t>
            </a:r>
            <a:r>
              <a:rPr spc="-30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207452"/>
            <a:ext cx="7066915" cy="39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4487CC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1480819"/>
            <a:ext cx="10704195" cy="4330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3050" y="6393588"/>
            <a:ext cx="240919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>
                <a:latin typeface="Segoe UI Semibold"/>
                <a:cs typeface="Segoe UI Semibold"/>
              </a:rPr>
              <a:t>Abdur</a:t>
            </a:r>
            <a:r>
              <a:rPr spc="-30" dirty="0">
                <a:latin typeface="Segoe UI Semibold"/>
                <a:cs typeface="Segoe UI Semibold"/>
              </a:rPr>
              <a:t> </a:t>
            </a:r>
            <a:r>
              <a:rPr dirty="0">
                <a:latin typeface="Segoe UI Semibold"/>
                <a:cs typeface="Segoe UI Semibold"/>
              </a:rPr>
              <a:t>Rehman</a:t>
            </a:r>
            <a:r>
              <a:rPr spc="-25" dirty="0">
                <a:latin typeface="Segoe UI Semibold"/>
                <a:cs typeface="Segoe UI Semibold"/>
              </a:rPr>
              <a:t> </a:t>
            </a:r>
            <a:r>
              <a:rPr dirty="0"/>
              <a:t>|</a:t>
            </a:r>
            <a:r>
              <a:rPr spc="-25" dirty="0"/>
              <a:t> </a:t>
            </a:r>
            <a:r>
              <a:rPr dirty="0"/>
              <a:t>SPM</a:t>
            </a:r>
            <a:r>
              <a:rPr spc="-25" dirty="0"/>
              <a:t> </a:t>
            </a:r>
            <a:r>
              <a:rPr dirty="0"/>
              <a:t>Lecture</a:t>
            </a:r>
            <a:r>
              <a:rPr spc="-30" dirty="0"/>
              <a:t> </a:t>
            </a:r>
            <a:r>
              <a:rPr spc="-50" dirty="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21643" y="6322392"/>
            <a:ext cx="335915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923857"/>
            <a:ext cx="10224135" cy="904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55"/>
              </a:spcBef>
            </a:pPr>
            <a:r>
              <a:rPr sz="2800" dirty="0"/>
              <a:t>Lecture</a:t>
            </a:r>
            <a:r>
              <a:rPr sz="2800" spc="15" dirty="0"/>
              <a:t> </a:t>
            </a:r>
            <a:r>
              <a:rPr sz="2800" dirty="0"/>
              <a:t>3:</a:t>
            </a:r>
            <a:r>
              <a:rPr sz="2800" spc="20" dirty="0"/>
              <a:t> </a:t>
            </a:r>
            <a:r>
              <a:rPr sz="2800" dirty="0"/>
              <a:t>Understanding</a:t>
            </a:r>
            <a:r>
              <a:rPr sz="2800" spc="20" dirty="0"/>
              <a:t> </a:t>
            </a:r>
            <a:r>
              <a:rPr sz="2800" dirty="0"/>
              <a:t>the</a:t>
            </a:r>
            <a:r>
              <a:rPr sz="2800" spc="15" dirty="0"/>
              <a:t> </a:t>
            </a:r>
            <a:r>
              <a:rPr sz="2800" dirty="0"/>
              <a:t>Software</a:t>
            </a:r>
            <a:r>
              <a:rPr sz="2800" spc="20" dirty="0"/>
              <a:t> </a:t>
            </a:r>
            <a:r>
              <a:rPr sz="2800" dirty="0"/>
              <a:t>Development</a:t>
            </a:r>
            <a:r>
              <a:rPr sz="2800" spc="20" dirty="0"/>
              <a:t> </a:t>
            </a:r>
            <a:r>
              <a:rPr sz="2800" dirty="0"/>
              <a:t>Life</a:t>
            </a:r>
            <a:r>
              <a:rPr sz="2800" spc="15" dirty="0"/>
              <a:t> </a:t>
            </a:r>
            <a:r>
              <a:rPr sz="2800" spc="-10" dirty="0"/>
              <a:t>Cycle (SDLC)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97977"/>
            <a:ext cx="275717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1.</a:t>
            </a:r>
            <a:r>
              <a:rPr sz="2400" spc="-30" dirty="0"/>
              <a:t> </a:t>
            </a:r>
            <a:r>
              <a:rPr sz="2400" dirty="0"/>
              <a:t>Overview</a:t>
            </a:r>
            <a:r>
              <a:rPr sz="2400" spc="-25" dirty="0"/>
              <a:t> </a:t>
            </a:r>
            <a:r>
              <a:rPr sz="2400" dirty="0"/>
              <a:t>of</a:t>
            </a:r>
            <a:r>
              <a:rPr sz="2400" spc="-25" dirty="0"/>
              <a:t> </a:t>
            </a:r>
            <a:r>
              <a:rPr sz="2400" spc="-20" dirty="0"/>
              <a:t>SDLC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314575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71938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629025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033837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519612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5005387"/>
            <a:ext cx="104775" cy="1047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87462" y="2090420"/>
            <a:ext cx="9593580" cy="31305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spc="-10" dirty="0">
                <a:latin typeface="Segoe UI Semibold"/>
                <a:cs typeface="Segoe UI Semibold"/>
              </a:rPr>
              <a:t>Definition:</a:t>
            </a:r>
            <a:endParaRPr sz="2150">
              <a:latin typeface="Segoe UI Semibold"/>
              <a:cs typeface="Segoe UI Semibold"/>
            </a:endParaRPr>
          </a:p>
          <a:p>
            <a:pPr marL="565150" marR="5080">
              <a:lnSpc>
                <a:spcPts val="3300"/>
              </a:lnSpc>
              <a:spcBef>
                <a:spcPts val="155"/>
              </a:spcBef>
            </a:pPr>
            <a:r>
              <a:rPr sz="2150" dirty="0">
                <a:latin typeface="Segoe UI"/>
                <a:cs typeface="Segoe UI"/>
              </a:rPr>
              <a:t>SDLC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is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structured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process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used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developing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information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systems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25" dirty="0">
                <a:latin typeface="Segoe UI"/>
                <a:cs typeface="Segoe UI"/>
              </a:rPr>
              <a:t>and </a:t>
            </a:r>
            <a:r>
              <a:rPr sz="2150" dirty="0">
                <a:latin typeface="Segoe UI"/>
                <a:cs typeface="Segoe UI"/>
              </a:rPr>
              <a:t>software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efficiently.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150" dirty="0">
                <a:latin typeface="Segoe UI Semibold"/>
                <a:cs typeface="Segoe UI Semibold"/>
              </a:rPr>
              <a:t>Importance</a:t>
            </a:r>
            <a:r>
              <a:rPr sz="2150" spc="8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in</a:t>
            </a:r>
            <a:r>
              <a:rPr sz="2150" spc="8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Software</a:t>
            </a:r>
            <a:r>
              <a:rPr sz="2150" spc="8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Development: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Provides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systematic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approach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management.</a:t>
            </a:r>
            <a:endParaRPr sz="2150">
              <a:latin typeface="Segoe UI"/>
              <a:cs typeface="Segoe UI"/>
            </a:endParaRPr>
          </a:p>
          <a:p>
            <a:pPr marL="565150" marR="1655445">
              <a:lnSpc>
                <a:spcPts val="3829"/>
              </a:lnSpc>
              <a:spcBef>
                <a:spcPts val="130"/>
              </a:spcBef>
            </a:pPr>
            <a:r>
              <a:rPr sz="2150" dirty="0">
                <a:latin typeface="Segoe UI"/>
                <a:cs typeface="Segoe UI"/>
              </a:rPr>
              <a:t>Enhances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quality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manageability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software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product. </a:t>
            </a:r>
            <a:r>
              <a:rPr sz="2150" dirty="0">
                <a:latin typeface="Segoe UI"/>
                <a:cs typeface="Segoe UI"/>
              </a:rPr>
              <a:t>Facilitates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clear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communication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among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stakeholders.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502602"/>
            <a:ext cx="216408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2.</a:t>
            </a:r>
            <a:r>
              <a:rPr sz="2400" spc="-80" dirty="0"/>
              <a:t> </a:t>
            </a:r>
            <a:r>
              <a:rPr sz="2400" dirty="0"/>
              <a:t>SDLC</a:t>
            </a:r>
            <a:r>
              <a:rPr sz="2400" spc="-75" dirty="0"/>
              <a:t> </a:t>
            </a:r>
            <a:r>
              <a:rPr sz="2400" spc="-10" dirty="0"/>
              <a:t>Models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962150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36696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267075"/>
            <a:ext cx="95250" cy="952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1268888"/>
            <a:ext cx="10708640" cy="5047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634" lvl="1" indent="-495934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508634" algn="l"/>
              </a:tabLst>
            </a:pPr>
            <a:r>
              <a:rPr sz="2250" dirty="0">
                <a:solidFill>
                  <a:srgbClr val="4487CC"/>
                </a:solidFill>
                <a:latin typeface="Segoe UI Semibold"/>
                <a:cs typeface="Segoe UI Semibold"/>
              </a:rPr>
              <a:t>Waterfall</a:t>
            </a:r>
            <a:r>
              <a:rPr sz="2250" spc="20" dirty="0">
                <a:solidFill>
                  <a:srgbClr val="4487CC"/>
                </a:solidFill>
                <a:latin typeface="Segoe UI Semibold"/>
                <a:cs typeface="Segoe UI Semibold"/>
              </a:rPr>
              <a:t> </a:t>
            </a:r>
            <a:r>
              <a:rPr sz="2250" spc="-20" dirty="0">
                <a:solidFill>
                  <a:srgbClr val="4487CC"/>
                </a:solidFill>
                <a:latin typeface="Segoe UI Semibold"/>
                <a:cs typeface="Segoe UI Semibold"/>
              </a:rPr>
              <a:t>Model</a:t>
            </a:r>
            <a:endParaRPr sz="22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1600"/>
              </a:spcBef>
            </a:pPr>
            <a:r>
              <a:rPr sz="2150" spc="-10" dirty="0">
                <a:latin typeface="Segoe UI Semibold"/>
                <a:cs typeface="Segoe UI Semibold"/>
              </a:rPr>
              <a:t>Description:</a:t>
            </a:r>
            <a:endParaRPr sz="2150">
              <a:latin typeface="Segoe UI Semibold"/>
              <a:cs typeface="Segoe UI Semibold"/>
            </a:endParaRPr>
          </a:p>
          <a:p>
            <a:pPr marL="1117600" marR="5080">
              <a:lnSpc>
                <a:spcPts val="3300"/>
              </a:lnSpc>
              <a:spcBef>
                <a:spcPts val="155"/>
              </a:spcBef>
            </a:pPr>
            <a:r>
              <a:rPr sz="2150" dirty="0">
                <a:latin typeface="Segoe UI"/>
                <a:cs typeface="Segoe UI"/>
              </a:rPr>
              <a:t>A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linear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sequential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approach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where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each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phase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must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completed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before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next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begins.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940"/>
              </a:spcBef>
            </a:pPr>
            <a:r>
              <a:rPr sz="2150" spc="-10" dirty="0">
                <a:latin typeface="Segoe UI Semibold"/>
                <a:cs typeface="Segoe UI Semibold"/>
              </a:rPr>
              <a:t>Phases:</a:t>
            </a:r>
            <a:endParaRPr sz="2150">
              <a:latin typeface="Segoe UI Semibold"/>
              <a:cs typeface="Segoe UI Semibold"/>
            </a:endParaRPr>
          </a:p>
          <a:p>
            <a:pPr marL="1116965" lvl="2" indent="-201930">
              <a:lnSpc>
                <a:spcPct val="100000"/>
              </a:lnSpc>
              <a:spcBef>
                <a:spcPts val="720"/>
              </a:spcBef>
              <a:buFont typeface="Segoe UI"/>
              <a:buAutoNum type="romanLcPeriod"/>
              <a:tabLst>
                <a:tab pos="1116965" algn="l"/>
              </a:tabLst>
            </a:pPr>
            <a:r>
              <a:rPr sz="2150" dirty="0">
                <a:latin typeface="Segoe UI Semibold"/>
                <a:cs typeface="Segoe UI Semibold"/>
              </a:rPr>
              <a:t>Requirements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Gathering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and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Analysis</a:t>
            </a:r>
            <a:endParaRPr sz="2150">
              <a:latin typeface="Segoe UI Semibold"/>
              <a:cs typeface="Segoe UI Semibold"/>
            </a:endParaRPr>
          </a:p>
          <a:p>
            <a:pPr marL="1116330" lvl="2" indent="-268605">
              <a:lnSpc>
                <a:spcPct val="100000"/>
              </a:lnSpc>
              <a:spcBef>
                <a:spcPts val="1245"/>
              </a:spcBef>
              <a:buFont typeface="Segoe UI"/>
              <a:buAutoNum type="romanLcPeriod"/>
              <a:tabLst>
                <a:tab pos="1116330" algn="l"/>
              </a:tabLst>
            </a:pPr>
            <a:r>
              <a:rPr sz="2150" dirty="0">
                <a:latin typeface="Segoe UI Semibold"/>
                <a:cs typeface="Segoe UI Semibold"/>
              </a:rPr>
              <a:t>System</a:t>
            </a:r>
            <a:r>
              <a:rPr sz="2150" spc="-10" dirty="0">
                <a:latin typeface="Segoe UI Semibold"/>
                <a:cs typeface="Segoe UI Semibold"/>
              </a:rPr>
              <a:t> Design</a:t>
            </a:r>
            <a:endParaRPr sz="2150">
              <a:latin typeface="Segoe UI Semibold"/>
              <a:cs typeface="Segoe UI Semibold"/>
            </a:endParaRPr>
          </a:p>
          <a:p>
            <a:pPr marL="1116330" lvl="2" indent="-335280">
              <a:lnSpc>
                <a:spcPct val="100000"/>
              </a:lnSpc>
              <a:spcBef>
                <a:spcPts val="1170"/>
              </a:spcBef>
              <a:buFont typeface="Segoe UI"/>
              <a:buAutoNum type="romanLcPeriod"/>
              <a:tabLst>
                <a:tab pos="1116330" algn="l"/>
              </a:tabLst>
            </a:pPr>
            <a:r>
              <a:rPr sz="2150" dirty="0">
                <a:latin typeface="Segoe UI Semibold"/>
                <a:cs typeface="Segoe UI Semibold"/>
              </a:rPr>
              <a:t>Implementation</a:t>
            </a:r>
            <a:r>
              <a:rPr sz="2150" spc="16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(Coding)</a:t>
            </a:r>
            <a:endParaRPr sz="2150">
              <a:latin typeface="Segoe UI Semibold"/>
              <a:cs typeface="Segoe UI Semibold"/>
            </a:endParaRPr>
          </a:p>
          <a:p>
            <a:pPr marL="1116330" lvl="2" indent="-334010">
              <a:lnSpc>
                <a:spcPct val="100000"/>
              </a:lnSpc>
              <a:spcBef>
                <a:spcPts val="1245"/>
              </a:spcBef>
              <a:buFont typeface="Segoe UI"/>
              <a:buAutoNum type="romanLcPeriod"/>
              <a:tabLst>
                <a:tab pos="1116330" algn="l"/>
              </a:tabLst>
            </a:pPr>
            <a:r>
              <a:rPr sz="2150" dirty="0">
                <a:latin typeface="Segoe UI Semibold"/>
                <a:cs typeface="Segoe UI Semibold"/>
              </a:rPr>
              <a:t>Integration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and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Testing</a:t>
            </a:r>
            <a:endParaRPr sz="2150">
              <a:latin typeface="Segoe UI Semibold"/>
              <a:cs typeface="Segoe UI Semibold"/>
            </a:endParaRPr>
          </a:p>
          <a:p>
            <a:pPr marL="1116965" lvl="2" indent="-267335">
              <a:lnSpc>
                <a:spcPct val="100000"/>
              </a:lnSpc>
              <a:spcBef>
                <a:spcPts val="1245"/>
              </a:spcBef>
              <a:buFont typeface="Segoe UI"/>
              <a:buAutoNum type="romanLcPeriod"/>
              <a:tabLst>
                <a:tab pos="1116965" algn="l"/>
              </a:tabLst>
            </a:pPr>
            <a:r>
              <a:rPr sz="2150" spc="-10" dirty="0">
                <a:latin typeface="Segoe UI Semibold"/>
                <a:cs typeface="Segoe UI Semibold"/>
              </a:rPr>
              <a:t>Deployment</a:t>
            </a:r>
            <a:endParaRPr sz="2150">
              <a:latin typeface="Segoe UI Semibold"/>
              <a:cs typeface="Segoe UI Semibold"/>
            </a:endParaRPr>
          </a:p>
          <a:p>
            <a:pPr marL="1116330" lvl="2" indent="-334010">
              <a:lnSpc>
                <a:spcPct val="100000"/>
              </a:lnSpc>
              <a:spcBef>
                <a:spcPts val="1245"/>
              </a:spcBef>
              <a:buFont typeface="Segoe UI"/>
              <a:buAutoNum type="romanLcPeriod"/>
              <a:tabLst>
                <a:tab pos="1116330" algn="l"/>
              </a:tabLst>
            </a:pPr>
            <a:r>
              <a:rPr sz="2150" spc="-10" dirty="0">
                <a:latin typeface="Segoe UI Semibold"/>
                <a:cs typeface="Segoe UI Semibold"/>
              </a:rPr>
              <a:t>Maintenance</a:t>
            </a:r>
            <a:endParaRPr sz="2150">
              <a:latin typeface="Segoe UI Semibold"/>
              <a:cs typeface="Segoe UI Semibol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076325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1490662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197643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452687"/>
            <a:ext cx="104775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943225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357562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833812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319587"/>
            <a:ext cx="104775" cy="1047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810125"/>
            <a:ext cx="95250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5214937"/>
            <a:ext cx="104775" cy="1047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5437" y="5700712"/>
            <a:ext cx="104775" cy="1047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87462" y="842644"/>
            <a:ext cx="6953884" cy="50736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Advantages: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Simple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easy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understand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use.</a:t>
            </a:r>
            <a:endParaRPr sz="2150">
              <a:latin typeface="Segoe UI"/>
              <a:cs typeface="Segoe UI"/>
            </a:endParaRPr>
          </a:p>
          <a:p>
            <a:pPr marL="565150" marR="5080">
              <a:lnSpc>
                <a:spcPct val="145300"/>
              </a:lnSpc>
              <a:spcBef>
                <a:spcPts val="75"/>
              </a:spcBef>
            </a:pPr>
            <a:r>
              <a:rPr sz="2150" spc="-20" dirty="0">
                <a:latin typeface="Segoe UI"/>
                <a:cs typeface="Segoe UI"/>
              </a:rPr>
              <a:t>Well-</a:t>
            </a:r>
            <a:r>
              <a:rPr sz="2150" dirty="0">
                <a:latin typeface="Segoe UI"/>
                <a:cs typeface="Segoe UI"/>
              </a:rPr>
              <a:t>documented,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facilitating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clear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tracking. </a:t>
            </a:r>
            <a:r>
              <a:rPr sz="2150" dirty="0">
                <a:latin typeface="Segoe UI"/>
                <a:cs typeface="Segoe UI"/>
              </a:rPr>
              <a:t>Suitable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well-defined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requirements.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latin typeface="Segoe UI Semibold"/>
                <a:cs typeface="Segoe UI Semibold"/>
              </a:rPr>
              <a:t>Disadvantages: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Inflexible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changes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once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is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underway.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"/>
                <a:cs typeface="Segoe UI"/>
              </a:rPr>
              <a:t>Late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detection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defects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can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costly.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Not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ideal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complex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long-term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projects.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Use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Cases: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Projects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stable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requirements.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Industries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like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construction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manufacturing.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364138"/>
            <a:ext cx="2167890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2.2.</a:t>
            </a:r>
            <a:r>
              <a:rPr spc="45" dirty="0"/>
              <a:t> </a:t>
            </a:r>
            <a:r>
              <a:rPr dirty="0"/>
              <a:t>Agile</a:t>
            </a:r>
            <a:r>
              <a:rPr spc="55" dirty="0"/>
              <a:t> </a:t>
            </a:r>
            <a:r>
              <a:rPr spc="-1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066925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47173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37185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786187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271962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748212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5233987"/>
            <a:ext cx="104775" cy="1047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462" y="1842770"/>
            <a:ext cx="9511030" cy="360680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spc="-10" dirty="0">
                <a:latin typeface="Segoe UI Semibold"/>
                <a:cs typeface="Segoe UI Semibold"/>
              </a:rPr>
              <a:t>Description:</a:t>
            </a:r>
            <a:endParaRPr sz="2150">
              <a:latin typeface="Segoe UI Semibold"/>
              <a:cs typeface="Segoe UI Semibold"/>
            </a:endParaRPr>
          </a:p>
          <a:p>
            <a:pPr marL="565150" marR="5080">
              <a:lnSpc>
                <a:spcPts val="3300"/>
              </a:lnSpc>
              <a:spcBef>
                <a:spcPts val="155"/>
              </a:spcBef>
            </a:pPr>
            <a:r>
              <a:rPr sz="2150" dirty="0">
                <a:latin typeface="Segoe UI"/>
                <a:cs typeface="Segoe UI"/>
              </a:rPr>
              <a:t>An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iterative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incremental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approach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promoting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flexibility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customer collaboration.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150" dirty="0">
                <a:latin typeface="Segoe UI Semibold"/>
                <a:cs typeface="Segoe UI Semibold"/>
              </a:rPr>
              <a:t>Key</a:t>
            </a:r>
            <a:r>
              <a:rPr sz="2150" spc="1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Principles: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Individuals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interactions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over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processes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tools.</a:t>
            </a:r>
            <a:endParaRPr sz="2150">
              <a:latin typeface="Segoe UI"/>
              <a:cs typeface="Segoe UI"/>
            </a:endParaRPr>
          </a:p>
          <a:p>
            <a:pPr marL="565150" marR="2263775">
              <a:lnSpc>
                <a:spcPct val="145300"/>
              </a:lnSpc>
              <a:spcBef>
                <a:spcPts val="75"/>
              </a:spcBef>
            </a:pPr>
            <a:r>
              <a:rPr sz="2150" dirty="0">
                <a:latin typeface="Segoe UI"/>
                <a:cs typeface="Segoe UI"/>
              </a:rPr>
              <a:t>Working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software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over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comprehensive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documentation. </a:t>
            </a:r>
            <a:r>
              <a:rPr sz="2150" dirty="0">
                <a:latin typeface="Segoe UI"/>
                <a:cs typeface="Segoe UI"/>
              </a:rPr>
              <a:t>Customer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collaboration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over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contract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negotiation.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Responding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over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following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plan.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07427"/>
            <a:ext cx="8141334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000000"/>
                </a:solidFill>
              </a:rPr>
              <a:t>2.2.1.</a:t>
            </a:r>
            <a:r>
              <a:rPr sz="2400" spc="-85" dirty="0">
                <a:solidFill>
                  <a:srgbClr val="000000"/>
                </a:solidFill>
              </a:rPr>
              <a:t> </a:t>
            </a:r>
            <a:r>
              <a:rPr sz="2400" dirty="0"/>
              <a:t>Individuals</a:t>
            </a:r>
            <a:r>
              <a:rPr sz="2400" spc="-85" dirty="0"/>
              <a:t> </a:t>
            </a:r>
            <a:r>
              <a:rPr sz="2400" dirty="0"/>
              <a:t>and</a:t>
            </a:r>
            <a:r>
              <a:rPr sz="2400" spc="-85" dirty="0"/>
              <a:t> </a:t>
            </a:r>
            <a:r>
              <a:rPr sz="2400" dirty="0"/>
              <a:t>Interactions</a:t>
            </a:r>
            <a:r>
              <a:rPr sz="2400" spc="-85" dirty="0"/>
              <a:t> </a:t>
            </a:r>
            <a:r>
              <a:rPr sz="2400" dirty="0"/>
              <a:t>Over</a:t>
            </a:r>
            <a:r>
              <a:rPr sz="2400" spc="-85" dirty="0"/>
              <a:t> </a:t>
            </a:r>
            <a:r>
              <a:rPr sz="2400" dirty="0"/>
              <a:t>Processes</a:t>
            </a:r>
            <a:r>
              <a:rPr sz="2400" spc="-85" dirty="0"/>
              <a:t> </a:t>
            </a:r>
            <a:r>
              <a:rPr sz="2400" dirty="0"/>
              <a:t>and</a:t>
            </a:r>
            <a:r>
              <a:rPr sz="2400" spc="-85" dirty="0"/>
              <a:t> </a:t>
            </a:r>
            <a:r>
              <a:rPr sz="2400" spc="-10" dirty="0"/>
              <a:t>Tools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dirty="0"/>
              <a:t>This</a:t>
            </a:r>
            <a:r>
              <a:rPr spc="75" dirty="0"/>
              <a:t> </a:t>
            </a:r>
            <a:r>
              <a:rPr dirty="0"/>
              <a:t>principle</a:t>
            </a:r>
            <a:r>
              <a:rPr spc="75" dirty="0"/>
              <a:t> </a:t>
            </a:r>
            <a:r>
              <a:rPr dirty="0"/>
              <a:t>emphasizes</a:t>
            </a:r>
            <a:r>
              <a:rPr spc="8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importance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dirty="0"/>
              <a:t>human</a:t>
            </a:r>
            <a:r>
              <a:rPr spc="80" dirty="0"/>
              <a:t> </a:t>
            </a:r>
            <a:r>
              <a:rPr dirty="0"/>
              <a:t>communication</a:t>
            </a:r>
            <a:r>
              <a:rPr spc="7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teamwork</a:t>
            </a:r>
            <a:r>
              <a:rPr spc="75" dirty="0"/>
              <a:t> </a:t>
            </a:r>
            <a:r>
              <a:rPr spc="-20" dirty="0"/>
              <a:t>over </a:t>
            </a:r>
            <a:r>
              <a:rPr dirty="0"/>
              <a:t>rigid</a:t>
            </a:r>
            <a:r>
              <a:rPr spc="45" dirty="0"/>
              <a:t> </a:t>
            </a:r>
            <a:r>
              <a:rPr dirty="0"/>
              <a:t>adherence</a:t>
            </a:r>
            <a:r>
              <a:rPr spc="50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dirty="0"/>
              <a:t>processes</a:t>
            </a:r>
            <a:r>
              <a:rPr spc="55" dirty="0"/>
              <a:t> </a:t>
            </a:r>
            <a:r>
              <a:rPr dirty="0"/>
              <a:t>or</a:t>
            </a:r>
            <a:r>
              <a:rPr spc="50" dirty="0"/>
              <a:t> </a:t>
            </a:r>
            <a:r>
              <a:rPr dirty="0"/>
              <a:t>reliance</a:t>
            </a:r>
            <a:r>
              <a:rPr spc="55" dirty="0"/>
              <a:t> </a:t>
            </a:r>
            <a:r>
              <a:rPr dirty="0"/>
              <a:t>on</a:t>
            </a:r>
            <a:r>
              <a:rPr spc="55" dirty="0"/>
              <a:t> </a:t>
            </a:r>
            <a:r>
              <a:rPr dirty="0"/>
              <a:t>tools.</a:t>
            </a:r>
            <a:r>
              <a:rPr spc="50" dirty="0"/>
              <a:t> </a:t>
            </a:r>
            <a:r>
              <a:rPr dirty="0"/>
              <a:t>While</a:t>
            </a:r>
            <a:r>
              <a:rPr spc="55" dirty="0"/>
              <a:t> </a:t>
            </a:r>
            <a:r>
              <a:rPr dirty="0"/>
              <a:t>processes</a:t>
            </a:r>
            <a:r>
              <a:rPr spc="55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tools</a:t>
            </a:r>
            <a:r>
              <a:rPr spc="55" dirty="0"/>
              <a:t> </a:t>
            </a:r>
            <a:r>
              <a:rPr spc="-25" dirty="0"/>
              <a:t>are</a:t>
            </a:r>
          </a:p>
          <a:p>
            <a:pPr marL="12700" marR="314960">
              <a:lnSpc>
                <a:spcPts val="3300"/>
              </a:lnSpc>
              <a:spcBef>
                <a:spcPts val="155"/>
              </a:spcBef>
            </a:pPr>
            <a:r>
              <a:rPr dirty="0"/>
              <a:t>necessary,</a:t>
            </a:r>
            <a:r>
              <a:rPr spc="40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success</a:t>
            </a:r>
            <a:r>
              <a:rPr spc="50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project</a:t>
            </a:r>
            <a:r>
              <a:rPr spc="50" dirty="0"/>
              <a:t> </a:t>
            </a:r>
            <a:r>
              <a:rPr dirty="0"/>
              <a:t>hinges</a:t>
            </a:r>
            <a:r>
              <a:rPr spc="50" dirty="0"/>
              <a:t> </a:t>
            </a:r>
            <a:r>
              <a:rPr dirty="0"/>
              <a:t>more</a:t>
            </a:r>
            <a:r>
              <a:rPr spc="55" dirty="0"/>
              <a:t> </a:t>
            </a:r>
            <a:r>
              <a:rPr dirty="0"/>
              <a:t>on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people</a:t>
            </a:r>
            <a:r>
              <a:rPr spc="55" dirty="0"/>
              <a:t> </a:t>
            </a:r>
            <a:r>
              <a:rPr dirty="0"/>
              <a:t>involved</a:t>
            </a:r>
            <a:r>
              <a:rPr spc="50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how</a:t>
            </a:r>
            <a:r>
              <a:rPr spc="55" dirty="0"/>
              <a:t> </a:t>
            </a:r>
            <a:r>
              <a:rPr spc="-20" dirty="0"/>
              <a:t>they </a:t>
            </a:r>
            <a:r>
              <a:rPr spc="-10" dirty="0"/>
              <a:t>collaborate.</a:t>
            </a:r>
          </a:p>
          <a:p>
            <a:pPr marL="12700" marR="251460">
              <a:lnSpc>
                <a:spcPct val="126699"/>
              </a:lnSpc>
              <a:spcBef>
                <a:spcPts val="925"/>
              </a:spcBef>
            </a:pPr>
            <a:r>
              <a:rPr dirty="0">
                <a:latin typeface="Segoe UI Semibold"/>
                <a:cs typeface="Segoe UI Semibold"/>
              </a:rPr>
              <a:t>Example:</a:t>
            </a:r>
            <a:r>
              <a:rPr spc="60" dirty="0">
                <a:latin typeface="Segoe UI Semibold"/>
                <a:cs typeface="Segoe UI Semibold"/>
              </a:rPr>
              <a:t> </a:t>
            </a:r>
            <a:r>
              <a:rPr dirty="0"/>
              <a:t>Imagine</a:t>
            </a:r>
            <a:r>
              <a:rPr spc="65" dirty="0"/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dirty="0"/>
              <a:t>software</a:t>
            </a:r>
            <a:r>
              <a:rPr spc="65" dirty="0"/>
              <a:t> </a:t>
            </a: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team</a:t>
            </a:r>
            <a:r>
              <a:rPr spc="70" dirty="0"/>
              <a:t> </a:t>
            </a:r>
            <a:r>
              <a:rPr dirty="0"/>
              <a:t>using</a:t>
            </a:r>
            <a:r>
              <a:rPr spc="65" dirty="0"/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dirty="0"/>
              <a:t>specific</a:t>
            </a:r>
            <a:r>
              <a:rPr spc="65" dirty="0"/>
              <a:t> </a:t>
            </a:r>
            <a:r>
              <a:rPr dirty="0"/>
              <a:t>project</a:t>
            </a:r>
            <a:r>
              <a:rPr spc="65" dirty="0"/>
              <a:t> </a:t>
            </a:r>
            <a:r>
              <a:rPr spc="-10" dirty="0"/>
              <a:t>management </a:t>
            </a:r>
            <a:r>
              <a:rPr dirty="0"/>
              <a:t>tool</a:t>
            </a:r>
            <a:r>
              <a:rPr spc="45" dirty="0"/>
              <a:t> </a:t>
            </a:r>
            <a:r>
              <a:rPr dirty="0"/>
              <a:t>like</a:t>
            </a:r>
            <a:r>
              <a:rPr spc="50" dirty="0"/>
              <a:t> </a:t>
            </a:r>
            <a:r>
              <a:rPr dirty="0"/>
              <a:t>Jira.</a:t>
            </a:r>
            <a:r>
              <a:rPr spc="55" dirty="0"/>
              <a:t> </a:t>
            </a:r>
            <a:r>
              <a:rPr dirty="0"/>
              <a:t>If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team</a:t>
            </a:r>
            <a:r>
              <a:rPr spc="55" dirty="0"/>
              <a:t> </a:t>
            </a:r>
            <a:r>
              <a:rPr dirty="0"/>
              <a:t>encounters</a:t>
            </a:r>
            <a:r>
              <a:rPr spc="55" dirty="0"/>
              <a:t> </a:t>
            </a:r>
            <a:r>
              <a:rPr dirty="0"/>
              <a:t>a</a:t>
            </a:r>
            <a:r>
              <a:rPr spc="50" dirty="0"/>
              <a:t> </a:t>
            </a:r>
            <a:r>
              <a:rPr dirty="0"/>
              <a:t>unique</a:t>
            </a:r>
            <a:r>
              <a:rPr spc="55" dirty="0"/>
              <a:t> </a:t>
            </a:r>
            <a:r>
              <a:rPr dirty="0"/>
              <a:t>challenge</a:t>
            </a:r>
            <a:r>
              <a:rPr spc="55" dirty="0"/>
              <a:t> </a:t>
            </a:r>
            <a:r>
              <a:rPr dirty="0"/>
              <a:t>that</a:t>
            </a:r>
            <a:r>
              <a:rPr spc="50" dirty="0"/>
              <a:t> </a:t>
            </a:r>
            <a:r>
              <a:rPr dirty="0"/>
              <a:t>isn’t</a:t>
            </a:r>
            <a:r>
              <a:rPr spc="55" dirty="0"/>
              <a:t> </a:t>
            </a:r>
            <a:r>
              <a:rPr dirty="0"/>
              <a:t>well-supported</a:t>
            </a:r>
            <a:r>
              <a:rPr spc="55" dirty="0"/>
              <a:t> </a:t>
            </a:r>
            <a:r>
              <a:rPr spc="-25" dirty="0"/>
              <a:t>by </a:t>
            </a:r>
            <a:r>
              <a:rPr dirty="0"/>
              <a:t>Jira’s</a:t>
            </a:r>
            <a:r>
              <a:rPr spc="55" dirty="0"/>
              <a:t> </a:t>
            </a:r>
            <a:r>
              <a:rPr dirty="0"/>
              <a:t>existing</a:t>
            </a:r>
            <a:r>
              <a:rPr spc="60" dirty="0"/>
              <a:t> </a:t>
            </a:r>
            <a:r>
              <a:rPr dirty="0"/>
              <a:t>workflows,</a:t>
            </a:r>
            <a:r>
              <a:rPr spc="65" dirty="0"/>
              <a:t> </a:t>
            </a:r>
            <a:r>
              <a:rPr dirty="0"/>
              <a:t>instead</a:t>
            </a:r>
            <a:r>
              <a:rPr spc="65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strictly</a:t>
            </a:r>
            <a:r>
              <a:rPr spc="65" dirty="0"/>
              <a:t> </a:t>
            </a:r>
            <a:r>
              <a:rPr dirty="0"/>
              <a:t>following</a:t>
            </a:r>
            <a:r>
              <a:rPr spc="6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tool’s</a:t>
            </a:r>
            <a:r>
              <a:rPr spc="65" dirty="0"/>
              <a:t> </a:t>
            </a:r>
            <a:r>
              <a:rPr dirty="0"/>
              <a:t>processes,</a:t>
            </a:r>
            <a:r>
              <a:rPr spc="65" dirty="0"/>
              <a:t> </a:t>
            </a:r>
            <a:r>
              <a:rPr dirty="0"/>
              <a:t>they</a:t>
            </a:r>
            <a:r>
              <a:rPr spc="60" dirty="0"/>
              <a:t> </a:t>
            </a:r>
            <a:r>
              <a:rPr dirty="0"/>
              <a:t>hold</a:t>
            </a:r>
            <a:r>
              <a:rPr spc="65" dirty="0"/>
              <a:t> </a:t>
            </a:r>
            <a:r>
              <a:rPr spc="-50" dirty="0"/>
              <a:t>a </a:t>
            </a:r>
            <a:r>
              <a:rPr dirty="0"/>
              <a:t>brainstorming</a:t>
            </a:r>
            <a:r>
              <a:rPr spc="55" dirty="0"/>
              <a:t> </a:t>
            </a:r>
            <a:r>
              <a:rPr dirty="0"/>
              <a:t>session</a:t>
            </a:r>
            <a:r>
              <a:rPr spc="65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find</a:t>
            </a:r>
            <a:r>
              <a:rPr spc="65" dirty="0"/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dirty="0"/>
              <a:t>creative</a:t>
            </a:r>
            <a:r>
              <a:rPr spc="65" dirty="0"/>
              <a:t> </a:t>
            </a:r>
            <a:r>
              <a:rPr dirty="0"/>
              <a:t>solution.</a:t>
            </a:r>
            <a:r>
              <a:rPr spc="60" dirty="0"/>
              <a:t> </a:t>
            </a:r>
            <a:r>
              <a:rPr dirty="0"/>
              <a:t>By</a:t>
            </a:r>
            <a:r>
              <a:rPr spc="65" dirty="0"/>
              <a:t> </a:t>
            </a:r>
            <a:r>
              <a:rPr dirty="0"/>
              <a:t>prioritizing</a:t>
            </a:r>
            <a:r>
              <a:rPr spc="65" dirty="0"/>
              <a:t> </a:t>
            </a:r>
            <a:r>
              <a:rPr dirty="0"/>
              <a:t>open</a:t>
            </a:r>
            <a:r>
              <a:rPr spc="65" dirty="0"/>
              <a:t> </a:t>
            </a:r>
            <a:r>
              <a:rPr spc="-10" dirty="0"/>
              <a:t>communication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teamwork,</a:t>
            </a:r>
            <a:r>
              <a:rPr spc="55" dirty="0"/>
              <a:t> </a:t>
            </a:r>
            <a:r>
              <a:rPr dirty="0"/>
              <a:t>they</a:t>
            </a:r>
            <a:r>
              <a:rPr spc="55" dirty="0"/>
              <a:t> </a:t>
            </a:r>
            <a:r>
              <a:rPr dirty="0"/>
              <a:t>devise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workaround</a:t>
            </a:r>
            <a:r>
              <a:rPr spc="55" dirty="0"/>
              <a:t> </a:t>
            </a:r>
            <a:r>
              <a:rPr dirty="0"/>
              <a:t>that</a:t>
            </a:r>
            <a:r>
              <a:rPr spc="55" dirty="0"/>
              <a:t> </a:t>
            </a:r>
            <a:r>
              <a:rPr dirty="0"/>
              <a:t>better</a:t>
            </a:r>
            <a:r>
              <a:rPr spc="55" dirty="0"/>
              <a:t> </a:t>
            </a:r>
            <a:r>
              <a:rPr dirty="0"/>
              <a:t>fits</a:t>
            </a:r>
            <a:r>
              <a:rPr spc="55" dirty="0"/>
              <a:t> </a:t>
            </a:r>
            <a:r>
              <a:rPr dirty="0"/>
              <a:t>their</a:t>
            </a:r>
            <a:r>
              <a:rPr spc="55" dirty="0"/>
              <a:t> </a:t>
            </a:r>
            <a:r>
              <a:rPr dirty="0"/>
              <a:t>current</a:t>
            </a:r>
            <a:r>
              <a:rPr spc="50" dirty="0"/>
              <a:t> </a:t>
            </a:r>
            <a:r>
              <a:rPr dirty="0"/>
              <a:t>needs,</a:t>
            </a:r>
            <a:r>
              <a:rPr spc="55" dirty="0"/>
              <a:t> </a:t>
            </a:r>
            <a:r>
              <a:rPr dirty="0"/>
              <a:t>even</a:t>
            </a:r>
            <a:r>
              <a:rPr spc="55" dirty="0"/>
              <a:t> </a:t>
            </a:r>
            <a:r>
              <a:rPr dirty="0"/>
              <a:t>if</a:t>
            </a:r>
            <a:r>
              <a:rPr spc="55" dirty="0"/>
              <a:t> </a:t>
            </a:r>
            <a:r>
              <a:rPr spc="-25" dirty="0"/>
              <a:t>it </a:t>
            </a:r>
            <a:r>
              <a:rPr dirty="0"/>
              <a:t>means</a:t>
            </a:r>
            <a:r>
              <a:rPr spc="45" dirty="0"/>
              <a:t> </a:t>
            </a:r>
            <a:r>
              <a:rPr dirty="0"/>
              <a:t>deviating</a:t>
            </a:r>
            <a:r>
              <a:rPr spc="60" dirty="0"/>
              <a:t> </a:t>
            </a:r>
            <a:r>
              <a:rPr dirty="0"/>
              <a:t>from</a:t>
            </a:r>
            <a:r>
              <a:rPr spc="55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standard</a:t>
            </a:r>
            <a:r>
              <a:rPr spc="55" dirty="0"/>
              <a:t> </a:t>
            </a:r>
            <a:r>
              <a:rPr dirty="0"/>
              <a:t>tool</a:t>
            </a:r>
            <a:r>
              <a:rPr spc="60" dirty="0"/>
              <a:t> </a:t>
            </a:r>
            <a:r>
              <a:rPr spc="-10" dirty="0"/>
              <a:t>processes.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07427"/>
            <a:ext cx="850138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000000"/>
                </a:solidFill>
              </a:rPr>
              <a:t>2.2.2.</a:t>
            </a:r>
            <a:r>
              <a:rPr sz="2400" spc="-95" dirty="0">
                <a:solidFill>
                  <a:srgbClr val="000000"/>
                </a:solidFill>
              </a:rPr>
              <a:t> </a:t>
            </a:r>
            <a:r>
              <a:rPr sz="2400" dirty="0"/>
              <a:t>Working</a:t>
            </a:r>
            <a:r>
              <a:rPr sz="2400" spc="-95" dirty="0"/>
              <a:t> </a:t>
            </a:r>
            <a:r>
              <a:rPr sz="2400" dirty="0"/>
              <a:t>Software</a:t>
            </a:r>
            <a:r>
              <a:rPr sz="2400" spc="-95" dirty="0"/>
              <a:t> </a:t>
            </a:r>
            <a:r>
              <a:rPr sz="2400" dirty="0"/>
              <a:t>Over</a:t>
            </a:r>
            <a:r>
              <a:rPr sz="2400" spc="-95" dirty="0"/>
              <a:t> </a:t>
            </a:r>
            <a:r>
              <a:rPr sz="2400" spc="-10" dirty="0"/>
              <a:t>Comprehensive</a:t>
            </a:r>
            <a:r>
              <a:rPr sz="2400" spc="-95" dirty="0"/>
              <a:t> </a:t>
            </a:r>
            <a:r>
              <a:rPr sz="2400" spc="-10" dirty="0"/>
              <a:t>Documentation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97790">
              <a:lnSpc>
                <a:spcPct val="126499"/>
              </a:lnSpc>
              <a:spcBef>
                <a:spcPts val="130"/>
              </a:spcBef>
            </a:pPr>
            <a:r>
              <a:rPr dirty="0"/>
              <a:t>This</a:t>
            </a:r>
            <a:r>
              <a:rPr spc="55" dirty="0"/>
              <a:t> </a:t>
            </a:r>
            <a:r>
              <a:rPr dirty="0"/>
              <a:t>principle</a:t>
            </a:r>
            <a:r>
              <a:rPr spc="65" dirty="0"/>
              <a:t> </a:t>
            </a:r>
            <a:r>
              <a:rPr dirty="0"/>
              <a:t>focuses</a:t>
            </a:r>
            <a:r>
              <a:rPr spc="70" dirty="0"/>
              <a:t> </a:t>
            </a:r>
            <a:r>
              <a:rPr dirty="0"/>
              <a:t>on</a:t>
            </a:r>
            <a:r>
              <a:rPr spc="65" dirty="0"/>
              <a:t> </a:t>
            </a:r>
            <a:r>
              <a:rPr dirty="0"/>
              <a:t>delivering</a:t>
            </a:r>
            <a:r>
              <a:rPr spc="65" dirty="0"/>
              <a:t> </a:t>
            </a:r>
            <a:r>
              <a:rPr dirty="0"/>
              <a:t>functional</a:t>
            </a:r>
            <a:r>
              <a:rPr spc="65" dirty="0"/>
              <a:t> </a:t>
            </a:r>
            <a:r>
              <a:rPr dirty="0"/>
              <a:t>software</a:t>
            </a:r>
            <a:r>
              <a:rPr spc="70" dirty="0"/>
              <a:t> </a:t>
            </a:r>
            <a:r>
              <a:rPr dirty="0"/>
              <a:t>that</a:t>
            </a:r>
            <a:r>
              <a:rPr spc="65" dirty="0"/>
              <a:t> </a:t>
            </a:r>
            <a:r>
              <a:rPr dirty="0"/>
              <a:t>provides</a:t>
            </a:r>
            <a:r>
              <a:rPr spc="65" dirty="0"/>
              <a:t> </a:t>
            </a:r>
            <a:r>
              <a:rPr dirty="0"/>
              <a:t>value</a:t>
            </a:r>
            <a:r>
              <a:rPr spc="65" dirty="0"/>
              <a:t> </a:t>
            </a:r>
            <a:r>
              <a:rPr dirty="0"/>
              <a:t>to</a:t>
            </a:r>
            <a:r>
              <a:rPr spc="70" dirty="0"/>
              <a:t> </a:t>
            </a:r>
            <a:r>
              <a:rPr spc="-10" dirty="0"/>
              <a:t>users </a:t>
            </a:r>
            <a:r>
              <a:rPr dirty="0"/>
              <a:t>rather</a:t>
            </a:r>
            <a:r>
              <a:rPr spc="70" dirty="0"/>
              <a:t> </a:t>
            </a:r>
            <a:r>
              <a:rPr dirty="0"/>
              <a:t>than</a:t>
            </a:r>
            <a:r>
              <a:rPr spc="65" dirty="0"/>
              <a:t> </a:t>
            </a:r>
            <a:r>
              <a:rPr dirty="0"/>
              <a:t>spending</a:t>
            </a:r>
            <a:r>
              <a:rPr spc="70" dirty="0"/>
              <a:t> </a:t>
            </a:r>
            <a:r>
              <a:rPr dirty="0"/>
              <a:t>excessive</a:t>
            </a:r>
            <a:r>
              <a:rPr spc="65" dirty="0"/>
              <a:t> </a:t>
            </a:r>
            <a:r>
              <a:rPr dirty="0"/>
              <a:t>time</a:t>
            </a:r>
            <a:r>
              <a:rPr spc="70" dirty="0"/>
              <a:t> </a:t>
            </a:r>
            <a:r>
              <a:rPr dirty="0"/>
              <a:t>on</a:t>
            </a:r>
            <a:r>
              <a:rPr spc="70" dirty="0"/>
              <a:t> </a:t>
            </a:r>
            <a:r>
              <a:rPr dirty="0"/>
              <a:t>detailed</a:t>
            </a:r>
            <a:r>
              <a:rPr spc="65" dirty="0"/>
              <a:t> </a:t>
            </a:r>
            <a:r>
              <a:rPr dirty="0"/>
              <a:t>documentation.</a:t>
            </a:r>
            <a:r>
              <a:rPr spc="70" dirty="0"/>
              <a:t> </a:t>
            </a:r>
            <a:r>
              <a:rPr dirty="0"/>
              <a:t>While</a:t>
            </a:r>
            <a:r>
              <a:rPr spc="65" dirty="0"/>
              <a:t> </a:t>
            </a:r>
            <a:r>
              <a:rPr spc="-10" dirty="0"/>
              <a:t>documentation </a:t>
            </a:r>
            <a:r>
              <a:rPr dirty="0"/>
              <a:t>is</a:t>
            </a:r>
            <a:r>
              <a:rPr spc="40" dirty="0"/>
              <a:t> </a:t>
            </a:r>
            <a:r>
              <a:rPr dirty="0"/>
              <a:t>important,</a:t>
            </a:r>
            <a:r>
              <a:rPr spc="4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primary</a:t>
            </a:r>
            <a:r>
              <a:rPr spc="50" dirty="0"/>
              <a:t> </a:t>
            </a:r>
            <a:r>
              <a:rPr dirty="0"/>
              <a:t>goal</a:t>
            </a:r>
            <a:r>
              <a:rPr spc="45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dirty="0"/>
              <a:t>produce</a:t>
            </a:r>
            <a:r>
              <a:rPr spc="45" dirty="0"/>
              <a:t> </a:t>
            </a:r>
            <a:r>
              <a:rPr dirty="0"/>
              <a:t>software</a:t>
            </a:r>
            <a:r>
              <a:rPr spc="50" dirty="0"/>
              <a:t> </a:t>
            </a:r>
            <a:r>
              <a:rPr dirty="0"/>
              <a:t>that</a:t>
            </a:r>
            <a:r>
              <a:rPr spc="50" dirty="0"/>
              <a:t> </a:t>
            </a:r>
            <a:r>
              <a:rPr dirty="0"/>
              <a:t>works</a:t>
            </a:r>
            <a:r>
              <a:rPr spc="50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meets</a:t>
            </a:r>
            <a:r>
              <a:rPr spc="50" dirty="0"/>
              <a:t> </a:t>
            </a:r>
            <a:r>
              <a:rPr dirty="0"/>
              <a:t>user</a:t>
            </a:r>
            <a:r>
              <a:rPr spc="50" dirty="0"/>
              <a:t> </a:t>
            </a:r>
            <a:r>
              <a:rPr spc="-10" dirty="0"/>
              <a:t>needs.</a:t>
            </a:r>
          </a:p>
          <a:p>
            <a:pPr marL="12700" marR="94615">
              <a:lnSpc>
                <a:spcPct val="126499"/>
              </a:lnSpc>
              <a:spcBef>
                <a:spcPts val="1235"/>
              </a:spcBef>
            </a:pPr>
            <a:r>
              <a:rPr dirty="0">
                <a:latin typeface="Segoe UI Semibold"/>
                <a:cs typeface="Segoe UI Semibold"/>
              </a:rPr>
              <a:t>Example:</a:t>
            </a:r>
            <a:r>
              <a:rPr spc="45" dirty="0">
                <a:latin typeface="Segoe UI Semibold"/>
                <a:cs typeface="Segoe UI Semibold"/>
              </a:rPr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startup</a:t>
            </a:r>
            <a:r>
              <a:rPr spc="50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dirty="0"/>
              <a:t>developing</a:t>
            </a:r>
            <a:r>
              <a:rPr spc="50" dirty="0"/>
              <a:t> </a:t>
            </a:r>
            <a:r>
              <a:rPr dirty="0"/>
              <a:t>a</a:t>
            </a:r>
            <a:r>
              <a:rPr spc="50" dirty="0"/>
              <a:t> </a:t>
            </a:r>
            <a:r>
              <a:rPr dirty="0"/>
              <a:t>new</a:t>
            </a:r>
            <a:r>
              <a:rPr spc="55" dirty="0"/>
              <a:t> </a:t>
            </a:r>
            <a:r>
              <a:rPr dirty="0"/>
              <a:t>mobile</a:t>
            </a:r>
            <a:r>
              <a:rPr spc="50" dirty="0"/>
              <a:t> </a:t>
            </a:r>
            <a:r>
              <a:rPr dirty="0"/>
              <a:t>app.</a:t>
            </a:r>
            <a:r>
              <a:rPr spc="55" dirty="0"/>
              <a:t> </a:t>
            </a:r>
            <a:r>
              <a:rPr dirty="0"/>
              <a:t>Instead</a:t>
            </a:r>
            <a:r>
              <a:rPr spc="50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creating</a:t>
            </a:r>
            <a:r>
              <a:rPr spc="50" dirty="0"/>
              <a:t> </a:t>
            </a:r>
            <a:r>
              <a:rPr spc="-10" dirty="0"/>
              <a:t>extensive </a:t>
            </a:r>
            <a:r>
              <a:rPr dirty="0"/>
              <a:t>technical</a:t>
            </a:r>
            <a:r>
              <a:rPr spc="45" dirty="0"/>
              <a:t> </a:t>
            </a:r>
            <a:r>
              <a:rPr dirty="0"/>
              <a:t>documentation</a:t>
            </a:r>
            <a:r>
              <a:rPr spc="50" dirty="0"/>
              <a:t> </a:t>
            </a:r>
            <a:r>
              <a:rPr dirty="0"/>
              <a:t>before</a:t>
            </a:r>
            <a:r>
              <a:rPr spc="55" dirty="0"/>
              <a:t> </a:t>
            </a:r>
            <a:r>
              <a:rPr dirty="0"/>
              <a:t>any</a:t>
            </a:r>
            <a:r>
              <a:rPr spc="55" dirty="0"/>
              <a:t> </a:t>
            </a:r>
            <a:r>
              <a:rPr dirty="0"/>
              <a:t>code</a:t>
            </a:r>
            <a:r>
              <a:rPr spc="50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dirty="0"/>
              <a:t>written,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team</a:t>
            </a:r>
            <a:r>
              <a:rPr spc="55" dirty="0"/>
              <a:t> </a:t>
            </a:r>
            <a:r>
              <a:rPr dirty="0"/>
              <a:t>opts</a:t>
            </a:r>
            <a:r>
              <a:rPr spc="55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dirty="0"/>
              <a:t>build</a:t>
            </a:r>
            <a:r>
              <a:rPr spc="55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spc="-10" dirty="0"/>
              <a:t>minimum </a:t>
            </a:r>
            <a:r>
              <a:rPr dirty="0"/>
              <a:t>viable</a:t>
            </a:r>
            <a:r>
              <a:rPr spc="50" dirty="0"/>
              <a:t> </a:t>
            </a:r>
            <a:r>
              <a:rPr dirty="0"/>
              <a:t>product</a:t>
            </a:r>
            <a:r>
              <a:rPr spc="50" dirty="0"/>
              <a:t> </a:t>
            </a:r>
            <a:r>
              <a:rPr dirty="0"/>
              <a:t>(MVP)</a:t>
            </a:r>
            <a:r>
              <a:rPr spc="50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dirty="0"/>
              <a:t>test</a:t>
            </a:r>
            <a:r>
              <a:rPr spc="50" dirty="0"/>
              <a:t> </a:t>
            </a:r>
            <a:r>
              <a:rPr dirty="0"/>
              <a:t>key</a:t>
            </a:r>
            <a:r>
              <a:rPr spc="50" dirty="0"/>
              <a:t> </a:t>
            </a:r>
            <a:r>
              <a:rPr dirty="0"/>
              <a:t>features</a:t>
            </a:r>
            <a:r>
              <a:rPr spc="50" dirty="0"/>
              <a:t> </a:t>
            </a:r>
            <a:r>
              <a:rPr dirty="0"/>
              <a:t>with</a:t>
            </a:r>
            <a:r>
              <a:rPr spc="50" dirty="0"/>
              <a:t> </a:t>
            </a:r>
            <a:r>
              <a:rPr dirty="0"/>
              <a:t>real</a:t>
            </a:r>
            <a:r>
              <a:rPr spc="50" dirty="0"/>
              <a:t> </a:t>
            </a:r>
            <a:r>
              <a:rPr dirty="0"/>
              <a:t>users.</a:t>
            </a:r>
            <a:r>
              <a:rPr spc="50" dirty="0"/>
              <a:t> </a:t>
            </a:r>
            <a:r>
              <a:rPr dirty="0"/>
              <a:t>They</a:t>
            </a:r>
            <a:r>
              <a:rPr spc="50" dirty="0"/>
              <a:t> </a:t>
            </a:r>
            <a:r>
              <a:rPr dirty="0"/>
              <a:t>gather</a:t>
            </a:r>
            <a:r>
              <a:rPr spc="45" dirty="0"/>
              <a:t> </a:t>
            </a:r>
            <a:r>
              <a:rPr dirty="0"/>
              <a:t>feedback</a:t>
            </a:r>
            <a:r>
              <a:rPr spc="50" dirty="0"/>
              <a:t> </a:t>
            </a:r>
            <a:r>
              <a:rPr spc="-10" dirty="0"/>
              <a:t>based </a:t>
            </a:r>
            <a:r>
              <a:rPr dirty="0"/>
              <a:t>on</a:t>
            </a:r>
            <a:r>
              <a:rPr spc="7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working</a:t>
            </a:r>
            <a:r>
              <a:rPr spc="70" dirty="0"/>
              <a:t> </a:t>
            </a:r>
            <a:r>
              <a:rPr dirty="0"/>
              <a:t>app,</a:t>
            </a:r>
            <a:r>
              <a:rPr spc="70" dirty="0"/>
              <a:t> </a:t>
            </a:r>
            <a:r>
              <a:rPr dirty="0"/>
              <a:t>which</a:t>
            </a:r>
            <a:r>
              <a:rPr spc="75" dirty="0"/>
              <a:t> </a:t>
            </a:r>
            <a:r>
              <a:rPr dirty="0"/>
              <a:t>informs</a:t>
            </a:r>
            <a:r>
              <a:rPr spc="70" dirty="0"/>
              <a:t> </a:t>
            </a:r>
            <a:r>
              <a:rPr dirty="0"/>
              <a:t>subsequent</a:t>
            </a:r>
            <a:r>
              <a:rPr spc="70" dirty="0"/>
              <a:t> </a:t>
            </a:r>
            <a:r>
              <a:rPr dirty="0"/>
              <a:t>development.</a:t>
            </a:r>
            <a:r>
              <a:rPr spc="75" dirty="0"/>
              <a:t> </a:t>
            </a:r>
            <a:r>
              <a:rPr dirty="0"/>
              <a:t>This</a:t>
            </a:r>
            <a:r>
              <a:rPr spc="70" dirty="0"/>
              <a:t> </a:t>
            </a:r>
            <a:r>
              <a:rPr dirty="0"/>
              <a:t>approach</a:t>
            </a:r>
            <a:r>
              <a:rPr spc="70" dirty="0"/>
              <a:t> </a:t>
            </a:r>
            <a:r>
              <a:rPr spc="-10" dirty="0"/>
              <a:t>allows </a:t>
            </a:r>
            <a:r>
              <a:rPr dirty="0"/>
              <a:t>them</a:t>
            </a:r>
            <a:r>
              <a:rPr spc="55" dirty="0"/>
              <a:t> </a:t>
            </a:r>
            <a:r>
              <a:rPr dirty="0"/>
              <a:t>to</a:t>
            </a:r>
            <a:r>
              <a:rPr spc="65" dirty="0"/>
              <a:t> </a:t>
            </a:r>
            <a:r>
              <a:rPr dirty="0"/>
              <a:t>iterate</a:t>
            </a:r>
            <a:r>
              <a:rPr spc="65" dirty="0"/>
              <a:t> </a:t>
            </a:r>
            <a:r>
              <a:rPr dirty="0"/>
              <a:t>quickly</a:t>
            </a:r>
            <a:r>
              <a:rPr spc="65" dirty="0"/>
              <a:t> </a:t>
            </a:r>
            <a:r>
              <a:rPr dirty="0"/>
              <a:t>and</a:t>
            </a:r>
            <a:r>
              <a:rPr spc="65" dirty="0"/>
              <a:t> </a:t>
            </a:r>
            <a:r>
              <a:rPr dirty="0"/>
              <a:t>ensure</a:t>
            </a:r>
            <a:r>
              <a:rPr spc="65" dirty="0"/>
              <a:t> </a:t>
            </a:r>
            <a:r>
              <a:rPr dirty="0"/>
              <a:t>they’re</a:t>
            </a:r>
            <a:r>
              <a:rPr spc="65" dirty="0"/>
              <a:t> </a:t>
            </a:r>
            <a:r>
              <a:rPr dirty="0"/>
              <a:t>building</a:t>
            </a:r>
            <a:r>
              <a:rPr spc="65" dirty="0"/>
              <a:t> </a:t>
            </a:r>
            <a:r>
              <a:rPr dirty="0"/>
              <a:t>something</a:t>
            </a:r>
            <a:r>
              <a:rPr spc="65" dirty="0"/>
              <a:t> </a:t>
            </a:r>
            <a:r>
              <a:rPr dirty="0"/>
              <a:t>users</a:t>
            </a:r>
            <a:r>
              <a:rPr spc="65" dirty="0"/>
              <a:t> </a:t>
            </a:r>
            <a:r>
              <a:rPr dirty="0"/>
              <a:t>actually</a:t>
            </a:r>
            <a:r>
              <a:rPr spc="65" dirty="0"/>
              <a:t> </a:t>
            </a:r>
            <a:r>
              <a:rPr spc="-10" dirty="0"/>
              <a:t>want,</a:t>
            </a:r>
          </a:p>
          <a:p>
            <a:pPr marL="12700" marR="5080">
              <a:lnSpc>
                <a:spcPts val="3300"/>
              </a:lnSpc>
              <a:spcBef>
                <a:spcPts val="30"/>
              </a:spcBef>
            </a:pPr>
            <a:r>
              <a:rPr dirty="0"/>
              <a:t>rather</a:t>
            </a:r>
            <a:r>
              <a:rPr spc="65" dirty="0"/>
              <a:t> </a:t>
            </a:r>
            <a:r>
              <a:rPr dirty="0"/>
              <a:t>than</a:t>
            </a:r>
            <a:r>
              <a:rPr spc="70" dirty="0"/>
              <a:t> </a:t>
            </a:r>
            <a:r>
              <a:rPr dirty="0"/>
              <a:t>getting</a:t>
            </a:r>
            <a:r>
              <a:rPr spc="65" dirty="0"/>
              <a:t> </a:t>
            </a:r>
            <a:r>
              <a:rPr dirty="0"/>
              <a:t>bogged</a:t>
            </a:r>
            <a:r>
              <a:rPr spc="70" dirty="0"/>
              <a:t> </a:t>
            </a:r>
            <a:r>
              <a:rPr dirty="0"/>
              <a:t>down</a:t>
            </a:r>
            <a:r>
              <a:rPr spc="65" dirty="0"/>
              <a:t> </a:t>
            </a:r>
            <a:r>
              <a:rPr dirty="0"/>
              <a:t>in</a:t>
            </a:r>
            <a:r>
              <a:rPr spc="65" dirty="0"/>
              <a:t> </a:t>
            </a:r>
            <a:r>
              <a:rPr dirty="0"/>
              <a:t>lengthy</a:t>
            </a:r>
            <a:r>
              <a:rPr spc="70" dirty="0"/>
              <a:t> </a:t>
            </a:r>
            <a:r>
              <a:rPr dirty="0"/>
              <a:t>documentation</a:t>
            </a:r>
            <a:r>
              <a:rPr spc="65" dirty="0"/>
              <a:t> </a:t>
            </a:r>
            <a:r>
              <a:rPr dirty="0"/>
              <a:t>that</a:t>
            </a:r>
            <a:r>
              <a:rPr spc="70" dirty="0"/>
              <a:t> </a:t>
            </a:r>
            <a:r>
              <a:rPr dirty="0"/>
              <a:t>may</a:t>
            </a:r>
            <a:r>
              <a:rPr spc="65" dirty="0"/>
              <a:t> </a:t>
            </a:r>
            <a:r>
              <a:rPr dirty="0"/>
              <a:t>become</a:t>
            </a:r>
            <a:r>
              <a:rPr spc="65" dirty="0"/>
              <a:t> </a:t>
            </a:r>
            <a:r>
              <a:rPr spc="-10" dirty="0"/>
              <a:t>obsolete </a:t>
            </a:r>
            <a:r>
              <a:rPr dirty="0"/>
              <a:t>as</a:t>
            </a:r>
            <a:r>
              <a:rPr spc="3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project</a:t>
            </a:r>
            <a:r>
              <a:rPr spc="35" dirty="0"/>
              <a:t> </a:t>
            </a:r>
            <a:r>
              <a:rPr spc="-10" dirty="0"/>
              <a:t>evolves.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07427"/>
            <a:ext cx="786066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000000"/>
                </a:solidFill>
              </a:rPr>
              <a:t>2.2.3.</a:t>
            </a:r>
            <a:r>
              <a:rPr sz="2400" spc="-95" dirty="0">
                <a:solidFill>
                  <a:srgbClr val="000000"/>
                </a:solidFill>
              </a:rPr>
              <a:t> </a:t>
            </a:r>
            <a:r>
              <a:rPr sz="2400" dirty="0"/>
              <a:t>Customer</a:t>
            </a:r>
            <a:r>
              <a:rPr sz="2400" spc="-95" dirty="0"/>
              <a:t> </a:t>
            </a:r>
            <a:r>
              <a:rPr sz="2400" dirty="0"/>
              <a:t>Collaboration</a:t>
            </a:r>
            <a:r>
              <a:rPr sz="2400" spc="-95" dirty="0"/>
              <a:t> </a:t>
            </a:r>
            <a:r>
              <a:rPr sz="2400" dirty="0"/>
              <a:t>Over</a:t>
            </a:r>
            <a:r>
              <a:rPr sz="2400" spc="-90" dirty="0"/>
              <a:t> </a:t>
            </a:r>
            <a:r>
              <a:rPr sz="2400" dirty="0"/>
              <a:t>Contract</a:t>
            </a:r>
            <a:r>
              <a:rPr sz="2400" spc="-95" dirty="0"/>
              <a:t> </a:t>
            </a:r>
            <a:r>
              <a:rPr sz="2400" spc="-10" dirty="0"/>
              <a:t>Negotiation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dirty="0"/>
              <a:t>This</a:t>
            </a:r>
            <a:r>
              <a:rPr spc="55" dirty="0"/>
              <a:t> </a:t>
            </a:r>
            <a:r>
              <a:rPr dirty="0"/>
              <a:t>principle</a:t>
            </a:r>
            <a:r>
              <a:rPr spc="55" dirty="0"/>
              <a:t> </a:t>
            </a:r>
            <a:r>
              <a:rPr dirty="0"/>
              <a:t>highlights</a:t>
            </a:r>
            <a:r>
              <a:rPr spc="60" dirty="0"/>
              <a:t>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value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ongoing</a:t>
            </a:r>
            <a:r>
              <a:rPr spc="60" dirty="0"/>
              <a:t> </a:t>
            </a:r>
            <a:r>
              <a:rPr dirty="0"/>
              <a:t>collaboration</a:t>
            </a:r>
            <a:r>
              <a:rPr spc="55" dirty="0"/>
              <a:t> </a:t>
            </a:r>
            <a:r>
              <a:rPr dirty="0"/>
              <a:t>with</a:t>
            </a:r>
            <a:r>
              <a:rPr spc="55" dirty="0"/>
              <a:t> </a:t>
            </a:r>
            <a:r>
              <a:rPr dirty="0"/>
              <a:t>customers</a:t>
            </a:r>
            <a:r>
              <a:rPr spc="55" dirty="0"/>
              <a:t> </a:t>
            </a:r>
            <a:r>
              <a:rPr spc="-10" dirty="0"/>
              <a:t>throughout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project,</a:t>
            </a:r>
            <a:r>
              <a:rPr spc="55" dirty="0"/>
              <a:t> </a:t>
            </a:r>
            <a:r>
              <a:rPr dirty="0"/>
              <a:t>rather</a:t>
            </a:r>
            <a:r>
              <a:rPr spc="60" dirty="0"/>
              <a:t> </a:t>
            </a:r>
            <a:r>
              <a:rPr dirty="0"/>
              <a:t>than</a:t>
            </a:r>
            <a:r>
              <a:rPr spc="60" dirty="0"/>
              <a:t> </a:t>
            </a:r>
            <a:r>
              <a:rPr dirty="0"/>
              <a:t>sticking</a:t>
            </a:r>
            <a:r>
              <a:rPr spc="55" dirty="0"/>
              <a:t> </a:t>
            </a:r>
            <a:r>
              <a:rPr dirty="0"/>
              <a:t>rigidly</a:t>
            </a:r>
            <a:r>
              <a:rPr spc="60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contract</a:t>
            </a:r>
            <a:r>
              <a:rPr spc="55" dirty="0"/>
              <a:t> </a:t>
            </a:r>
            <a:r>
              <a:rPr dirty="0"/>
              <a:t>terms</a:t>
            </a:r>
            <a:r>
              <a:rPr spc="60" dirty="0"/>
              <a:t> </a:t>
            </a:r>
            <a:r>
              <a:rPr dirty="0"/>
              <a:t>established</a:t>
            </a:r>
            <a:r>
              <a:rPr spc="55" dirty="0"/>
              <a:t> </a:t>
            </a:r>
            <a:r>
              <a:rPr dirty="0"/>
              <a:t>at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spc="-10" dirty="0"/>
              <a:t>beginning.</a:t>
            </a:r>
          </a:p>
          <a:p>
            <a:pPr marL="12700" marR="173355">
              <a:lnSpc>
                <a:spcPts val="3300"/>
              </a:lnSpc>
              <a:spcBef>
                <a:spcPts val="155"/>
              </a:spcBef>
            </a:pPr>
            <a:r>
              <a:rPr dirty="0"/>
              <a:t>Continuous</a:t>
            </a:r>
            <a:r>
              <a:rPr spc="60" dirty="0"/>
              <a:t> </a:t>
            </a:r>
            <a:r>
              <a:rPr dirty="0"/>
              <a:t>engagement</a:t>
            </a:r>
            <a:r>
              <a:rPr spc="70" dirty="0"/>
              <a:t> </a:t>
            </a:r>
            <a:r>
              <a:rPr dirty="0"/>
              <a:t>ensures</a:t>
            </a:r>
            <a:r>
              <a:rPr spc="7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final</a:t>
            </a:r>
            <a:r>
              <a:rPr spc="70" dirty="0"/>
              <a:t> </a:t>
            </a:r>
            <a:r>
              <a:rPr dirty="0"/>
              <a:t>product</a:t>
            </a:r>
            <a:r>
              <a:rPr spc="70" dirty="0"/>
              <a:t> </a:t>
            </a:r>
            <a:r>
              <a:rPr dirty="0"/>
              <a:t>aligns</a:t>
            </a:r>
            <a:r>
              <a:rPr spc="75" dirty="0"/>
              <a:t> </a:t>
            </a:r>
            <a:r>
              <a:rPr dirty="0"/>
              <a:t>closely</a:t>
            </a:r>
            <a:r>
              <a:rPr spc="70" dirty="0"/>
              <a:t> </a:t>
            </a:r>
            <a:r>
              <a:rPr dirty="0"/>
              <a:t>with</a:t>
            </a:r>
            <a:r>
              <a:rPr spc="70" dirty="0"/>
              <a:t> </a:t>
            </a:r>
            <a:r>
              <a:rPr dirty="0"/>
              <a:t>customer</a:t>
            </a:r>
            <a:r>
              <a:rPr spc="70" dirty="0"/>
              <a:t> </a:t>
            </a:r>
            <a:r>
              <a:rPr spc="-10" dirty="0"/>
              <a:t>needs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can</a:t>
            </a:r>
            <a:r>
              <a:rPr spc="40" dirty="0"/>
              <a:t> </a:t>
            </a:r>
            <a:r>
              <a:rPr dirty="0"/>
              <a:t>adapt</a:t>
            </a:r>
            <a:r>
              <a:rPr spc="40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10" dirty="0"/>
              <a:t>changes.</a:t>
            </a:r>
          </a:p>
          <a:p>
            <a:pPr marL="12700" marR="75565">
              <a:lnSpc>
                <a:spcPct val="126499"/>
              </a:lnSpc>
              <a:spcBef>
                <a:spcPts val="930"/>
              </a:spcBef>
            </a:pPr>
            <a:r>
              <a:rPr dirty="0">
                <a:latin typeface="Segoe UI Semibold"/>
                <a:cs typeface="Segoe UI Semibold"/>
              </a:rPr>
              <a:t>Example:</a:t>
            </a:r>
            <a:r>
              <a:rPr spc="55" dirty="0">
                <a:latin typeface="Segoe UI Semibold"/>
                <a:cs typeface="Segoe UI Semibold"/>
              </a:rPr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dirty="0"/>
              <a:t>client</a:t>
            </a:r>
            <a:r>
              <a:rPr spc="60" dirty="0"/>
              <a:t> </a:t>
            </a:r>
            <a:r>
              <a:rPr dirty="0"/>
              <a:t>contracts</a:t>
            </a:r>
            <a:r>
              <a:rPr spc="65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development</a:t>
            </a:r>
            <a:r>
              <a:rPr spc="65" dirty="0"/>
              <a:t> </a:t>
            </a:r>
            <a:r>
              <a:rPr dirty="0"/>
              <a:t>team</a:t>
            </a:r>
            <a:r>
              <a:rPr spc="60" dirty="0"/>
              <a:t> </a:t>
            </a:r>
            <a:r>
              <a:rPr dirty="0"/>
              <a:t>to</a:t>
            </a:r>
            <a:r>
              <a:rPr spc="65" dirty="0"/>
              <a:t> </a:t>
            </a:r>
            <a:r>
              <a:rPr dirty="0"/>
              <a:t>create</a:t>
            </a:r>
            <a:r>
              <a:rPr spc="60" dirty="0"/>
              <a:t> </a:t>
            </a:r>
            <a:r>
              <a:rPr dirty="0"/>
              <a:t>an</a:t>
            </a:r>
            <a:r>
              <a:rPr spc="65" dirty="0"/>
              <a:t> </a:t>
            </a:r>
            <a:r>
              <a:rPr dirty="0"/>
              <a:t>e-commerce</a:t>
            </a:r>
            <a:r>
              <a:rPr spc="60" dirty="0"/>
              <a:t> </a:t>
            </a:r>
            <a:r>
              <a:rPr spc="-10" dirty="0"/>
              <a:t>website. </a:t>
            </a:r>
            <a:r>
              <a:rPr dirty="0"/>
              <a:t>Instead</a:t>
            </a:r>
            <a:r>
              <a:rPr spc="55" dirty="0"/>
              <a:t> </a:t>
            </a:r>
            <a:r>
              <a:rPr dirty="0"/>
              <a:t>of</a:t>
            </a:r>
            <a:r>
              <a:rPr spc="50" dirty="0"/>
              <a:t> </a:t>
            </a:r>
            <a:r>
              <a:rPr dirty="0"/>
              <a:t>finalizing</a:t>
            </a:r>
            <a:r>
              <a:rPr spc="55" dirty="0"/>
              <a:t> </a:t>
            </a:r>
            <a:r>
              <a:rPr dirty="0"/>
              <a:t>all</a:t>
            </a:r>
            <a:r>
              <a:rPr spc="55" dirty="0"/>
              <a:t> </a:t>
            </a:r>
            <a:r>
              <a:rPr dirty="0"/>
              <a:t>requirements</a:t>
            </a:r>
            <a:r>
              <a:rPr spc="50" dirty="0"/>
              <a:t> </a:t>
            </a:r>
            <a:r>
              <a:rPr dirty="0"/>
              <a:t>upfront</a:t>
            </a:r>
            <a:r>
              <a:rPr spc="55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dirty="0"/>
              <a:t>strictly</a:t>
            </a:r>
            <a:r>
              <a:rPr spc="50" dirty="0"/>
              <a:t> </a:t>
            </a:r>
            <a:r>
              <a:rPr dirty="0"/>
              <a:t>adhering</a:t>
            </a:r>
            <a:r>
              <a:rPr spc="55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contract,</a:t>
            </a:r>
            <a:r>
              <a:rPr spc="55" dirty="0"/>
              <a:t> </a:t>
            </a:r>
            <a:r>
              <a:rPr spc="-25" dirty="0"/>
              <a:t>the </a:t>
            </a:r>
            <a:r>
              <a:rPr dirty="0"/>
              <a:t>team</a:t>
            </a:r>
            <a:r>
              <a:rPr spc="60" dirty="0"/>
              <a:t> </a:t>
            </a:r>
            <a:r>
              <a:rPr dirty="0"/>
              <a:t>holds</a:t>
            </a:r>
            <a:r>
              <a:rPr spc="55" dirty="0"/>
              <a:t> </a:t>
            </a:r>
            <a:r>
              <a:rPr dirty="0"/>
              <a:t>regular</a:t>
            </a:r>
            <a:r>
              <a:rPr spc="60" dirty="0"/>
              <a:t> </a:t>
            </a:r>
            <a:r>
              <a:rPr dirty="0"/>
              <a:t>meetings</a:t>
            </a:r>
            <a:r>
              <a:rPr spc="55" dirty="0"/>
              <a:t> </a:t>
            </a:r>
            <a:r>
              <a:rPr dirty="0"/>
              <a:t>with</a:t>
            </a:r>
            <a:r>
              <a:rPr spc="6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client</a:t>
            </a:r>
            <a:r>
              <a:rPr spc="55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review</a:t>
            </a:r>
            <a:r>
              <a:rPr spc="60" dirty="0"/>
              <a:t> </a:t>
            </a:r>
            <a:r>
              <a:rPr dirty="0"/>
              <a:t>progress</a:t>
            </a:r>
            <a:r>
              <a:rPr spc="55" dirty="0"/>
              <a:t> </a:t>
            </a:r>
            <a:r>
              <a:rPr dirty="0"/>
              <a:t>and</a:t>
            </a:r>
            <a:r>
              <a:rPr spc="60" dirty="0"/>
              <a:t> </a:t>
            </a:r>
            <a:r>
              <a:rPr dirty="0"/>
              <a:t>gather</a:t>
            </a:r>
            <a:r>
              <a:rPr spc="55" dirty="0"/>
              <a:t> </a:t>
            </a:r>
            <a:r>
              <a:rPr spc="-10" dirty="0"/>
              <a:t>feedback. </a:t>
            </a:r>
            <a:r>
              <a:rPr dirty="0"/>
              <a:t>Midway</a:t>
            </a:r>
            <a:r>
              <a:rPr spc="65" dirty="0"/>
              <a:t> </a:t>
            </a:r>
            <a:r>
              <a:rPr dirty="0"/>
              <a:t>through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project,</a:t>
            </a:r>
            <a:r>
              <a:rPr spc="6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client</a:t>
            </a:r>
            <a:r>
              <a:rPr spc="65" dirty="0"/>
              <a:t> </a:t>
            </a:r>
            <a:r>
              <a:rPr dirty="0"/>
              <a:t>decides</a:t>
            </a:r>
            <a:r>
              <a:rPr spc="65" dirty="0"/>
              <a:t> </a:t>
            </a:r>
            <a:r>
              <a:rPr dirty="0"/>
              <a:t>they</a:t>
            </a:r>
            <a:r>
              <a:rPr spc="65" dirty="0"/>
              <a:t> </a:t>
            </a:r>
            <a:r>
              <a:rPr dirty="0"/>
              <a:t>need</a:t>
            </a:r>
            <a:r>
              <a:rPr spc="65" dirty="0"/>
              <a:t> </a:t>
            </a:r>
            <a:r>
              <a:rPr dirty="0"/>
              <a:t>additional</a:t>
            </a:r>
            <a:r>
              <a:rPr spc="65" dirty="0"/>
              <a:t> </a:t>
            </a:r>
            <a:r>
              <a:rPr dirty="0"/>
              <a:t>features</a:t>
            </a:r>
            <a:r>
              <a:rPr spc="65" dirty="0"/>
              <a:t> </a:t>
            </a:r>
            <a:r>
              <a:rPr dirty="0"/>
              <a:t>based</a:t>
            </a:r>
            <a:r>
              <a:rPr spc="65" dirty="0"/>
              <a:t> </a:t>
            </a:r>
            <a:r>
              <a:rPr spc="-25" dirty="0"/>
              <a:t>on </a:t>
            </a:r>
            <a:r>
              <a:rPr dirty="0"/>
              <a:t>market</a:t>
            </a:r>
            <a:r>
              <a:rPr spc="40" dirty="0"/>
              <a:t> </a:t>
            </a:r>
            <a:r>
              <a:rPr dirty="0"/>
              <a:t>trends.</a:t>
            </a:r>
            <a:r>
              <a:rPr spc="4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team</a:t>
            </a:r>
            <a:r>
              <a:rPr spc="50" dirty="0"/>
              <a:t> </a:t>
            </a:r>
            <a:r>
              <a:rPr dirty="0"/>
              <a:t>collaborates</a:t>
            </a:r>
            <a:r>
              <a:rPr spc="45" dirty="0"/>
              <a:t> </a:t>
            </a:r>
            <a:r>
              <a:rPr dirty="0"/>
              <a:t>with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client</a:t>
            </a:r>
            <a:r>
              <a:rPr spc="50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dirty="0"/>
              <a:t>adjust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project</a:t>
            </a:r>
            <a:r>
              <a:rPr spc="45" dirty="0"/>
              <a:t> </a:t>
            </a:r>
            <a:r>
              <a:rPr dirty="0"/>
              <a:t>scope</a:t>
            </a:r>
            <a:r>
              <a:rPr spc="50" dirty="0"/>
              <a:t> </a:t>
            </a:r>
            <a:r>
              <a:rPr spc="-25" dirty="0"/>
              <a:t>and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/>
              <a:t>timelines,</a:t>
            </a:r>
            <a:r>
              <a:rPr spc="55" dirty="0"/>
              <a:t> </a:t>
            </a:r>
            <a:r>
              <a:rPr dirty="0"/>
              <a:t>ensuring</a:t>
            </a:r>
            <a:r>
              <a:rPr spc="6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final</a:t>
            </a:r>
            <a:r>
              <a:rPr spc="65" dirty="0"/>
              <a:t> </a:t>
            </a:r>
            <a:r>
              <a:rPr dirty="0"/>
              <a:t>product</a:t>
            </a:r>
            <a:r>
              <a:rPr spc="65" dirty="0"/>
              <a:t> </a:t>
            </a:r>
            <a:r>
              <a:rPr dirty="0"/>
              <a:t>better</a:t>
            </a:r>
            <a:r>
              <a:rPr spc="65" dirty="0"/>
              <a:t> </a:t>
            </a:r>
            <a:r>
              <a:rPr dirty="0"/>
              <a:t>serves</a:t>
            </a:r>
            <a:r>
              <a:rPr spc="65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client’s</a:t>
            </a:r>
            <a:r>
              <a:rPr spc="65" dirty="0"/>
              <a:t> </a:t>
            </a:r>
            <a:r>
              <a:rPr dirty="0"/>
              <a:t>evolving</a:t>
            </a:r>
            <a:r>
              <a:rPr spc="65" dirty="0"/>
              <a:t> </a:t>
            </a:r>
            <a:r>
              <a:rPr dirty="0"/>
              <a:t>business</a:t>
            </a:r>
            <a:r>
              <a:rPr spc="65" dirty="0"/>
              <a:t> </a:t>
            </a:r>
            <a:r>
              <a:rPr spc="-10" dirty="0"/>
              <a:t>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000000"/>
                </a:solidFill>
              </a:rPr>
              <a:t>2.2.4.</a:t>
            </a:r>
            <a:r>
              <a:rPr sz="2400" spc="-75" dirty="0">
                <a:solidFill>
                  <a:srgbClr val="000000"/>
                </a:solidFill>
              </a:rPr>
              <a:t> </a:t>
            </a:r>
            <a:r>
              <a:rPr sz="2400" spc="-10" dirty="0"/>
              <a:t>Responding</a:t>
            </a:r>
            <a:r>
              <a:rPr sz="2400" spc="-65" dirty="0"/>
              <a:t> </a:t>
            </a:r>
            <a:r>
              <a:rPr sz="2400" dirty="0"/>
              <a:t>to</a:t>
            </a:r>
            <a:r>
              <a:rPr sz="2400" spc="-65" dirty="0"/>
              <a:t> </a:t>
            </a:r>
            <a:r>
              <a:rPr sz="2400" dirty="0"/>
              <a:t>Change</a:t>
            </a:r>
            <a:r>
              <a:rPr sz="2400" spc="-65" dirty="0"/>
              <a:t> </a:t>
            </a:r>
            <a:r>
              <a:rPr sz="2400" dirty="0"/>
              <a:t>Over</a:t>
            </a:r>
            <a:r>
              <a:rPr sz="2400" spc="-65" dirty="0"/>
              <a:t> </a:t>
            </a:r>
            <a:r>
              <a:rPr sz="2400" dirty="0"/>
              <a:t>Following</a:t>
            </a:r>
            <a:r>
              <a:rPr sz="2400" spc="-65" dirty="0"/>
              <a:t> </a:t>
            </a:r>
            <a:r>
              <a:rPr sz="2400" dirty="0"/>
              <a:t>a</a:t>
            </a:r>
            <a:r>
              <a:rPr sz="2400" spc="-65" dirty="0"/>
              <a:t> </a:t>
            </a:r>
            <a:r>
              <a:rPr sz="2400" spc="-20" dirty="0"/>
              <a:t>Plan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35012" y="1690370"/>
            <a:ext cx="10481310" cy="3911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133350">
              <a:lnSpc>
                <a:spcPct val="126499"/>
              </a:lnSpc>
              <a:spcBef>
                <a:spcPts val="130"/>
              </a:spcBef>
            </a:pPr>
            <a:r>
              <a:rPr sz="2150" dirty="0">
                <a:latin typeface="Segoe UI"/>
                <a:cs typeface="Segoe UI"/>
              </a:rPr>
              <a:t>Agile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encourages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flexibility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adaptability,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recognizing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that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requirements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25" dirty="0">
                <a:latin typeface="Segoe UI"/>
                <a:cs typeface="Segoe UI"/>
              </a:rPr>
              <a:t>and </a:t>
            </a:r>
            <a:r>
              <a:rPr sz="2150" dirty="0">
                <a:latin typeface="Segoe UI"/>
                <a:cs typeface="Segoe UI"/>
              </a:rPr>
              <a:t>circumstances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can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during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project.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Instead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rigidly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sticking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predefined </a:t>
            </a:r>
            <a:r>
              <a:rPr sz="2150" dirty="0">
                <a:latin typeface="Segoe UI"/>
                <a:cs typeface="Segoe UI"/>
              </a:rPr>
              <a:t>plan,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Agile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teams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remain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open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adjustments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better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meet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objectives.</a:t>
            </a:r>
            <a:endParaRPr sz="2150">
              <a:latin typeface="Segoe UI"/>
              <a:cs typeface="Segoe UI"/>
            </a:endParaRPr>
          </a:p>
          <a:p>
            <a:pPr marL="12700" marR="294005">
              <a:lnSpc>
                <a:spcPct val="125000"/>
              </a:lnSpc>
              <a:spcBef>
                <a:spcPts val="1275"/>
              </a:spcBef>
            </a:pPr>
            <a:r>
              <a:rPr sz="2150" dirty="0">
                <a:latin typeface="Segoe UI Semibold"/>
                <a:cs typeface="Segoe UI Semibold"/>
              </a:rPr>
              <a:t>Example:</a:t>
            </a:r>
            <a:r>
              <a:rPr sz="2150" spc="4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development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team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has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six-month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build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new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feature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their </a:t>
            </a:r>
            <a:r>
              <a:rPr sz="2150" dirty="0">
                <a:latin typeface="Segoe UI"/>
                <a:cs typeface="Segoe UI"/>
              </a:rPr>
              <a:t>software.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Halfway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through,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competitor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releases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similar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feature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enhanced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6000"/>
              </a:lnSpc>
              <a:spcBef>
                <a:spcPts val="50"/>
              </a:spcBef>
            </a:pPr>
            <a:r>
              <a:rPr sz="2150" dirty="0">
                <a:latin typeface="Segoe UI"/>
                <a:cs typeface="Segoe UI"/>
              </a:rPr>
              <a:t>capabilities.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Instead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continuing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original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plan,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team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reassesses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priorities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decides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pivot,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incorporating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additional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functionalities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stay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competitive.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They </a:t>
            </a:r>
            <a:r>
              <a:rPr sz="2150" dirty="0">
                <a:latin typeface="Segoe UI"/>
                <a:cs typeface="Segoe UI"/>
              </a:rPr>
              <a:t>adjust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their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workflow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deadlines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accommodate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these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changes,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ensuring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their </a:t>
            </a:r>
            <a:r>
              <a:rPr sz="2150" dirty="0">
                <a:latin typeface="Segoe UI"/>
                <a:cs typeface="Segoe UI"/>
              </a:rPr>
              <a:t>product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remains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relevant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valuable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users.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286000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700337"/>
            <a:ext cx="104775" cy="1047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52650" y="31146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lnTo>
                  <a:pt x="0" y="0"/>
                </a:lnTo>
                <a:lnTo>
                  <a:pt x="95250" y="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52650" y="36004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lnTo>
                  <a:pt x="0" y="0"/>
                </a:lnTo>
                <a:lnTo>
                  <a:pt x="95250" y="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52650" y="44958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95250"/>
                </a:moveTo>
                <a:lnTo>
                  <a:pt x="0" y="95250"/>
                </a:lnTo>
                <a:lnTo>
                  <a:pt x="0" y="0"/>
                </a:lnTo>
                <a:lnTo>
                  <a:pt x="95250" y="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87462" y="2052320"/>
            <a:ext cx="9237980" cy="26543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Frameworks: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 Semibold"/>
                <a:cs typeface="Segoe UI Semibold"/>
              </a:rPr>
              <a:t>Scrum: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Focuses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on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sprints,</a:t>
            </a:r>
            <a:endParaRPr sz="2150" dirty="0">
              <a:latin typeface="Segoe UI"/>
              <a:cs typeface="Segoe UI"/>
            </a:endParaRPr>
          </a:p>
          <a:p>
            <a:pPr marL="111760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roles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(Scrum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Master,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Product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Owner,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Development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Team).</a:t>
            </a:r>
            <a:endParaRPr sz="2150" dirty="0">
              <a:latin typeface="Segoe UI"/>
              <a:cs typeface="Segoe UI"/>
            </a:endParaRPr>
          </a:p>
          <a:p>
            <a:pPr marL="1117600" marR="5080">
              <a:lnSpc>
                <a:spcPct val="127899"/>
              </a:lnSpc>
              <a:spcBef>
                <a:spcPts val="525"/>
              </a:spcBef>
            </a:pPr>
            <a:r>
              <a:rPr sz="2150" dirty="0">
                <a:latin typeface="Segoe UI"/>
                <a:cs typeface="Segoe UI"/>
              </a:rPr>
              <a:t>ceremonies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(Sprint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Planning,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Daily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Standups,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Sprint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Reviews,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Sprint Retrospective).</a:t>
            </a:r>
            <a:endParaRPr sz="2150" dirty="0">
              <a:latin typeface="Segoe UI"/>
              <a:cs typeface="Segoe UI"/>
            </a:endParaRPr>
          </a:p>
          <a:p>
            <a:pPr marL="111760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"/>
                <a:cs typeface="Segoe UI"/>
              </a:rPr>
              <a:t>Artifacts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(Product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Backlog,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Sprint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Backlog,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Increment.)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5012" y="1195500"/>
            <a:ext cx="10542588" cy="49013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Events (Ceremonies):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Sprint: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time-boxed iteration (1-4 weeks) where a usable increment is created.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Sprint Planning: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Defines the goal and work for the upcoming Sprint.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Daily Scrum (Stand-up):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15-minute daily meeting for developers to synchronize and plan the next 24 hours.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Sprint Review: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Held at the end of the Sprint to demonstrate work and gather stakeholder feedback.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Sprint Retrospective: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meeting to inspect the process and plan improvements for the next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Product Backlog:</a:t>
            </a:r>
            <a:r>
              <a:rPr lang="en-US" sz="1800" dirty="0"/>
              <a:t> An ordered list of everything needed in the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Sprint Backlog:</a:t>
            </a:r>
            <a:r>
              <a:rPr lang="en-US" sz="1800" dirty="0"/>
              <a:t> The set of product backlog items selected for the Sprint, plus the plan for delivering them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96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50" y="1076325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1490662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197643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2452687"/>
            <a:ext cx="104775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50" y="2943225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3357562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3833812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4319587"/>
            <a:ext cx="104775" cy="1047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50" y="4810125"/>
            <a:ext cx="95250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5437" y="5214937"/>
            <a:ext cx="104775" cy="1047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95437" y="5700712"/>
            <a:ext cx="104775" cy="1047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87462" y="842644"/>
            <a:ext cx="7656195" cy="50736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Advantages: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Highly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flexible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adaptable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changes.</a:t>
            </a:r>
            <a:endParaRPr sz="2150" dirty="0">
              <a:latin typeface="Segoe UI"/>
              <a:cs typeface="Segoe UI"/>
            </a:endParaRPr>
          </a:p>
          <a:p>
            <a:pPr marL="565150" marR="861060">
              <a:lnSpc>
                <a:spcPct val="145300"/>
              </a:lnSpc>
              <a:spcBef>
                <a:spcPts val="75"/>
              </a:spcBef>
            </a:pPr>
            <a:r>
              <a:rPr sz="2150" dirty="0">
                <a:latin typeface="Segoe UI"/>
                <a:cs typeface="Segoe UI"/>
              </a:rPr>
              <a:t>Encourages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customer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involvement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satisfaction. </a:t>
            </a:r>
            <a:r>
              <a:rPr sz="2150" dirty="0">
                <a:latin typeface="Segoe UI"/>
                <a:cs typeface="Segoe UI"/>
              </a:rPr>
              <a:t>Promotes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continuous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improvement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delivery.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latin typeface="Segoe UI Semibold"/>
                <a:cs typeface="Segoe UI Semibold"/>
              </a:rPr>
              <a:t>Disadvantages: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Requires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experienced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collaborative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team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members.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"/>
                <a:cs typeface="Segoe UI"/>
              </a:rPr>
              <a:t>Can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challenging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predict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timelines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budgets.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Less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emphasis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on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documentation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can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lead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scope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creep.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Use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Cases: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Projects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evolving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requirements.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Startups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innovative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projects.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126013"/>
            <a:ext cx="2573020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2.3.</a:t>
            </a:r>
            <a:r>
              <a:rPr spc="40" dirty="0"/>
              <a:t> </a:t>
            </a:r>
            <a:r>
              <a:rPr dirty="0"/>
              <a:t>Iterative</a:t>
            </a:r>
            <a:r>
              <a:rPr spc="55" dirty="0"/>
              <a:t> </a:t>
            </a:r>
            <a:r>
              <a:rPr spc="-2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819275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233612"/>
            <a:ext cx="104775" cy="104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462" y="1585594"/>
            <a:ext cx="9266555" cy="41021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Description:</a:t>
            </a:r>
            <a:endParaRPr sz="2150">
              <a:latin typeface="Segoe UI Semibold"/>
              <a:cs typeface="Segoe UI Semibold"/>
            </a:endParaRPr>
          </a:p>
          <a:p>
            <a:pPr marL="565150" marR="5080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latin typeface="Segoe UI"/>
                <a:cs typeface="Segoe UI"/>
              </a:rPr>
              <a:t>Develops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system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through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repeated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cycles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(iterations)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smaller </a:t>
            </a:r>
            <a:r>
              <a:rPr sz="2150" dirty="0">
                <a:latin typeface="Segoe UI"/>
                <a:cs typeface="Segoe UI"/>
              </a:rPr>
              <a:t>portions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at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time.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latin typeface="Segoe UI Semibold"/>
                <a:cs typeface="Segoe UI Semibold"/>
              </a:rPr>
              <a:t>Phases:</a:t>
            </a:r>
            <a:endParaRPr sz="2150">
              <a:latin typeface="Segoe UI Semibold"/>
              <a:cs typeface="Segoe UI Semibold"/>
            </a:endParaRPr>
          </a:p>
          <a:p>
            <a:pPr marL="564515" indent="-201930">
              <a:lnSpc>
                <a:spcPct val="100000"/>
              </a:lnSpc>
              <a:spcBef>
                <a:spcPts val="645"/>
              </a:spcBef>
              <a:buFont typeface="Segoe UI"/>
              <a:buAutoNum type="romanLcPeriod"/>
              <a:tabLst>
                <a:tab pos="564515" algn="l"/>
              </a:tabLst>
            </a:pPr>
            <a:r>
              <a:rPr sz="2150" spc="-10" dirty="0">
                <a:latin typeface="Segoe UI Semibold"/>
                <a:cs typeface="Segoe UI Semibold"/>
              </a:rPr>
              <a:t>Planning</a:t>
            </a:r>
            <a:endParaRPr sz="2150">
              <a:latin typeface="Segoe UI Semibold"/>
              <a:cs typeface="Segoe UI Semibold"/>
            </a:endParaRPr>
          </a:p>
          <a:p>
            <a:pPr marL="563880" indent="-268605">
              <a:lnSpc>
                <a:spcPct val="100000"/>
              </a:lnSpc>
              <a:spcBef>
                <a:spcPts val="1245"/>
              </a:spcBef>
              <a:buFont typeface="Segoe UI"/>
              <a:buAutoNum type="romanLcPeriod"/>
              <a:tabLst>
                <a:tab pos="563880" algn="l"/>
              </a:tabLst>
            </a:pPr>
            <a:r>
              <a:rPr sz="2150" spc="-10" dirty="0">
                <a:latin typeface="Segoe UI Semibold"/>
                <a:cs typeface="Segoe UI Semibold"/>
              </a:rPr>
              <a:t>Design</a:t>
            </a:r>
            <a:endParaRPr sz="2150">
              <a:latin typeface="Segoe UI Semibold"/>
              <a:cs typeface="Segoe UI Semibold"/>
            </a:endParaRPr>
          </a:p>
          <a:p>
            <a:pPr marL="563880" indent="-335280">
              <a:lnSpc>
                <a:spcPct val="100000"/>
              </a:lnSpc>
              <a:spcBef>
                <a:spcPts val="1245"/>
              </a:spcBef>
              <a:buFont typeface="Segoe UI"/>
              <a:buAutoNum type="romanLcPeriod"/>
              <a:tabLst>
                <a:tab pos="563880" algn="l"/>
              </a:tabLst>
            </a:pPr>
            <a:r>
              <a:rPr sz="2150" spc="-10" dirty="0">
                <a:latin typeface="Segoe UI Semibold"/>
                <a:cs typeface="Segoe UI Semibold"/>
              </a:rPr>
              <a:t>Implementation</a:t>
            </a:r>
            <a:endParaRPr sz="2150">
              <a:latin typeface="Segoe UI Semibold"/>
              <a:cs typeface="Segoe UI Semibold"/>
            </a:endParaRPr>
          </a:p>
          <a:p>
            <a:pPr marL="563880" indent="-334010">
              <a:lnSpc>
                <a:spcPct val="100000"/>
              </a:lnSpc>
              <a:spcBef>
                <a:spcPts val="1245"/>
              </a:spcBef>
              <a:buFont typeface="Segoe UI"/>
              <a:buAutoNum type="romanLcPeriod"/>
              <a:tabLst>
                <a:tab pos="563880" algn="l"/>
              </a:tabLst>
            </a:pPr>
            <a:r>
              <a:rPr sz="2150" spc="-10" dirty="0">
                <a:latin typeface="Segoe UI Semibold"/>
                <a:cs typeface="Segoe UI Semibold"/>
              </a:rPr>
              <a:t>Testing</a:t>
            </a:r>
            <a:endParaRPr sz="2150">
              <a:latin typeface="Segoe UI Semibold"/>
              <a:cs typeface="Segoe UI Semibold"/>
            </a:endParaRPr>
          </a:p>
          <a:p>
            <a:pPr marL="564515" indent="-267335">
              <a:lnSpc>
                <a:spcPct val="100000"/>
              </a:lnSpc>
              <a:spcBef>
                <a:spcPts val="1170"/>
              </a:spcBef>
              <a:buFont typeface="Segoe UI"/>
              <a:buAutoNum type="romanLcPeriod"/>
              <a:tabLst>
                <a:tab pos="564515" algn="l"/>
              </a:tabLst>
            </a:pPr>
            <a:r>
              <a:rPr sz="2150" spc="-10" dirty="0">
                <a:latin typeface="Segoe UI Semibold"/>
                <a:cs typeface="Segoe UI Semibold"/>
              </a:rPr>
              <a:t>Evaluation</a:t>
            </a:r>
            <a:endParaRPr sz="2150">
              <a:latin typeface="Segoe UI Semibold"/>
              <a:cs typeface="Segoe UI Semibold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133725"/>
            <a:ext cx="95250" cy="952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323975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1728787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21456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700337"/>
            <a:ext cx="104775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190875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595687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081462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572000"/>
            <a:ext cx="95250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4976812"/>
            <a:ext cx="104775" cy="1047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5462587"/>
            <a:ext cx="104775" cy="1047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87462" y="1099819"/>
            <a:ext cx="9266555" cy="45783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spc="-10" dirty="0">
                <a:latin typeface="Segoe UI Semibold"/>
                <a:cs typeface="Segoe UI Semibold"/>
              </a:rPr>
              <a:t>Advantages: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Allows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incremental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improvements.</a:t>
            </a:r>
            <a:endParaRPr sz="2150">
              <a:latin typeface="Segoe UI"/>
              <a:cs typeface="Segoe UI"/>
            </a:endParaRPr>
          </a:p>
          <a:p>
            <a:pPr marL="565150" marR="2568575">
              <a:lnSpc>
                <a:spcPts val="3829"/>
              </a:lnSpc>
              <a:spcBef>
                <a:spcPts val="330"/>
              </a:spcBef>
            </a:pPr>
            <a:r>
              <a:rPr sz="2150" dirty="0">
                <a:latin typeface="Segoe UI"/>
                <a:cs typeface="Segoe UI"/>
              </a:rPr>
              <a:t>Early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detection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issues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through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repeated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testing. </a:t>
            </a:r>
            <a:r>
              <a:rPr sz="2150" dirty="0">
                <a:latin typeface="Segoe UI"/>
                <a:cs typeface="Segoe UI"/>
              </a:rPr>
              <a:t>Flexibility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incorporate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changes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each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iteration.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150" spc="-10" dirty="0">
                <a:latin typeface="Segoe UI Semibold"/>
                <a:cs typeface="Segoe UI Semibold"/>
              </a:rPr>
              <a:t>Disadvantages: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Can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lead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increased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costs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time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if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iterations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are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not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managed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well.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Requires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strong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handle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multiple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iterations.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Use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Cases: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Large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complex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projects.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Projects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where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requirements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are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expected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evolve.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226752"/>
            <a:ext cx="700024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3.</a:t>
            </a:r>
            <a:r>
              <a:rPr sz="2400" spc="-70" dirty="0"/>
              <a:t> </a:t>
            </a:r>
            <a:r>
              <a:rPr sz="2400" dirty="0"/>
              <a:t>Choosing</a:t>
            </a:r>
            <a:r>
              <a:rPr sz="2400" spc="-70" dirty="0"/>
              <a:t> </a:t>
            </a:r>
            <a:r>
              <a:rPr sz="2400" dirty="0"/>
              <a:t>the</a:t>
            </a:r>
            <a:r>
              <a:rPr sz="2400" spc="-70" dirty="0"/>
              <a:t> </a:t>
            </a:r>
            <a:r>
              <a:rPr sz="2400" dirty="0"/>
              <a:t>Right</a:t>
            </a:r>
            <a:r>
              <a:rPr sz="2400" spc="-70" dirty="0"/>
              <a:t> </a:t>
            </a:r>
            <a:r>
              <a:rPr sz="2400" dirty="0"/>
              <a:t>SDLC</a:t>
            </a:r>
            <a:r>
              <a:rPr sz="2400" spc="-70" dirty="0"/>
              <a:t> </a:t>
            </a:r>
            <a:r>
              <a:rPr sz="2400" dirty="0"/>
              <a:t>Model</a:t>
            </a:r>
            <a:r>
              <a:rPr sz="2400" spc="-75" dirty="0"/>
              <a:t> </a:t>
            </a:r>
            <a:r>
              <a:rPr sz="2400" dirty="0"/>
              <a:t>for</a:t>
            </a:r>
            <a:r>
              <a:rPr sz="2400" spc="-70" dirty="0"/>
              <a:t> </a:t>
            </a:r>
            <a:r>
              <a:rPr sz="2400" spc="-45" dirty="0"/>
              <a:t>Your</a:t>
            </a:r>
            <a:r>
              <a:rPr sz="2400" spc="-70" dirty="0"/>
              <a:t> </a:t>
            </a:r>
            <a:r>
              <a:rPr sz="2400" spc="-10" dirty="0"/>
              <a:t>Project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506888"/>
            <a:ext cx="3052445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3.1.</a:t>
            </a:r>
            <a:r>
              <a:rPr spc="5" dirty="0"/>
              <a:t> </a:t>
            </a:r>
            <a:r>
              <a:rPr dirty="0"/>
              <a:t>Factors</a:t>
            </a:r>
            <a:r>
              <a:rPr spc="15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10" dirty="0"/>
              <a:t>Consider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200150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160496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09550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509837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990850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405187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895725"/>
            <a:ext cx="95250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4300537"/>
            <a:ext cx="104775" cy="1047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791075"/>
            <a:ext cx="95250" cy="95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5195887"/>
            <a:ext cx="104775" cy="1047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5686425"/>
            <a:ext cx="95250" cy="952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6100762"/>
            <a:ext cx="104775" cy="10477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87462" y="975994"/>
            <a:ext cx="6764655" cy="53403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2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Requirements: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Stability</a:t>
            </a:r>
            <a:r>
              <a:rPr sz="2150" spc="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clarity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requirements.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3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Size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and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Complexity: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Large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vs.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small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projects.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 Semibold"/>
                <a:cs typeface="Segoe UI Semibold"/>
              </a:rPr>
              <a:t>Customer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Involvement: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Level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customer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interaction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feedback.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Risk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Management: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Ability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identify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mitigate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risks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early.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Time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and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Budget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Constraints: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Availability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resources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timeframes.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latin typeface="Segoe UI Semibold"/>
                <a:cs typeface="Segoe UI Semibold"/>
              </a:rPr>
              <a:t>Team</a:t>
            </a:r>
            <a:r>
              <a:rPr sz="2150" spc="-12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Expertise: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Skill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sets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experience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development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team.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126013"/>
            <a:ext cx="4338955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3.2.</a:t>
            </a:r>
            <a:r>
              <a:rPr spc="105" dirty="0"/>
              <a:t> </a:t>
            </a:r>
            <a:r>
              <a:rPr dirty="0"/>
              <a:t>Decision-Making</a:t>
            </a:r>
            <a:r>
              <a:rPr spc="114" dirty="0"/>
              <a:t> </a:t>
            </a:r>
            <a:r>
              <a:rPr spc="-10" dirty="0"/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819275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23361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709862"/>
            <a:ext cx="104775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200400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614737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090987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581525"/>
            <a:ext cx="95250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4995862"/>
            <a:ext cx="104775" cy="1047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5472112"/>
            <a:ext cx="104775" cy="1047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87462" y="1585594"/>
            <a:ext cx="5633085" cy="41021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dirty="0">
                <a:latin typeface="Segoe UI Semibold"/>
                <a:cs typeface="Segoe UI Semibold"/>
              </a:rPr>
              <a:t>Assess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Requirements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Stability: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Stable</a:t>
            </a:r>
            <a:r>
              <a:rPr sz="2150" spc="-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Waterfall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Iterative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"/>
                <a:cs typeface="Segoe UI"/>
              </a:rPr>
              <a:t>Evolving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Agile</a:t>
            </a:r>
            <a:r>
              <a:rPr sz="2150" spc="40" dirty="0">
                <a:latin typeface="Segoe UI"/>
                <a:cs typeface="Segoe UI"/>
              </a:rPr>
              <a:t> 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Evaluate</a:t>
            </a:r>
            <a:r>
              <a:rPr sz="2150" spc="2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Size: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Large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complex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Iterative</a:t>
            </a:r>
            <a:r>
              <a:rPr sz="2150" spc="50" dirty="0">
                <a:latin typeface="Segoe UI"/>
                <a:cs typeface="Segoe UI"/>
              </a:rPr>
              <a:t> 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"/>
                <a:cs typeface="Segoe UI"/>
              </a:rPr>
              <a:t>Small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medium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Agile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Waterfall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Consider</a:t>
            </a:r>
            <a:r>
              <a:rPr sz="2150" spc="9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Customer</a:t>
            </a:r>
            <a:r>
              <a:rPr sz="2150" spc="8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Involvement: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High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involvement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Agile</a:t>
            </a:r>
            <a:r>
              <a:rPr sz="2150" spc="55" dirty="0">
                <a:latin typeface="Segoe UI"/>
                <a:cs typeface="Segoe UI"/>
              </a:rPr>
              <a:t> 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"/>
                <a:cs typeface="Segoe UI"/>
              </a:rPr>
              <a:t>Low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involvement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Waterfall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257425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662237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14801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63855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043362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4529137"/>
            <a:ext cx="104775" cy="1047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462" y="2033270"/>
            <a:ext cx="6619240" cy="27114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dirty="0">
                <a:latin typeface="Segoe UI Semibold"/>
                <a:cs typeface="Segoe UI Semibold"/>
              </a:rPr>
              <a:t>Analyze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Risk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Factors: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High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risk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requiring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flexibility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Agile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Iterative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Low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risk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clear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pathways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Waterfall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Resource</a:t>
            </a:r>
            <a:r>
              <a:rPr sz="2150" spc="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Availability: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Skilled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team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 smtClean="0">
                <a:latin typeface="Segoe UI"/>
                <a:cs typeface="Segoe UI"/>
              </a:rPr>
              <a:t>Agile</a:t>
            </a:r>
            <a:r>
              <a:rPr sz="2150" spc="50" dirty="0" smtClean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 smtClean="0">
                <a:latin typeface="Segoe UI"/>
                <a:cs typeface="Segoe UI"/>
              </a:rPr>
              <a:t>Agile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Limited</a:t>
            </a:r>
            <a:r>
              <a:rPr sz="2150" spc="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resources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Waterfall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Iterative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21338"/>
            <a:ext cx="4099560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3.3.</a:t>
            </a:r>
            <a:r>
              <a:rPr spc="25" dirty="0"/>
              <a:t> </a:t>
            </a:r>
            <a:r>
              <a:rPr dirty="0"/>
              <a:t>Case</a:t>
            </a:r>
            <a:r>
              <a:rPr spc="35" dirty="0"/>
              <a:t> </a:t>
            </a:r>
            <a:r>
              <a:rPr dirty="0"/>
              <a:t>Studies</a:t>
            </a:r>
            <a:r>
              <a:rPr spc="35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Examples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514600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7462" y="2290445"/>
            <a:ext cx="10116185" cy="218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18590">
              <a:lnSpc>
                <a:spcPct val="125000"/>
              </a:lnSpc>
              <a:spcBef>
                <a:spcPts val="95"/>
              </a:spcBef>
            </a:pPr>
            <a:r>
              <a:rPr sz="2150" dirty="0">
                <a:latin typeface="Segoe UI Semibold"/>
                <a:cs typeface="Segoe UI Semibold"/>
              </a:rPr>
              <a:t>Example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1: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Developing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banking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software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system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strict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regulatory </a:t>
            </a:r>
            <a:r>
              <a:rPr sz="2150" dirty="0">
                <a:latin typeface="Segoe UI"/>
                <a:cs typeface="Segoe UI"/>
              </a:rPr>
              <a:t>requirements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Waterfall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Model</a:t>
            </a:r>
            <a:endParaRPr sz="21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Example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2: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Building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mobile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app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changing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user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requirements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Agile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Model</a:t>
            </a:r>
            <a:endParaRPr sz="2150" dirty="0">
              <a:latin typeface="Segoe UI Semibold"/>
              <a:cs typeface="Segoe UI Semibold"/>
            </a:endParaRPr>
          </a:p>
          <a:p>
            <a:pPr marL="12700" marR="147447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latin typeface="Segoe UI Semibold"/>
                <a:cs typeface="Segoe UI Semibold"/>
              </a:rPr>
              <a:t>Example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3: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Implementing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large-scale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enterprise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system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multiple </a:t>
            </a:r>
            <a:r>
              <a:rPr sz="2150" dirty="0">
                <a:latin typeface="Segoe UI"/>
                <a:cs typeface="Segoe UI"/>
              </a:rPr>
              <a:t>integrations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→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Iterative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spc="-10" dirty="0" smtClean="0">
                <a:latin typeface="Segoe UI Semibold"/>
                <a:cs typeface="Segoe UI Semibold"/>
              </a:rPr>
              <a:t>Model</a:t>
            </a:r>
            <a:endParaRPr sz="2150" dirty="0">
              <a:latin typeface="Segoe UI Semibold"/>
              <a:cs typeface="Segoe UI Semibold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40995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895725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4.</a:t>
            </a:r>
            <a:r>
              <a:rPr sz="2400" spc="-95" dirty="0"/>
              <a:t> </a:t>
            </a:r>
            <a:r>
              <a:rPr sz="2400" dirty="0"/>
              <a:t>Project</a:t>
            </a:r>
            <a:r>
              <a:rPr sz="2400" spc="-85" dirty="0"/>
              <a:t> </a:t>
            </a:r>
            <a:r>
              <a:rPr sz="2400" dirty="0"/>
              <a:t>Integration</a:t>
            </a:r>
            <a:r>
              <a:rPr sz="2400" spc="-85" dirty="0"/>
              <a:t> </a:t>
            </a:r>
            <a:r>
              <a:rPr sz="2400" spc="-10" dirty="0"/>
              <a:t>Management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35012" y="3023870"/>
            <a:ext cx="10712450" cy="12636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26499"/>
              </a:lnSpc>
              <a:spcBef>
                <a:spcPts val="55"/>
              </a:spcBef>
            </a:pP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Integration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ensures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that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various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elements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are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properly </a:t>
            </a:r>
            <a:r>
              <a:rPr sz="2150" dirty="0">
                <a:latin typeface="Segoe UI"/>
                <a:cs typeface="Segoe UI"/>
              </a:rPr>
              <a:t>coordinated.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It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involves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making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trade-offs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among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competing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objectives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spc="-25" dirty="0">
                <a:latin typeface="Segoe UI"/>
                <a:cs typeface="Segoe UI"/>
              </a:rPr>
              <a:t>and</a:t>
            </a:r>
            <a:r>
              <a:rPr sz="2150" spc="5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alternatives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meet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stakeholder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expectations.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335563"/>
            <a:ext cx="4092575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4.1.</a:t>
            </a:r>
            <a:r>
              <a:rPr spc="65" dirty="0"/>
              <a:t> </a:t>
            </a:r>
            <a:r>
              <a:rPr dirty="0"/>
              <a:t>Developing</a:t>
            </a:r>
            <a:r>
              <a:rPr spc="65" dirty="0"/>
              <a:t> </a:t>
            </a:r>
            <a:r>
              <a:rPr dirty="0"/>
              <a:t>Project</a:t>
            </a:r>
            <a:r>
              <a:rPr spc="65" dirty="0"/>
              <a:t> </a:t>
            </a:r>
            <a:r>
              <a:rPr spc="-10" dirty="0"/>
              <a:t>Charter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028825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43363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924175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338512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814762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4300537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4786312"/>
            <a:ext cx="104775" cy="1047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5272087"/>
            <a:ext cx="104775" cy="1047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7462" y="1804670"/>
            <a:ext cx="9175750" cy="368300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spc="-10" dirty="0">
                <a:latin typeface="Segoe UI Semibold"/>
                <a:cs typeface="Segoe UI Semibold"/>
              </a:rPr>
              <a:t>Definition: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"/>
                <a:cs typeface="Segoe UI"/>
              </a:rPr>
              <a:t>A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document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that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formally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authorizes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phase.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latin typeface="Segoe UI Semibold"/>
                <a:cs typeface="Segoe UI Semibold"/>
              </a:rPr>
              <a:t>Components: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Purpose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or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Justification: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Why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is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needed.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 Semibold"/>
                <a:cs typeface="Segoe UI Semibold"/>
              </a:rPr>
              <a:t>Measurable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Objectives: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Specific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outcomes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aims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achieve.</a:t>
            </a:r>
            <a:endParaRPr sz="2150">
              <a:latin typeface="Segoe UI"/>
              <a:cs typeface="Segoe UI"/>
            </a:endParaRPr>
          </a:p>
          <a:p>
            <a:pPr marL="565150" marR="562610">
              <a:lnSpc>
                <a:spcPts val="3829"/>
              </a:lnSpc>
              <a:spcBef>
                <a:spcPts val="130"/>
              </a:spcBef>
            </a:pPr>
            <a:r>
              <a:rPr sz="2150" dirty="0">
                <a:latin typeface="Segoe UI Semibold"/>
                <a:cs typeface="Segoe UI Semibold"/>
              </a:rPr>
              <a:t>High-Level</a:t>
            </a:r>
            <a:r>
              <a:rPr sz="2150" spc="4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Requirements: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Key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features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functionalities. </a:t>
            </a:r>
            <a:r>
              <a:rPr sz="2150" dirty="0">
                <a:latin typeface="Segoe UI Semibold"/>
                <a:cs typeface="Segoe UI Semibold"/>
              </a:rPr>
              <a:t>Assumptions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and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Constraints: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Factors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affecting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execution. </a:t>
            </a:r>
            <a:r>
              <a:rPr sz="2150" dirty="0">
                <a:latin typeface="Segoe UI Semibold"/>
                <a:cs typeface="Segoe UI Semibold"/>
              </a:rPr>
              <a:t>High-Level</a:t>
            </a:r>
            <a:r>
              <a:rPr sz="2150" spc="4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Risks: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Potential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threats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success.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352550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838325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733675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21945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633787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529137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5424487"/>
            <a:ext cx="104775" cy="1047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87462" y="1052194"/>
            <a:ext cx="10019665" cy="4560864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150" dirty="0">
                <a:latin typeface="Segoe UI Semibold"/>
                <a:cs typeface="Segoe UI Semibold"/>
              </a:rPr>
              <a:t>Summary</a:t>
            </a:r>
            <a:r>
              <a:rPr sz="2150" spc="9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Milestone</a:t>
            </a:r>
            <a:r>
              <a:rPr sz="2150" spc="8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Schedule:</a:t>
            </a:r>
            <a:r>
              <a:rPr sz="2150" spc="8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Major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deliverables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timelines.</a:t>
            </a:r>
            <a:endParaRPr sz="2150" dirty="0">
              <a:latin typeface="Segoe UI"/>
              <a:cs typeface="Segoe UI"/>
            </a:endParaRPr>
          </a:p>
          <a:p>
            <a:pPr marL="12700" marR="648970">
              <a:lnSpc>
                <a:spcPct val="127899"/>
              </a:lnSpc>
              <a:spcBef>
                <a:spcPts val="525"/>
              </a:spcBef>
            </a:pPr>
            <a:r>
              <a:rPr sz="2150" dirty="0">
                <a:latin typeface="Segoe UI Semibold"/>
                <a:cs typeface="Segoe UI Semibold"/>
              </a:rPr>
              <a:t>Assigned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Manager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and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Authority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Level: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Responsibility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decision- </a:t>
            </a:r>
            <a:r>
              <a:rPr sz="2150" dirty="0">
                <a:latin typeface="Segoe UI"/>
                <a:cs typeface="Segoe UI"/>
              </a:rPr>
              <a:t>making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power.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 Semibold"/>
                <a:cs typeface="Segoe UI Semibold"/>
              </a:rPr>
              <a:t>Stakeholder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List: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Key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stakeholders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their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roles.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latin typeface="Segoe UI Semibold"/>
                <a:cs typeface="Segoe UI Semibold"/>
              </a:rPr>
              <a:t>Process:</a:t>
            </a:r>
            <a:endParaRPr sz="2150" dirty="0">
              <a:latin typeface="Segoe UI Semibold"/>
              <a:cs typeface="Segoe UI Semibold"/>
            </a:endParaRPr>
          </a:p>
          <a:p>
            <a:pPr marL="565150" marR="329565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latin typeface="Segoe UI Semibold"/>
                <a:cs typeface="Segoe UI Semibold"/>
              </a:rPr>
              <a:t>Inputs:</a:t>
            </a:r>
            <a:r>
              <a:rPr sz="2150" spc="10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Business</a:t>
            </a:r>
            <a:r>
              <a:rPr sz="2150" spc="10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documents,</a:t>
            </a:r>
            <a:r>
              <a:rPr sz="2150" spc="110" dirty="0">
                <a:latin typeface="Segoe UI"/>
                <a:cs typeface="Segoe UI"/>
              </a:rPr>
              <a:t> </a:t>
            </a:r>
            <a:r>
              <a:rPr sz="2150" dirty="0" smtClean="0">
                <a:latin typeface="Segoe UI"/>
                <a:cs typeface="Segoe UI"/>
              </a:rPr>
              <a:t>agreements</a:t>
            </a:r>
            <a:endParaRPr lang="en-US" sz="2150" dirty="0" smtClean="0">
              <a:latin typeface="Segoe UI"/>
              <a:cs typeface="Segoe UI"/>
            </a:endParaRPr>
          </a:p>
          <a:p>
            <a:pPr marL="565150" marR="329565">
              <a:lnSpc>
                <a:spcPct val="125000"/>
              </a:lnSpc>
              <a:spcBef>
                <a:spcPts val="75"/>
              </a:spcBef>
            </a:pPr>
            <a:endParaRPr lang="en-US" sz="2150" spc="-10" dirty="0">
              <a:latin typeface="Segoe UI"/>
              <a:cs typeface="Segoe UI"/>
            </a:endParaRPr>
          </a:p>
          <a:p>
            <a:pPr marL="565150" marR="329565">
              <a:lnSpc>
                <a:spcPct val="125000"/>
              </a:lnSpc>
              <a:spcBef>
                <a:spcPts val="75"/>
              </a:spcBef>
            </a:pPr>
            <a:r>
              <a:rPr sz="2150" spc="-10" dirty="0" smtClean="0">
                <a:latin typeface="Segoe UI Semibold"/>
                <a:cs typeface="Segoe UI Semibold"/>
              </a:rPr>
              <a:t>Tools</a:t>
            </a:r>
            <a:r>
              <a:rPr sz="2150" spc="20" dirty="0" smtClean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&amp;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Techniques:</a:t>
            </a:r>
            <a:r>
              <a:rPr sz="2150" spc="3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Expert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judgment,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data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gathering,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interpersonal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team </a:t>
            </a:r>
            <a:r>
              <a:rPr sz="2150" dirty="0">
                <a:latin typeface="Segoe UI"/>
                <a:cs typeface="Segoe UI"/>
              </a:rPr>
              <a:t>skills,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meetings.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Outputs: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Charter.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402238"/>
            <a:ext cx="5555615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4.2.</a:t>
            </a:r>
            <a:r>
              <a:rPr spc="75" dirty="0"/>
              <a:t> </a:t>
            </a:r>
            <a:r>
              <a:rPr dirty="0"/>
              <a:t>Developing</a:t>
            </a:r>
            <a:r>
              <a:rPr spc="80" dirty="0"/>
              <a:t> </a:t>
            </a:r>
            <a:r>
              <a:rPr dirty="0"/>
              <a:t>Project</a:t>
            </a:r>
            <a:r>
              <a:rPr spc="85" dirty="0"/>
              <a:t> </a:t>
            </a:r>
            <a:r>
              <a:rPr dirty="0"/>
              <a:t>Management</a:t>
            </a:r>
            <a:r>
              <a:rPr spc="85" dirty="0"/>
              <a:t> </a:t>
            </a:r>
            <a:r>
              <a:rPr spc="-20" dirty="0"/>
              <a:t>Plan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095500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50983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40995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814762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4300537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5195887"/>
            <a:ext cx="104775" cy="1047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87462" y="1861820"/>
            <a:ext cx="9681845" cy="35496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Definition:</a:t>
            </a:r>
            <a:endParaRPr sz="2150">
              <a:latin typeface="Segoe UI Semibold"/>
              <a:cs typeface="Segoe UI Semibold"/>
            </a:endParaRPr>
          </a:p>
          <a:p>
            <a:pPr marL="565150" marR="5080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latin typeface="Segoe UI"/>
                <a:cs typeface="Segoe UI"/>
              </a:rPr>
              <a:t>A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comprehensive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document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that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outlines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how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will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executed, </a:t>
            </a:r>
            <a:r>
              <a:rPr sz="2150" dirty="0">
                <a:latin typeface="Segoe UI"/>
                <a:cs typeface="Segoe UI"/>
              </a:rPr>
              <a:t>monitored,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controlled.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latin typeface="Segoe UI Semibold"/>
                <a:cs typeface="Segoe UI Semibold"/>
              </a:rPr>
              <a:t>Components: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 Semibold"/>
                <a:cs typeface="Segoe UI Semibold"/>
              </a:rPr>
              <a:t>Integration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Plan: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How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various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elements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will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coordinated.</a:t>
            </a:r>
            <a:endParaRPr sz="2150">
              <a:latin typeface="Segoe UI"/>
              <a:cs typeface="Segoe UI"/>
            </a:endParaRPr>
          </a:p>
          <a:p>
            <a:pPr marL="565150" marR="80645">
              <a:lnSpc>
                <a:spcPct val="127899"/>
              </a:lnSpc>
              <a:spcBef>
                <a:spcPts val="525"/>
              </a:spcBef>
            </a:pPr>
            <a:r>
              <a:rPr sz="2150" dirty="0">
                <a:latin typeface="Segoe UI Semibold"/>
                <a:cs typeface="Segoe UI Semibold"/>
              </a:rPr>
              <a:t>Scope,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Schedule,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and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Cost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Baselines: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Detailed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managing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project </a:t>
            </a:r>
            <a:r>
              <a:rPr sz="2150" dirty="0">
                <a:latin typeface="Segoe UI"/>
                <a:cs typeface="Segoe UI"/>
              </a:rPr>
              <a:t>scope,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timeline,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budget.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 Semibold"/>
                <a:cs typeface="Segoe UI Semibold"/>
              </a:rPr>
              <a:t>Quality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Management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Plan: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Standards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processes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ensuring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quality.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219325"/>
            <a:ext cx="95250" cy="952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87462" y="1918970"/>
            <a:ext cx="10071735" cy="2863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</a:pPr>
            <a:r>
              <a:rPr sz="2150" dirty="0">
                <a:latin typeface="Segoe UI Semibold"/>
                <a:cs typeface="Segoe UI Semibold"/>
              </a:rPr>
              <a:t>Resource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Management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Plan: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Allocation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resources. </a:t>
            </a:r>
            <a:r>
              <a:rPr sz="2150" dirty="0">
                <a:latin typeface="Segoe UI Semibold"/>
                <a:cs typeface="Segoe UI Semibold"/>
              </a:rPr>
              <a:t>Communication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Plan: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Strategies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effective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communication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among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stakeholders. </a:t>
            </a:r>
            <a:r>
              <a:rPr sz="2150" dirty="0">
                <a:latin typeface="Segoe UI Semibold"/>
                <a:cs typeface="Segoe UI Semibold"/>
              </a:rPr>
              <a:t>Risk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Management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Plan: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Identification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mitigation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risks.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 Semibold"/>
                <a:cs typeface="Segoe UI Semibold"/>
              </a:rPr>
              <a:t>Procurement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Plan: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Strategies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acquiring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necessary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resources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services.</a:t>
            </a:r>
            <a:endParaRPr sz="2150">
              <a:latin typeface="Segoe UI"/>
              <a:cs typeface="Segoe UI"/>
            </a:endParaRPr>
          </a:p>
          <a:p>
            <a:pPr marL="12700" marR="205740">
              <a:lnSpc>
                <a:spcPct val="127899"/>
              </a:lnSpc>
              <a:spcBef>
                <a:spcPts val="530"/>
              </a:spcBef>
            </a:pPr>
            <a:r>
              <a:rPr sz="2150" dirty="0">
                <a:latin typeface="Segoe UI Semibold"/>
                <a:cs typeface="Segoe UI Semibold"/>
              </a:rPr>
              <a:t>Stakeholder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Engagement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Plan: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Approaches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stakeholder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expectations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involvement.</a:t>
            </a:r>
            <a:endParaRPr sz="215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70510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190875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667125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152900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286000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700337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59568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491037"/>
            <a:ext cx="104775" cy="104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7462" y="2052320"/>
            <a:ext cx="10019665" cy="26543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Process:</a:t>
            </a:r>
            <a:endParaRPr sz="2150">
              <a:latin typeface="Segoe UI Semibold"/>
              <a:cs typeface="Segoe UI Semibold"/>
            </a:endParaRPr>
          </a:p>
          <a:p>
            <a:pPr marL="565150" marR="469265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latin typeface="Segoe UI Semibold"/>
                <a:cs typeface="Segoe UI Semibold"/>
              </a:rPr>
              <a:t>Inputs: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Charter,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outputs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from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other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planning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processes,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enterprise </a:t>
            </a:r>
            <a:r>
              <a:rPr sz="2150" dirty="0">
                <a:latin typeface="Segoe UI"/>
                <a:cs typeface="Segoe UI"/>
              </a:rPr>
              <a:t>environmental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factors,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organizational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process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assets.</a:t>
            </a:r>
            <a:endParaRPr sz="2150">
              <a:latin typeface="Segoe UI"/>
              <a:cs typeface="Segoe UI"/>
            </a:endParaRPr>
          </a:p>
          <a:p>
            <a:pPr marL="565150" marR="5080">
              <a:lnSpc>
                <a:spcPct val="127899"/>
              </a:lnSpc>
              <a:spcBef>
                <a:spcPts val="525"/>
              </a:spcBef>
            </a:pPr>
            <a:r>
              <a:rPr sz="2150" spc="-10" dirty="0">
                <a:latin typeface="Segoe UI Semibold"/>
                <a:cs typeface="Segoe UI Semibold"/>
              </a:rPr>
              <a:t>Tools</a:t>
            </a:r>
            <a:r>
              <a:rPr sz="2150" spc="2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&amp;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Techniques:</a:t>
            </a:r>
            <a:r>
              <a:rPr sz="2150" spc="3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Expert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judgment,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data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gathering,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interpersonal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team </a:t>
            </a:r>
            <a:r>
              <a:rPr sz="2150" dirty="0">
                <a:latin typeface="Segoe UI"/>
                <a:cs typeface="Segoe UI"/>
              </a:rPr>
              <a:t>skills,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meetings.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 Semibold"/>
                <a:cs typeface="Segoe UI Semibold"/>
              </a:rPr>
              <a:t>Outputs:</a:t>
            </a:r>
            <a:r>
              <a:rPr sz="2150" spc="9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10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Plan.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916463"/>
            <a:ext cx="5549900" cy="374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4.3.</a:t>
            </a:r>
            <a:r>
              <a:rPr spc="65" dirty="0"/>
              <a:t> </a:t>
            </a:r>
            <a:r>
              <a:rPr dirty="0"/>
              <a:t>Directing</a:t>
            </a:r>
            <a:r>
              <a:rPr spc="60" dirty="0"/>
              <a:t> </a:t>
            </a:r>
            <a:r>
              <a:rPr dirty="0"/>
              <a:t>and</a:t>
            </a:r>
            <a:r>
              <a:rPr spc="65" dirty="0"/>
              <a:t> </a:t>
            </a:r>
            <a:r>
              <a:rPr dirty="0"/>
              <a:t>Managing</a:t>
            </a:r>
            <a:r>
              <a:rPr spc="60" dirty="0"/>
              <a:t> </a:t>
            </a:r>
            <a:r>
              <a:rPr dirty="0"/>
              <a:t>Project</a:t>
            </a:r>
            <a:r>
              <a:rPr spc="65" dirty="0"/>
              <a:t> </a:t>
            </a:r>
            <a:r>
              <a:rPr spc="-2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609725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02406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924175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338512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814762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4300537"/>
            <a:ext cx="104775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4786312"/>
            <a:ext cx="104775" cy="1047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5272087"/>
            <a:ext cx="104775" cy="1047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87462" y="1376044"/>
            <a:ext cx="10004425" cy="45212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Definition:</a:t>
            </a:r>
            <a:endParaRPr sz="2150">
              <a:latin typeface="Segoe UI Semibold"/>
              <a:cs typeface="Segoe UI Semibold"/>
            </a:endParaRPr>
          </a:p>
          <a:p>
            <a:pPr marL="565150" marR="24765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latin typeface="Segoe UI"/>
                <a:cs typeface="Segoe UI"/>
              </a:rPr>
              <a:t>Leading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performing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work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defined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25" dirty="0">
                <a:latin typeface="Segoe UI"/>
                <a:cs typeface="Segoe UI"/>
              </a:rPr>
              <a:t>to </a:t>
            </a:r>
            <a:r>
              <a:rPr sz="2150" dirty="0">
                <a:latin typeface="Segoe UI"/>
                <a:cs typeface="Segoe UI"/>
              </a:rPr>
              <a:t>achieve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objectives.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latin typeface="Segoe UI Semibold"/>
                <a:cs typeface="Segoe UI Semibold"/>
              </a:rPr>
              <a:t>Activities: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 Semibold"/>
                <a:cs typeface="Segoe UI Semibold"/>
              </a:rPr>
              <a:t>Executing</a:t>
            </a:r>
            <a:r>
              <a:rPr sz="2150" spc="2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Tasks: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Carrying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out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activities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as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planned.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 Semibold"/>
                <a:cs typeface="Segoe UI Semibold"/>
              </a:rPr>
              <a:t>Managing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Resources: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Ensuring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resources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are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available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efficiently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utilized.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Implementing</a:t>
            </a:r>
            <a:r>
              <a:rPr sz="2150" spc="8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Approved</a:t>
            </a:r>
            <a:r>
              <a:rPr sz="2150" spc="8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Changes:</a:t>
            </a:r>
            <a:r>
              <a:rPr sz="2150" spc="8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Adhering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change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control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processes.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Monitoring</a:t>
            </a:r>
            <a:r>
              <a:rPr sz="2150" spc="2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Performance: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Tracking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progress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against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plan.</a:t>
            </a:r>
            <a:endParaRPr sz="2150">
              <a:latin typeface="Segoe UI"/>
              <a:cs typeface="Segoe UI"/>
            </a:endParaRPr>
          </a:p>
          <a:p>
            <a:pPr marL="565150" marR="348615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latin typeface="Segoe UI Semibold"/>
                <a:cs typeface="Segoe UI Semibold"/>
              </a:rPr>
              <a:t>Ensuring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Quality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Standards: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Maintaining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quality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through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adherence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25" dirty="0">
                <a:latin typeface="Segoe UI"/>
                <a:cs typeface="Segoe UI"/>
              </a:rPr>
              <a:t>the </a:t>
            </a:r>
            <a:r>
              <a:rPr sz="2150" dirty="0">
                <a:latin typeface="Segoe UI"/>
                <a:cs typeface="Segoe UI"/>
              </a:rPr>
              <a:t>quality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10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plan.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085975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490787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38613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291012"/>
            <a:ext cx="104775" cy="104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7462" y="1861820"/>
            <a:ext cx="9698990" cy="30543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spc="-10" dirty="0">
                <a:latin typeface="Segoe UI Semibold"/>
                <a:cs typeface="Segoe UI Semibold"/>
              </a:rPr>
              <a:t>Process:</a:t>
            </a:r>
            <a:endParaRPr sz="2150">
              <a:latin typeface="Segoe UI Semibold"/>
              <a:cs typeface="Segoe UI Semibold"/>
            </a:endParaRPr>
          </a:p>
          <a:p>
            <a:pPr marL="565150" marR="328295">
              <a:lnSpc>
                <a:spcPts val="3300"/>
              </a:lnSpc>
              <a:spcBef>
                <a:spcPts val="155"/>
              </a:spcBef>
            </a:pPr>
            <a:r>
              <a:rPr sz="2150" dirty="0">
                <a:latin typeface="Segoe UI Semibold"/>
                <a:cs typeface="Segoe UI Semibold"/>
              </a:rPr>
              <a:t>Inputs: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Plan,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approved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change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requests,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enterprise </a:t>
            </a:r>
            <a:r>
              <a:rPr sz="2150" dirty="0">
                <a:latin typeface="Segoe UI"/>
                <a:cs typeface="Segoe UI"/>
              </a:rPr>
              <a:t>environmental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factors,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organizational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process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assets.</a:t>
            </a:r>
            <a:endParaRPr sz="2150">
              <a:latin typeface="Segoe UI"/>
              <a:cs typeface="Segoe UI"/>
            </a:endParaRPr>
          </a:p>
          <a:p>
            <a:pPr marL="565150" marR="398780">
              <a:lnSpc>
                <a:spcPct val="127899"/>
              </a:lnSpc>
              <a:spcBef>
                <a:spcPts val="220"/>
              </a:spcBef>
            </a:pPr>
            <a:r>
              <a:rPr sz="2150" spc="-10" dirty="0">
                <a:latin typeface="Segoe UI Semibold"/>
                <a:cs typeface="Segoe UI Semibold"/>
              </a:rPr>
              <a:t>Tools</a:t>
            </a:r>
            <a:r>
              <a:rPr sz="2150" spc="1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&amp;</a:t>
            </a:r>
            <a:r>
              <a:rPr sz="2150" spc="2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Techniques:</a:t>
            </a:r>
            <a:r>
              <a:rPr sz="2150" spc="2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Expert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judgment,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information </a:t>
            </a:r>
            <a:r>
              <a:rPr sz="2150" dirty="0">
                <a:latin typeface="Segoe UI"/>
                <a:cs typeface="Segoe UI"/>
              </a:rPr>
              <a:t>systems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(PMIS),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meetings.</a:t>
            </a:r>
            <a:endParaRPr sz="2150">
              <a:latin typeface="Segoe UI"/>
              <a:cs typeface="Segoe UI"/>
            </a:endParaRPr>
          </a:p>
          <a:p>
            <a:pPr marL="565150" marR="508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latin typeface="Segoe UI Semibold"/>
                <a:cs typeface="Segoe UI Semibold"/>
              </a:rPr>
              <a:t>Outputs: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Deliverables,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work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performance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data,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issue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logs,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change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requests,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updates,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documents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updates.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5.</a:t>
            </a:r>
            <a:r>
              <a:rPr spc="50" dirty="0"/>
              <a:t> </a:t>
            </a:r>
            <a:r>
              <a:rPr dirty="0"/>
              <a:t>Managing</a:t>
            </a:r>
            <a:r>
              <a:rPr spc="60" dirty="0"/>
              <a:t> </a:t>
            </a:r>
            <a:r>
              <a:rPr dirty="0"/>
              <a:t>Project</a:t>
            </a:r>
            <a:r>
              <a:rPr spc="60" dirty="0"/>
              <a:t> </a:t>
            </a:r>
            <a:r>
              <a:rPr spc="-10" dirty="0"/>
              <a:t>Knowledge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885950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30028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20040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614737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510087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5405437"/>
            <a:ext cx="104775" cy="1047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87462" y="1652270"/>
            <a:ext cx="9528175" cy="39687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Definition:</a:t>
            </a:r>
            <a:endParaRPr sz="2150" dirty="0">
              <a:latin typeface="Segoe UI Semibold"/>
              <a:cs typeface="Segoe UI Semibold"/>
            </a:endParaRPr>
          </a:p>
          <a:p>
            <a:pPr marL="565150" marR="5080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latin typeface="Segoe UI"/>
                <a:cs typeface="Segoe UI"/>
              </a:rPr>
              <a:t>Using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existing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knowledge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creating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new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knowledge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achieve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project </a:t>
            </a:r>
            <a:r>
              <a:rPr sz="2150" dirty="0">
                <a:latin typeface="Segoe UI"/>
                <a:cs typeface="Segoe UI"/>
              </a:rPr>
              <a:t>objectives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contribute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organizational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learning.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spc="-10" dirty="0">
                <a:latin typeface="Segoe UI Semibold"/>
                <a:cs typeface="Segoe UI Semibold"/>
              </a:rPr>
              <a:t>Components:</a:t>
            </a:r>
            <a:endParaRPr sz="2150" dirty="0">
              <a:latin typeface="Segoe UI Semibold"/>
              <a:cs typeface="Segoe UI Semibold"/>
            </a:endParaRPr>
          </a:p>
          <a:p>
            <a:pPr marL="565150" marR="70485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latin typeface="Segoe UI Semibold"/>
                <a:cs typeface="Segoe UI Semibold"/>
              </a:rPr>
              <a:t>Knowledge</a:t>
            </a:r>
            <a:r>
              <a:rPr sz="2150" spc="9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Management:</a:t>
            </a:r>
            <a:r>
              <a:rPr sz="2150" spc="10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Capturing,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sharing</a:t>
            </a:r>
            <a:r>
              <a:rPr sz="2150" dirty="0" smtClean="0">
                <a:latin typeface="Segoe UI"/>
                <a:cs typeface="Segoe UI"/>
              </a:rPr>
              <a:t>,</a:t>
            </a:r>
            <a:r>
              <a:rPr sz="2150" spc="95" dirty="0" smtClean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knowledge </a:t>
            </a:r>
            <a:r>
              <a:rPr sz="2150" dirty="0">
                <a:latin typeface="Segoe UI"/>
                <a:cs typeface="Segoe UI"/>
              </a:rPr>
              <a:t>within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team.</a:t>
            </a:r>
            <a:endParaRPr sz="2150" dirty="0">
              <a:latin typeface="Segoe UI"/>
              <a:cs typeface="Segoe UI"/>
            </a:endParaRPr>
          </a:p>
          <a:p>
            <a:pPr marL="565150" marR="1143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latin typeface="Segoe UI Semibold"/>
                <a:cs typeface="Segoe UI Semibold"/>
              </a:rPr>
              <a:t>Lessons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Learned: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Documenting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what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went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well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what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didn’t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future projects.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Knowledge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Repositories: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Storing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knowledge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artifacts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easy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access.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286000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700337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18611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081462"/>
            <a:ext cx="104775" cy="104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7462" y="2052320"/>
            <a:ext cx="10083800" cy="26543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Process: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 Semibold"/>
                <a:cs typeface="Segoe UI Semibold"/>
              </a:rPr>
              <a:t>Inputs:</a:t>
            </a:r>
            <a:r>
              <a:rPr sz="2150" spc="8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Plan,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documents,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deliverables.</a:t>
            </a:r>
            <a:endParaRPr sz="2150">
              <a:latin typeface="Segoe UI"/>
              <a:cs typeface="Segoe UI"/>
            </a:endParaRPr>
          </a:p>
          <a:p>
            <a:pPr marL="565150" marR="5080">
              <a:lnSpc>
                <a:spcPct val="125000"/>
              </a:lnSpc>
              <a:spcBef>
                <a:spcPts val="600"/>
              </a:spcBef>
            </a:pPr>
            <a:r>
              <a:rPr sz="2150" spc="-10" dirty="0">
                <a:latin typeface="Segoe UI Semibold"/>
                <a:cs typeface="Segoe UI Semibold"/>
              </a:rPr>
              <a:t>Tools</a:t>
            </a:r>
            <a:r>
              <a:rPr sz="2150" spc="2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&amp;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Techniques:</a:t>
            </a:r>
            <a:r>
              <a:rPr sz="2150" spc="3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Knowledge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tools,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information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management </a:t>
            </a:r>
            <a:r>
              <a:rPr sz="2150" dirty="0">
                <a:latin typeface="Segoe UI"/>
                <a:cs typeface="Segoe UI"/>
              </a:rPr>
              <a:t>systems,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expert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judgment,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collaboration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tools.</a:t>
            </a:r>
            <a:endParaRPr sz="2150">
              <a:latin typeface="Segoe UI"/>
              <a:cs typeface="Segoe UI"/>
            </a:endParaRPr>
          </a:p>
          <a:p>
            <a:pPr marL="565150" marR="221615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latin typeface="Segoe UI Semibold"/>
                <a:cs typeface="Segoe UI Semibold"/>
              </a:rPr>
              <a:t>Outputs:</a:t>
            </a:r>
            <a:r>
              <a:rPr sz="2150" spc="8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Lessons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learned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register,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knowledge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assets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updates,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organizational </a:t>
            </a:r>
            <a:r>
              <a:rPr sz="2150" dirty="0">
                <a:latin typeface="Segoe UI"/>
                <a:cs typeface="Segoe UI"/>
              </a:rPr>
              <a:t>process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assets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updates.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97977"/>
            <a:ext cx="446468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6.</a:t>
            </a:r>
            <a:r>
              <a:rPr sz="2400" spc="-90" dirty="0"/>
              <a:t> </a:t>
            </a:r>
            <a:r>
              <a:rPr sz="2400" dirty="0"/>
              <a:t>Integration</a:t>
            </a:r>
            <a:r>
              <a:rPr sz="2400" spc="-85" dirty="0"/>
              <a:t> </a:t>
            </a:r>
            <a:r>
              <a:rPr sz="2400" dirty="0"/>
              <a:t>with</a:t>
            </a:r>
            <a:r>
              <a:rPr sz="2400" spc="-85" dirty="0"/>
              <a:t> </a:t>
            </a:r>
            <a:r>
              <a:rPr sz="2400" dirty="0"/>
              <a:t>SDLC</a:t>
            </a:r>
            <a:r>
              <a:rPr sz="2400" spc="-85" dirty="0"/>
              <a:t> </a:t>
            </a:r>
            <a:r>
              <a:rPr sz="2400" spc="-10" dirty="0"/>
              <a:t>Models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314575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71938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205162"/>
            <a:ext cx="104775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690937"/>
            <a:ext cx="104775" cy="1047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462" y="2090420"/>
            <a:ext cx="10111105" cy="21814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Integration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Management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in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Different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SDLC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Models:</a:t>
            </a:r>
            <a:endParaRPr sz="2150" dirty="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 Semibold"/>
                <a:cs typeface="Segoe UI Semibold"/>
              </a:rPr>
              <a:t>Waterfall: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Emphasis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on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upfront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integration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planning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sequential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execution.</a:t>
            </a:r>
            <a:endParaRPr sz="2150" dirty="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Agile: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Continuous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integration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iterative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work.</a:t>
            </a:r>
            <a:endParaRPr sz="2150" dirty="0">
              <a:latin typeface="Segoe UI"/>
              <a:cs typeface="Segoe UI"/>
            </a:endParaRPr>
          </a:p>
          <a:p>
            <a:pPr marL="565150" marR="597535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latin typeface="Segoe UI Semibold"/>
                <a:cs typeface="Segoe UI Semibold"/>
              </a:rPr>
              <a:t>Iterative: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Regular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integration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each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iteration’s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outcomes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into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overall project</a:t>
            </a:r>
            <a:r>
              <a:rPr sz="2150" spc="-10" dirty="0" smtClean="0">
                <a:latin typeface="Segoe UI"/>
                <a:cs typeface="Segoe UI"/>
              </a:rPr>
              <a:t>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047875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452687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93846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424237"/>
            <a:ext cx="104775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4319587"/>
            <a:ext cx="104775" cy="1047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462" y="1823720"/>
            <a:ext cx="9791065" cy="31305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dirty="0">
                <a:latin typeface="Segoe UI Semibold"/>
                <a:cs typeface="Segoe UI Semibold"/>
              </a:rPr>
              <a:t>Best</a:t>
            </a:r>
            <a:r>
              <a:rPr sz="2150" spc="4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Practices: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 Semibold"/>
                <a:cs typeface="Segoe UI Semibold"/>
              </a:rPr>
              <a:t>Consistent</a:t>
            </a:r>
            <a:r>
              <a:rPr sz="2150" spc="8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Communication:</a:t>
            </a:r>
            <a:r>
              <a:rPr sz="2150" spc="8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Regular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updates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8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stakeholder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engagement.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Adaptive</a:t>
            </a:r>
            <a:r>
              <a:rPr sz="2150" spc="4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Planning:</a:t>
            </a:r>
            <a:r>
              <a:rPr sz="2150" spc="4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Flexibility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adjust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needed.</a:t>
            </a:r>
            <a:endParaRPr sz="2150">
              <a:latin typeface="Segoe UI"/>
              <a:cs typeface="Segoe UI"/>
            </a:endParaRPr>
          </a:p>
          <a:p>
            <a:pPr marL="565150" marR="250825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latin typeface="Segoe UI Semibold"/>
                <a:cs typeface="Segoe UI Semibold"/>
              </a:rPr>
              <a:t>Comprehensive</a:t>
            </a:r>
            <a:r>
              <a:rPr sz="2150" spc="9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Documentation:</a:t>
            </a:r>
            <a:r>
              <a:rPr sz="2150" spc="9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Maintaining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clear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accessible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project documentation.</a:t>
            </a:r>
            <a:endParaRPr sz="2150">
              <a:latin typeface="Segoe UI"/>
              <a:cs typeface="Segoe UI"/>
            </a:endParaRPr>
          </a:p>
          <a:p>
            <a:pPr marL="565150" marR="248920">
              <a:lnSpc>
                <a:spcPct val="127899"/>
              </a:lnSpc>
              <a:spcBef>
                <a:spcPts val="525"/>
              </a:spcBef>
            </a:pPr>
            <a:r>
              <a:rPr sz="2150" dirty="0">
                <a:latin typeface="Segoe UI Semibold"/>
                <a:cs typeface="Segoe UI Semibold"/>
              </a:rPr>
              <a:t>Effective</a:t>
            </a:r>
            <a:r>
              <a:rPr sz="2150" spc="3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Use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of</a:t>
            </a:r>
            <a:r>
              <a:rPr sz="2150" spc="4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Tools: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Leveraging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collaboration </a:t>
            </a:r>
            <a:r>
              <a:rPr sz="2150" dirty="0">
                <a:latin typeface="Segoe UI"/>
                <a:cs typeface="Segoe UI"/>
              </a:rPr>
              <a:t>tools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integration.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731202"/>
            <a:ext cx="8341359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7.</a:t>
            </a:r>
            <a:r>
              <a:rPr sz="2400" spc="-85" dirty="0"/>
              <a:t> </a:t>
            </a:r>
            <a:r>
              <a:rPr sz="2400" spc="-35" dirty="0"/>
              <a:t>Tools</a:t>
            </a:r>
            <a:r>
              <a:rPr sz="2400" spc="-80" dirty="0"/>
              <a:t> </a:t>
            </a:r>
            <a:r>
              <a:rPr sz="2400" dirty="0"/>
              <a:t>and</a:t>
            </a:r>
            <a:r>
              <a:rPr sz="2400" spc="-85" dirty="0"/>
              <a:t> </a:t>
            </a:r>
            <a:r>
              <a:rPr sz="2400" spc="-25" dirty="0"/>
              <a:t>Techniques</a:t>
            </a:r>
            <a:r>
              <a:rPr sz="2400" spc="-80" dirty="0"/>
              <a:t> </a:t>
            </a:r>
            <a:r>
              <a:rPr sz="2400" dirty="0"/>
              <a:t>for</a:t>
            </a:r>
            <a:r>
              <a:rPr sz="2400" spc="-85" dirty="0"/>
              <a:t> </a:t>
            </a:r>
            <a:r>
              <a:rPr sz="2400" dirty="0"/>
              <a:t>Project</a:t>
            </a:r>
            <a:r>
              <a:rPr sz="2400" spc="-80" dirty="0"/>
              <a:t> </a:t>
            </a:r>
            <a:r>
              <a:rPr sz="2400" dirty="0"/>
              <a:t>Integration</a:t>
            </a:r>
            <a:r>
              <a:rPr sz="2400" spc="-85" dirty="0"/>
              <a:t> </a:t>
            </a:r>
            <a:r>
              <a:rPr sz="2400" spc="-10" dirty="0"/>
              <a:t>Management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447800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1862137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2338387"/>
            <a:ext cx="104775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828925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3243262"/>
            <a:ext cx="104775" cy="104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724275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5437" y="4138612"/>
            <a:ext cx="104775" cy="1047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5038725"/>
            <a:ext cx="95250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5453062"/>
            <a:ext cx="104775" cy="1047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87462" y="1214119"/>
            <a:ext cx="9618980" cy="48641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Management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Information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Systems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(PMIS):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Examples: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Microsoft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Project,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JIRA,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Asana.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"/>
                <a:cs typeface="Segoe UI"/>
              </a:rPr>
              <a:t>Functions: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Scheduling,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resource</a:t>
            </a:r>
            <a:r>
              <a:rPr sz="2150" spc="10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allocation,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tracking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progress,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reporting.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Expert</a:t>
            </a:r>
            <a:r>
              <a:rPr sz="2150" spc="12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Judgment:</a:t>
            </a:r>
            <a:endParaRPr sz="2150">
              <a:latin typeface="Segoe UI Semibold"/>
              <a:cs typeface="Segoe UI Semibold"/>
            </a:endParaRPr>
          </a:p>
          <a:p>
            <a:pPr marL="56515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Leveraging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expertise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experienced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team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members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stakeholders.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150" spc="-10" dirty="0">
                <a:latin typeface="Segoe UI Semibold"/>
                <a:cs typeface="Segoe UI Semibold"/>
              </a:rPr>
              <a:t>Meetings:</a:t>
            </a:r>
            <a:endParaRPr sz="2150">
              <a:latin typeface="Segoe UI Semibold"/>
              <a:cs typeface="Segoe UI Semibold"/>
            </a:endParaRPr>
          </a:p>
          <a:p>
            <a:pPr marL="565150" marR="5080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latin typeface="Segoe UI"/>
                <a:cs typeface="Segoe UI"/>
              </a:rPr>
              <a:t>Regular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meetings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review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progress,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address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issues,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next </a:t>
            </a:r>
            <a:r>
              <a:rPr sz="2150" spc="-10" dirty="0">
                <a:latin typeface="Segoe UI"/>
                <a:cs typeface="Segoe UI"/>
              </a:rPr>
              <a:t>steps.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Data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Analysis:</a:t>
            </a:r>
            <a:endParaRPr sz="2150">
              <a:latin typeface="Segoe UI Semibold"/>
              <a:cs typeface="Segoe UI Semibold"/>
            </a:endParaRPr>
          </a:p>
          <a:p>
            <a:pPr marL="565150" marR="360680">
              <a:lnSpc>
                <a:spcPct val="125000"/>
              </a:lnSpc>
              <a:spcBef>
                <a:spcPts val="75"/>
              </a:spcBef>
            </a:pPr>
            <a:r>
              <a:rPr sz="2150" dirty="0">
                <a:latin typeface="Segoe UI"/>
                <a:cs typeface="Segoe UI"/>
              </a:rPr>
              <a:t>Techniques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like</a:t>
            </a:r>
            <a:r>
              <a:rPr sz="2150" spc="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SWOT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Analysis,</a:t>
            </a:r>
            <a:r>
              <a:rPr sz="2150" spc="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Root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Cause</a:t>
            </a:r>
            <a:r>
              <a:rPr sz="2150" spc="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Analysis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inform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decision- making.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740977"/>
            <a:ext cx="9297035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/>
              <a:t>8.</a:t>
            </a:r>
            <a:r>
              <a:rPr sz="2400" spc="-90" dirty="0"/>
              <a:t> </a:t>
            </a:r>
            <a:r>
              <a:rPr sz="2400" dirty="0"/>
              <a:t>Case</a:t>
            </a:r>
            <a:r>
              <a:rPr sz="2400" spc="-90" dirty="0"/>
              <a:t> </a:t>
            </a:r>
            <a:r>
              <a:rPr sz="2400" dirty="0"/>
              <a:t>Study:</a:t>
            </a:r>
            <a:r>
              <a:rPr sz="2400" spc="-90" dirty="0"/>
              <a:t> </a:t>
            </a:r>
            <a:r>
              <a:rPr sz="2400" dirty="0"/>
              <a:t>Applying</a:t>
            </a:r>
            <a:r>
              <a:rPr sz="2400" spc="-90" dirty="0"/>
              <a:t> </a:t>
            </a:r>
            <a:r>
              <a:rPr sz="2400" dirty="0"/>
              <a:t>SDLC</a:t>
            </a:r>
            <a:r>
              <a:rPr sz="2400" spc="-90" dirty="0"/>
              <a:t> </a:t>
            </a:r>
            <a:r>
              <a:rPr sz="2400" dirty="0"/>
              <a:t>Models</a:t>
            </a:r>
            <a:r>
              <a:rPr sz="2400" spc="-90" dirty="0"/>
              <a:t> </a:t>
            </a:r>
            <a:r>
              <a:rPr sz="2400" dirty="0"/>
              <a:t>and</a:t>
            </a:r>
            <a:r>
              <a:rPr sz="2400" spc="-90" dirty="0"/>
              <a:t> </a:t>
            </a:r>
            <a:r>
              <a:rPr sz="2400" dirty="0"/>
              <a:t>Integration</a:t>
            </a:r>
            <a:r>
              <a:rPr sz="2400" spc="-90" dirty="0"/>
              <a:t> </a:t>
            </a:r>
            <a:r>
              <a:rPr sz="2400" spc="-10" dirty="0"/>
              <a:t>Management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35012" y="3214370"/>
            <a:ext cx="7515859" cy="8636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50" spc="-10" dirty="0">
                <a:latin typeface="Segoe UI Semibold"/>
                <a:cs typeface="Segoe UI Semibold"/>
              </a:rPr>
              <a:t>Scenario:</a:t>
            </a:r>
            <a:endParaRPr sz="21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"/>
                <a:cs typeface="Segoe UI"/>
              </a:rPr>
              <a:t>Developing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new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e-commerce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platform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retail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company.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2052637"/>
            <a:ext cx="104775" cy="104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2528887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343376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3910012"/>
            <a:ext cx="104775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5224462"/>
            <a:ext cx="104775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5437" y="5710237"/>
            <a:ext cx="104775" cy="1047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930275"/>
            <a:ext cx="10217150" cy="4995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10" dirty="0">
                <a:latin typeface="Segoe UI Semibold"/>
                <a:cs typeface="Segoe UI Semibold"/>
              </a:rPr>
              <a:t>Steps:</a:t>
            </a:r>
            <a:endParaRPr sz="2150">
              <a:latin typeface="Segoe UI Semibold"/>
              <a:cs typeface="Segoe UI Semibold"/>
            </a:endParaRPr>
          </a:p>
          <a:p>
            <a:pPr marL="563880" indent="-283845">
              <a:lnSpc>
                <a:spcPct val="100000"/>
              </a:lnSpc>
              <a:spcBef>
                <a:spcPts val="1845"/>
              </a:spcBef>
              <a:buFont typeface="Segoe UI"/>
              <a:buAutoNum type="arabicPeriod"/>
              <a:tabLst>
                <a:tab pos="563880" algn="l"/>
              </a:tabLst>
            </a:pPr>
            <a:r>
              <a:rPr sz="2150" dirty="0">
                <a:latin typeface="Segoe UI Semibold"/>
                <a:cs typeface="Segoe UI Semibold"/>
              </a:rPr>
              <a:t>Selecting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the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SDLC</a:t>
            </a:r>
            <a:r>
              <a:rPr sz="2150" spc="4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Model:</a:t>
            </a:r>
            <a:endParaRPr sz="2150">
              <a:latin typeface="Segoe UI Semibold"/>
              <a:cs typeface="Segoe UI Semibold"/>
            </a:endParaRPr>
          </a:p>
          <a:p>
            <a:pPr marL="111760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 Semibold"/>
                <a:cs typeface="Segoe UI Semibold"/>
              </a:rPr>
              <a:t>Requirements: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Rapid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changes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expected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due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evolving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market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trends.</a:t>
            </a:r>
            <a:endParaRPr sz="2150">
              <a:latin typeface="Segoe UI"/>
              <a:cs typeface="Segoe UI"/>
            </a:endParaRPr>
          </a:p>
          <a:p>
            <a:pPr marL="111760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 Semibold"/>
                <a:cs typeface="Segoe UI Semibold"/>
              </a:rPr>
              <a:t>Chosen</a:t>
            </a:r>
            <a:r>
              <a:rPr sz="2150" spc="4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Model: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Agile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flexibility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customer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feedback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incorporation.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 startAt="2"/>
              <a:tabLst>
                <a:tab pos="563880" algn="l"/>
              </a:tabLst>
            </a:pPr>
            <a:r>
              <a:rPr sz="2150" dirty="0">
                <a:latin typeface="Segoe UI Semibold"/>
                <a:cs typeface="Segoe UI Semibold"/>
              </a:rPr>
              <a:t>Developing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Charter:</a:t>
            </a:r>
            <a:endParaRPr sz="2150">
              <a:latin typeface="Segoe UI Semibold"/>
              <a:cs typeface="Segoe UI Semibold"/>
            </a:endParaRPr>
          </a:p>
          <a:p>
            <a:pPr marL="1117600">
              <a:lnSpc>
                <a:spcPct val="100000"/>
              </a:lnSpc>
              <a:spcBef>
                <a:spcPts val="720"/>
              </a:spcBef>
            </a:pPr>
            <a:r>
              <a:rPr sz="2150" dirty="0">
                <a:latin typeface="Segoe UI Semibold"/>
                <a:cs typeface="Segoe UI Semibold"/>
              </a:rPr>
              <a:t>Purpose: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spc="-55" dirty="0">
                <a:latin typeface="Segoe UI"/>
                <a:cs typeface="Segoe UI"/>
              </a:rPr>
              <a:t>To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create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scalable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user-friendly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e-commerce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platform.</a:t>
            </a:r>
            <a:endParaRPr sz="2150">
              <a:latin typeface="Segoe UI"/>
              <a:cs typeface="Segoe UI"/>
            </a:endParaRPr>
          </a:p>
          <a:p>
            <a:pPr marL="1117600" marR="5080">
              <a:lnSpc>
                <a:spcPct val="127899"/>
              </a:lnSpc>
              <a:spcBef>
                <a:spcPts val="450"/>
              </a:spcBef>
            </a:pPr>
            <a:r>
              <a:rPr sz="2150" dirty="0">
                <a:latin typeface="Segoe UI Semibold"/>
                <a:cs typeface="Segoe UI Semibold"/>
              </a:rPr>
              <a:t>Objectives: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Launch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MVP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within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6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months,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achieve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100,000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users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first year.</a:t>
            </a:r>
            <a:endParaRPr sz="2150">
              <a:latin typeface="Segoe UI"/>
              <a:cs typeface="Segoe UI"/>
            </a:endParaRPr>
          </a:p>
          <a:p>
            <a:pPr marL="563880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 startAt="3"/>
              <a:tabLst>
                <a:tab pos="563880" algn="l"/>
              </a:tabLst>
            </a:pPr>
            <a:r>
              <a:rPr sz="2150" dirty="0">
                <a:latin typeface="Segoe UI Semibold"/>
                <a:cs typeface="Segoe UI Semibold"/>
              </a:rPr>
              <a:t>Developing</a:t>
            </a:r>
            <a:r>
              <a:rPr sz="2150" spc="8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8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Management</a:t>
            </a:r>
            <a:r>
              <a:rPr sz="2150" spc="90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Plan:</a:t>
            </a:r>
            <a:endParaRPr sz="2150">
              <a:latin typeface="Segoe UI Semibold"/>
              <a:cs typeface="Segoe UI Semibold"/>
            </a:endParaRPr>
          </a:p>
          <a:p>
            <a:pPr marL="111760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 Semibold"/>
                <a:cs typeface="Segoe UI Semibold"/>
              </a:rPr>
              <a:t>Agile</a:t>
            </a:r>
            <a:r>
              <a:rPr sz="2150" spc="9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Framework:</a:t>
            </a:r>
            <a:r>
              <a:rPr sz="2150" spc="9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Scrum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9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two-week</a:t>
            </a:r>
            <a:r>
              <a:rPr sz="2150" spc="9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sprints.</a:t>
            </a:r>
            <a:endParaRPr sz="2150">
              <a:latin typeface="Segoe UI"/>
              <a:cs typeface="Segoe UI"/>
            </a:endParaRPr>
          </a:p>
          <a:p>
            <a:pPr marL="11176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Communication</a:t>
            </a:r>
            <a:r>
              <a:rPr sz="2150" spc="8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Plan:</a:t>
            </a:r>
            <a:r>
              <a:rPr sz="2150" spc="7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Daily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standups,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bi-weekly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sprint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reviews.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2662237"/>
            <a:ext cx="104775" cy="104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3148012"/>
            <a:ext cx="104775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437" y="4043362"/>
            <a:ext cx="104775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5437" y="4529137"/>
            <a:ext cx="104775" cy="104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2903" y="2033270"/>
            <a:ext cx="9525000" cy="27114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740"/>
              </a:spcBef>
              <a:buFont typeface="Segoe UI"/>
              <a:buAutoNum type="arabicPeriod" startAt="4"/>
              <a:tabLst>
                <a:tab pos="296545" algn="l"/>
              </a:tabLst>
            </a:pPr>
            <a:r>
              <a:rPr sz="2150" dirty="0">
                <a:latin typeface="Segoe UI Semibold"/>
                <a:cs typeface="Segoe UI Semibold"/>
              </a:rPr>
              <a:t>Directing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and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Managing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Work:</a:t>
            </a:r>
            <a:endParaRPr sz="2150">
              <a:latin typeface="Segoe UI Semibold"/>
              <a:cs typeface="Segoe UI Semibold"/>
            </a:endParaRPr>
          </a:p>
          <a:p>
            <a:pPr marL="84963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 Semibold"/>
                <a:cs typeface="Segoe UI Semibold"/>
              </a:rPr>
              <a:t>Execution:</a:t>
            </a:r>
            <a:r>
              <a:rPr sz="2150" spc="6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Development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user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stories,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sprint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planning,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execution.</a:t>
            </a:r>
            <a:endParaRPr sz="2150">
              <a:latin typeface="Segoe UI"/>
              <a:cs typeface="Segoe UI"/>
            </a:endParaRPr>
          </a:p>
          <a:p>
            <a:pPr marL="84963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Monitoring: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Use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burn-down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charts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velocity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tracking.</a:t>
            </a:r>
            <a:endParaRPr sz="2150">
              <a:latin typeface="Segoe UI"/>
              <a:cs typeface="Segoe UI"/>
            </a:endParaRPr>
          </a:p>
          <a:p>
            <a:pPr marL="296545" indent="-283845">
              <a:lnSpc>
                <a:spcPct val="100000"/>
              </a:lnSpc>
              <a:spcBef>
                <a:spcPts val="1245"/>
              </a:spcBef>
              <a:buFont typeface="Segoe UI"/>
              <a:buAutoNum type="arabicPeriod" startAt="5"/>
              <a:tabLst>
                <a:tab pos="296545" algn="l"/>
              </a:tabLst>
            </a:pPr>
            <a:r>
              <a:rPr sz="2150" dirty="0">
                <a:latin typeface="Segoe UI Semibold"/>
                <a:cs typeface="Segoe UI Semibold"/>
              </a:rPr>
              <a:t>Managing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Project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spc="-10" dirty="0">
                <a:latin typeface="Segoe UI Semibold"/>
                <a:cs typeface="Segoe UI Semibold"/>
              </a:rPr>
              <a:t>Knowledge:</a:t>
            </a:r>
            <a:endParaRPr sz="2150">
              <a:latin typeface="Segoe UI Semibold"/>
              <a:cs typeface="Segoe UI Semibold"/>
            </a:endParaRPr>
          </a:p>
          <a:p>
            <a:pPr marL="84963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latin typeface="Segoe UI Semibold"/>
                <a:cs typeface="Segoe UI Semibold"/>
              </a:rPr>
              <a:t>Documentation: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Maintaining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knowledge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base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on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Confluence.</a:t>
            </a:r>
            <a:endParaRPr sz="2150">
              <a:latin typeface="Segoe UI"/>
              <a:cs typeface="Segoe UI"/>
            </a:endParaRPr>
          </a:p>
          <a:p>
            <a:pPr marL="84963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Lessons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 Semibold"/>
                <a:cs typeface="Segoe UI Semibold"/>
              </a:rPr>
              <a:t>Learned:</a:t>
            </a:r>
            <a:r>
              <a:rPr sz="2150" spc="6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Conducting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retrospectives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end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each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sprint.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228975"/>
            <a:ext cx="95250" cy="952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124325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5012" y="2511425"/>
            <a:ext cx="10504805" cy="1823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10" dirty="0">
                <a:latin typeface="Segoe UI Semibold"/>
                <a:cs typeface="Segoe UI Semibold"/>
              </a:rPr>
              <a:t>Outcome:</a:t>
            </a:r>
            <a:endParaRPr sz="2150">
              <a:latin typeface="Segoe UI Semibold"/>
              <a:cs typeface="Segoe UI Semibold"/>
            </a:endParaRPr>
          </a:p>
          <a:p>
            <a:pPr marL="565150" marR="5080">
              <a:lnSpc>
                <a:spcPct val="125000"/>
              </a:lnSpc>
              <a:spcBef>
                <a:spcPts val="1275"/>
              </a:spcBef>
            </a:pPr>
            <a:r>
              <a:rPr sz="2150" dirty="0">
                <a:latin typeface="Segoe UI"/>
                <a:cs typeface="Segoe UI"/>
              </a:rPr>
              <a:t>Successful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launch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e-commerce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platform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with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iterative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improvements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based </a:t>
            </a:r>
            <a:r>
              <a:rPr sz="2150" dirty="0">
                <a:latin typeface="Segoe UI"/>
                <a:cs typeface="Segoe UI"/>
              </a:rPr>
              <a:t>on</a:t>
            </a:r>
            <a:r>
              <a:rPr sz="2150" spc="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user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feedback.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Efficient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project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scope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timelines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through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Agile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practices.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Group</a:t>
            </a:r>
            <a:r>
              <a:rPr spc="35" dirty="0"/>
              <a:t> </a:t>
            </a:r>
            <a:r>
              <a:rPr spc="-10" dirty="0"/>
              <a:t>Discussion: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1895475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2790825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51485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5410200"/>
            <a:ext cx="95250" cy="95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1671320"/>
            <a:ext cx="10508615" cy="3949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5150" marR="5080">
              <a:lnSpc>
                <a:spcPct val="125000"/>
              </a:lnSpc>
              <a:spcBef>
                <a:spcPts val="95"/>
              </a:spcBef>
            </a:pPr>
            <a:r>
              <a:rPr sz="2150" spc="-10" dirty="0">
                <a:latin typeface="Segoe UI Semibold"/>
                <a:cs typeface="Segoe UI Semibold"/>
              </a:rPr>
              <a:t>Topic:</a:t>
            </a:r>
            <a:r>
              <a:rPr sz="2150" spc="3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Compare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contrast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four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SDLC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models.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Discuss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scenarios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where</a:t>
            </a:r>
            <a:r>
              <a:rPr sz="2150" spc="45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each </a:t>
            </a:r>
            <a:r>
              <a:rPr sz="2150" dirty="0">
                <a:latin typeface="Segoe UI"/>
                <a:cs typeface="Segoe UI"/>
              </a:rPr>
              <a:t>model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would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be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most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effective.</a:t>
            </a:r>
            <a:endParaRPr sz="2150">
              <a:latin typeface="Segoe UI"/>
              <a:cs typeface="Segoe UI"/>
            </a:endParaRPr>
          </a:p>
          <a:p>
            <a:pPr marL="565150" marR="47244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latin typeface="Segoe UI Semibold"/>
                <a:cs typeface="Segoe UI Semibold"/>
              </a:rPr>
              <a:t>Objective:</a:t>
            </a:r>
            <a:r>
              <a:rPr sz="2150" spc="5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Encourage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critical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thinking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application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of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SDLC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models</a:t>
            </a:r>
            <a:r>
              <a:rPr sz="2150" spc="6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real- </a:t>
            </a:r>
            <a:r>
              <a:rPr sz="2150" dirty="0">
                <a:latin typeface="Segoe UI"/>
                <a:cs typeface="Segoe UI"/>
              </a:rPr>
              <a:t>world</a:t>
            </a:r>
            <a:r>
              <a:rPr sz="2150" spc="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projects.</a:t>
            </a:r>
            <a:endParaRPr sz="21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2250" dirty="0">
                <a:solidFill>
                  <a:srgbClr val="4487CC"/>
                </a:solidFill>
                <a:latin typeface="Segoe UI Semibold"/>
                <a:cs typeface="Segoe UI Semibold"/>
              </a:rPr>
              <a:t>Case</a:t>
            </a:r>
            <a:r>
              <a:rPr sz="2250" spc="15" dirty="0">
                <a:solidFill>
                  <a:srgbClr val="4487CC"/>
                </a:solidFill>
                <a:latin typeface="Segoe UI Semibold"/>
                <a:cs typeface="Segoe UI Semibold"/>
              </a:rPr>
              <a:t> </a:t>
            </a:r>
            <a:r>
              <a:rPr sz="2250" dirty="0">
                <a:solidFill>
                  <a:srgbClr val="4487CC"/>
                </a:solidFill>
                <a:latin typeface="Segoe UI Semibold"/>
                <a:cs typeface="Segoe UI Semibold"/>
              </a:rPr>
              <a:t>Study</a:t>
            </a:r>
            <a:r>
              <a:rPr sz="2250" spc="25" dirty="0">
                <a:solidFill>
                  <a:srgbClr val="4487CC"/>
                </a:solidFill>
                <a:latin typeface="Segoe UI Semibold"/>
                <a:cs typeface="Segoe UI Semibold"/>
              </a:rPr>
              <a:t> </a:t>
            </a:r>
            <a:r>
              <a:rPr sz="2250" spc="-10" dirty="0">
                <a:solidFill>
                  <a:srgbClr val="4487CC"/>
                </a:solidFill>
                <a:latin typeface="Segoe UI Semibold"/>
                <a:cs typeface="Segoe UI Semibold"/>
              </a:rPr>
              <a:t>Analysis:</a:t>
            </a:r>
            <a:endParaRPr sz="2250">
              <a:latin typeface="Segoe UI Semibold"/>
              <a:cs typeface="Segoe UI Semibold"/>
            </a:endParaRPr>
          </a:p>
          <a:p>
            <a:pPr marL="565150" marR="362585">
              <a:lnSpc>
                <a:spcPct val="125000"/>
              </a:lnSpc>
              <a:spcBef>
                <a:spcPts val="955"/>
              </a:spcBef>
            </a:pPr>
            <a:r>
              <a:rPr sz="2150" dirty="0">
                <a:latin typeface="Segoe UI Semibold"/>
                <a:cs typeface="Segoe UI Semibold"/>
              </a:rPr>
              <a:t>Task:</a:t>
            </a:r>
            <a:r>
              <a:rPr sz="2150" spc="55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Analyze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provided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e-commerce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platform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case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study.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Identify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55" dirty="0">
                <a:latin typeface="Segoe UI"/>
                <a:cs typeface="Segoe UI"/>
              </a:rPr>
              <a:t> </a:t>
            </a:r>
            <a:r>
              <a:rPr sz="2150" spc="-20" dirty="0">
                <a:latin typeface="Segoe UI"/>
                <a:cs typeface="Segoe UI"/>
              </a:rPr>
              <a:t>SDLC </a:t>
            </a:r>
            <a:r>
              <a:rPr sz="2150" dirty="0">
                <a:latin typeface="Segoe UI"/>
                <a:cs typeface="Segoe UI"/>
              </a:rPr>
              <a:t>model</a:t>
            </a:r>
            <a:r>
              <a:rPr sz="2150" spc="6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used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and</a:t>
            </a:r>
            <a:r>
              <a:rPr sz="2150" spc="7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discuss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integration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management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practices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applied.</a:t>
            </a:r>
            <a:endParaRPr sz="2150">
              <a:latin typeface="Segoe UI"/>
              <a:cs typeface="Segoe UI"/>
            </a:endParaRPr>
          </a:p>
          <a:p>
            <a:pPr marL="56515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 Semibold"/>
                <a:cs typeface="Segoe UI Semibold"/>
              </a:rPr>
              <a:t>Objective:</a:t>
            </a:r>
            <a:r>
              <a:rPr sz="2150" spc="70" dirty="0">
                <a:latin typeface="Segoe UI Semibold"/>
                <a:cs typeface="Segoe UI Semibold"/>
              </a:rPr>
              <a:t> </a:t>
            </a:r>
            <a:r>
              <a:rPr sz="2150" dirty="0">
                <a:latin typeface="Segoe UI"/>
                <a:cs typeface="Segoe UI"/>
              </a:rPr>
              <a:t>Apply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theoretical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knowledge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to</a:t>
            </a:r>
            <a:r>
              <a:rPr sz="2150" spc="8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practical</a:t>
            </a:r>
            <a:r>
              <a:rPr sz="2150" spc="7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scenarios.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2219</Words>
  <Application>Microsoft Office PowerPoint</Application>
  <PresentationFormat>Widescreen</PresentationFormat>
  <Paragraphs>273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Google Sans</vt:lpstr>
      <vt:lpstr>Segoe UI</vt:lpstr>
      <vt:lpstr>Segoe UI Semibold</vt:lpstr>
      <vt:lpstr>Office Theme</vt:lpstr>
      <vt:lpstr>Lecture 3: Understanding the Software Development Life Cycle (SDLC)</vt:lpstr>
      <vt:lpstr>1. Overview of SDLC</vt:lpstr>
      <vt:lpstr>2. SDLC Models</vt:lpstr>
      <vt:lpstr>PowerPoint Presentation</vt:lpstr>
      <vt:lpstr>2.2. Agile Model</vt:lpstr>
      <vt:lpstr>2.2.1. Individuals and Interactions Over Processes and Tools</vt:lpstr>
      <vt:lpstr>2.2.2. Working Software Over Comprehensive Documentation</vt:lpstr>
      <vt:lpstr>2.2.3. Customer Collaboration Over Contract Negotiation</vt:lpstr>
      <vt:lpstr>2.2.4. Responding to Change Over Following a Plan</vt:lpstr>
      <vt:lpstr>PowerPoint Presentation</vt:lpstr>
      <vt:lpstr>PowerPoint Presentation</vt:lpstr>
      <vt:lpstr>PowerPoint Presentation</vt:lpstr>
      <vt:lpstr>2.3. Iterative Model</vt:lpstr>
      <vt:lpstr>PowerPoint Presentation</vt:lpstr>
      <vt:lpstr>3. Choosing the Right SDLC Model for Your Project</vt:lpstr>
      <vt:lpstr>3.1. Factors to Consider</vt:lpstr>
      <vt:lpstr>3.2. Decision-Making Framework</vt:lpstr>
      <vt:lpstr>PowerPoint Presentation</vt:lpstr>
      <vt:lpstr>3.3. Case Studies and Examples</vt:lpstr>
      <vt:lpstr>4. Project Integration Management</vt:lpstr>
      <vt:lpstr>4.1. Developing Project Charter</vt:lpstr>
      <vt:lpstr>PowerPoint Presentation</vt:lpstr>
      <vt:lpstr>4.2. Developing Project Management Plan</vt:lpstr>
      <vt:lpstr>PowerPoint Presentation</vt:lpstr>
      <vt:lpstr>PowerPoint Presentation</vt:lpstr>
      <vt:lpstr>4.3. Directing and Managing Project Work</vt:lpstr>
      <vt:lpstr>PowerPoint Presentation</vt:lpstr>
      <vt:lpstr>5. Managing Project Knowledge</vt:lpstr>
      <vt:lpstr>PowerPoint Presentation</vt:lpstr>
      <vt:lpstr>6. Integration with SDLC Models</vt:lpstr>
      <vt:lpstr>PowerPoint Presentation</vt:lpstr>
      <vt:lpstr>7. Tools and Techniques for Project Integration Management</vt:lpstr>
      <vt:lpstr>8. Case Study: Applying SDLC Models and Integration Management</vt:lpstr>
      <vt:lpstr>PowerPoint Presentation</vt:lpstr>
      <vt:lpstr>PowerPoint Presentation</vt:lpstr>
      <vt:lpstr>PowerPoint Presentation</vt:lpstr>
      <vt:lpstr>Group Discussion: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tmp-12760-kJScxzQ79Um4-.html</dc:title>
  <cp:lastModifiedBy>Admin</cp:lastModifiedBy>
  <cp:revision>6</cp:revision>
  <dcterms:created xsi:type="dcterms:W3CDTF">2026-02-24T07:20:26Z</dcterms:created>
  <dcterms:modified xsi:type="dcterms:W3CDTF">2026-02-24T08:06:22Z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2024-10-01T00:00:00Z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2026-02-24T00:00:00Z</vt:filetime>
  </property>
  <property fmtid="{D5CDD505-2E9C-101B-9397-08002B2CF9AE}" pid="5" name="Producer">
    <vt:lpwstr>3-Heights(TM) PDF Security Shell 4.8.25.2 (http://www.pdf-tools.com)</vt:lpwstr>
  </property>
</Properties>
</file>